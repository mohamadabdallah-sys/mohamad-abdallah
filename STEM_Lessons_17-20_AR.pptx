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d3e701d5-81fe-f0a3-33da-6a5d9a0f063f}">
          <p14:sldIdLst>
            <p14:sldId id="256"/>
          </p14:sldIdLst>
        </p14:section>
        <p14:section name="نظرة عامة" id="{8f5f37ce-7c31-d687-5fdb-b75c017e9072}">
          <p14:sldIdLst>
            <p14:sldId id="257"/>
          </p14:sldIdLst>
        </p14:section>
        <p14:section name="الدروس" id="{88b2be8b-20f9-a583-884a-c5b9e7992b67}">
          <p14:sldIdLst>
            <p14:sldId id="258"/>
            <p14:sldId id="259"/>
            <p14:sldId id="260"/>
            <p14:sldId id="261"/>
          </p14:sldIdLst>
        </p14:section>
        <p14:section name="الخلاصة" id="{26f3e873-bdfd-7eda-3813-43d8f9ad62f4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مرحباً بالجميع. سنستعرض اليوم أهداف الدروس من 17 إلى 20 في وحدة الروبوتات للصف الأول، مع الأنشطة المقترحة لتحقيق كل هدف.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نظرة سريعة على الدروس الأربعة: نبدأ بالتعرّف على الروبوت، ثم استخدامه في الحياة، ثم مصدر طاقته، وأخيراً كيف يتّبع الأوامر.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الدرس 17 (ص 109): لنتعرّف على الروبوت!
الهدف العام: التعرّف على ماهية الروبوتات، وكيف تتحرك، وكيف تساعد الناس.
الأهداف التعلّمية: شرح ماهية الروبوتات، وكيف تتحرك، وكيف تساعد الناس.
النشاط المقترح: عرض صور وفيديو قصير لروبوتات مختلفة، ثم يقلّد التلاميذ حركاتها: يمشي، يدور، يرفع، يلتقط.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الدرس 18 (ص 115): الروبوتات في الحياة الواقعية!
الهدف العام: استكشاف كيفية استخدام الروبوتات في المنازل والمدارس والمستشفيات وأماكن أخرى.
الأهداف التعلّمية: مطابقة الروبوتات بالمهام التي تؤديها، ومقارنة عملها بعمل الإنسان.
النشاط المقترح: لعبة مطابقة: بطاقات روبوتات مقابل بطاقات أماكن (منزل، مدرسة، مستشفى)، ثم مقارنة عمل الروبوت بعمل الإنسان.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الدرس 19 (ص 121): مصدر الطاقة!
الهدف العام: التعرّف على مصادر الطاقة المختلفة وكيفية شحن بطارية الروبوت بأمان.
الأهداف التعلّمية: تسمية مصادر الطاقة المختلفة للآلات. / اتّباع خطوات آمنة لشحن بطارية الروبوت.
النشاط المقترح: فرز صور مصادر الطاقة (بطارية، كهرباء، شمس)، ثم ترتيب بطاقات خطوات الشحن الآمن وتمثيلها.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الدرس 20 (ص 129): هل تستطيع الروبوتات أن تفكّر؟ لنسأل STEMY!
الهدف العام: فهم أن الروبوتات تتّبع التعليمات ولا تستطيع التفكير بنفسها.
الأهداف التعلّمية: إعطاء أوامر بسيطة للروبوت. / ملاحظة ووصف كيف ينفّذ الروبوت التعليمات.
النشاط المقترح: لعبة «المبرمج والروبوت»: تلميذ يعطي أوامر (تقدّم، استدر، توقّف) وزميله ينفّذها حرفياً، ثم نناقش: هل فكّر الروبوت؟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خلاصة: أربعة دروس، أربعة أهداف عامة، وستة أهداف تعلّمية، تنتقل بالتلميذ من التعرّف على الروبوت إلى إعطائه الأوامر وملاحظة تنفيذها.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شكراً لكم. أفتح المجال للأسئلة والملاحظات حول الأهداف والأنشطة المقترحة.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480560" y="214884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480560" y="3566160"/>
            <a:ext cx="71323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r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7068312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STEM · الصف الأول · الدروس 17 – 20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circle"/>
          <p:cNvSpPr/>
          <p:nvPr/>
        </p:nvSpPr>
        <p:spPr>
          <a:xfrm>
            <a:off x="822960" y="1600200"/>
            <a:ext cx="3291840" cy="3291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Robot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77440"/>
            <a:ext cx="1737360" cy="1737360"/>
          </a:xfrm>
          <a:prstGeom prst="rect">
            <a:avLst/>
          </a:prstGeom>
        </p:spPr>
      </p:pic>
      <p:sp>
        <p:nvSpPr>
          <p:cNvPr id="4" name="Eyebrow"/>
          <p:cNvSpPr txBox="1"/>
          <p:nvPr/>
        </p:nvSpPr>
        <p:spPr>
          <a:xfrm>
            <a:off x="4480560" y="16002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b="1" dirty="0">
                <a:solidFill>
                  <a:schemeClr val="accent1"/>
                </a:solidFill>
              </a:rPr>
              <a:t>STEM · الصف الأول (G1)</a:t>
            </a:r>
            <a:endParaRPr lang="ar-LB" sz="18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4480560" y="21488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أهداف الدروس 17 – 20</a:t>
            </a:r>
            <a:endParaRPr lang="en-US" sz="48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4480560" y="3566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وحدة الروبوتات: الأهداف العامة والأهداف التعلّمية والأنشطة</a:t>
            </a:r>
            <a:endParaRPr lang="en-US" sz="2400" dirty="0"/>
          </a:p>
        </p:txBody>
      </p:sp>
      <p:sp>
        <p:nvSpPr>
          <p:cNvPr id="7" name="Presenter"/>
          <p:cNvSpPr txBox="1"/>
          <p:nvPr/>
        </p:nvSpPr>
        <p:spPr>
          <a:xfrm>
            <a:off x="4480560" y="5120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bg1"/>
                </a:solidFill>
              </a:rPr>
              <a:t>إعداد: محمد عبدالله</a:t>
            </a:r>
            <a:endParaRPr lang="ar-LB" sz="1600" dirty="0"/>
          </a:p>
          <a:p>
            <a:pPr algn="r" indent="0" marL="0">
              <a:buNone/>
            </a:pPr>
            <a:r>
              <a:rPr lang="ar-LB" altLang="en-US" sz="1600" dirty="0">
                <a:solidFill>
                  <a:schemeClr val="accent6"/>
                </a:solidFill>
              </a:rPr>
              <a:t>منسّق STEM</a:t>
            </a:r>
            <a:endParaRPr lang="ar-LB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أربعة دروس في رحلة واحدة</a:t>
            </a:r>
            <a:endParaRPr lang="en-US" sz="3600" dirty="0"/>
          </a:p>
        </p:txBody>
      </p:sp>
      <p:sp>
        <p:nvSpPr>
          <p:cNvPr id="3" name="Subtitle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accent5"/>
                </a:solidFill>
              </a:rPr>
              <a:t>من التعرّف على الروبوت إلى إعطائه الأوامر</a:t>
            </a:r>
            <a:endParaRPr lang="ar-LB" sz="1800" dirty="0"/>
          </a:p>
        </p:txBody>
      </p:sp>
      <p:sp>
        <p:nvSpPr>
          <p:cNvPr id="4" name="Card 17"/>
          <p:cNvSpPr/>
          <p:nvPr/>
        </p:nvSpPr>
        <p:spPr>
          <a:xfrm>
            <a:off x="9082735" y="1828800"/>
            <a:ext cx="2560320" cy="4160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 circle 17"/>
          <p:cNvSpPr/>
          <p:nvPr/>
        </p:nvSpPr>
        <p:spPr>
          <a:xfrm>
            <a:off x="9814255" y="2148840"/>
            <a:ext cx="1097280" cy="10972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Icon 1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61143" y="2395728"/>
            <a:ext cx="603504" cy="60350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265615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1"/>
                </a:solidFill>
              </a:rPr>
              <a:t>الدرس 17</a:t>
            </a:r>
            <a:endParaRPr lang="ar-LB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265615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لنتعرّف على الروبوت!</a:t>
            </a:r>
            <a:endParaRPr lang="ar-LB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265615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accent5"/>
                </a:solidFill>
              </a:rPr>
              <a:t>ماهية الروبوت وحركته</a:t>
            </a:r>
            <a:endParaRPr lang="ar-LB" sz="1400" dirty="0"/>
          </a:p>
        </p:txBody>
      </p:sp>
      <p:sp>
        <p:nvSpPr>
          <p:cNvPr id="10" name="Page pill 17"/>
          <p:cNvSpPr/>
          <p:nvPr/>
        </p:nvSpPr>
        <p:spPr>
          <a:xfrm>
            <a:off x="9814255" y="5349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814255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chemeClr val="tx1"/>
                </a:solidFill>
              </a:rPr>
              <a:t>ص 109</a:t>
            </a:r>
            <a:endParaRPr lang="ar-LB" sz="1200" dirty="0"/>
          </a:p>
        </p:txBody>
      </p:sp>
      <p:sp>
        <p:nvSpPr>
          <p:cNvPr id="12" name="Card 18"/>
          <p:cNvSpPr/>
          <p:nvPr/>
        </p:nvSpPr>
        <p:spPr>
          <a:xfrm>
            <a:off x="6238951" y="1828800"/>
            <a:ext cx="2560320" cy="4160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Icon circle 18"/>
          <p:cNvSpPr/>
          <p:nvPr/>
        </p:nvSpPr>
        <p:spPr>
          <a:xfrm>
            <a:off x="6970471" y="2148840"/>
            <a:ext cx="1097280" cy="10972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4" name="Icon 1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7359" y="2395728"/>
            <a:ext cx="603504" cy="60350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421831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2"/>
                </a:solidFill>
              </a:rPr>
              <a:t>الدرس 18</a:t>
            </a:r>
            <a:endParaRPr lang="ar-LB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6421831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الروبوتات في الحياة الواقعية!</a:t>
            </a:r>
            <a:endParaRPr lang="ar-LB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421831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accent5"/>
                </a:solidFill>
              </a:rPr>
              <a:t>الروبوت في حياتنا اليومية</a:t>
            </a:r>
            <a:endParaRPr lang="ar-LB" sz="1400" dirty="0"/>
          </a:p>
        </p:txBody>
      </p:sp>
      <p:sp>
        <p:nvSpPr>
          <p:cNvPr id="18" name="Page pill 18"/>
          <p:cNvSpPr/>
          <p:nvPr/>
        </p:nvSpPr>
        <p:spPr>
          <a:xfrm>
            <a:off x="6970471" y="5349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70471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chemeClr val="tx1"/>
                </a:solidFill>
              </a:rPr>
              <a:t>ص 115</a:t>
            </a:r>
            <a:endParaRPr lang="ar-LB" sz="1200" dirty="0"/>
          </a:p>
        </p:txBody>
      </p:sp>
      <p:sp>
        <p:nvSpPr>
          <p:cNvPr id="20" name="Card 19"/>
          <p:cNvSpPr/>
          <p:nvPr/>
        </p:nvSpPr>
        <p:spPr>
          <a:xfrm>
            <a:off x="3395167" y="1828800"/>
            <a:ext cx="2560320" cy="4160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Icon circle 19"/>
          <p:cNvSpPr/>
          <p:nvPr/>
        </p:nvSpPr>
        <p:spPr>
          <a:xfrm>
            <a:off x="4126687" y="2148840"/>
            <a:ext cx="1097280" cy="10972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Icon 19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3575" y="2395728"/>
            <a:ext cx="603504" cy="60350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578047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3"/>
                </a:solidFill>
              </a:rPr>
              <a:t>الدرس 19</a:t>
            </a:r>
            <a:endParaRPr lang="ar-LB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3578047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مصدر الطاقة!</a:t>
            </a:r>
            <a:endParaRPr lang="ar-LB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3578047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accent5"/>
                </a:solidFill>
              </a:rPr>
              <a:t>الطاقة والشحن الآمن</a:t>
            </a:r>
            <a:endParaRPr lang="ar-LB" sz="1400" dirty="0"/>
          </a:p>
        </p:txBody>
      </p:sp>
      <p:sp>
        <p:nvSpPr>
          <p:cNvPr id="26" name="Page pill 19"/>
          <p:cNvSpPr/>
          <p:nvPr/>
        </p:nvSpPr>
        <p:spPr>
          <a:xfrm>
            <a:off x="4126687" y="5349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126687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chemeClr val="tx1"/>
                </a:solidFill>
              </a:rPr>
              <a:t>ص 121</a:t>
            </a:r>
            <a:endParaRPr lang="ar-LB" sz="1200" dirty="0"/>
          </a:p>
        </p:txBody>
      </p:sp>
      <p:sp>
        <p:nvSpPr>
          <p:cNvPr id="28" name="Card 20"/>
          <p:cNvSpPr/>
          <p:nvPr/>
        </p:nvSpPr>
        <p:spPr>
          <a:xfrm>
            <a:off x="551383" y="1828800"/>
            <a:ext cx="2560320" cy="4160520"/>
          </a:xfrm>
          <a:prstGeom prst="roundRect">
            <a:avLst>
              <a:gd name="adj" fmla="val 53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 20"/>
          <p:cNvSpPr/>
          <p:nvPr/>
        </p:nvSpPr>
        <p:spPr>
          <a:xfrm>
            <a:off x="1282903" y="2148840"/>
            <a:ext cx="1097280" cy="10972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Icon 2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9791" y="2395728"/>
            <a:ext cx="603504" cy="60350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734263" y="34290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accent4"/>
                </a:solidFill>
              </a:rPr>
              <a:t>الدرس 20</a:t>
            </a:r>
            <a:endParaRPr lang="ar-LB" sz="1400" dirty="0"/>
          </a:p>
        </p:txBody>
      </p:sp>
      <p:sp>
        <p:nvSpPr>
          <p:cNvPr id="32" name="Text 26"/>
          <p:cNvSpPr txBox="1"/>
          <p:nvPr/>
        </p:nvSpPr>
        <p:spPr>
          <a:xfrm>
            <a:off x="734263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800" b="1" dirty="0">
                <a:solidFill>
                  <a:schemeClr val="tx1"/>
                </a:solidFill>
              </a:rPr>
              <a:t>هل تستطيع الروبوتات أن تفكّر؟</a:t>
            </a:r>
            <a:endParaRPr lang="ar-LB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734263" y="47091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accent5"/>
                </a:solidFill>
              </a:rPr>
              <a:t>الأوامر والتعليمات</a:t>
            </a:r>
            <a:endParaRPr lang="ar-LB" sz="1400" dirty="0"/>
          </a:p>
        </p:txBody>
      </p:sp>
      <p:sp>
        <p:nvSpPr>
          <p:cNvPr id="34" name="Page pill 20"/>
          <p:cNvSpPr/>
          <p:nvPr/>
        </p:nvSpPr>
        <p:spPr>
          <a:xfrm>
            <a:off x="1282903" y="534924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1282903" y="53492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200" b="1" dirty="0">
                <a:solidFill>
                  <a:schemeClr val="tx1"/>
                </a:solidFill>
              </a:rPr>
              <a:t>ص 129</a:t>
            </a:r>
            <a:endParaRPr lang="ar-LB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لنتعرّف على الروبوت!</a:t>
            </a:r>
            <a:endParaRPr lang="en-US" sz="3600" dirty="0"/>
          </a:p>
        </p:txBody>
      </p:sp>
      <p:sp>
        <p:nvSpPr>
          <p:cNvPr id="3" name="Lesson meta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accent1"/>
                </a:solidFill>
              </a:rPr>
              <a:t>الدرس 17</a:t>
            </a:r>
            <a:pPr algn="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  ·  ص 109  ·  </a:t>
            </a:r>
            <a:pPr algn="r" indent="0" marL="0">
              <a:buNone/>
            </a:pPr>
            <a:r>
              <a:rPr lang="ar-LB" altLang="en-US" sz="1600" i="1" dirty="0">
                <a:solidFill>
                  <a:schemeClr val="accent5"/>
                </a:solidFill>
              </a:rPr>
              <a:t>Let's meet the Robot!‎</a:t>
            </a:r>
            <a:endParaRPr lang="ar-LB" sz="1600" dirty="0"/>
          </a:p>
        </p:txBody>
      </p:sp>
      <p:sp>
        <p:nvSpPr>
          <p:cNvPr id="4" name="Aim card"/>
          <p:cNvSpPr/>
          <p:nvPr/>
        </p:nvSpPr>
        <p:spPr>
          <a:xfrm>
            <a:off x="4572000" y="1783080"/>
            <a:ext cx="707105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Ai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938528"/>
            <a:ext cx="6065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1"/>
                </a:solidFill>
              </a:rPr>
              <a:t>الهدف العام</a:t>
            </a:r>
            <a:endParaRPr lang="ar-LB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423160"/>
            <a:ext cx="6522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التعرّف على ماهية الروبوتات، وكيف تتحرك، وكيف تساعد الناس.</a:t>
            </a:r>
            <a:endParaRPr lang="ar-LB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657600"/>
            <a:ext cx="7071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chemeClr val="tx1"/>
                </a:solidFill>
              </a:rPr>
              <a:t>الأهداف التعلّمية</a:t>
            </a:r>
            <a:endParaRPr lang="ar-LB" sz="2000" dirty="0"/>
          </a:p>
        </p:txBody>
      </p:sp>
      <p:sp>
        <p:nvSpPr>
          <p:cNvPr id="9" name="Objective 1 badge"/>
          <p:cNvSpPr/>
          <p:nvPr/>
        </p:nvSpPr>
        <p:spPr>
          <a:xfrm>
            <a:off x="11048695" y="42062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48695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bg1"/>
                </a:solidFill>
              </a:rPr>
              <a:t>1</a:t>
            </a:r>
            <a:endParaRPr lang="ar-LB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160520"/>
            <a:ext cx="620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tx1"/>
                </a:solidFill>
              </a:rPr>
              <a:t>شرح ماهية الروبوتات، وكيف تتحرك، وكيف تساعد الناس.</a:t>
            </a:r>
            <a:endParaRPr lang="ar-LB" sz="1800" dirty="0"/>
          </a:p>
        </p:txBody>
      </p:sp>
      <p:sp>
        <p:nvSpPr>
          <p:cNvPr id="12" name="Lesson icon circle"/>
          <p:cNvSpPr/>
          <p:nvPr/>
        </p:nvSpPr>
        <p:spPr>
          <a:xfrm>
            <a:off x="1463040" y="1783080"/>
            <a:ext cx="1737360" cy="1737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Less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94560"/>
            <a:ext cx="914400" cy="914400"/>
          </a:xfrm>
          <a:prstGeom prst="rect">
            <a:avLst/>
          </a:prstGeom>
        </p:spPr>
      </p:pic>
      <p:sp>
        <p:nvSpPr>
          <p:cNvPr id="14" name="Activity card"/>
          <p:cNvSpPr/>
          <p:nvPr/>
        </p:nvSpPr>
        <p:spPr>
          <a:xfrm>
            <a:off x="548640" y="3749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15" name="Activi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931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389534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1"/>
                </a:solidFill>
              </a:rPr>
              <a:t>نشاط مقترح</a:t>
            </a:r>
            <a:endParaRPr lang="ar-LB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370832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عرض صور وفيديو قصير لروبوتات مختلفة، ثم يقلّد التلاميذ حركاتها: يمشي، يدور، يرفع، يلتقط.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الروبوتات في الحياة الواقعية!</a:t>
            </a:r>
            <a:endParaRPr lang="en-US" sz="3600" dirty="0"/>
          </a:p>
        </p:txBody>
      </p:sp>
      <p:sp>
        <p:nvSpPr>
          <p:cNvPr id="3" name="Lesson meta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accent2"/>
                </a:solidFill>
              </a:rPr>
              <a:t>الدرس 18</a:t>
            </a:r>
            <a:pPr algn="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  ·  ص 115  ·  </a:t>
            </a:r>
            <a:pPr algn="r" indent="0" marL="0">
              <a:buNone/>
            </a:pPr>
            <a:r>
              <a:rPr lang="ar-LB" altLang="en-US" sz="1600" i="1" dirty="0">
                <a:solidFill>
                  <a:schemeClr val="accent5"/>
                </a:solidFill>
              </a:rPr>
              <a:t>Robots in Real Life!‎</a:t>
            </a:r>
            <a:endParaRPr lang="ar-LB" sz="1600" dirty="0"/>
          </a:p>
        </p:txBody>
      </p:sp>
      <p:sp>
        <p:nvSpPr>
          <p:cNvPr id="4" name="Aim card"/>
          <p:cNvSpPr/>
          <p:nvPr/>
        </p:nvSpPr>
        <p:spPr>
          <a:xfrm>
            <a:off x="4572000" y="1783080"/>
            <a:ext cx="707105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Ai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938528"/>
            <a:ext cx="6065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2"/>
                </a:solidFill>
              </a:rPr>
              <a:t>الهدف العام</a:t>
            </a:r>
            <a:endParaRPr lang="ar-LB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423160"/>
            <a:ext cx="6522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استكشاف كيفية استخدام الروبوتات في المنازل والمدارس والمستشفيات وأماكن أخرى.</a:t>
            </a:r>
            <a:endParaRPr lang="ar-LB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657600"/>
            <a:ext cx="7071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chemeClr val="tx1"/>
                </a:solidFill>
              </a:rPr>
              <a:t>الأهداف التعلّمية</a:t>
            </a:r>
            <a:endParaRPr lang="ar-LB" sz="2000" dirty="0"/>
          </a:p>
        </p:txBody>
      </p:sp>
      <p:sp>
        <p:nvSpPr>
          <p:cNvPr id="9" name="Objective 1 badge"/>
          <p:cNvSpPr/>
          <p:nvPr/>
        </p:nvSpPr>
        <p:spPr>
          <a:xfrm>
            <a:off x="11048695" y="420624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48695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bg1"/>
                </a:solidFill>
              </a:rPr>
              <a:t>1</a:t>
            </a:r>
            <a:endParaRPr lang="ar-LB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160520"/>
            <a:ext cx="620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tx1"/>
                </a:solidFill>
              </a:rPr>
              <a:t>مطابقة الروبوتات بالمهام التي تؤديها، ومقارنة عملها بعمل الإنسان.</a:t>
            </a:r>
            <a:endParaRPr lang="ar-LB" sz="1800" dirty="0"/>
          </a:p>
        </p:txBody>
      </p:sp>
      <p:sp>
        <p:nvSpPr>
          <p:cNvPr id="12" name="Lesson icon circle"/>
          <p:cNvSpPr/>
          <p:nvPr/>
        </p:nvSpPr>
        <p:spPr>
          <a:xfrm>
            <a:off x="1463040" y="1783080"/>
            <a:ext cx="1737360" cy="173736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Less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94560"/>
            <a:ext cx="914400" cy="914400"/>
          </a:xfrm>
          <a:prstGeom prst="rect">
            <a:avLst/>
          </a:prstGeom>
        </p:spPr>
      </p:pic>
      <p:sp>
        <p:nvSpPr>
          <p:cNvPr id="14" name="Activity card"/>
          <p:cNvSpPr/>
          <p:nvPr/>
        </p:nvSpPr>
        <p:spPr>
          <a:xfrm>
            <a:off x="548640" y="3749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15" name="Activi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9319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77240" y="389534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2"/>
                </a:solidFill>
              </a:rPr>
              <a:t>نشاط مقترح</a:t>
            </a:r>
            <a:endParaRPr lang="ar-LB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777240" y="4370832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لعبة مطابقة: بطاقات روبوتات مقابل بطاقات أماكن (منزل، مدرسة، مستشفى)، ثم مقارنة عمل الروبوت بعمل الإنسان.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مصدر الطاقة!</a:t>
            </a:r>
            <a:endParaRPr lang="en-US" sz="3600" dirty="0"/>
          </a:p>
        </p:txBody>
      </p:sp>
      <p:sp>
        <p:nvSpPr>
          <p:cNvPr id="3" name="Lesson meta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accent3"/>
                </a:solidFill>
              </a:rPr>
              <a:t>الدرس 19</a:t>
            </a:r>
            <a:pPr algn="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  ·  ص 121  ·  </a:t>
            </a:r>
            <a:pPr algn="r" indent="0" marL="0">
              <a:buNone/>
            </a:pPr>
            <a:r>
              <a:rPr lang="ar-LB" altLang="en-US" sz="1600" i="1" dirty="0">
                <a:solidFill>
                  <a:schemeClr val="accent5"/>
                </a:solidFill>
              </a:rPr>
              <a:t>Power Supply!‎</a:t>
            </a:r>
            <a:endParaRPr lang="ar-LB" sz="1600" dirty="0"/>
          </a:p>
        </p:txBody>
      </p:sp>
      <p:sp>
        <p:nvSpPr>
          <p:cNvPr id="4" name="Aim card"/>
          <p:cNvSpPr/>
          <p:nvPr/>
        </p:nvSpPr>
        <p:spPr>
          <a:xfrm>
            <a:off x="4572000" y="1783080"/>
            <a:ext cx="707105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Ai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938528"/>
            <a:ext cx="6065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3"/>
                </a:solidFill>
              </a:rPr>
              <a:t>الهدف العام</a:t>
            </a:r>
            <a:endParaRPr lang="ar-LB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423160"/>
            <a:ext cx="6522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التعرّف على مصادر الطاقة المختلفة وكيفية شحن بطارية الروبوت بأمان.</a:t>
            </a:r>
            <a:endParaRPr lang="ar-LB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657600"/>
            <a:ext cx="7071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chemeClr val="tx1"/>
                </a:solidFill>
              </a:rPr>
              <a:t>الأهداف التعلّمية</a:t>
            </a:r>
            <a:endParaRPr lang="ar-LB" sz="2000" dirty="0"/>
          </a:p>
        </p:txBody>
      </p:sp>
      <p:sp>
        <p:nvSpPr>
          <p:cNvPr id="9" name="Objective 1 badge"/>
          <p:cNvSpPr/>
          <p:nvPr/>
        </p:nvSpPr>
        <p:spPr>
          <a:xfrm>
            <a:off x="11048695" y="420624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48695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bg1"/>
                </a:solidFill>
              </a:rPr>
              <a:t>1</a:t>
            </a:r>
            <a:endParaRPr lang="ar-LB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160520"/>
            <a:ext cx="620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tx1"/>
                </a:solidFill>
              </a:rPr>
              <a:t>تسمية مصادر الطاقة المختلفة للآلات.</a:t>
            </a:r>
            <a:endParaRPr lang="ar-LB" sz="1800" dirty="0"/>
          </a:p>
        </p:txBody>
      </p:sp>
      <p:sp>
        <p:nvSpPr>
          <p:cNvPr id="12" name="Objective 2 badge"/>
          <p:cNvSpPr/>
          <p:nvPr/>
        </p:nvSpPr>
        <p:spPr>
          <a:xfrm>
            <a:off x="11048695" y="5074920"/>
            <a:ext cx="594360" cy="59436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048695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bg1"/>
                </a:solidFill>
              </a:rPr>
              <a:t>2</a:t>
            </a:r>
            <a:endParaRPr lang="ar-LB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5029200"/>
            <a:ext cx="620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tx1"/>
                </a:solidFill>
              </a:rPr>
              <a:t>اتّباع خطوات آمنة لشحن بطارية الروبوت.</a:t>
            </a:r>
            <a:endParaRPr lang="ar-LB" sz="1800" dirty="0"/>
          </a:p>
        </p:txBody>
      </p:sp>
      <p:sp>
        <p:nvSpPr>
          <p:cNvPr id="15" name="Lesson icon circle"/>
          <p:cNvSpPr/>
          <p:nvPr/>
        </p:nvSpPr>
        <p:spPr>
          <a:xfrm>
            <a:off x="1463040" y="1783080"/>
            <a:ext cx="1737360" cy="173736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Less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94560"/>
            <a:ext cx="914400" cy="914400"/>
          </a:xfrm>
          <a:prstGeom prst="rect">
            <a:avLst/>
          </a:prstGeom>
        </p:spPr>
      </p:pic>
      <p:sp>
        <p:nvSpPr>
          <p:cNvPr id="17" name="Activity card"/>
          <p:cNvSpPr/>
          <p:nvPr/>
        </p:nvSpPr>
        <p:spPr>
          <a:xfrm>
            <a:off x="548640" y="3749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18" name="Activi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931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" y="389534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3"/>
                </a:solidFill>
              </a:rPr>
              <a:t>نشاط مقترح</a:t>
            </a:r>
            <a:endParaRPr lang="ar-LB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370832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فرز صور مصادر الطاقة (بطارية، كهرباء، شمس)، ثم ترتيب بطاقات خطوات الشحن الآمن وتمثيلها.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هل تستطيع الروبوتات أن تفكّر؟ لنسأل STEMY!</a:t>
            </a:r>
            <a:endParaRPr lang="en-US" sz="3600" dirty="0"/>
          </a:p>
        </p:txBody>
      </p:sp>
      <p:sp>
        <p:nvSpPr>
          <p:cNvPr id="3" name="Lesson meta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accent4"/>
                </a:solidFill>
              </a:rPr>
              <a:t>الدرس 20</a:t>
            </a:r>
            <a:pPr algn="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  ·  ص 129  ·  </a:t>
            </a:r>
            <a:pPr algn="r" indent="0" marL="0">
              <a:buNone/>
            </a:pPr>
            <a:r>
              <a:rPr lang="ar-LB" altLang="en-US" sz="1600" i="1" dirty="0">
                <a:solidFill>
                  <a:schemeClr val="accent5"/>
                </a:solidFill>
              </a:rPr>
              <a:t>Can Robots Think? Let's Ask STEMY!‎</a:t>
            </a:r>
            <a:endParaRPr lang="ar-LB" sz="1600" dirty="0"/>
          </a:p>
        </p:txBody>
      </p:sp>
      <p:sp>
        <p:nvSpPr>
          <p:cNvPr id="4" name="Aim card"/>
          <p:cNvSpPr/>
          <p:nvPr/>
        </p:nvSpPr>
        <p:spPr>
          <a:xfrm>
            <a:off x="4572000" y="1783080"/>
            <a:ext cx="7071055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Aim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19659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846320" y="1938528"/>
            <a:ext cx="6065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4"/>
                </a:solidFill>
              </a:rPr>
              <a:t>الهدف العام</a:t>
            </a:r>
            <a:endParaRPr lang="ar-LB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2423160"/>
            <a:ext cx="6522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2000" dirty="0">
                <a:solidFill>
                  <a:schemeClr val="tx1"/>
                </a:solidFill>
              </a:rPr>
              <a:t>فهم أن الروبوتات تتّبع التعليمات ولا تستطيع التفكير بنفسها.</a:t>
            </a:r>
            <a:endParaRPr lang="ar-LB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3657600"/>
            <a:ext cx="70710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2000" b="1" dirty="0">
                <a:solidFill>
                  <a:schemeClr val="tx1"/>
                </a:solidFill>
              </a:rPr>
              <a:t>الأهداف التعلّمية</a:t>
            </a:r>
            <a:endParaRPr lang="ar-LB" sz="2000" dirty="0"/>
          </a:p>
        </p:txBody>
      </p:sp>
      <p:sp>
        <p:nvSpPr>
          <p:cNvPr id="9" name="Objective 1 badge"/>
          <p:cNvSpPr/>
          <p:nvPr/>
        </p:nvSpPr>
        <p:spPr>
          <a:xfrm>
            <a:off x="11048695" y="420624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1048695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bg1"/>
                </a:solidFill>
              </a:rPr>
              <a:t>1</a:t>
            </a:r>
            <a:endParaRPr lang="ar-LB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0" y="4160520"/>
            <a:ext cx="620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tx1"/>
                </a:solidFill>
              </a:rPr>
              <a:t>إعطاء أوامر بسيطة للروبوت.</a:t>
            </a:r>
            <a:endParaRPr lang="ar-LB" sz="1800" dirty="0"/>
          </a:p>
        </p:txBody>
      </p:sp>
      <p:sp>
        <p:nvSpPr>
          <p:cNvPr id="12" name="Objective 2 badge"/>
          <p:cNvSpPr/>
          <p:nvPr/>
        </p:nvSpPr>
        <p:spPr>
          <a:xfrm>
            <a:off x="11048695" y="5074920"/>
            <a:ext cx="594360" cy="59436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1048695" y="5074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000" b="1" dirty="0">
                <a:solidFill>
                  <a:schemeClr val="bg1"/>
                </a:solidFill>
              </a:rPr>
              <a:t>2</a:t>
            </a:r>
            <a:endParaRPr lang="ar-LB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0" y="5029200"/>
            <a:ext cx="62023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tx1"/>
                </a:solidFill>
              </a:rPr>
              <a:t>ملاحظة ووصف كيف ينفّذ الروبوت التعليمات.</a:t>
            </a:r>
            <a:endParaRPr lang="ar-LB" sz="1800" dirty="0"/>
          </a:p>
        </p:txBody>
      </p:sp>
      <p:sp>
        <p:nvSpPr>
          <p:cNvPr id="15" name="Lesson icon circle"/>
          <p:cNvSpPr/>
          <p:nvPr/>
        </p:nvSpPr>
        <p:spPr>
          <a:xfrm>
            <a:off x="1463040" y="1783080"/>
            <a:ext cx="1737360" cy="173736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6" name="Lesso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2194560"/>
            <a:ext cx="914400" cy="914400"/>
          </a:xfrm>
          <a:prstGeom prst="rect">
            <a:avLst/>
          </a:prstGeom>
        </p:spPr>
      </p:pic>
      <p:sp>
        <p:nvSpPr>
          <p:cNvPr id="17" name="Activity card"/>
          <p:cNvSpPr/>
          <p:nvPr/>
        </p:nvSpPr>
        <p:spPr>
          <a:xfrm>
            <a:off x="548640" y="3749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1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14213D">
                <a:alpha val="12000"/>
              </a:srgbClr>
            </a:outerShdw>
          </a:effectLst>
        </p:spPr>
      </p:sp>
      <p:pic>
        <p:nvPicPr>
          <p:cNvPr id="18" name="Activity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393192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77240" y="3895344"/>
            <a:ext cx="2697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600" b="1" dirty="0">
                <a:solidFill>
                  <a:schemeClr val="accent4"/>
                </a:solidFill>
              </a:rPr>
              <a:t>نشاط مقترح</a:t>
            </a:r>
            <a:endParaRPr lang="ar-LB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77240" y="4370832"/>
            <a:ext cx="31089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LB" altLang="en-US" sz="1600" dirty="0">
                <a:solidFill>
                  <a:schemeClr val="tx1"/>
                </a:solidFill>
              </a:rPr>
              <a:t>لعبة «المبرمج والروبوت»: تلميذ يعطي أوامر (تقدّم، استدر، توقّف) وزميله ينفّذها حرفياً، ثم نناقش: هل فكّر الروبوت؟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مسار تنمية المهارات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LB" altLang="en-US" sz="1800" dirty="0">
                <a:solidFill>
                  <a:schemeClr val="accent5"/>
                </a:solidFill>
              </a:rPr>
              <a:t>كل درس يبني على ما قبله، من المعرفة إلى التطبيق</a:t>
            </a:r>
            <a:endParaRPr lang="ar-LB" sz="1800" dirty="0"/>
          </a:p>
        </p:txBody>
      </p:sp>
      <p:sp>
        <p:nvSpPr>
          <p:cNvPr id="4" name="Step 1"/>
          <p:cNvSpPr/>
          <p:nvPr/>
        </p:nvSpPr>
        <p:spPr>
          <a:xfrm>
            <a:off x="9128455" y="1874520"/>
            <a:ext cx="2514600" cy="182880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11335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الدرس 17</a:t>
            </a:r>
            <a:endParaRPr lang="ar-LB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311335" y="2423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400" b="1" dirty="0">
                <a:solidFill>
                  <a:schemeClr val="bg1"/>
                </a:solidFill>
              </a:rPr>
              <a:t>يتعرّف</a:t>
            </a:r>
            <a:endParaRPr lang="ar-LB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311335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bg1"/>
                </a:solidFill>
              </a:rPr>
              <a:t>ما هو الروبوت؟</a:t>
            </a:r>
            <a:endParaRPr lang="ar-LB" sz="1400" dirty="0"/>
          </a:p>
        </p:txBody>
      </p:sp>
      <p:sp>
        <p:nvSpPr>
          <p:cNvPr id="8" name="Arrow 1"/>
          <p:cNvSpPr/>
          <p:nvPr/>
        </p:nvSpPr>
        <p:spPr>
          <a:xfrm>
            <a:off x="8826703" y="2633472"/>
            <a:ext cx="237744" cy="310896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6248095" y="1874520"/>
            <a:ext cx="2514600" cy="1828800"/>
          </a:xfrm>
          <a:prstGeom prst="roundRect">
            <a:avLst>
              <a:gd name="adj" fmla="val 75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30975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الدرس 18</a:t>
            </a:r>
            <a:endParaRPr lang="ar-LB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30975" y="2423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400" b="1" dirty="0">
                <a:solidFill>
                  <a:schemeClr val="bg1"/>
                </a:solidFill>
              </a:rPr>
              <a:t>يطابق ويقارن</a:t>
            </a:r>
            <a:endParaRPr lang="ar-LB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30975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bg1"/>
                </a:solidFill>
              </a:rPr>
              <a:t>الروبوت والإنسان</a:t>
            </a:r>
            <a:endParaRPr lang="ar-LB" sz="1400" dirty="0"/>
          </a:p>
        </p:txBody>
      </p:sp>
      <p:sp>
        <p:nvSpPr>
          <p:cNvPr id="13" name="Arrow 2"/>
          <p:cNvSpPr/>
          <p:nvPr/>
        </p:nvSpPr>
        <p:spPr>
          <a:xfrm>
            <a:off x="5946343" y="2633472"/>
            <a:ext cx="237744" cy="310896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Step 3"/>
          <p:cNvSpPr/>
          <p:nvPr/>
        </p:nvSpPr>
        <p:spPr>
          <a:xfrm>
            <a:off x="3367735" y="1874520"/>
            <a:ext cx="2514600" cy="1828800"/>
          </a:xfrm>
          <a:prstGeom prst="roundRect">
            <a:avLst>
              <a:gd name="adj" fmla="val 75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50615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الدرس 19</a:t>
            </a:r>
            <a:endParaRPr lang="ar-LB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550615" y="2423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400" b="1" dirty="0">
                <a:solidFill>
                  <a:schemeClr val="bg1"/>
                </a:solidFill>
              </a:rPr>
              <a:t>يسمّي ويطبّق</a:t>
            </a:r>
            <a:endParaRPr lang="ar-LB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550615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bg1"/>
                </a:solidFill>
              </a:rPr>
              <a:t>الطاقة والسلامة</a:t>
            </a:r>
            <a:endParaRPr lang="ar-LB" sz="1400" dirty="0"/>
          </a:p>
        </p:txBody>
      </p:sp>
      <p:sp>
        <p:nvSpPr>
          <p:cNvPr id="18" name="Arrow 3"/>
          <p:cNvSpPr/>
          <p:nvPr/>
        </p:nvSpPr>
        <p:spPr>
          <a:xfrm>
            <a:off x="3065983" y="2633472"/>
            <a:ext cx="237744" cy="310896"/>
          </a:xfrm>
          <a:prstGeom prst="leftArrow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Step 4"/>
          <p:cNvSpPr/>
          <p:nvPr/>
        </p:nvSpPr>
        <p:spPr>
          <a:xfrm>
            <a:off x="487375" y="1874520"/>
            <a:ext cx="2514600" cy="1828800"/>
          </a:xfrm>
          <a:prstGeom prst="roundRect">
            <a:avLst>
              <a:gd name="adj" fmla="val 7500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0255" y="20116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b="1" dirty="0">
                <a:solidFill>
                  <a:schemeClr val="bg1"/>
                </a:solidFill>
              </a:rPr>
              <a:t>الدرس 20</a:t>
            </a:r>
            <a:endParaRPr lang="ar-LB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70255" y="242316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2400" b="1" dirty="0">
                <a:solidFill>
                  <a:schemeClr val="bg1"/>
                </a:solidFill>
              </a:rPr>
              <a:t>يأمر ويلاحظ</a:t>
            </a:r>
            <a:endParaRPr lang="ar-LB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70255" y="30632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400" dirty="0">
                <a:solidFill>
                  <a:schemeClr val="bg1"/>
                </a:solidFill>
              </a:rPr>
              <a:t>التفكير البرمجي</a:t>
            </a:r>
            <a:endParaRPr lang="ar-LB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28455" y="4160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6400" b="1" dirty="0">
                <a:solidFill>
                  <a:schemeClr val="tx1"/>
                </a:solidFill>
              </a:rPr>
              <a:t>4</a:t>
            </a:r>
            <a:endParaRPr lang="ar-LB" sz="6400" dirty="0"/>
          </a:p>
        </p:txBody>
      </p:sp>
      <p:sp>
        <p:nvSpPr>
          <p:cNvPr id="24" name="Text 22"/>
          <p:cNvSpPr txBox="1"/>
          <p:nvPr/>
        </p:nvSpPr>
        <p:spPr>
          <a:xfrm>
            <a:off x="9128455" y="5212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دروس</a:t>
            </a:r>
            <a:endParaRPr lang="ar-LB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248095" y="4160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6400" b="1" dirty="0">
                <a:solidFill>
                  <a:schemeClr val="tx1"/>
                </a:solidFill>
              </a:rPr>
              <a:t>4</a:t>
            </a:r>
            <a:endParaRPr lang="ar-LB" sz="6400" dirty="0"/>
          </a:p>
        </p:txBody>
      </p:sp>
      <p:sp>
        <p:nvSpPr>
          <p:cNvPr id="26" name="Text 24"/>
          <p:cNvSpPr txBox="1"/>
          <p:nvPr/>
        </p:nvSpPr>
        <p:spPr>
          <a:xfrm>
            <a:off x="6248095" y="5212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أهداف عامة</a:t>
            </a:r>
            <a:endParaRPr lang="ar-LB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3367735" y="4160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6400" b="1" dirty="0">
                <a:solidFill>
                  <a:schemeClr val="tx1"/>
                </a:solidFill>
              </a:rPr>
              <a:t>6</a:t>
            </a:r>
            <a:endParaRPr lang="ar-LB" sz="6400" dirty="0"/>
          </a:p>
        </p:txBody>
      </p:sp>
      <p:sp>
        <p:nvSpPr>
          <p:cNvPr id="28" name="Text 26"/>
          <p:cNvSpPr txBox="1"/>
          <p:nvPr/>
        </p:nvSpPr>
        <p:spPr>
          <a:xfrm>
            <a:off x="3367735" y="5212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أهداف تعلّمية</a:t>
            </a:r>
            <a:endParaRPr lang="ar-LB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7375" y="4160520"/>
            <a:ext cx="2514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6400" b="1" dirty="0">
                <a:solidFill>
                  <a:schemeClr val="tx1"/>
                </a:solidFill>
              </a:rPr>
              <a:t>4</a:t>
            </a:r>
            <a:endParaRPr lang="ar-LB" sz="6400" dirty="0"/>
          </a:p>
        </p:txBody>
      </p:sp>
      <p:sp>
        <p:nvSpPr>
          <p:cNvPr id="30" name="Text 28"/>
          <p:cNvSpPr txBox="1"/>
          <p:nvPr/>
        </p:nvSpPr>
        <p:spPr>
          <a:xfrm>
            <a:off x="487375" y="52120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LB" altLang="en-US" sz="1600" dirty="0">
                <a:solidFill>
                  <a:schemeClr val="accent5"/>
                </a:solidFill>
              </a:rPr>
              <a:t>أنشطة صفية مقترحة</a:t>
            </a:r>
            <a:endParaRPr lang="ar-LB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ro circle"/>
          <p:cNvSpPr/>
          <p:nvPr/>
        </p:nvSpPr>
        <p:spPr>
          <a:xfrm>
            <a:off x="822960" y="1600200"/>
            <a:ext cx="3291840" cy="32918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3" name="Discussio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77440"/>
            <a:ext cx="1737360" cy="1737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480560" y="214884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شكراً لإصغائكم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4480560" y="356616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أسئلة · ملاحظات · نقاش</a:t>
            </a:r>
            <a:endParaRPr lang="en-US" sz="2400" dirty="0"/>
          </a:p>
        </p:txBody>
      </p:sp>
      <p:sp>
        <p:nvSpPr>
          <p:cNvPr id="6" name="Presenter"/>
          <p:cNvSpPr txBox="1"/>
          <p:nvPr/>
        </p:nvSpPr>
        <p:spPr>
          <a:xfrm>
            <a:off x="4480560" y="512064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LB" altLang="en-US" sz="1600" b="1" dirty="0">
                <a:solidFill>
                  <a:schemeClr val="bg1"/>
                </a:solidFill>
              </a:rPr>
              <a:t>محمد عبدالله</a:t>
            </a:r>
            <a:endParaRPr lang="ar-LB" sz="1600" dirty="0"/>
          </a:p>
          <a:p>
            <a:pPr algn="r" indent="0" marL="0">
              <a:buNone/>
            </a:pPr>
            <a:r>
              <a:rPr lang="ar-LB" altLang="en-US" sz="1600" dirty="0">
                <a:solidFill>
                  <a:schemeClr val="accent6"/>
                </a:solidFill>
              </a:rPr>
              <a:t>منسّق STEM</a:t>
            </a:r>
            <a:endParaRPr lang="ar-LB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EM Robotics">
  <a:themeElements>
    <a:clrScheme name="STEM Robotics">
      <a:dk1>
        <a:srgbClr val="14213D"/>
      </a:dk1>
      <a:lt1>
        <a:srgbClr val="FFFFFF"/>
      </a:lt1>
      <a:dk2>
        <a:srgbClr val="1F2E54"/>
      </a:dk2>
      <a:lt2>
        <a:srgbClr val="EEF2F7"/>
      </a:lt2>
      <a:accent1>
        <a:srgbClr val="FCA311"/>
      </a:accent1>
      <a:accent2>
        <a:srgbClr val="2A9D8F"/>
      </a:accent2>
      <a:accent3>
        <a:srgbClr val="E76F51"/>
      </a:accent3>
      <a:accent4>
        <a:srgbClr val="6C63FF"/>
      </a:accent4>
      <a:accent5>
        <a:srgbClr val="5C677D"/>
      </a:accent5>
      <a:accent6>
        <a:srgbClr val="8EA8C3"/>
      </a:accent6>
      <a:hlink>
        <a:srgbClr val="2A9D8F"/>
      </a:hlink>
      <a:folHlink>
        <a:srgbClr val="6C63FF"/>
      </a:folHlink>
    </a:clrScheme>
    <a:fontScheme name="STEM Robotic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أهداف الدروس 17 – 20</dc:title>
  <dc:subject>PptxGenJS Presentation</dc:subject>
  <dc:creator>محمد عبدالله</dc:creator>
  <cp:lastModifiedBy>محمد عبدالله</cp:lastModifiedBy>
  <cp:revision>1</cp:revision>
  <dcterms:created xsi:type="dcterms:W3CDTF">2026-10-13T03:33:07Z</dcterms:created>
  <dcterms:modified xsi:type="dcterms:W3CDTF">2026-10-13T03:33:07Z</dcterms:modified>
</cp:coreProperties>
</file>