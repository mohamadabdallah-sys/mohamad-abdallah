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b2a7dc0f-d259-af50-386e-cadc1d050321}">
          <p14:sldIdLst>
            <p14:sldId id="256"/>
            <p14:sldId id="257"/>
            <p14:sldId id="258"/>
            <p14:sldId id="259"/>
          </p14:sldIdLst>
        </p14:section>
        <p14:section name="الشرح" id="{223eea78-6509-a121-ec68-86056389a3cf}">
          <p14:sldIdLst>
            <p14:sldId id="260"/>
            <p14:sldId id="261"/>
            <p14:sldId id="262"/>
          </p14:sldIdLst>
        </p14:section>
        <p14:section name="التطبيق" id="{b1dda29f-68d6-6c15-e37d-8a6bbb1355e5}">
          <p14:sldIdLst>
            <p14:sldId id="263"/>
            <p14:sldId id="264"/>
            <p14:sldId id="265"/>
          </p14:sldIdLst>
        </p14:section>
        <p14:section name="التقييم" id="{9c54b256-c15b-9f12-235a-440ab90936f1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تقديم الدرس: نظام الإحداثيات - المكونات والأرباع. القيم: الدقة الرياضية، التفكير المنطقي، الإبداع في حل المسائل.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التمهيد (5 دقائق): ربط بالمكتسبات السابقة. اطرح السؤال واترك التلاميذ يتوقعون الإجابة، ثم قدّم فكرة أن كل موقع يُحدَّد بزوج من الأرقام (إحداثيات) كما يفعل GPS.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الأهداف: في نهاية الحصة يتوقع أن يصبح التلميذ قادراً على تحديد عناصر نظام الإحداثيات (المحور السيني، المحور الصادي، نقطة الأصل، الأرباع)، وأن يستكشف تطبيقات واقعية تُظهر أهمية أنظمة الإحداثيات.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المصطلحات الجديدة: المحور السيني (x-axis)، المحور الصادي (y-axis)، نقطة الأصل (Origin)، الأرباع الأربعة (Quadrants)، نظام تحديد المواقع (GPS).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نظام الإحداثيات يتكوّن من محورين متعامدين: السيني (أفقي) والصادي (عمودي)، يلتقيان عند نقطة الأصل (0,0)، ويقسمان المستوي إلى أربعة أرباع.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مثال: النقطة A(3,2): نبدأ من الأصل، نتحرك 3 وحدات إلى اليمين ثم وحدتين إلى الأعلى. أكّد أن الترتيب مهم: (3,2) تختلف عن (2,3).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وضّح خصائص كل ربع مستعيناً بأمثلة من الكتاب. للفروقات الفردية: ركّز في البداية على الربعين الأول والثاني للمتعثرين قبل توسيع النقاش لبقية الأرباع.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A(4,3) الربع الأول، B(-2,5) الربع الثاني، C(-3,-4) الربع الثالث، D(1,-2) الربع الرابع، E(0,3) على المحور الصادي فلا تنتمي إلى أي ربع. للمتميزين: اطلب إيجاد تطبيق واقعي إضافي لنظام الإحداثيات.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ناقش أي أخطاء شائعة: الخلط بين ترتيب x و y، أو اعتبار النقطة على المحور ضمن ربع.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استعرض مع التلاميذ التطبيقات الواقعية وناقش أهميتها. اسأل: هل تعرفون تطبيقات أخرى؟ (مثل ألعاب الفيديو، حركة الروبوت على شبكة).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 المتوقعة: 1) عند نقطة الأصل (0,0). 2) الربع الثاني (x سالبة، y موجبة). 3) GPS، تتبع اللاعبين، الفن، تتبع الطائرات.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ذكّر التلاميذ بالدخول إلى منصة التلميذ وحل التمرينين الأول والثاني من تمارين الفصل الثاني.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 سريعة للمفاهيم الأساسية قبل نهاية الحصة.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LB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LB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LB" altLang="en-US" sz="1800" dirty="0">
                <a:solidFill>
                  <a:schemeClr val="accent6"/>
                </a:solidFill>
              </a:defRPr>
            </a:lvl1pPr>
          </a:lstStyle>
          <a:p>
            <a:pPr algn="r" indent="0" marL="0">
              <a:buNone/>
            </a:pPr>
            <a:endParaRPr lang="ar-LB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LB" alt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LB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in Roboland · الفصل الثاني</a:t>
            </a:r>
            <a:endParaRPr lang="ar-LB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4000" b="1" dirty="0">
                <a:solidFill>
                  <a:schemeClr val="bg1"/>
                </a:solidFill>
              </a:rPr>
              <a:t>نظام الإحداثيات</a:t>
            </a:r>
            <a:endParaRPr lang="ar-LB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accent6"/>
                </a:solidFill>
              </a:rPr>
              <a:t>المكوّنات والأرباع — الصف الثامن</a:t>
            </a:r>
            <a:endParaRPr lang="ar-LB" sz="1800" dirty="0"/>
          </a:p>
        </p:txBody>
      </p:sp>
      <p:sp>
        <p:nvSpPr>
          <p:cNvPr id="5" name="Shape 3"/>
          <p:cNvSpPr/>
          <p:nvPr/>
        </p:nvSpPr>
        <p:spPr>
          <a:xfrm>
            <a:off x="859536" y="4023360"/>
            <a:ext cx="120700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63040" y="3419856"/>
            <a:ext cx="0" cy="120700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headEnd type="triangle"/>
          </a:ln>
        </p:spPr>
      </p:sp>
      <p:sp>
        <p:nvSpPr>
          <p:cNvPr id="7" name="Shape 5"/>
          <p:cNvSpPr/>
          <p:nvPr/>
        </p:nvSpPr>
        <p:spPr>
          <a:xfrm>
            <a:off x="1801368" y="3557016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06240" y="4297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12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مؤسسة الهادي (ع) · 2026/2027</a:t>
            </a:r>
            <a:endParaRPr lang="ar-L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سؤال للتفكير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3931920" y="1234440"/>
            <a:ext cx="4754880" cy="173736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0" y="1371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LB" alt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يعرف تطبيق الخرائط على هاتفك موقعك بالضبط على سطح الأرض؟</a:t>
            </a:r>
            <a:endParaRPr lang="ar-LB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3246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3370" y="34175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54880" y="3154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الفكرة: </a:t>
            </a:r>
            <a:pPr algn="r" indent="0" marL="0">
              <a:buNone/>
            </a:pPr>
            <a:r>
              <a:rPr lang="ar-LB" alt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موقع يمكن تحديده بزوج من الأرقام يُسمّى </a:t>
            </a:r>
            <a:pPr algn="r" indent="0" marL="0">
              <a:buNone/>
            </a:pPr>
            <a:r>
              <a:rPr lang="ar-LB" alt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إحداثيات</a:t>
            </a:r>
            <a:pPr algn="r" indent="0" marL="0">
              <a:buNone/>
            </a:pPr>
            <a:r>
              <a:rPr lang="ar-LB" alt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تماماً كما يفعل نظام GPS.</a:t>
            </a:r>
            <a:endParaRPr lang="ar-LB" sz="1600" dirty="0"/>
          </a:p>
        </p:txBody>
      </p:sp>
      <p:sp>
        <p:nvSpPr>
          <p:cNvPr id="8" name="Shape 5"/>
          <p:cNvSpPr/>
          <p:nvPr/>
        </p:nvSpPr>
        <p:spPr>
          <a:xfrm>
            <a:off x="512064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" y="1335024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" y="1664208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70432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" y="1993392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99616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" y="2322576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57984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" y="2980944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7168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2064" y="3310128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16352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" y="3639312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45536" y="1335024"/>
            <a:ext cx="0" cy="2633472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2064" y="3968496"/>
            <a:ext cx="263347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4904" y="2651760"/>
            <a:ext cx="290779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828800" y="1197864"/>
            <a:ext cx="0" cy="2907792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128016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2670048" y="1344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(2 , 3)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ماذا سنتعلم اليوم؟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4617720" y="1234440"/>
            <a:ext cx="4069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58191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5290" y="1753362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0" y="1490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أحدّد عناصر نظام الإحداثيات</a:t>
            </a:r>
            <a:endParaRPr lang="ar-LB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السيني، المحور الصادي، نقطة الأصل</a:t>
            </a:r>
            <a:endParaRPr lang="ar-LB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4069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703320" y="1581912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175336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14904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أميّز الأرباع الأربعة</a:t>
            </a:r>
            <a:endParaRPr lang="ar-LB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وأعرف إشارة x و y في كل ربع</a:t>
            </a:r>
            <a:endParaRPr lang="ar-LB" sz="1400" dirty="0"/>
          </a:p>
        </p:txBody>
      </p:sp>
      <p:sp>
        <p:nvSpPr>
          <p:cNvPr id="13" name="Shape 9"/>
          <p:cNvSpPr/>
          <p:nvPr/>
        </p:nvSpPr>
        <p:spPr>
          <a:xfrm>
            <a:off x="4617720" y="2926080"/>
            <a:ext cx="4069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7863840" y="3273552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90" y="3445002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أحدّد موقع نقطة ‪(x , y)‬</a:t>
            </a:r>
            <a:endParaRPr lang="ar-LB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وأعرف في أي ربع تقع</a:t>
            </a:r>
            <a:endParaRPr lang="ar-LB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4069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3703320" y="327355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770" y="3445002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1821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أستكشف تطبيقات واقعية</a:t>
            </a:r>
            <a:endParaRPr lang="ar-LB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تُظهر أهمية أنظمة الإحداثيات</a:t>
            </a:r>
            <a:endParaRPr lang="ar-L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مصطلحات جديدة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713232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205472" y="24231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السيني</a:t>
            </a:r>
            <a:endParaRPr lang="ar-LB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05472" y="30632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x-axis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الأفقي</a:t>
            </a:r>
            <a:endParaRPr lang="ar-LB" sz="1200" dirty="0"/>
          </a:p>
        </p:txBody>
      </p:sp>
      <p:sp>
        <p:nvSpPr>
          <p:cNvPr id="9" name="Shape 7"/>
          <p:cNvSpPr/>
          <p:nvPr/>
        </p:nvSpPr>
        <p:spPr>
          <a:xfrm>
            <a:off x="546354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592074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207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536692" y="24231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الصادي</a:t>
            </a:r>
            <a:endParaRPr lang="ar-LB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36692" y="30632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y-axis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5498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العمودي</a:t>
            </a:r>
            <a:endParaRPr lang="ar-LB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51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24231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الأصل</a:t>
            </a:r>
            <a:endParaRPr lang="ar-LB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67912" y="30632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Origin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تقاطع المحورين ‪(0 , 0)‬</a:t>
            </a:r>
            <a:endParaRPr lang="ar-LB" sz="1200" dirty="0"/>
          </a:p>
        </p:txBody>
      </p:sp>
      <p:sp>
        <p:nvSpPr>
          <p:cNvPr id="21" name="Shape 19"/>
          <p:cNvSpPr/>
          <p:nvPr/>
        </p:nvSpPr>
        <p:spPr>
          <a:xfrm>
            <a:off x="212598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258318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5831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2199132" y="24231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الأرباع</a:t>
            </a:r>
            <a:endParaRPr lang="ar-LB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199132" y="30632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Quadrants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21742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الأقسام الأربعة للمستوي</a:t>
            </a:r>
            <a:endParaRPr lang="ar-LB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1371600"/>
            <a:ext cx="1554480" cy="29260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24231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تحديد المواقع</a:t>
            </a:r>
            <a:endParaRPr lang="ar-LB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306324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GPS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يحدد موقعك بالإحداثيات</a:t>
            </a:r>
            <a:endParaRPr lang="ar-L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مكوّنات نظام الإحداثيات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6362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9280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2199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253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5117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954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008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3872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86791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9709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2628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1097280"/>
            <a:ext cx="0" cy="3566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08736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x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404872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28986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40280" y="278892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126187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السيني  x</a:t>
            </a:r>
            <a:endParaRPr lang="ar-LB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أفقي، الأرقام الموجبة إلى اليمين والسالبة إلى اليسار</a:t>
            </a:r>
            <a:endParaRPr lang="ar-LB" sz="1400" dirty="0"/>
          </a:p>
        </p:txBody>
      </p:sp>
      <p:sp>
        <p:nvSpPr>
          <p:cNvPr id="32" name="Shape 30"/>
          <p:cNvSpPr/>
          <p:nvPr/>
        </p:nvSpPr>
        <p:spPr>
          <a:xfrm>
            <a:off x="8321040" y="240487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72000" y="2331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 الصادي  y</a:t>
            </a:r>
            <a:endParaRPr lang="ar-LB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2743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عمودي، الأرقام الموجبة إلى الأعلى والسالبة إلى الأسفل</a:t>
            </a:r>
            <a:endParaRPr lang="ar-LB" sz="1400" dirty="0"/>
          </a:p>
        </p:txBody>
      </p:sp>
      <p:sp>
        <p:nvSpPr>
          <p:cNvPr id="35" name="Shape 33"/>
          <p:cNvSpPr/>
          <p:nvPr/>
        </p:nvSpPr>
        <p:spPr>
          <a:xfrm>
            <a:off x="8321040" y="354787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0" y="3474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الأصل  O</a:t>
            </a:r>
            <a:endParaRPr lang="ar-LB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3886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تقاطع المحورين، وإحداثياتها ‪(0 , 0)‬</a:t>
            </a:r>
            <a:endParaRPr lang="ar-LB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434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المحوران متعامدان ويقسمان المستوي إلى أربعة أرباع</a:t>
            </a:r>
            <a:endParaRPr lang="ar-L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كيف نحدّد موقع نقطة؟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6362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9280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2199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253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5117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954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008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3872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86791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9709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2628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1097280"/>
            <a:ext cx="0" cy="3566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08736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x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404872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28986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2880360"/>
            <a:ext cx="987552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19272" y="2221992"/>
            <a:ext cx="0" cy="658368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3246120" y="2148840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92424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6F51"/>
                </a:solidFill>
              </a:rPr>
              <a:t>A(3 , 2)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1234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1234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نقطة الأصل ‪(0 , 0)‬</a:t>
            </a:r>
            <a:endParaRPr lang="ar-LB" sz="1500" dirty="0"/>
          </a:p>
        </p:txBody>
      </p:sp>
      <p:sp>
        <p:nvSpPr>
          <p:cNvPr id="35" name="Shape 33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2011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تحرّك أفقياً بمقدار x (يمين + ، يسار −)</a:t>
            </a:r>
            <a:endParaRPr lang="ar-LB" sz="1500" dirty="0"/>
          </a:p>
        </p:txBody>
      </p:sp>
      <p:sp>
        <p:nvSpPr>
          <p:cNvPr id="38" name="Shape 36"/>
          <p:cNvSpPr/>
          <p:nvPr/>
        </p:nvSpPr>
        <p:spPr>
          <a:xfrm>
            <a:off x="8229600" y="2788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تحرّك عمودياً بمقدار y (أعلى + ، أسفل −)</a:t>
            </a:r>
            <a:endParaRPr lang="ar-LB" sz="1500" dirty="0"/>
          </a:p>
        </p:txBody>
      </p:sp>
      <p:sp>
        <p:nvSpPr>
          <p:cNvPr id="41" name="Shape 39"/>
          <p:cNvSpPr/>
          <p:nvPr/>
        </p:nvSpPr>
        <p:spPr>
          <a:xfrm>
            <a:off x="4572000" y="3657600"/>
            <a:ext cx="4114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0916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تذكّر: </a:t>
            </a:r>
            <a:pPr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النقطة دائماً ‪(x , y)‬</a:t>
            </a:r>
            <a:endParaRPr lang="ar-LB" sz="1500" dirty="0"/>
          </a:p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الرقم الأول أفقي، والثاني عمودي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الأرباع الأربعة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2331720" y="1234440"/>
            <a:ext cx="1645920" cy="1645920"/>
          </a:xfrm>
          <a:prstGeom prst="rect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34440"/>
            <a:ext cx="1645920" cy="1645920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880360"/>
            <a:ext cx="1645920" cy="1645920"/>
          </a:xfrm>
          <a:prstGeom prst="rect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2880360"/>
            <a:ext cx="1645920" cy="164592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6362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416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9280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335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2199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253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5117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090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0954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9008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3872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6791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4845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9709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52628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31720" y="1097280"/>
            <a:ext cx="0" cy="3566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08736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x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404872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28986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191292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الأول</a:t>
            </a:r>
            <a:endParaRPr lang="ar-LB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223296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(+ , +)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191292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الثاني</a:t>
            </a:r>
            <a:endParaRPr lang="ar-LB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223296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(− , +)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355884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الثالث</a:t>
            </a:r>
            <a:endParaRPr lang="ar-LB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387888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(− , −)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2377440" y="355884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الرابع</a:t>
            </a:r>
            <a:endParaRPr lang="ar-LB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2377440" y="3878885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(+ , −)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1234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نرقّم الأرباع عكس اتجاه عقارب الساعة، بدءاً من الأعلى يميناً</a:t>
            </a:r>
            <a:endParaRPr lang="ar-LB" sz="1600" dirty="0"/>
          </a:p>
        </p:txBody>
      </p:sp>
      <p:sp>
        <p:nvSpPr>
          <p:cNvPr id="41" name="Shape 39"/>
          <p:cNvSpPr/>
          <p:nvPr/>
        </p:nvSpPr>
        <p:spPr>
          <a:xfrm>
            <a:off x="8366760" y="2240280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الأول: x موجبة و y موجبة</a:t>
            </a:r>
            <a:endParaRPr lang="ar-LB" sz="1500" dirty="0"/>
          </a:p>
        </p:txBody>
      </p:sp>
      <p:sp>
        <p:nvSpPr>
          <p:cNvPr id="43" name="Shape 41"/>
          <p:cNvSpPr/>
          <p:nvPr/>
        </p:nvSpPr>
        <p:spPr>
          <a:xfrm>
            <a:off x="8366760" y="2788920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720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الثاني: x سالبة و y موجبة</a:t>
            </a:r>
            <a:endParaRPr lang="ar-LB" sz="1500" dirty="0"/>
          </a:p>
        </p:txBody>
      </p:sp>
      <p:sp>
        <p:nvSpPr>
          <p:cNvPr id="45" name="Shape 43"/>
          <p:cNvSpPr/>
          <p:nvPr/>
        </p:nvSpPr>
        <p:spPr>
          <a:xfrm>
            <a:off x="8366760" y="3337560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57200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الثالث: x سالبة و y سالبة</a:t>
            </a:r>
            <a:endParaRPr lang="ar-LB" sz="1500" dirty="0"/>
          </a:p>
        </p:txBody>
      </p:sp>
      <p:sp>
        <p:nvSpPr>
          <p:cNvPr id="47" name="Shape 45"/>
          <p:cNvSpPr/>
          <p:nvPr/>
        </p:nvSpPr>
        <p:spPr>
          <a:xfrm>
            <a:off x="8366760" y="3886200"/>
            <a:ext cx="27432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7200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الرابع: x موجبة و y سالبة</a:t>
            </a:r>
            <a:endParaRPr lang="ar-LB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300" i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على المحورين لا تنتمي إلى أي ربع</a:t>
            </a:r>
            <a:endParaRPr lang="ar-LB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نشاط جماعي: أين تقع النقطة؟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6362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9280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35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2199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253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5117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954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008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53872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927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86791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4845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19709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52628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1097280"/>
            <a:ext cx="0" cy="3566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08736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x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404872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28986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1188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030" y="1337310"/>
            <a:ext cx="297180" cy="29718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57200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فريق يحدّد موقع النقاط على اللوحة البيانية، ثم يذكر الربع الذي تقع فيه كل نقطة</a:t>
            </a:r>
            <a:endParaRPr lang="ar-LB" sz="1400" dirty="0"/>
          </a:p>
        </p:txBody>
      </p:sp>
      <p:sp>
        <p:nvSpPr>
          <p:cNvPr id="31" name="Shape 28"/>
          <p:cNvSpPr/>
          <p:nvPr/>
        </p:nvSpPr>
        <p:spPr>
          <a:xfrm>
            <a:off x="4572000" y="2057400"/>
            <a:ext cx="41148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75120" y="2057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(4 , 3)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663440" y="20574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الربع: ........</a:t>
            </a:r>
            <a:endParaRPr lang="ar-LB" sz="1400" dirty="0"/>
          </a:p>
        </p:txBody>
      </p:sp>
      <p:sp>
        <p:nvSpPr>
          <p:cNvPr id="34" name="Shape 31"/>
          <p:cNvSpPr/>
          <p:nvPr/>
        </p:nvSpPr>
        <p:spPr>
          <a:xfrm>
            <a:off x="4572000" y="2587752"/>
            <a:ext cx="41148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675120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 (−2 , 5)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663440" y="25877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الربع: ........</a:t>
            </a:r>
            <a:endParaRPr lang="ar-LB" sz="1400" dirty="0"/>
          </a:p>
        </p:txBody>
      </p:sp>
      <p:sp>
        <p:nvSpPr>
          <p:cNvPr id="37" name="Shape 34"/>
          <p:cNvSpPr/>
          <p:nvPr/>
        </p:nvSpPr>
        <p:spPr>
          <a:xfrm>
            <a:off x="4572000" y="3118104"/>
            <a:ext cx="41148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675120" y="31181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 (−3 , −4)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4663440" y="31181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الربع: ........</a:t>
            </a:r>
            <a:endParaRPr lang="ar-LB" sz="1400" dirty="0"/>
          </a:p>
        </p:txBody>
      </p:sp>
      <p:sp>
        <p:nvSpPr>
          <p:cNvPr id="40" name="Shape 37"/>
          <p:cNvSpPr/>
          <p:nvPr/>
        </p:nvSpPr>
        <p:spPr>
          <a:xfrm>
            <a:off x="4572000" y="3648456"/>
            <a:ext cx="41148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675120" y="36484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 (1 , −2)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4663440" y="36484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الربع: ........</a:t>
            </a:r>
            <a:endParaRPr lang="ar-LB" sz="1400" dirty="0"/>
          </a:p>
        </p:txBody>
      </p:sp>
      <p:sp>
        <p:nvSpPr>
          <p:cNvPr id="43" name="Shape 40"/>
          <p:cNvSpPr/>
          <p:nvPr/>
        </p:nvSpPr>
        <p:spPr>
          <a:xfrm>
            <a:off x="4572000" y="4178808"/>
            <a:ext cx="411480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675120" y="4178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 (0 , 3)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4663440" y="41788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الربع: ........</a:t>
            </a:r>
            <a:endParaRPr lang="ar-L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لنتحقّق من الإجابات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2331720" y="1234440"/>
            <a:ext cx="1645920" cy="1645920"/>
          </a:xfrm>
          <a:prstGeom prst="rect">
            <a:avLst/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34440"/>
            <a:ext cx="1645920" cy="1645920"/>
          </a:xfrm>
          <a:prstGeom prst="rect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880360"/>
            <a:ext cx="1645920" cy="1645920"/>
          </a:xfrm>
          <a:prstGeom prst="rect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2880360"/>
            <a:ext cx="1645920" cy="164592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6362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4416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9280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7335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2199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0253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5117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0904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09544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90088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38728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9272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67912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48456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97096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1234440"/>
            <a:ext cx="0" cy="329184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526280"/>
            <a:ext cx="32918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31720" y="1097280"/>
            <a:ext cx="0" cy="356616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08736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x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404872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28986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5304" y="1819656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21608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0200" y="1161288"/>
            <a:ext cx="146304" cy="146304"/>
          </a:xfrm>
          <a:prstGeom prst="ellipse">
            <a:avLst/>
          </a:prstGeom>
          <a:solidFill>
            <a:srgbClr val="E9A23B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932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23B"/>
                </a:solidFill>
              </a:rPr>
              <a:t>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271016" y="4123944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048" y="4242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6F51"/>
                </a:solidFill>
              </a:rPr>
              <a:t>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87752" y="3465576"/>
            <a:ext cx="146304" cy="146304"/>
          </a:xfrm>
          <a:prstGeom prst="ellipse">
            <a:avLst/>
          </a:prstGeom>
          <a:solidFill>
            <a:srgbClr val="7B6CB8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34056" y="3584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6CB8"/>
                </a:solidFill>
              </a:rPr>
              <a:t>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58568" y="1819656"/>
            <a:ext cx="146304" cy="146304"/>
          </a:xfrm>
          <a:prstGeom prst="ellipse">
            <a:avLst/>
          </a:prstGeom>
          <a:solidFill>
            <a:srgbClr val="14213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404872" y="1591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(4 , 3)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الأول</a:t>
            </a:r>
            <a:endParaRPr lang="ar-LB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 (−2 , 5)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الثاني</a:t>
            </a:r>
            <a:endParaRPr lang="ar-LB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766560" y="2514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 (−3 , −4)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الثالث</a:t>
            </a:r>
            <a:endParaRPr lang="ar-LB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7665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 (1 , −2)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الربع الرابع</a:t>
            </a:r>
            <a:endParaRPr lang="ar-LB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 (0 , 3)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0" y="3794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LB" alt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المحور الصادي: لا ربع</a:t>
            </a:r>
            <a:endParaRPr lang="ar-LB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الإحداثيات في حياتنا اليومية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6789420" y="1280160"/>
            <a:ext cx="1897380" cy="310896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28091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51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80860" y="26974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ar-LB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926580" y="3200400"/>
            <a:ext cx="1623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موقعك على الخريطة والوصول إلى وجهتك</a:t>
            </a:r>
            <a:endParaRPr lang="ar-LB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1897380" cy="310896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5154930" y="16002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53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26974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الرياضة</a:t>
            </a:r>
            <a:endParaRPr lang="ar-LB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200400"/>
            <a:ext cx="1623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حركة اللاعبين ومواقعهم في الملعب</a:t>
            </a:r>
            <a:endParaRPr lang="ar-LB" sz="1300" dirty="0"/>
          </a:p>
        </p:txBody>
      </p:sp>
      <p:sp>
        <p:nvSpPr>
          <p:cNvPr id="13" name="Shape 9"/>
          <p:cNvSpPr/>
          <p:nvPr/>
        </p:nvSpPr>
        <p:spPr>
          <a:xfrm>
            <a:off x="2537460" y="1280160"/>
            <a:ext cx="1897380" cy="310896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3028950" y="16002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18288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628900" y="26974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الفن والتصميم</a:t>
            </a:r>
            <a:endParaRPr lang="ar-LB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2674620" y="3200400"/>
            <a:ext cx="1623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 الأشكال وتحديد مواقع النقاط على الشاشة</a:t>
            </a:r>
            <a:endParaRPr lang="ar-LB" sz="1300" dirty="0"/>
          </a:p>
        </p:txBody>
      </p:sp>
      <p:sp>
        <p:nvSpPr>
          <p:cNvPr id="18" name="Shape 13"/>
          <p:cNvSpPr/>
          <p:nvPr/>
        </p:nvSpPr>
        <p:spPr>
          <a:xfrm>
            <a:off x="411480" y="1280160"/>
            <a:ext cx="1897380" cy="3108960"/>
          </a:xfrm>
          <a:prstGeom prst="roundRect">
            <a:avLst>
              <a:gd name="adj" fmla="val 5783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902970" y="160020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18288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2920" y="269748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الطيران</a:t>
            </a:r>
            <a:endParaRPr lang="ar-LB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200400"/>
            <a:ext cx="1623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3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مسار الطائرات ومواقعها في الجو</a:t>
            </a:r>
            <a:endParaRPr lang="ar-LB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مناقشة وحوار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3898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996" y="15407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258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تلتقي محاور نظام الإحداثيات؟</a:t>
            </a:r>
            <a:endParaRPr lang="ar-LB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7818120" y="248716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996" y="263804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42316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أي ربع تقع النقطة التالية؟</a:t>
            </a:r>
            <a:endParaRPr lang="ar-LB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2514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(−2 , 2)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7818120" y="3584448"/>
            <a:ext cx="603504" cy="60350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37353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52044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تطبيقاً واحداً على الأقل لنظام الإحداثيات في الحياة الواقعية</a:t>
            </a:r>
            <a:endParaRPr lang="ar-LB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3000" b="1" dirty="0">
                <a:solidFill>
                  <a:schemeClr val="tx1"/>
                </a:solidFill>
              </a:rPr>
              <a:t>الواجب البيتي</a:t>
            </a:r>
            <a:endParaRPr lang="ar-LB" sz="3000" dirty="0"/>
          </a:p>
        </p:txBody>
      </p:sp>
      <p:sp>
        <p:nvSpPr>
          <p:cNvPr id="3" name="Shape 1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783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منصة التلميذ — تمارين الفصل الثاني (نظام الإحداثيات):</a:t>
            </a:r>
            <a:endParaRPr lang="ar-LB" sz="1800" dirty="0"/>
          </a:p>
        </p:txBody>
      </p:sp>
      <p:sp>
        <p:nvSpPr>
          <p:cNvPr id="6" name="Shape 3"/>
          <p:cNvSpPr/>
          <p:nvPr/>
        </p:nvSpPr>
        <p:spPr>
          <a:xfrm>
            <a:off x="3520440" y="2103120"/>
            <a:ext cx="2971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70332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الأول</a:t>
            </a:r>
            <a:endParaRPr lang="ar-LB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 أو خطأ</a:t>
            </a:r>
            <a:endParaRPr lang="ar-LB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2971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الثاني</a:t>
            </a:r>
            <a:endParaRPr lang="ar-LB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ملء الفراغات</a:t>
            </a:r>
            <a:endParaRPr lang="ar-LB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4000" b="1" dirty="0">
                <a:solidFill>
                  <a:schemeClr val="bg1"/>
                </a:solidFill>
              </a:rPr>
              <a:t>خلاصة الدرس</a:t>
            </a:r>
            <a:endParaRPr lang="ar-LB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accent6"/>
                </a:solidFill>
              </a:rPr>
              <a:t>محوران متعامدان (x و y) + نقطة أصل ‪(0 , 0)‬ = أربعة أرباع، وكل نقطة تُكتب ‪(x , y)‬</a:t>
            </a:r>
            <a:endParaRPr lang="ar-LB" sz="1800" dirty="0"/>
          </a:p>
        </p:txBody>
      </p:sp>
      <p:sp>
        <p:nvSpPr>
          <p:cNvPr id="4" name="Shape 2"/>
          <p:cNvSpPr/>
          <p:nvPr/>
        </p:nvSpPr>
        <p:spPr>
          <a:xfrm>
            <a:off x="69037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03720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الأول</a:t>
            </a:r>
            <a:endParaRPr lang="ar-LB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4133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(+ , +)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الثاني</a:t>
            </a:r>
            <a:endParaRPr lang="ar-LB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4133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(− , +)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الثالث</a:t>
            </a:r>
            <a:endParaRPr lang="ar-LB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133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(− , −)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673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الرابع</a:t>
            </a:r>
            <a:endParaRPr lang="ar-LB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133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(+ , −)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rdinates">
  <a:themeElements>
    <a:clrScheme name="Coordinates">
      <a:dk1>
        <a:srgbClr val="14213D"/>
      </a:dk1>
      <a:lt1>
        <a:srgbClr val="FFFFFF"/>
      </a:lt1>
      <a:dk2>
        <a:srgbClr val="3D4A63"/>
      </a:dk2>
      <a:lt2>
        <a:srgbClr val="EEF3F8"/>
      </a:lt2>
      <a:accent1>
        <a:srgbClr val="2A9D8F"/>
      </a:accent1>
      <a:accent2>
        <a:srgbClr val="E9A23B"/>
      </a:accent2>
      <a:accent3>
        <a:srgbClr val="E76F51"/>
      </a:accent3>
      <a:accent4>
        <a:srgbClr val="7B6CB8"/>
      </a:accent4>
      <a:accent5>
        <a:srgbClr val="FCA311"/>
      </a:accent5>
      <a:accent6>
        <a:srgbClr val="C9D6E3"/>
      </a:accent6>
      <a:hlink>
        <a:srgbClr val="2A9D8F"/>
      </a:hlink>
      <a:folHlink>
        <a:srgbClr val="7B6CB8"/>
      </a:folHlink>
    </a:clrScheme>
    <a:fontScheme name="Coordinat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الإحداثيات - المكونات والأرباع</dc:title>
  <dc:subject>PptxGenJS Presentation</dc:subject>
  <dc:creator>مدرسة مؤسسة الهادي</dc:creator>
  <cp:lastModifiedBy>مدرسة مؤسسة الهادي</cp:lastModifiedBy>
  <cp:revision>1</cp:revision>
  <dcterms:created xsi:type="dcterms:W3CDTF">2026-10-11T13:24:38Z</dcterms:created>
  <dcterms:modified xsi:type="dcterms:W3CDTF">2026-10-11T13:24:38Z</dcterms:modified>
</cp:coreProperties>
</file>