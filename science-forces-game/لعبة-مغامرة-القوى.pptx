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بداية" id="{aa6edd31-1e72-af42-2477-84ad38338740}">
          <p14:sldIdLst>
            <p14:sldId id="256"/>
            <p14:sldId id="257"/>
            <p14:sldId id="258"/>
          </p14:sldIdLst>
        </p14:section>
        <p14:section name="المحطة 1: استكشاف" id="{7dc54a96-9a73-1c6c-0122-28fa74d26eb6}">
          <p14:sldIdLst>
            <p14:sldId id="259"/>
            <p14:sldId id="260"/>
            <p14:sldId id="261"/>
            <p14:sldId id="262"/>
            <p14:sldId id="263"/>
          </p14:sldIdLst>
        </p14:section>
        <p14:section name="المحطة 2: تطبيق" id="{34491a7a-f736-9df7-0f38-d44854a8af1c}">
          <p14:sldIdLst>
            <p14:sldId id="264"/>
            <p14:sldId id="265"/>
            <p14:sldId id="266"/>
            <p14:sldId id="267"/>
          </p14:sldIdLst>
        </p14:section>
        <p14:section name="المحطة 3: تقييم" id="{ccfbb751-2951-e943-02c2-ea959ebae054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الختام" id="{0f56e8a1-caec-c1b2-f532-80c2ae85fdff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 اللعبة: يُقسَّم الصف إلى فرق من 4 طلاب. كل فريق يمثل طاقم مستكشفين في مهمة لاكتشاف أسرار القوى عبر ثلاث محطات.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وزّع الأدوار داخل كل فريق. اعرض لوحة النقاط على السبورة طوال الحصة.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الهدف: أن يكتشف الطلاب أن القوة دفع أو سحب، وأن بعض القوى تؤثر بالتلامس وبعضها عن بُعد (مغناطيسية، كهربائية ساكنة). لا تعطِ المصطلحات قبل أن يصفوا ملاحظاتهم.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اعرض بطاقة المفتاح بعد أن تنتهي الفرق (يمكن إخفاؤها بإضافة حركة ظهور). الاستنتاج: القوة قد تغيّر سرعة الجسم أو اتجاه حركته أو شكله.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درّب الطلاب على قراءة التدريج وضبط المؤشر على الصفر. ناقش: لماذا اختلفت القراءات؟ (أخطاء القراءة، اختلاف الكتلة).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هي لحظة بناء المفهوم: يقرأ متحدث كل فريق استنتاج فريقه، ثم يقارن المعلم مع هذه الخلاصة. 🏅 تفتح الفرق شارة المستكشف.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وزّع على كل فريق بطاقتين: (تلامس) و(عن بُعد). اقرأ الموقف وعدّ تنازليًا. الترتيب من اليمين: 1 الكرة، 2 التفاحة، 3 المغناطيس، 4 الفرامل، 5 الباب، 6 المشط. يمكن إخفاء سطر الإجابات بحركة ظهور.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أ) 20 N نحو اليمين (الأزرق). ب) 0 N — القوى متوازنة ولا يتحرك الجسم. ج) 40 N نحو اليسار (الأحمر). نشاط حركي اختياري: شدّ حبل حقيقي بين فريقين مع دينامومترين.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الإجابات: سامي 400 N / 64 N. ليلى 500 N / 80 N. الحقيبة 200 N / 32 N. المكافأة: لأن قوة الجاذبية على القمر أصغر (نحو سدس جاذبية الأرض)، فيكون وزنه أقل. 🏅 تفتح الفرق شارة المهندس.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الإجابة الصحيحة: (ب) النيوتن. تكتب الفرق الحرف على لوح صغير وترفعه معًا عند انتهاء الوقت.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الإجابة الصحيحة: (ج) الجاذبية. تكتب الفرق الحرف على لوح صغير وترفعه معًا عند انتهاء الوقت.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الإجابة الصحيحة: (ج) اتجاه حركتها. تكتب الفرق الحرف على لوح صغير وترفعه معًا عند انتهاء الوقت.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الإجابة الصحيحة: (د) 0 نيوتن. تكتب الفرق الحرف على لوح صغير وترفعه معًا عند انتهاء الوقت.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الإجابة الصحيحة: (أ) 80 نيوتن. تكتب الفرق الحرف على لوح صغير وترفعه معًا عند انتهاء الوقت.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احسب النجوم على لوحة النقاط وأعلن الشارات. ثمن جهد كل الفرق.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97280" y="3474720"/>
            <a:ext cx="9966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400" dirty="0">
                <a:solidFill>
                  <a:schemeClr val="accent4"/>
                </a:solidFill>
              </a:defRPr>
            </a:lvl1pPr>
          </a:lstStyle>
          <a:p>
            <a:pPr algn="ctr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29184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"/>
          <p:cNvSpPr/>
          <p:nvPr/>
        </p:nvSpPr>
        <p:spPr>
          <a:xfrm>
            <a:off x="5413248" y="54864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icon-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850392"/>
            <a:ext cx="768096" cy="76809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5400" b="1" dirty="0">
                <a:solidFill>
                  <a:schemeClr val="bg1"/>
                </a:solidFill>
              </a:rPr>
              <a:t>مغامرة القوى</a:t>
            </a:r>
            <a:endParaRPr lang="ar-SA" sz="5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097280" y="347472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2400" dirty="0">
                <a:solidFill>
                  <a:schemeClr val="accent4"/>
                </a:solidFill>
              </a:rPr>
              <a:t>لعبة استكشافية: استكشف · طبّق · قيّم</a:t>
            </a:r>
            <a:endParaRPr lang="ar-SA" sz="2400" dirty="0"/>
          </a:p>
        </p:txBody>
      </p:sp>
      <p:sp>
        <p:nvSpPr>
          <p:cNvPr id="6" name="card-3"/>
          <p:cNvSpPr/>
          <p:nvPr/>
        </p:nvSpPr>
        <p:spPr>
          <a:xfrm>
            <a:off x="7863840" y="4800600"/>
            <a:ext cx="2651760" cy="8229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4983480"/>
            <a:ext cx="457200" cy="457200"/>
          </a:xfrm>
          <a:prstGeom prst="rect">
            <a:avLst/>
          </a:prstGeom>
        </p:spPr>
      </p:pic>
      <p:sp>
        <p:nvSpPr>
          <p:cNvPr id="8" name="text-5"/>
          <p:cNvSpPr txBox="1"/>
          <p:nvPr/>
        </p:nvSpPr>
        <p:spPr>
          <a:xfrm>
            <a:off x="8001000" y="4800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المحطة 1: استكشاف</a:t>
            </a:r>
            <a:endParaRPr lang="ar-SA" sz="1800" dirty="0"/>
          </a:p>
        </p:txBody>
      </p:sp>
      <p:sp>
        <p:nvSpPr>
          <p:cNvPr id="9" name="card-6"/>
          <p:cNvSpPr/>
          <p:nvPr/>
        </p:nvSpPr>
        <p:spPr>
          <a:xfrm>
            <a:off x="4846320" y="4800600"/>
            <a:ext cx="2651760" cy="8229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983480"/>
            <a:ext cx="457200" cy="457200"/>
          </a:xfrm>
          <a:prstGeom prst="rect">
            <a:avLst/>
          </a:prstGeom>
        </p:spPr>
      </p:pic>
      <p:sp>
        <p:nvSpPr>
          <p:cNvPr id="11" name="text-8"/>
          <p:cNvSpPr txBox="1"/>
          <p:nvPr/>
        </p:nvSpPr>
        <p:spPr>
          <a:xfrm>
            <a:off x="4983480" y="4800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المحطة 2: تطبيق</a:t>
            </a:r>
            <a:endParaRPr lang="ar-SA" sz="1800" dirty="0"/>
          </a:p>
        </p:txBody>
      </p:sp>
      <p:sp>
        <p:nvSpPr>
          <p:cNvPr id="12" name="card-9"/>
          <p:cNvSpPr/>
          <p:nvPr/>
        </p:nvSpPr>
        <p:spPr>
          <a:xfrm>
            <a:off x="1828800" y="4800600"/>
            <a:ext cx="2651760" cy="8229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-1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4983480"/>
            <a:ext cx="457200" cy="457200"/>
          </a:xfrm>
          <a:prstGeom prst="rect">
            <a:avLst/>
          </a:prstGeom>
        </p:spPr>
      </p:pic>
      <p:sp>
        <p:nvSpPr>
          <p:cNvPr id="14" name="text-11"/>
          <p:cNvSpPr txBox="1"/>
          <p:nvPr/>
        </p:nvSpPr>
        <p:spPr>
          <a:xfrm>
            <a:off x="1965960" y="4800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المحطة 3: تقييم</a:t>
            </a:r>
            <a:endParaRPr lang="ar-SA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قواعد اللعبة</a:t>
            </a:r>
            <a:endParaRPr lang="ar-SA" sz="3600" dirty="0"/>
          </a:p>
        </p:txBody>
      </p:sp>
      <p:sp>
        <p:nvSpPr>
          <p:cNvPr id="3" name="card-12"/>
          <p:cNvSpPr/>
          <p:nvPr/>
        </p:nvSpPr>
        <p:spPr>
          <a:xfrm>
            <a:off x="6263640" y="1508760"/>
            <a:ext cx="5349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3"/>
          <p:cNvSpPr/>
          <p:nvPr/>
        </p:nvSpPr>
        <p:spPr>
          <a:xfrm>
            <a:off x="10424160" y="1920240"/>
            <a:ext cx="1005840" cy="10058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con-1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5445" y="2141525"/>
            <a:ext cx="563270" cy="563270"/>
          </a:xfrm>
          <a:prstGeom prst="rect">
            <a:avLst/>
          </a:prstGeom>
        </p:spPr>
      </p:pic>
      <p:sp>
        <p:nvSpPr>
          <p:cNvPr id="6" name="text-15"/>
          <p:cNvSpPr txBox="1"/>
          <p:nvPr/>
        </p:nvSpPr>
        <p:spPr>
          <a:xfrm>
            <a:off x="653796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1"/>
                </a:solidFill>
              </a:rPr>
              <a:t>فرق المستكشفين</a:t>
            </a:r>
            <a:endParaRPr lang="ar-SA" sz="2200" dirty="0"/>
          </a:p>
        </p:txBody>
      </p:sp>
      <p:sp>
        <p:nvSpPr>
          <p:cNvPr id="7" name="text-16"/>
          <p:cNvSpPr txBox="1"/>
          <p:nvPr/>
        </p:nvSpPr>
        <p:spPr>
          <a:xfrm>
            <a:off x="6537960" y="2423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4 طلاب في كل فريق: قائد، مُسجِّل، مُجرِّب، مُتحدِّث</a:t>
            </a:r>
            <a:endParaRPr lang="ar-SA" sz="1600" dirty="0"/>
          </a:p>
        </p:txBody>
      </p:sp>
      <p:sp>
        <p:nvSpPr>
          <p:cNvPr id="8" name="card-17"/>
          <p:cNvSpPr/>
          <p:nvPr/>
        </p:nvSpPr>
        <p:spPr>
          <a:xfrm>
            <a:off x="548640" y="1508760"/>
            <a:ext cx="5349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18"/>
          <p:cNvSpPr/>
          <p:nvPr/>
        </p:nvSpPr>
        <p:spPr>
          <a:xfrm>
            <a:off x="4709160" y="192024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445" y="2141525"/>
            <a:ext cx="563270" cy="563270"/>
          </a:xfrm>
          <a:prstGeom prst="rect">
            <a:avLst/>
          </a:prstGeom>
        </p:spPr>
      </p:pic>
      <p:sp>
        <p:nvSpPr>
          <p:cNvPr id="11" name="text-20"/>
          <p:cNvSpPr txBox="1"/>
          <p:nvPr/>
        </p:nvSpPr>
        <p:spPr>
          <a:xfrm>
            <a:off x="82296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1"/>
                </a:solidFill>
              </a:rPr>
              <a:t>ثلاث محطات</a:t>
            </a:r>
            <a:endParaRPr lang="ar-SA" sz="2200" dirty="0"/>
          </a:p>
        </p:txBody>
      </p:sp>
      <p:sp>
        <p:nvSpPr>
          <p:cNvPr id="12" name="text-21"/>
          <p:cNvSpPr txBox="1"/>
          <p:nvPr/>
        </p:nvSpPr>
        <p:spPr>
          <a:xfrm>
            <a:off x="822960" y="2423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تنتقلون بالترتيب: استكشاف ← تطبيق ← تقييم</a:t>
            </a:r>
            <a:endParaRPr lang="ar-SA" sz="1600" dirty="0"/>
          </a:p>
        </p:txBody>
      </p:sp>
      <p:sp>
        <p:nvSpPr>
          <p:cNvPr id="13" name="card-22"/>
          <p:cNvSpPr/>
          <p:nvPr/>
        </p:nvSpPr>
        <p:spPr>
          <a:xfrm>
            <a:off x="6263640" y="3886200"/>
            <a:ext cx="5349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23"/>
          <p:cNvSpPr/>
          <p:nvPr/>
        </p:nvSpPr>
        <p:spPr>
          <a:xfrm>
            <a:off x="10424160" y="4297680"/>
            <a:ext cx="1005840" cy="10058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-2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445" y="4518965"/>
            <a:ext cx="563270" cy="563270"/>
          </a:xfrm>
          <a:prstGeom prst="rect">
            <a:avLst/>
          </a:prstGeom>
        </p:spPr>
      </p:pic>
      <p:sp>
        <p:nvSpPr>
          <p:cNvPr id="16" name="text-25"/>
          <p:cNvSpPr txBox="1"/>
          <p:nvPr/>
        </p:nvSpPr>
        <p:spPr>
          <a:xfrm>
            <a:off x="6537960" y="4206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1"/>
                </a:solidFill>
              </a:rPr>
              <a:t>جمع النقاط</a:t>
            </a:r>
            <a:endParaRPr lang="ar-SA" sz="2200" dirty="0"/>
          </a:p>
        </p:txBody>
      </p:sp>
      <p:sp>
        <p:nvSpPr>
          <p:cNvPr id="17" name="text-26"/>
          <p:cNvSpPr txBox="1"/>
          <p:nvPr/>
        </p:nvSpPr>
        <p:spPr>
          <a:xfrm>
            <a:off x="6537960" y="4800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كل إجابة صحيحة = نجوم، وكل محطة تفتح شارة جديدة</a:t>
            </a:r>
            <a:endParaRPr lang="ar-SA" sz="1600" dirty="0"/>
          </a:p>
        </p:txBody>
      </p:sp>
      <p:sp>
        <p:nvSpPr>
          <p:cNvPr id="18" name="card-27"/>
          <p:cNvSpPr/>
          <p:nvPr/>
        </p:nvSpPr>
        <p:spPr>
          <a:xfrm>
            <a:off x="548640" y="3886200"/>
            <a:ext cx="534924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adge-28"/>
          <p:cNvSpPr/>
          <p:nvPr/>
        </p:nvSpPr>
        <p:spPr>
          <a:xfrm>
            <a:off x="4709160" y="4297680"/>
            <a:ext cx="1005840" cy="10058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con-2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445" y="4518965"/>
            <a:ext cx="563270" cy="563270"/>
          </a:xfrm>
          <a:prstGeom prst="rect">
            <a:avLst/>
          </a:prstGeom>
        </p:spPr>
      </p:pic>
      <p:sp>
        <p:nvSpPr>
          <p:cNvPr id="21" name="text-30"/>
          <p:cNvSpPr txBox="1"/>
          <p:nvPr/>
        </p:nvSpPr>
        <p:spPr>
          <a:xfrm>
            <a:off x="822960" y="4206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tx1"/>
                </a:solidFill>
              </a:rPr>
              <a:t>الوقت محدود</a:t>
            </a:r>
            <a:endParaRPr lang="ar-SA" sz="2200" dirty="0"/>
          </a:p>
        </p:txBody>
      </p:sp>
      <p:sp>
        <p:nvSpPr>
          <p:cNvPr id="22" name="text-31"/>
          <p:cNvSpPr txBox="1"/>
          <p:nvPr/>
        </p:nvSpPr>
        <p:spPr>
          <a:xfrm>
            <a:off x="822960" y="4800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لكل تحدٍّ وقت محدد يظهر على الشريحة، فالتزموا به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المهمة السرية</a:t>
            </a:r>
            <a:endParaRPr lang="ar-SA" sz="3600" dirty="0"/>
          </a:p>
        </p:txBody>
      </p:sp>
      <p:sp>
        <p:nvSpPr>
          <p:cNvPr id="3" name="card-32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4" name="badge-33"/>
          <p:cNvSpPr/>
          <p:nvPr/>
        </p:nvSpPr>
        <p:spPr>
          <a:xfrm>
            <a:off x="10241280" y="1645920"/>
            <a:ext cx="1005840" cy="10058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-3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2565" y="1867205"/>
            <a:ext cx="563270" cy="563270"/>
          </a:xfrm>
          <a:prstGeom prst="rect">
            <a:avLst/>
          </a:prstGeom>
        </p:spPr>
      </p:pic>
      <p:sp>
        <p:nvSpPr>
          <p:cNvPr id="6" name="text-35"/>
          <p:cNvSpPr txBox="1"/>
          <p:nvPr/>
        </p:nvSpPr>
        <p:spPr>
          <a:xfrm>
            <a:off x="822960" y="1463040"/>
            <a:ext cx="9235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لماذا تتحرك الكرة عندما نركلها؟ ولماذا تسقط التفاحة إلى الأسفل؟ ولماذا يتوقف الدولاب وحده؟</a:t>
            </a:r>
            <a:endParaRPr lang="ar-SA" sz="2200" dirty="0"/>
          </a:p>
        </p:txBody>
      </p:sp>
      <p:sp>
        <p:nvSpPr>
          <p:cNvPr id="7" name="text-36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3"/>
                </a:solidFill>
              </a:rPr>
              <a:t>في نهاية المغامرة سيكون كل مستكشف قادرًا على أن:</a:t>
            </a:r>
            <a:endParaRPr lang="ar-SA" sz="2000" dirty="0"/>
          </a:p>
        </p:txBody>
      </p:sp>
      <p:sp>
        <p:nvSpPr>
          <p:cNvPr id="8" name="badge-37"/>
          <p:cNvSpPr/>
          <p:nvPr/>
        </p:nvSpPr>
        <p:spPr>
          <a:xfrm>
            <a:off x="11109960" y="3749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-3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0544" y="3849624"/>
            <a:ext cx="256032" cy="256032"/>
          </a:xfrm>
          <a:prstGeom prst="rect">
            <a:avLst/>
          </a:prstGeom>
        </p:spPr>
      </p:pic>
      <p:sp>
        <p:nvSpPr>
          <p:cNvPr id="10" name="text-39"/>
          <p:cNvSpPr txBox="1"/>
          <p:nvPr/>
        </p:nvSpPr>
        <p:spPr>
          <a:xfrm>
            <a:off x="548640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يعرّف القوة بأنها دفع أو سحب يؤثر في الجسم</a:t>
            </a:r>
            <a:endParaRPr lang="ar-SA" sz="1800" dirty="0"/>
          </a:p>
        </p:txBody>
      </p:sp>
      <p:sp>
        <p:nvSpPr>
          <p:cNvPr id="11" name="badge-40"/>
          <p:cNvSpPr/>
          <p:nvPr/>
        </p:nvSpPr>
        <p:spPr>
          <a:xfrm>
            <a:off x="11109960" y="4389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-4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544" y="4489704"/>
            <a:ext cx="256032" cy="256032"/>
          </a:xfrm>
          <a:prstGeom prst="rect">
            <a:avLst/>
          </a:prstGeom>
        </p:spPr>
      </p:pic>
      <p:sp>
        <p:nvSpPr>
          <p:cNvPr id="13" name="text-42"/>
          <p:cNvSpPr txBox="1"/>
          <p:nvPr/>
        </p:nvSpPr>
        <p:spPr>
          <a:xfrm>
            <a:off x="548640" y="43434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يحدد آثار القوة: تغيير السرعة، أو الاتجاه، أو الشكل</a:t>
            </a:r>
            <a:endParaRPr lang="ar-SA" sz="1800" dirty="0"/>
          </a:p>
        </p:txBody>
      </p:sp>
      <p:sp>
        <p:nvSpPr>
          <p:cNvPr id="14" name="badge-43"/>
          <p:cNvSpPr/>
          <p:nvPr/>
        </p:nvSpPr>
        <p:spPr>
          <a:xfrm>
            <a:off x="11109960" y="5029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4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0544" y="5129784"/>
            <a:ext cx="256032" cy="256032"/>
          </a:xfrm>
          <a:prstGeom prst="rect">
            <a:avLst/>
          </a:prstGeom>
        </p:spPr>
      </p:pic>
      <p:sp>
        <p:nvSpPr>
          <p:cNvPr id="16" name="text-45"/>
          <p:cNvSpPr txBox="1"/>
          <p:nvPr/>
        </p:nvSpPr>
        <p:spPr>
          <a:xfrm>
            <a:off x="548640" y="49834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يميّز بين قوى التلامس وقوى عن بُعد (المجال)</a:t>
            </a:r>
            <a:endParaRPr lang="ar-SA" sz="1800" dirty="0"/>
          </a:p>
        </p:txBody>
      </p:sp>
      <p:sp>
        <p:nvSpPr>
          <p:cNvPr id="17" name="badge-46"/>
          <p:cNvSpPr/>
          <p:nvPr/>
        </p:nvSpPr>
        <p:spPr>
          <a:xfrm>
            <a:off x="11109960" y="5669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-4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0544" y="5769864"/>
            <a:ext cx="256032" cy="256032"/>
          </a:xfrm>
          <a:prstGeom prst="rect">
            <a:avLst/>
          </a:prstGeom>
        </p:spPr>
      </p:pic>
      <p:sp>
        <p:nvSpPr>
          <p:cNvPr id="19" name="text-48"/>
          <p:cNvSpPr txBox="1"/>
          <p:nvPr/>
        </p:nvSpPr>
        <p:spPr>
          <a:xfrm>
            <a:off x="54864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يقيس القوة بالنيوتن (N) باستخدام الدينامومتر ويحسب محصلة القوى والوزن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49"/>
          <p:cNvSpPr/>
          <p:nvPr/>
        </p:nvSpPr>
        <p:spPr>
          <a:xfrm>
            <a:off x="5321808" y="1188720"/>
            <a:ext cx="1554480" cy="1554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con-5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3794" y="1530706"/>
            <a:ext cx="870509" cy="87050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32918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المحطة 1: الاستكشاف</a:t>
            </a:r>
            <a:endParaRPr lang="ar-SA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chemeClr val="bg2"/>
                </a:solidFill>
              </a:rPr>
              <a:t>جرّبوا، لاحظوا، سجّلوا… ثم اكتشفوا القاعدة بأنفسكم</a:t>
            </a:r>
            <a:endParaRPr lang="ar-SA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51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con-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53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استكشاف 1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تحدّي: حرّك دون أن تلمس؟</a:t>
            </a:r>
            <a:endParaRPr lang="ar-SA" sz="3600" dirty="0"/>
          </a:p>
        </p:txBody>
      </p:sp>
      <p:sp>
        <p:nvSpPr>
          <p:cNvPr id="6" name="text-54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2"/>
                </a:solidFill>
              </a:rPr>
              <a:t>الأدوات: كرة، سيارة لعبة، خيط، مغناطيس، مشبك ورق، بالون</a:t>
            </a:r>
            <a:endParaRPr lang="ar-SA" sz="1800" dirty="0"/>
          </a:p>
        </p:txBody>
      </p:sp>
      <p:sp>
        <p:nvSpPr>
          <p:cNvPr id="7" name="card-55"/>
          <p:cNvSpPr/>
          <p:nvPr/>
        </p:nvSpPr>
        <p:spPr>
          <a:xfrm>
            <a:off x="8001000" y="1874520"/>
            <a:ext cx="352044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-56"/>
          <p:cNvSpPr/>
          <p:nvPr/>
        </p:nvSpPr>
        <p:spPr>
          <a:xfrm>
            <a:off x="9253728" y="21031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-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5013" y="2324405"/>
            <a:ext cx="563270" cy="563270"/>
          </a:xfrm>
          <a:prstGeom prst="rect">
            <a:avLst/>
          </a:prstGeom>
        </p:spPr>
      </p:pic>
      <p:sp>
        <p:nvSpPr>
          <p:cNvPr id="10" name="text-58"/>
          <p:cNvSpPr txBox="1"/>
          <p:nvPr/>
        </p:nvSpPr>
        <p:spPr>
          <a:xfrm>
            <a:off x="8229600" y="32461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tx1"/>
                </a:solidFill>
              </a:rPr>
              <a:t>1. حرّك السيارة إلى الأمام ثم أعدها إليك</a:t>
            </a:r>
            <a:endParaRPr lang="ar-SA" sz="1700" dirty="0"/>
          </a:p>
        </p:txBody>
      </p:sp>
      <p:sp>
        <p:nvSpPr>
          <p:cNvPr id="11" name="text-59"/>
          <p:cNvSpPr txBox="1"/>
          <p:nvPr/>
        </p:nvSpPr>
        <p:spPr>
          <a:xfrm>
            <a:off x="8229600" y="4206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accent2"/>
                </a:solidFill>
              </a:rPr>
              <a:t>ماذا فعلت يدك في كل مرة؟</a:t>
            </a:r>
            <a:endParaRPr lang="ar-SA" sz="1600" dirty="0"/>
          </a:p>
        </p:txBody>
      </p:sp>
      <p:sp>
        <p:nvSpPr>
          <p:cNvPr id="12" name="card-60"/>
          <p:cNvSpPr/>
          <p:nvPr/>
        </p:nvSpPr>
        <p:spPr>
          <a:xfrm>
            <a:off x="4279392" y="1874520"/>
            <a:ext cx="352044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-61"/>
          <p:cNvSpPr/>
          <p:nvPr/>
        </p:nvSpPr>
        <p:spPr>
          <a:xfrm>
            <a:off x="5532120" y="21031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-6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3405" y="2324405"/>
            <a:ext cx="563270" cy="563270"/>
          </a:xfrm>
          <a:prstGeom prst="rect">
            <a:avLst/>
          </a:prstGeom>
        </p:spPr>
      </p:pic>
      <p:sp>
        <p:nvSpPr>
          <p:cNvPr id="15" name="text-63"/>
          <p:cNvSpPr txBox="1"/>
          <p:nvPr/>
        </p:nvSpPr>
        <p:spPr>
          <a:xfrm>
            <a:off x="4507992" y="32461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tx1"/>
                </a:solidFill>
              </a:rPr>
              <a:t>2. حرّك مشبك الورق دون أن تلمسه</a:t>
            </a:r>
            <a:endParaRPr lang="ar-SA" sz="1700" dirty="0"/>
          </a:p>
        </p:txBody>
      </p:sp>
      <p:sp>
        <p:nvSpPr>
          <p:cNvPr id="16" name="text-64"/>
          <p:cNvSpPr txBox="1"/>
          <p:nvPr/>
        </p:nvSpPr>
        <p:spPr>
          <a:xfrm>
            <a:off x="4507992" y="4206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accent2"/>
                </a:solidFill>
              </a:rPr>
              <a:t>ما الذي حرّكه؟</a:t>
            </a:r>
            <a:endParaRPr lang="ar-SA" sz="1600" dirty="0"/>
          </a:p>
        </p:txBody>
      </p:sp>
      <p:sp>
        <p:nvSpPr>
          <p:cNvPr id="17" name="card-65"/>
          <p:cNvSpPr/>
          <p:nvPr/>
        </p:nvSpPr>
        <p:spPr>
          <a:xfrm>
            <a:off x="557784" y="1874520"/>
            <a:ext cx="3520440" cy="32004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badge-66"/>
          <p:cNvSpPr/>
          <p:nvPr/>
        </p:nvSpPr>
        <p:spPr>
          <a:xfrm>
            <a:off x="1810512" y="210312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-6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1797" y="2324405"/>
            <a:ext cx="563270" cy="563270"/>
          </a:xfrm>
          <a:prstGeom prst="rect">
            <a:avLst/>
          </a:prstGeom>
        </p:spPr>
      </p:pic>
      <p:sp>
        <p:nvSpPr>
          <p:cNvPr id="20" name="text-68"/>
          <p:cNvSpPr txBox="1"/>
          <p:nvPr/>
        </p:nvSpPr>
        <p:spPr>
          <a:xfrm>
            <a:off x="786384" y="32461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chemeClr val="tx1"/>
                </a:solidFill>
              </a:rPr>
              <a:t>3. افرك البالون بشعرك وقرّبه من قصاصات ورق</a:t>
            </a:r>
            <a:endParaRPr lang="ar-SA" sz="1700" dirty="0"/>
          </a:p>
        </p:txBody>
      </p:sp>
      <p:sp>
        <p:nvSpPr>
          <p:cNvPr id="21" name="text-69"/>
          <p:cNvSpPr txBox="1"/>
          <p:nvPr/>
        </p:nvSpPr>
        <p:spPr>
          <a:xfrm>
            <a:off x="786384" y="42062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chemeClr val="accent2"/>
                </a:solidFill>
              </a:rPr>
              <a:t>ماذا حدث للقصاصات؟</a:t>
            </a:r>
            <a:endParaRPr lang="ar-SA" sz="1600" dirty="0"/>
          </a:p>
        </p:txBody>
      </p:sp>
      <p:sp>
        <p:nvSpPr>
          <p:cNvPr id="22" name="card-70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-71"/>
          <p:cNvSpPr txBox="1"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سؤال الاكتشاف: هل يجب أن نلمس الجسم دائمًا لكي نحرّكه؟   ⏱ 7 دقائق   ⭐ نجمتان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72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con-7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74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استكشاف 2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ماذا تفعل القوة بالأجسام؟</a:t>
            </a:r>
            <a:endParaRPr lang="ar-SA" sz="3600" dirty="0"/>
          </a:p>
        </p:txBody>
      </p:sp>
      <p:sp>
        <p:nvSpPr>
          <p:cNvPr id="6" name="text-75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2"/>
                </a:solidFill>
              </a:rPr>
              <a:t>نفّذوا كل تجربة واكتبوا ماذا تغيّر في الجسم</a:t>
            </a:r>
            <a:endParaRPr lang="ar-SA" sz="1800" dirty="0"/>
          </a:p>
        </p:txBody>
      </p:sp>
      <p:graphicFrame>
        <p:nvGraphicFramePr>
          <p:cNvPr id="7" name="table-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828800"/>
          <a:ext cx="74066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200400"/>
              </a:tblGrid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b="1" dirty="0">
                          <a:solidFill>
                            <a:schemeClr val="bg1"/>
                          </a:solidFill>
                        </a:rPr>
                        <a:t>التجربة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b="1" dirty="0">
                          <a:solidFill>
                            <a:schemeClr val="bg1"/>
                          </a:solidFill>
                        </a:rPr>
                        <a:t>ماذا تغيّر؟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dirty="0">
                          <a:solidFill>
                            <a:schemeClr val="tx1"/>
                          </a:solidFill>
                        </a:rPr>
                        <a:t>ادفع كرة ساكنة على الطاولة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dirty="0">
                          <a:solidFill>
                            <a:schemeClr val="tx1"/>
                          </a:solidFill>
                        </a:rPr>
                        <a:t>أوقف كرة متدحرجة بيدك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dirty="0">
                          <a:solidFill>
                            <a:schemeClr val="tx1"/>
                          </a:solidFill>
                        </a:rPr>
                        <a:t>اضرب كرة متحركة جانبيًا بمسطرة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dirty="0">
                          <a:solidFill>
                            <a:schemeClr val="tx1"/>
                          </a:solidFill>
                        </a:rPr>
                        <a:t>اضغط على قطعة صلصال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card-77"/>
          <p:cNvSpPr/>
          <p:nvPr/>
        </p:nvSpPr>
        <p:spPr>
          <a:xfrm>
            <a:off x="548640" y="1828800"/>
            <a:ext cx="3383280" cy="3429000"/>
          </a:xfrm>
          <a:prstGeom prst="roundRect">
            <a:avLst>
              <a:gd name="adj" fmla="val 40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9" name="text-78"/>
          <p:cNvSpPr txBox="1"/>
          <p:nvPr/>
        </p:nvSpPr>
        <p:spPr>
          <a:xfrm>
            <a:off x="731520" y="19659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chemeClr val="accent4"/>
                </a:solidFill>
              </a:rPr>
              <a:t>مفتاح الاكتشاف</a:t>
            </a:r>
            <a:endParaRPr lang="ar-SA" sz="1800" dirty="0"/>
          </a:p>
        </p:txBody>
      </p:sp>
      <p:sp>
        <p:nvSpPr>
          <p:cNvPr id="10" name="text-79"/>
          <p:cNvSpPr txBox="1"/>
          <p:nvPr/>
        </p:nvSpPr>
        <p:spPr>
          <a:xfrm>
            <a:off x="731520" y="246888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800" dirty="0">
                <a:solidFill>
                  <a:schemeClr val="bg1"/>
                </a:solidFill>
              </a:rPr>
              <a:t>تبدأ الحركة</a:t>
            </a:r>
            <a:endParaRPr lang="ar-SA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800" dirty="0">
                <a:solidFill>
                  <a:schemeClr val="bg1"/>
                </a:solidFill>
              </a:rPr>
              <a:t>تتوقف الحركة</a:t>
            </a:r>
            <a:endParaRPr lang="ar-SA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800" dirty="0">
                <a:solidFill>
                  <a:schemeClr val="bg1"/>
                </a:solidFill>
              </a:rPr>
              <a:t>يتغيّر الاتجاه</a:t>
            </a:r>
            <a:endParaRPr lang="ar-SA" sz="180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ar-SA" altLang="en-US" sz="1800" dirty="0">
                <a:solidFill>
                  <a:schemeClr val="bg1"/>
                </a:solidFill>
              </a:rPr>
              <a:t>يتغيّر الشكل</a:t>
            </a:r>
            <a:endParaRPr lang="ar-SA" sz="1800" dirty="0"/>
          </a:p>
        </p:txBody>
      </p:sp>
      <p:sp>
        <p:nvSpPr>
          <p:cNvPr id="11" name="text-80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accent2"/>
                </a:solidFill>
              </a:rPr>
              <a:t>⏱ 8 دقائق   ⭐ 3 نجوم للفريق الذي يكمل الجدول بدقة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81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con-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83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استكشاف 3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كم تبلغ قوة السحب؟</a:t>
            </a:r>
            <a:endParaRPr lang="ar-SA" sz="3600" dirty="0"/>
          </a:p>
        </p:txBody>
      </p:sp>
      <p:sp>
        <p:nvSpPr>
          <p:cNvPr id="6" name="card-84"/>
          <p:cNvSpPr/>
          <p:nvPr/>
        </p:nvSpPr>
        <p:spPr>
          <a:xfrm>
            <a:off x="7589520" y="1417320"/>
            <a:ext cx="4023360" cy="4480560"/>
          </a:xfrm>
          <a:prstGeom prst="roundRect">
            <a:avLst>
              <a:gd name="adj" fmla="val 34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badge-85"/>
          <p:cNvSpPr/>
          <p:nvPr/>
        </p:nvSpPr>
        <p:spPr>
          <a:xfrm>
            <a:off x="9006840" y="164592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-8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358" y="1907438"/>
            <a:ext cx="665683" cy="665683"/>
          </a:xfrm>
          <a:prstGeom prst="rect">
            <a:avLst/>
          </a:prstGeom>
        </p:spPr>
      </p:pic>
      <p:sp>
        <p:nvSpPr>
          <p:cNvPr id="9" name="text-87"/>
          <p:cNvSpPr txBox="1"/>
          <p:nvPr/>
        </p:nvSpPr>
        <p:spPr>
          <a:xfrm>
            <a:off x="777240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tx1"/>
                </a:solidFill>
              </a:rPr>
              <a:t>الدينامومتر</a:t>
            </a:r>
            <a:endParaRPr lang="ar-SA" sz="2200" dirty="0"/>
          </a:p>
        </p:txBody>
      </p:sp>
      <p:sp>
        <p:nvSpPr>
          <p:cNvPr id="10" name="text-88"/>
          <p:cNvSpPr txBox="1"/>
          <p:nvPr/>
        </p:nvSpPr>
        <p:spPr>
          <a:xfrm>
            <a:off x="7818120" y="35204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ميزان نابضي يقيس القوة. كلما زادت القوة استطال النابض أكثر.</a:t>
            </a:r>
            <a:endParaRPr lang="ar-SA" sz="1600" dirty="0"/>
          </a:p>
        </p:txBody>
      </p:sp>
      <p:sp>
        <p:nvSpPr>
          <p:cNvPr id="11" name="text-89"/>
          <p:cNvSpPr txBox="1"/>
          <p:nvPr/>
        </p:nvSpPr>
        <p:spPr>
          <a:xfrm>
            <a:off x="7772400" y="4846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chemeClr val="accent1"/>
                </a:solidFill>
              </a:rPr>
              <a:t>وحدة القوة: النيوتن (N)</a:t>
            </a:r>
            <a:endParaRPr lang="ar-SA" sz="2000" dirty="0"/>
          </a:p>
        </p:txBody>
      </p:sp>
      <p:graphicFrame>
        <p:nvGraphicFramePr>
          <p:cNvPr id="8" name="table-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1737360"/>
              </a:tblGrid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b="1" dirty="0">
                          <a:solidFill>
                            <a:schemeClr val="bg1"/>
                          </a:solidFill>
                        </a:rPr>
                        <a:t>الجسم المعلَّق أو المسحوب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b="1" dirty="0">
                          <a:solidFill>
                            <a:schemeClr val="bg1"/>
                          </a:solidFill>
                        </a:rPr>
                        <a:t>التوقع (N)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b="1" dirty="0">
                          <a:solidFill>
                            <a:schemeClr val="bg1"/>
                          </a:solidFill>
                        </a:rPr>
                        <a:t>القياس (N)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dirty="0">
                          <a:solidFill>
                            <a:schemeClr val="tx1"/>
                          </a:solidFill>
                        </a:rPr>
                        <a:t>مقلمة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dirty="0">
                          <a:solidFill>
                            <a:schemeClr val="tx1"/>
                          </a:solidFill>
                        </a:rPr>
                        <a:t>كتاب العلوم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dirty="0">
                          <a:solidFill>
                            <a:schemeClr val="tx1"/>
                          </a:solidFill>
                        </a:rPr>
                        <a:t>حقيبة صغيرة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700" dirty="0">
                          <a:solidFill>
                            <a:schemeClr val="tx1"/>
                          </a:solidFill>
                        </a:rPr>
                        <a:t>سحب درج الطاولة</a:t>
                      </a: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card-91"/>
          <p:cNvSpPr/>
          <p:nvPr/>
        </p:nvSpPr>
        <p:spPr>
          <a:xfrm>
            <a:off x="548640" y="5074920"/>
            <a:ext cx="6766560" cy="822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-92"/>
          <p:cNvSpPr txBox="1"/>
          <p:nvPr/>
        </p:nvSpPr>
        <p:spPr>
          <a:xfrm>
            <a:off x="731520" y="50749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tx1"/>
                </a:solidFill>
              </a:rPr>
              <a:t>توقّعوا أولًا ثم قيسوا! الفريق الأقرب في توقعاته يربح ⭐⭐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93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con-9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95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ماذا اكتشفنا؟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ماذا اكتشفنا؟</a:t>
            </a:r>
            <a:endParaRPr lang="ar-SA" sz="3600" dirty="0"/>
          </a:p>
        </p:txBody>
      </p:sp>
      <p:sp>
        <p:nvSpPr>
          <p:cNvPr id="6" name="card-96"/>
          <p:cNvSpPr/>
          <p:nvPr/>
        </p:nvSpPr>
        <p:spPr>
          <a:xfrm>
            <a:off x="548640" y="1417320"/>
            <a:ext cx="11064240" cy="109728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7" name="text-97"/>
          <p:cNvSpPr txBox="1"/>
          <p:nvPr/>
        </p:nvSpPr>
        <p:spPr>
          <a:xfrm>
            <a:off x="822960" y="1417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2400" b="1" dirty="0">
                <a:solidFill>
                  <a:schemeClr val="accent4"/>
                </a:solidFill>
              </a:rPr>
              <a:t>القوة: </a:t>
            </a:r>
            <a:pPr algn="r" indent="0" marL="0">
              <a:buNone/>
            </a:pPr>
            <a:r>
              <a:rPr lang="ar-SA" altLang="en-US" sz="2400" dirty="0">
                <a:solidFill>
                  <a:schemeClr val="bg1"/>
                </a:solidFill>
              </a:rPr>
              <a:t>دفع أو سحب يؤثر في الجسم، وتُقاس بوحدة النيوتن</a:t>
            </a:r>
            <a:endParaRPr lang="ar-SA" sz="2400" dirty="0"/>
          </a:p>
        </p:txBody>
      </p:sp>
      <p:sp>
        <p:nvSpPr>
          <p:cNvPr id="8" name="card-98"/>
          <p:cNvSpPr/>
          <p:nvPr/>
        </p:nvSpPr>
        <p:spPr>
          <a:xfrm>
            <a:off x="6263640" y="2788920"/>
            <a:ext cx="5349240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99"/>
          <p:cNvSpPr txBox="1"/>
          <p:nvPr/>
        </p:nvSpPr>
        <p:spPr>
          <a:xfrm>
            <a:off x="6492240" y="28803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1"/>
                </a:solidFill>
              </a:rPr>
              <a:t>للقوة ثلاثة عناصر</a:t>
            </a:r>
            <a:endParaRPr lang="ar-SA" sz="2000" dirty="0"/>
          </a:p>
        </p:txBody>
      </p:sp>
      <p:sp>
        <p:nvSpPr>
          <p:cNvPr id="10" name="box-100"/>
          <p:cNvSpPr/>
          <p:nvPr/>
        </p:nvSpPr>
        <p:spPr>
          <a:xfrm>
            <a:off x="7406640" y="3749040"/>
            <a:ext cx="822960" cy="82296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arrow-101"/>
          <p:cNvSpPr/>
          <p:nvPr/>
        </p:nvSpPr>
        <p:spPr>
          <a:xfrm>
            <a:off x="8229600" y="4160520"/>
            <a:ext cx="2377440" cy="0"/>
          </a:xfrm>
          <a:prstGeom prst="line">
            <a:avLst/>
          </a:prstGeom>
          <a:noFill/>
          <a:ln w="635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ext-102"/>
          <p:cNvSpPr txBox="1"/>
          <p:nvPr/>
        </p:nvSpPr>
        <p:spPr>
          <a:xfrm>
            <a:off x="7132320" y="4617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400" dirty="0">
                <a:solidFill>
                  <a:schemeClr val="tx2"/>
                </a:solidFill>
              </a:rPr>
              <a:t>الجسم</a:t>
            </a:r>
            <a:endParaRPr lang="ar-SA" sz="1400" dirty="0"/>
          </a:p>
        </p:txBody>
      </p:sp>
      <p:sp>
        <p:nvSpPr>
          <p:cNvPr id="13" name="text-103"/>
          <p:cNvSpPr txBox="1"/>
          <p:nvPr/>
        </p:nvSpPr>
        <p:spPr>
          <a:xfrm>
            <a:off x="8778240" y="36118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1800" b="1" dirty="0">
                <a:solidFill>
                  <a:schemeClr val="accent5"/>
                </a:solidFill>
              </a:rPr>
              <a:t>5 N</a:t>
            </a:r>
            <a:endParaRPr lang="ar-SA" sz="1800" dirty="0"/>
          </a:p>
        </p:txBody>
      </p:sp>
      <p:sp>
        <p:nvSpPr>
          <p:cNvPr id="14" name="text-104"/>
          <p:cNvSpPr txBox="1"/>
          <p:nvPr/>
        </p:nvSpPr>
        <p:spPr>
          <a:xfrm>
            <a:off x="6492240" y="49377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342900" indent="-342900">
              <a:spcAft>
                <a:spcPts val="200"/>
              </a:spcAft>
              <a:buSzPct val="100000"/>
              <a:buChar char="•"/>
            </a:pPr>
            <a:r>
              <a:rPr lang="ar-SA" altLang="en-US" sz="1500" dirty="0">
                <a:solidFill>
                  <a:schemeClr val="tx1"/>
                </a:solidFill>
              </a:rPr>
              <a:t>الشدة: مقدار القوة (5 نيوتن)</a:t>
            </a:r>
            <a:endParaRPr lang="ar-SA" sz="1500" dirty="0"/>
          </a:p>
          <a:p>
            <a:pPr algn="r" marL="342900" indent="-342900">
              <a:spcAft>
                <a:spcPts val="200"/>
              </a:spcAft>
              <a:buSzPct val="100000"/>
              <a:buChar char="•"/>
            </a:pPr>
            <a:r>
              <a:rPr lang="ar-SA" altLang="en-US" sz="1500" dirty="0">
                <a:solidFill>
                  <a:schemeClr val="tx1"/>
                </a:solidFill>
              </a:rPr>
              <a:t>الاتجاه: إلى أين تؤثر</a:t>
            </a:r>
            <a:endParaRPr lang="ar-SA" sz="1500" dirty="0"/>
          </a:p>
          <a:p>
            <a:pPr algn="r" marL="342900" indent="-342900">
              <a:spcAft>
                <a:spcPts val="200"/>
              </a:spcAft>
              <a:buSzPct val="100000"/>
              <a:buChar char="•"/>
            </a:pPr>
            <a:r>
              <a:rPr lang="ar-SA" altLang="en-US" sz="1500" dirty="0">
                <a:solidFill>
                  <a:schemeClr val="tx1"/>
                </a:solidFill>
              </a:rPr>
              <a:t>نقطة التأثير: أين تؤثر على الجسم</a:t>
            </a:r>
            <a:endParaRPr lang="ar-SA" sz="1500" dirty="0"/>
          </a:p>
        </p:txBody>
      </p:sp>
      <p:sp>
        <p:nvSpPr>
          <p:cNvPr id="15" name="card-105"/>
          <p:cNvSpPr/>
          <p:nvPr/>
        </p:nvSpPr>
        <p:spPr>
          <a:xfrm>
            <a:off x="548640" y="2788920"/>
            <a:ext cx="5486400" cy="150876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-106"/>
          <p:cNvSpPr/>
          <p:nvPr/>
        </p:nvSpPr>
        <p:spPr>
          <a:xfrm>
            <a:off x="4800600" y="3063240"/>
            <a:ext cx="960120" cy="9601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-10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826" y="3274466"/>
            <a:ext cx="537667" cy="537667"/>
          </a:xfrm>
          <a:prstGeom prst="rect">
            <a:avLst/>
          </a:prstGeom>
        </p:spPr>
      </p:pic>
      <p:sp>
        <p:nvSpPr>
          <p:cNvPr id="18" name="text-108"/>
          <p:cNvSpPr txBox="1"/>
          <p:nvPr/>
        </p:nvSpPr>
        <p:spPr>
          <a:xfrm>
            <a:off x="777240" y="2971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قوى تلامس</a:t>
            </a:r>
            <a:endParaRPr lang="ar-SA" sz="2000" dirty="0"/>
          </a:p>
        </p:txBody>
      </p:sp>
      <p:sp>
        <p:nvSpPr>
          <p:cNvPr id="19" name="text-109"/>
          <p:cNvSpPr txBox="1"/>
          <p:nvPr/>
        </p:nvSpPr>
        <p:spPr>
          <a:xfrm>
            <a:off x="777240" y="3520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الدفع، السحب، الاحتكاك، رد فعل السطح</a:t>
            </a:r>
            <a:endParaRPr lang="ar-SA" sz="1600" dirty="0"/>
          </a:p>
        </p:txBody>
      </p:sp>
      <p:sp>
        <p:nvSpPr>
          <p:cNvPr id="20" name="card-110"/>
          <p:cNvSpPr/>
          <p:nvPr/>
        </p:nvSpPr>
        <p:spPr>
          <a:xfrm>
            <a:off x="548640" y="4480560"/>
            <a:ext cx="5486400" cy="150876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badge-111"/>
          <p:cNvSpPr/>
          <p:nvPr/>
        </p:nvSpPr>
        <p:spPr>
          <a:xfrm>
            <a:off x="4800600" y="4754880"/>
            <a:ext cx="960120" cy="9601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icon-1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826" y="4966106"/>
            <a:ext cx="537667" cy="537667"/>
          </a:xfrm>
          <a:prstGeom prst="rect">
            <a:avLst/>
          </a:prstGeom>
        </p:spPr>
      </p:pic>
      <p:sp>
        <p:nvSpPr>
          <p:cNvPr id="23" name="text-113"/>
          <p:cNvSpPr txBox="1"/>
          <p:nvPr/>
        </p:nvSpPr>
        <p:spPr>
          <a:xfrm>
            <a:off x="777240" y="4663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قوى عن بُعد</a:t>
            </a:r>
            <a:endParaRPr lang="ar-SA" sz="2000" dirty="0"/>
          </a:p>
        </p:txBody>
      </p:sp>
      <p:sp>
        <p:nvSpPr>
          <p:cNvPr id="24" name="text-114"/>
          <p:cNvSpPr txBox="1"/>
          <p:nvPr/>
        </p:nvSpPr>
        <p:spPr>
          <a:xfrm>
            <a:off x="777240" y="5212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2"/>
                </a:solidFill>
              </a:rPr>
              <a:t>الجاذبية (الوزن)، المغناطيسية، الكهربائية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15"/>
          <p:cNvSpPr/>
          <p:nvPr/>
        </p:nvSpPr>
        <p:spPr>
          <a:xfrm>
            <a:off x="5321808" y="1188720"/>
            <a:ext cx="1554480" cy="1554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con-1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3794" y="1530706"/>
            <a:ext cx="870509" cy="87050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32918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المحطة 2: التطبيق</a:t>
            </a:r>
            <a:endParaRPr lang="ar-SA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chemeClr val="bg2"/>
                </a:solidFill>
              </a:rPr>
              <a:t>استخدموا ما اكتشفتموه لحل تحديات جديدة</a:t>
            </a:r>
            <a:endParaRPr lang="ar-SA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117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con-11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119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تطبيق 1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تحدّي التصنيف السريع</a:t>
            </a:r>
            <a:endParaRPr lang="ar-SA" sz="3600" dirty="0"/>
          </a:p>
        </p:txBody>
      </p:sp>
      <p:sp>
        <p:nvSpPr>
          <p:cNvPr id="6" name="text-120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2"/>
                </a:solidFill>
              </a:rPr>
              <a:t>صنّفوا كل موقف: قوة تلامس أم قوة عن بُعد؟ ارفعوا البطاقة الصحيحة!</a:t>
            </a:r>
            <a:endParaRPr lang="ar-SA" sz="1800" dirty="0"/>
          </a:p>
        </p:txBody>
      </p:sp>
      <p:sp>
        <p:nvSpPr>
          <p:cNvPr id="7" name="card-121"/>
          <p:cNvSpPr/>
          <p:nvPr/>
        </p:nvSpPr>
        <p:spPr>
          <a:xfrm>
            <a:off x="8001000" y="1874520"/>
            <a:ext cx="352044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badge-122"/>
          <p:cNvSpPr/>
          <p:nvPr/>
        </p:nvSpPr>
        <p:spPr>
          <a:xfrm>
            <a:off x="10515600" y="21488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-12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710" y="2339950"/>
            <a:ext cx="486461" cy="486461"/>
          </a:xfrm>
          <a:prstGeom prst="rect">
            <a:avLst/>
          </a:prstGeom>
        </p:spPr>
      </p:pic>
      <p:sp>
        <p:nvSpPr>
          <p:cNvPr id="10" name="text-124"/>
          <p:cNvSpPr txBox="1"/>
          <p:nvPr/>
        </p:nvSpPr>
        <p:spPr>
          <a:xfrm>
            <a:off x="8183880" y="2057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tx1"/>
                </a:solidFill>
              </a:rPr>
              <a:t>لاعب يركل الكرة</a:t>
            </a:r>
            <a:endParaRPr lang="ar-SA" sz="1700" dirty="0"/>
          </a:p>
        </p:txBody>
      </p:sp>
      <p:sp>
        <p:nvSpPr>
          <p:cNvPr id="11" name="card-125"/>
          <p:cNvSpPr/>
          <p:nvPr/>
        </p:nvSpPr>
        <p:spPr>
          <a:xfrm>
            <a:off x="4279392" y="1874520"/>
            <a:ext cx="352044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badge-126"/>
          <p:cNvSpPr/>
          <p:nvPr/>
        </p:nvSpPr>
        <p:spPr>
          <a:xfrm>
            <a:off x="6793992" y="21488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on-12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102" y="2339950"/>
            <a:ext cx="486461" cy="486461"/>
          </a:xfrm>
          <a:prstGeom prst="rect">
            <a:avLst/>
          </a:prstGeom>
        </p:spPr>
      </p:pic>
      <p:sp>
        <p:nvSpPr>
          <p:cNvPr id="14" name="text-128"/>
          <p:cNvSpPr txBox="1"/>
          <p:nvPr/>
        </p:nvSpPr>
        <p:spPr>
          <a:xfrm>
            <a:off x="4462272" y="2057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tx1"/>
                </a:solidFill>
              </a:rPr>
              <a:t>تفاحة تسقط من الشجرة</a:t>
            </a:r>
            <a:endParaRPr lang="ar-SA" sz="1700" dirty="0"/>
          </a:p>
        </p:txBody>
      </p:sp>
      <p:sp>
        <p:nvSpPr>
          <p:cNvPr id="15" name="card-129"/>
          <p:cNvSpPr/>
          <p:nvPr/>
        </p:nvSpPr>
        <p:spPr>
          <a:xfrm>
            <a:off x="557784" y="1874520"/>
            <a:ext cx="352044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-130"/>
          <p:cNvSpPr/>
          <p:nvPr/>
        </p:nvSpPr>
        <p:spPr>
          <a:xfrm>
            <a:off x="3072384" y="214884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-13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494" y="2339950"/>
            <a:ext cx="486461" cy="486461"/>
          </a:xfrm>
          <a:prstGeom prst="rect">
            <a:avLst/>
          </a:prstGeom>
        </p:spPr>
      </p:pic>
      <p:sp>
        <p:nvSpPr>
          <p:cNvPr id="18" name="text-132"/>
          <p:cNvSpPr txBox="1"/>
          <p:nvPr/>
        </p:nvSpPr>
        <p:spPr>
          <a:xfrm>
            <a:off x="740664" y="2057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tx1"/>
                </a:solidFill>
              </a:rPr>
              <a:t>مغناطيس يجذب مسمارًا</a:t>
            </a:r>
            <a:endParaRPr lang="ar-SA" sz="1700" dirty="0"/>
          </a:p>
        </p:txBody>
      </p:sp>
      <p:sp>
        <p:nvSpPr>
          <p:cNvPr id="19" name="card-133"/>
          <p:cNvSpPr/>
          <p:nvPr/>
        </p:nvSpPr>
        <p:spPr>
          <a:xfrm>
            <a:off x="8001000" y="3566160"/>
            <a:ext cx="352044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134"/>
          <p:cNvSpPr/>
          <p:nvPr/>
        </p:nvSpPr>
        <p:spPr>
          <a:xfrm>
            <a:off x="10515600" y="384048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-13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6710" y="4031590"/>
            <a:ext cx="486461" cy="486461"/>
          </a:xfrm>
          <a:prstGeom prst="rect">
            <a:avLst/>
          </a:prstGeom>
        </p:spPr>
      </p:pic>
      <p:sp>
        <p:nvSpPr>
          <p:cNvPr id="22" name="text-136"/>
          <p:cNvSpPr txBox="1"/>
          <p:nvPr/>
        </p:nvSpPr>
        <p:spPr>
          <a:xfrm>
            <a:off x="8183880" y="3749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tx1"/>
                </a:solidFill>
              </a:rPr>
              <a:t>فرامل الدراجة توقفها</a:t>
            </a:r>
            <a:endParaRPr lang="ar-SA" sz="1700" dirty="0"/>
          </a:p>
        </p:txBody>
      </p:sp>
      <p:sp>
        <p:nvSpPr>
          <p:cNvPr id="23" name="card-137"/>
          <p:cNvSpPr/>
          <p:nvPr/>
        </p:nvSpPr>
        <p:spPr>
          <a:xfrm>
            <a:off x="4279392" y="3566160"/>
            <a:ext cx="352044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badge-138"/>
          <p:cNvSpPr/>
          <p:nvPr/>
        </p:nvSpPr>
        <p:spPr>
          <a:xfrm>
            <a:off x="6793992" y="384048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on-13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102" y="4031590"/>
            <a:ext cx="486461" cy="486461"/>
          </a:xfrm>
          <a:prstGeom prst="rect">
            <a:avLst/>
          </a:prstGeom>
        </p:spPr>
      </p:pic>
      <p:sp>
        <p:nvSpPr>
          <p:cNvPr id="26" name="text-140"/>
          <p:cNvSpPr txBox="1"/>
          <p:nvPr/>
        </p:nvSpPr>
        <p:spPr>
          <a:xfrm>
            <a:off x="4462272" y="3749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tx1"/>
                </a:solidFill>
              </a:rPr>
              <a:t>شدّ مقبض الباب</a:t>
            </a:r>
            <a:endParaRPr lang="ar-SA" sz="1700" dirty="0"/>
          </a:p>
        </p:txBody>
      </p:sp>
      <p:sp>
        <p:nvSpPr>
          <p:cNvPr id="27" name="card-141"/>
          <p:cNvSpPr/>
          <p:nvPr/>
        </p:nvSpPr>
        <p:spPr>
          <a:xfrm>
            <a:off x="557784" y="3566160"/>
            <a:ext cx="3520440" cy="1463040"/>
          </a:xfrm>
          <a:prstGeom prst="roundRect">
            <a:avLst>
              <a:gd name="adj" fmla="val 93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adge-142"/>
          <p:cNvSpPr/>
          <p:nvPr/>
        </p:nvSpPr>
        <p:spPr>
          <a:xfrm>
            <a:off x="3072384" y="3840480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con-14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494" y="4031590"/>
            <a:ext cx="486461" cy="486461"/>
          </a:xfrm>
          <a:prstGeom prst="rect">
            <a:avLst/>
          </a:prstGeom>
        </p:spPr>
      </p:pic>
      <p:sp>
        <p:nvSpPr>
          <p:cNvPr id="30" name="text-144"/>
          <p:cNvSpPr txBox="1"/>
          <p:nvPr/>
        </p:nvSpPr>
        <p:spPr>
          <a:xfrm>
            <a:off x="740664" y="37490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tx1"/>
                </a:solidFill>
              </a:rPr>
              <a:t>مشط مدلوك يجذب الشعر</a:t>
            </a:r>
            <a:endParaRPr lang="ar-SA" sz="1700" dirty="0"/>
          </a:p>
        </p:txBody>
      </p:sp>
      <p:sp>
        <p:nvSpPr>
          <p:cNvPr id="31" name="card-145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text-146"/>
          <p:cNvSpPr txBox="1"/>
          <p:nvPr/>
        </p:nvSpPr>
        <p:spPr>
          <a:xfrm>
            <a:off x="731520" y="53492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⏱ 30 ثانية لكل موقف   ⭐ نجمة لكل إجابة صحيحة   الإجابات: تلامس: 1، 4، 5 — عن بُعد: 2، 3، 6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147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con-14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149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تطبيق 2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شدّ الحبل: من سيفوز؟</a:t>
            </a:r>
            <a:endParaRPr lang="ar-SA" sz="3600" dirty="0"/>
          </a:p>
        </p:txBody>
      </p:sp>
      <p:sp>
        <p:nvSpPr>
          <p:cNvPr id="6" name="card-150"/>
          <p:cNvSpPr/>
          <p:nvPr/>
        </p:nvSpPr>
        <p:spPr>
          <a:xfrm>
            <a:off x="548640" y="1371600"/>
            <a:ext cx="11064240" cy="960120"/>
          </a:xfrm>
          <a:prstGeom prst="roundRect">
            <a:avLst>
              <a:gd name="adj" fmla="val 1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7" name="text-151"/>
          <p:cNvSpPr txBox="1"/>
          <p:nvPr/>
        </p:nvSpPr>
        <p:spPr>
          <a:xfrm>
            <a:off x="777240" y="137160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chemeClr val="accent4"/>
                </a:solidFill>
              </a:rPr>
              <a:t>القاعدة: </a:t>
            </a:r>
            <a:pPr algn="r" indent="0" marL="0">
              <a:buNone/>
            </a:pPr>
            <a:r>
              <a:rPr lang="ar-SA" altLang="en-US" sz="1800" dirty="0">
                <a:solidFill>
                  <a:schemeClr val="bg1"/>
                </a:solidFill>
              </a:rPr>
              <a:t>نفس الاتجاه ← نجمع القوى   |   اتجاهان متعاكسان ← نطرح، والجسم يتحرك باتجاه القوة الأكبر</a:t>
            </a:r>
            <a:endParaRPr lang="ar-SA" sz="1800" dirty="0"/>
          </a:p>
        </p:txBody>
      </p:sp>
      <p:sp>
        <p:nvSpPr>
          <p:cNvPr id="8" name="card-152"/>
          <p:cNvSpPr/>
          <p:nvPr/>
        </p:nvSpPr>
        <p:spPr>
          <a:xfrm>
            <a:off x="548640" y="2606040"/>
            <a:ext cx="11064240" cy="86868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153"/>
          <p:cNvSpPr txBox="1"/>
          <p:nvPr/>
        </p:nvSpPr>
        <p:spPr>
          <a:xfrm>
            <a:off x="10881360" y="26060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2"/>
                </a:solidFill>
              </a:rPr>
              <a:t>أ</a:t>
            </a:r>
            <a:endParaRPr lang="ar-SA" sz="2400" dirty="0"/>
          </a:p>
        </p:txBody>
      </p:sp>
      <p:sp>
        <p:nvSpPr>
          <p:cNvPr id="10" name="arrow-154"/>
          <p:cNvSpPr/>
          <p:nvPr/>
        </p:nvSpPr>
        <p:spPr>
          <a:xfrm>
            <a:off x="7863840" y="3035808"/>
            <a:ext cx="2651760" cy="0"/>
          </a:xfrm>
          <a:prstGeom prst="line">
            <a:avLst/>
          </a:prstGeom>
          <a:noFill/>
          <a:ln w="635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1" name="text-155"/>
          <p:cNvSpPr txBox="1"/>
          <p:nvPr/>
        </p:nvSpPr>
        <p:spPr>
          <a:xfrm>
            <a:off x="8503920" y="2624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chemeClr val="accent6"/>
                </a:solidFill>
              </a:rPr>
              <a:t>60 N</a:t>
            </a:r>
            <a:endParaRPr lang="ar-SA" sz="1600" dirty="0"/>
          </a:p>
        </p:txBody>
      </p:sp>
      <p:sp>
        <p:nvSpPr>
          <p:cNvPr id="12" name="box-156"/>
          <p:cNvSpPr/>
          <p:nvPr/>
        </p:nvSpPr>
        <p:spPr>
          <a:xfrm>
            <a:off x="7223760" y="2761488"/>
            <a:ext cx="640080" cy="548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arrow-157"/>
          <p:cNvSpPr/>
          <p:nvPr/>
        </p:nvSpPr>
        <p:spPr>
          <a:xfrm flipH="1">
            <a:off x="4572000" y="3035808"/>
            <a:ext cx="2651760" cy="0"/>
          </a:xfrm>
          <a:prstGeom prst="line">
            <a:avLst/>
          </a:prstGeom>
          <a:noFill/>
          <a:ln w="635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-158"/>
          <p:cNvSpPr txBox="1"/>
          <p:nvPr/>
        </p:nvSpPr>
        <p:spPr>
          <a:xfrm>
            <a:off x="5120640" y="2624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chemeClr val="accent5"/>
                </a:solidFill>
              </a:rPr>
              <a:t>40 N</a:t>
            </a:r>
            <a:endParaRPr lang="ar-SA" sz="1600" dirty="0"/>
          </a:p>
        </p:txBody>
      </p:sp>
      <p:sp>
        <p:nvSpPr>
          <p:cNvPr id="15" name="text-159"/>
          <p:cNvSpPr txBox="1"/>
          <p:nvPr/>
        </p:nvSpPr>
        <p:spPr>
          <a:xfrm>
            <a:off x="731520" y="2606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المحصلة = ____ نيوتن   الاتجاه: ______</a:t>
            </a:r>
            <a:endParaRPr lang="ar-SA" sz="1600" dirty="0"/>
          </a:p>
        </p:txBody>
      </p:sp>
      <p:sp>
        <p:nvSpPr>
          <p:cNvPr id="16" name="card-160"/>
          <p:cNvSpPr/>
          <p:nvPr/>
        </p:nvSpPr>
        <p:spPr>
          <a:xfrm>
            <a:off x="548640" y="3657600"/>
            <a:ext cx="11064240" cy="86868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-161"/>
          <p:cNvSpPr txBox="1"/>
          <p:nvPr/>
        </p:nvSpPr>
        <p:spPr>
          <a:xfrm>
            <a:off x="10881360" y="36576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2"/>
                </a:solidFill>
              </a:rPr>
              <a:t>ب</a:t>
            </a:r>
            <a:endParaRPr lang="ar-SA" sz="2400" dirty="0"/>
          </a:p>
        </p:txBody>
      </p:sp>
      <p:sp>
        <p:nvSpPr>
          <p:cNvPr id="18" name="arrow-162"/>
          <p:cNvSpPr/>
          <p:nvPr/>
        </p:nvSpPr>
        <p:spPr>
          <a:xfrm>
            <a:off x="7863840" y="4087368"/>
            <a:ext cx="2651760" cy="0"/>
          </a:xfrm>
          <a:prstGeom prst="line">
            <a:avLst/>
          </a:prstGeom>
          <a:noFill/>
          <a:ln w="635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text-163"/>
          <p:cNvSpPr txBox="1"/>
          <p:nvPr/>
        </p:nvSpPr>
        <p:spPr>
          <a:xfrm>
            <a:off x="8503920" y="3675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chemeClr val="accent6"/>
                </a:solidFill>
              </a:rPr>
              <a:t>50 N</a:t>
            </a:r>
            <a:endParaRPr lang="ar-SA" sz="1600" dirty="0"/>
          </a:p>
        </p:txBody>
      </p:sp>
      <p:sp>
        <p:nvSpPr>
          <p:cNvPr id="20" name="box-164"/>
          <p:cNvSpPr/>
          <p:nvPr/>
        </p:nvSpPr>
        <p:spPr>
          <a:xfrm>
            <a:off x="7223760" y="3813048"/>
            <a:ext cx="640080" cy="548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arrow-165"/>
          <p:cNvSpPr/>
          <p:nvPr/>
        </p:nvSpPr>
        <p:spPr>
          <a:xfrm flipH="1">
            <a:off x="4572000" y="4087368"/>
            <a:ext cx="2651760" cy="0"/>
          </a:xfrm>
          <a:prstGeom prst="line">
            <a:avLst/>
          </a:prstGeom>
          <a:noFill/>
          <a:ln w="635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text-166"/>
          <p:cNvSpPr txBox="1"/>
          <p:nvPr/>
        </p:nvSpPr>
        <p:spPr>
          <a:xfrm>
            <a:off x="5120640" y="3675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chemeClr val="accent5"/>
                </a:solidFill>
              </a:rPr>
              <a:t>50 N</a:t>
            </a:r>
            <a:endParaRPr lang="ar-SA" sz="1600" dirty="0"/>
          </a:p>
        </p:txBody>
      </p:sp>
      <p:sp>
        <p:nvSpPr>
          <p:cNvPr id="23" name="text-167"/>
          <p:cNvSpPr txBox="1"/>
          <p:nvPr/>
        </p:nvSpPr>
        <p:spPr>
          <a:xfrm>
            <a:off x="731520" y="3657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المحصلة = ____ نيوتن   الاتجاه: ______</a:t>
            </a:r>
            <a:endParaRPr lang="ar-SA" sz="1600" dirty="0"/>
          </a:p>
        </p:txBody>
      </p:sp>
      <p:sp>
        <p:nvSpPr>
          <p:cNvPr id="24" name="card-168"/>
          <p:cNvSpPr/>
          <p:nvPr/>
        </p:nvSpPr>
        <p:spPr>
          <a:xfrm>
            <a:off x="548640" y="4709160"/>
            <a:ext cx="11064240" cy="868680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-169"/>
          <p:cNvSpPr txBox="1"/>
          <p:nvPr/>
        </p:nvSpPr>
        <p:spPr>
          <a:xfrm>
            <a:off x="10881360" y="47091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2"/>
                </a:solidFill>
              </a:rPr>
              <a:t>ج</a:t>
            </a:r>
            <a:endParaRPr lang="ar-SA" sz="2400" dirty="0"/>
          </a:p>
        </p:txBody>
      </p:sp>
      <p:sp>
        <p:nvSpPr>
          <p:cNvPr id="26" name="arrow-170"/>
          <p:cNvSpPr/>
          <p:nvPr/>
        </p:nvSpPr>
        <p:spPr>
          <a:xfrm>
            <a:off x="7863840" y="5138928"/>
            <a:ext cx="2651760" cy="0"/>
          </a:xfrm>
          <a:prstGeom prst="line">
            <a:avLst/>
          </a:prstGeom>
          <a:noFill/>
          <a:ln w="635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text-171"/>
          <p:cNvSpPr txBox="1"/>
          <p:nvPr/>
        </p:nvSpPr>
        <p:spPr>
          <a:xfrm>
            <a:off x="8503920" y="4727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chemeClr val="accent6"/>
                </a:solidFill>
              </a:rPr>
              <a:t>30 N</a:t>
            </a:r>
            <a:endParaRPr lang="ar-SA" sz="1600" dirty="0"/>
          </a:p>
        </p:txBody>
      </p:sp>
      <p:sp>
        <p:nvSpPr>
          <p:cNvPr id="28" name="box-172"/>
          <p:cNvSpPr/>
          <p:nvPr/>
        </p:nvSpPr>
        <p:spPr>
          <a:xfrm>
            <a:off x="7223760" y="4864608"/>
            <a:ext cx="640080" cy="5486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arrow-173"/>
          <p:cNvSpPr/>
          <p:nvPr/>
        </p:nvSpPr>
        <p:spPr>
          <a:xfrm flipH="1">
            <a:off x="4572000" y="5138928"/>
            <a:ext cx="2651760" cy="0"/>
          </a:xfrm>
          <a:prstGeom prst="line">
            <a:avLst/>
          </a:prstGeom>
          <a:noFill/>
          <a:ln w="635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0" name="text-174"/>
          <p:cNvSpPr txBox="1"/>
          <p:nvPr/>
        </p:nvSpPr>
        <p:spPr>
          <a:xfrm>
            <a:off x="5120640" y="4727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ar-SA" altLang="en-US" sz="1600" b="1" dirty="0">
                <a:solidFill>
                  <a:schemeClr val="accent5"/>
                </a:solidFill>
              </a:rPr>
              <a:t>70 N</a:t>
            </a:r>
            <a:endParaRPr lang="ar-SA" sz="1600" dirty="0"/>
          </a:p>
        </p:txBody>
      </p:sp>
      <p:sp>
        <p:nvSpPr>
          <p:cNvPr id="31" name="text-175"/>
          <p:cNvSpPr txBox="1"/>
          <p:nvPr/>
        </p:nvSpPr>
        <p:spPr>
          <a:xfrm>
            <a:off x="731520" y="4709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المحصلة = ____ نيوتن   الاتجاه: ______</a:t>
            </a:r>
            <a:endParaRPr lang="ar-SA" sz="1600" dirty="0"/>
          </a:p>
        </p:txBody>
      </p:sp>
      <p:sp>
        <p:nvSpPr>
          <p:cNvPr id="32" name="text-17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accent2"/>
                </a:solidFill>
              </a:rPr>
              <a:t>⏱ 5 دقائق   ⭐ نجمتان لكل حالة صحيحة (المقدار + الاتجاه)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177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" name="icon-17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179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تطبيق 3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رحلة إلى القمر: كم وزنك؟</a:t>
            </a:r>
            <a:endParaRPr lang="ar-SA" sz="3600" dirty="0"/>
          </a:p>
        </p:txBody>
      </p:sp>
      <p:sp>
        <p:nvSpPr>
          <p:cNvPr id="6" name="card-180"/>
          <p:cNvSpPr/>
          <p:nvPr/>
        </p:nvSpPr>
        <p:spPr>
          <a:xfrm>
            <a:off x="6675120" y="1417320"/>
            <a:ext cx="4937760" cy="219456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7" name="text-181"/>
          <p:cNvSpPr txBox="1"/>
          <p:nvPr/>
        </p:nvSpPr>
        <p:spPr>
          <a:xfrm>
            <a:off x="6858000" y="1554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accent4"/>
                </a:solidFill>
              </a:rPr>
              <a:t>الوزن = الكتلة × شدة الجاذبية</a:t>
            </a:r>
            <a:endParaRPr lang="ar-SA" sz="2200" dirty="0"/>
          </a:p>
        </p:txBody>
      </p:sp>
      <p:sp>
        <p:nvSpPr>
          <p:cNvPr id="8" name="text-182"/>
          <p:cNvSpPr txBox="1"/>
          <p:nvPr/>
        </p:nvSpPr>
        <p:spPr>
          <a:xfrm>
            <a:off x="6858000" y="21945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ar-SA" altLang="en-US" sz="3000" b="1" dirty="0">
                <a:solidFill>
                  <a:schemeClr val="bg1"/>
                </a:solidFill>
              </a:rPr>
              <a:t>W = m × g</a:t>
            </a:r>
            <a:endParaRPr lang="ar-SA" sz="3000" dirty="0"/>
          </a:p>
        </p:txBody>
      </p:sp>
      <p:sp>
        <p:nvSpPr>
          <p:cNvPr id="9" name="text-183"/>
          <p:cNvSpPr txBox="1"/>
          <p:nvPr/>
        </p:nvSpPr>
        <p:spPr>
          <a:xfrm>
            <a:off x="6858000" y="2880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500" dirty="0">
                <a:solidFill>
                  <a:schemeClr val="bg2"/>
                </a:solidFill>
              </a:rPr>
              <a:t>الأرض: 10 نيوتن/كغ   ·   القمر: 1.6 نيوتن/كغ</a:t>
            </a:r>
            <a:endParaRPr lang="ar-SA" sz="1500" dirty="0"/>
          </a:p>
        </p:txBody>
      </p:sp>
      <p:sp>
        <p:nvSpPr>
          <p:cNvPr id="10" name="card-184"/>
          <p:cNvSpPr/>
          <p:nvPr/>
        </p:nvSpPr>
        <p:spPr>
          <a:xfrm>
            <a:off x="6675120" y="3840480"/>
            <a:ext cx="4937760" cy="2240280"/>
          </a:xfrm>
          <a:prstGeom prst="roundRect">
            <a:avLst>
              <a:gd name="adj" fmla="val 6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-185"/>
          <p:cNvSpPr/>
          <p:nvPr/>
        </p:nvSpPr>
        <p:spPr>
          <a:xfrm>
            <a:off x="10515600" y="4069080"/>
            <a:ext cx="868680" cy="8686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18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710" y="4260190"/>
            <a:ext cx="486461" cy="486461"/>
          </a:xfrm>
          <a:prstGeom prst="rect">
            <a:avLst/>
          </a:prstGeom>
        </p:spPr>
      </p:pic>
      <p:sp>
        <p:nvSpPr>
          <p:cNvPr id="13" name="text-187"/>
          <p:cNvSpPr txBox="1"/>
          <p:nvPr/>
        </p:nvSpPr>
        <p:spPr>
          <a:xfrm>
            <a:off x="6858000" y="40233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1"/>
                </a:solidFill>
              </a:rPr>
              <a:t>تذكّر: الكتلة لا تتغيّر من مكان لآخر، أمّا الوزن فيتغيّر لأنه قوة جذب.</a:t>
            </a:r>
            <a:endParaRPr lang="ar-SA" sz="1700" dirty="0"/>
          </a:p>
        </p:txBody>
      </p:sp>
      <p:graphicFrame>
        <p:nvGraphicFramePr>
          <p:cNvPr id="13" name="table-1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58521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554480"/>
                <a:gridCol w="1554480"/>
              </a:tblGrid>
              <a:tr h="82296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b="1" dirty="0">
                          <a:solidFill>
                            <a:schemeClr val="bg1"/>
                          </a:solidFill>
                        </a:rPr>
                        <a:t>رائد الفضاء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b="1" dirty="0">
                          <a:solidFill>
                            <a:schemeClr val="bg1"/>
                          </a:solidFill>
                        </a:rPr>
                        <a:t>الكتلة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b="1" dirty="0">
                          <a:solidFill>
                            <a:schemeClr val="bg1"/>
                          </a:solidFill>
                        </a:rPr>
                        <a:t>الوزن على الأرض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b="1" dirty="0">
                          <a:solidFill>
                            <a:schemeClr val="bg1"/>
                          </a:solidFill>
                        </a:rPr>
                        <a:t>الوزن على القمر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سامي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40 كغ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ليلى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50 كغ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حقيبة المعدات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20 كغ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5" name="card-189"/>
          <p:cNvSpPr/>
          <p:nvPr/>
        </p:nvSpPr>
        <p:spPr>
          <a:xfrm>
            <a:off x="548640" y="4892040"/>
            <a:ext cx="5852160" cy="1188720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-190"/>
          <p:cNvSpPr txBox="1"/>
          <p:nvPr/>
        </p:nvSpPr>
        <p:spPr>
          <a:xfrm>
            <a:off x="731520" y="48920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سؤال المكافأة ⭐⭐⭐: لماذا يقفز رائد الفضاء على القمر أعلى بكثير مما يقفز على الأرض؟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-191"/>
          <p:cNvSpPr/>
          <p:nvPr/>
        </p:nvSpPr>
        <p:spPr>
          <a:xfrm>
            <a:off x="5321808" y="1188720"/>
            <a:ext cx="1554480" cy="1554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" name="icon-19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3794" y="1530706"/>
            <a:ext cx="870509" cy="87050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32918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4800" b="1" dirty="0">
                <a:solidFill>
                  <a:schemeClr val="bg1"/>
                </a:solidFill>
              </a:rPr>
              <a:t>المحطة 3: التقييم</a:t>
            </a:r>
            <a:endParaRPr lang="ar-SA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2200" dirty="0">
                <a:solidFill>
                  <a:schemeClr val="bg2"/>
                </a:solidFill>
              </a:rPr>
              <a:t>التحدي النهائي: من سيكون بطل القوى؟</a:t>
            </a:r>
            <a:endParaRPr lang="ar-SA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193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" name="icon-19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195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سؤال 1 من 5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التحدي النهائي</a:t>
            </a:r>
            <a:endParaRPr lang="ar-SA" sz="3600" dirty="0"/>
          </a:p>
        </p:txBody>
      </p:sp>
      <p:sp>
        <p:nvSpPr>
          <p:cNvPr id="6" name="card-196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7" name="text-197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chemeClr val="bg1"/>
                </a:solidFill>
              </a:rPr>
              <a:t>الوحدة المستخدمة لقياس القوة هي:</a:t>
            </a:r>
            <a:endParaRPr lang="ar-SA" sz="2800" dirty="0"/>
          </a:p>
        </p:txBody>
      </p:sp>
      <p:sp>
        <p:nvSpPr>
          <p:cNvPr id="8" name="card-198"/>
          <p:cNvSpPr/>
          <p:nvPr/>
        </p:nvSpPr>
        <p:spPr>
          <a:xfrm>
            <a:off x="6263640" y="306324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9" name="letter-199"/>
          <p:cNvSpPr/>
          <p:nvPr/>
        </p:nvSpPr>
        <p:spPr>
          <a:xfrm>
            <a:off x="10515600" y="3246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-200"/>
          <p:cNvSpPr txBox="1"/>
          <p:nvPr/>
        </p:nvSpPr>
        <p:spPr>
          <a:xfrm>
            <a:off x="1051560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1"/>
                </a:solidFill>
              </a:rPr>
              <a:t>أ</a:t>
            </a:r>
            <a:endParaRPr lang="ar-SA" sz="2400" dirty="0"/>
          </a:p>
        </p:txBody>
      </p:sp>
      <p:sp>
        <p:nvSpPr>
          <p:cNvPr id="11" name="text-201"/>
          <p:cNvSpPr txBox="1"/>
          <p:nvPr/>
        </p:nvSpPr>
        <p:spPr>
          <a:xfrm>
            <a:off x="6537960" y="3063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الكيلوغرام</a:t>
            </a:r>
            <a:endParaRPr lang="ar-SA" sz="2400" dirty="0"/>
          </a:p>
        </p:txBody>
      </p:sp>
      <p:sp>
        <p:nvSpPr>
          <p:cNvPr id="12" name="card-202"/>
          <p:cNvSpPr/>
          <p:nvPr/>
        </p:nvSpPr>
        <p:spPr>
          <a:xfrm>
            <a:off x="548640" y="306324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13" name="letter-203"/>
          <p:cNvSpPr/>
          <p:nvPr/>
        </p:nvSpPr>
        <p:spPr>
          <a:xfrm>
            <a:off x="4800600" y="3246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-204"/>
          <p:cNvSpPr txBox="1"/>
          <p:nvPr/>
        </p:nvSpPr>
        <p:spPr>
          <a:xfrm>
            <a:off x="480060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2"/>
                </a:solidFill>
              </a:rPr>
              <a:t>ب</a:t>
            </a:r>
            <a:endParaRPr lang="ar-SA" sz="2400" dirty="0"/>
          </a:p>
        </p:txBody>
      </p:sp>
      <p:sp>
        <p:nvSpPr>
          <p:cNvPr id="15" name="text-205"/>
          <p:cNvSpPr txBox="1"/>
          <p:nvPr/>
        </p:nvSpPr>
        <p:spPr>
          <a:xfrm>
            <a:off x="822960" y="3063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النيوتن</a:t>
            </a:r>
            <a:endParaRPr lang="ar-SA" sz="2400" dirty="0"/>
          </a:p>
        </p:txBody>
      </p:sp>
      <p:sp>
        <p:nvSpPr>
          <p:cNvPr id="16" name="card-206"/>
          <p:cNvSpPr/>
          <p:nvPr/>
        </p:nvSpPr>
        <p:spPr>
          <a:xfrm>
            <a:off x="6263640" y="448056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17" name="letter-207"/>
          <p:cNvSpPr/>
          <p:nvPr/>
        </p:nvSpPr>
        <p:spPr>
          <a:xfrm>
            <a:off x="10515600" y="466344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-208"/>
          <p:cNvSpPr txBox="1"/>
          <p:nvPr/>
        </p:nvSpPr>
        <p:spPr>
          <a:xfrm>
            <a:off x="1051560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3"/>
                </a:solidFill>
              </a:rPr>
              <a:t>ج</a:t>
            </a:r>
            <a:endParaRPr lang="ar-SA" sz="2400" dirty="0"/>
          </a:p>
        </p:txBody>
      </p:sp>
      <p:sp>
        <p:nvSpPr>
          <p:cNvPr id="19" name="text-209"/>
          <p:cNvSpPr txBox="1"/>
          <p:nvPr/>
        </p:nvSpPr>
        <p:spPr>
          <a:xfrm>
            <a:off x="6537960" y="4480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المتر</a:t>
            </a:r>
            <a:endParaRPr lang="ar-SA" sz="2400" dirty="0"/>
          </a:p>
        </p:txBody>
      </p:sp>
      <p:sp>
        <p:nvSpPr>
          <p:cNvPr id="20" name="card-210"/>
          <p:cNvSpPr/>
          <p:nvPr/>
        </p:nvSpPr>
        <p:spPr>
          <a:xfrm>
            <a:off x="548640" y="448056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21" name="letter-211"/>
          <p:cNvSpPr/>
          <p:nvPr/>
        </p:nvSpPr>
        <p:spPr>
          <a:xfrm>
            <a:off x="4800600" y="466344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-212"/>
          <p:cNvSpPr txBox="1"/>
          <p:nvPr/>
        </p:nvSpPr>
        <p:spPr>
          <a:xfrm>
            <a:off x="480060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6"/>
                </a:solidFill>
              </a:rPr>
              <a:t>د</a:t>
            </a:r>
            <a:endParaRPr lang="ar-SA" sz="2400" dirty="0"/>
          </a:p>
        </p:txBody>
      </p:sp>
      <p:sp>
        <p:nvSpPr>
          <p:cNvPr id="23" name="text-213"/>
          <p:cNvSpPr txBox="1"/>
          <p:nvPr/>
        </p:nvSpPr>
        <p:spPr>
          <a:xfrm>
            <a:off x="822960" y="4480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الثانية</a:t>
            </a:r>
            <a:endParaRPr lang="ar-SA" sz="2400" dirty="0"/>
          </a:p>
        </p:txBody>
      </p:sp>
      <p:sp>
        <p:nvSpPr>
          <p:cNvPr id="24" name="text-214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3"/>
                </a:solidFill>
              </a:rPr>
              <a:t>⏱ 20 ثانية   ⭐ نجمتان للإجابة الصحيحة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215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" name="icon-2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217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سؤال 2 من 5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التحدي النهائي</a:t>
            </a:r>
            <a:endParaRPr lang="ar-SA" sz="3600" dirty="0"/>
          </a:p>
        </p:txBody>
      </p:sp>
      <p:sp>
        <p:nvSpPr>
          <p:cNvPr id="6" name="card-218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7" name="text-219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chemeClr val="bg1"/>
                </a:solidFill>
              </a:rPr>
              <a:t>أيٌّ مما يلي قوة عن بُعد؟</a:t>
            </a:r>
            <a:endParaRPr lang="ar-SA" sz="2800" dirty="0"/>
          </a:p>
        </p:txBody>
      </p:sp>
      <p:sp>
        <p:nvSpPr>
          <p:cNvPr id="8" name="card-220"/>
          <p:cNvSpPr/>
          <p:nvPr/>
        </p:nvSpPr>
        <p:spPr>
          <a:xfrm>
            <a:off x="6263640" y="306324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9" name="letter-221"/>
          <p:cNvSpPr/>
          <p:nvPr/>
        </p:nvSpPr>
        <p:spPr>
          <a:xfrm>
            <a:off x="10515600" y="3246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-222"/>
          <p:cNvSpPr txBox="1"/>
          <p:nvPr/>
        </p:nvSpPr>
        <p:spPr>
          <a:xfrm>
            <a:off x="1051560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1"/>
                </a:solidFill>
              </a:rPr>
              <a:t>أ</a:t>
            </a:r>
            <a:endParaRPr lang="ar-SA" sz="2400" dirty="0"/>
          </a:p>
        </p:txBody>
      </p:sp>
      <p:sp>
        <p:nvSpPr>
          <p:cNvPr id="11" name="text-223"/>
          <p:cNvSpPr txBox="1"/>
          <p:nvPr/>
        </p:nvSpPr>
        <p:spPr>
          <a:xfrm>
            <a:off x="6537960" y="3063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الاحتكاك</a:t>
            </a:r>
            <a:endParaRPr lang="ar-SA" sz="2400" dirty="0"/>
          </a:p>
        </p:txBody>
      </p:sp>
      <p:sp>
        <p:nvSpPr>
          <p:cNvPr id="12" name="card-224"/>
          <p:cNvSpPr/>
          <p:nvPr/>
        </p:nvSpPr>
        <p:spPr>
          <a:xfrm>
            <a:off x="548640" y="306324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13" name="letter-225"/>
          <p:cNvSpPr/>
          <p:nvPr/>
        </p:nvSpPr>
        <p:spPr>
          <a:xfrm>
            <a:off x="4800600" y="3246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-226"/>
          <p:cNvSpPr txBox="1"/>
          <p:nvPr/>
        </p:nvSpPr>
        <p:spPr>
          <a:xfrm>
            <a:off x="480060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2"/>
                </a:solidFill>
              </a:rPr>
              <a:t>ب</a:t>
            </a:r>
            <a:endParaRPr lang="ar-SA" sz="2400" dirty="0"/>
          </a:p>
        </p:txBody>
      </p:sp>
      <p:sp>
        <p:nvSpPr>
          <p:cNvPr id="15" name="text-227"/>
          <p:cNvSpPr txBox="1"/>
          <p:nvPr/>
        </p:nvSpPr>
        <p:spPr>
          <a:xfrm>
            <a:off x="822960" y="3063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دفع عربة</a:t>
            </a:r>
            <a:endParaRPr lang="ar-SA" sz="2400" dirty="0"/>
          </a:p>
        </p:txBody>
      </p:sp>
      <p:sp>
        <p:nvSpPr>
          <p:cNvPr id="16" name="card-228"/>
          <p:cNvSpPr/>
          <p:nvPr/>
        </p:nvSpPr>
        <p:spPr>
          <a:xfrm>
            <a:off x="6263640" y="448056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17" name="letter-229"/>
          <p:cNvSpPr/>
          <p:nvPr/>
        </p:nvSpPr>
        <p:spPr>
          <a:xfrm>
            <a:off x="10515600" y="466344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-230"/>
          <p:cNvSpPr txBox="1"/>
          <p:nvPr/>
        </p:nvSpPr>
        <p:spPr>
          <a:xfrm>
            <a:off x="1051560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3"/>
                </a:solidFill>
              </a:rPr>
              <a:t>ج</a:t>
            </a:r>
            <a:endParaRPr lang="ar-SA" sz="2400" dirty="0"/>
          </a:p>
        </p:txBody>
      </p:sp>
      <p:sp>
        <p:nvSpPr>
          <p:cNvPr id="19" name="text-231"/>
          <p:cNvSpPr txBox="1"/>
          <p:nvPr/>
        </p:nvSpPr>
        <p:spPr>
          <a:xfrm>
            <a:off x="6537960" y="4480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الجاذبية</a:t>
            </a:r>
            <a:endParaRPr lang="ar-SA" sz="2400" dirty="0"/>
          </a:p>
        </p:txBody>
      </p:sp>
      <p:sp>
        <p:nvSpPr>
          <p:cNvPr id="20" name="card-232"/>
          <p:cNvSpPr/>
          <p:nvPr/>
        </p:nvSpPr>
        <p:spPr>
          <a:xfrm>
            <a:off x="548640" y="448056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21" name="letter-233"/>
          <p:cNvSpPr/>
          <p:nvPr/>
        </p:nvSpPr>
        <p:spPr>
          <a:xfrm>
            <a:off x="4800600" y="466344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-234"/>
          <p:cNvSpPr txBox="1"/>
          <p:nvPr/>
        </p:nvSpPr>
        <p:spPr>
          <a:xfrm>
            <a:off x="480060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6"/>
                </a:solidFill>
              </a:rPr>
              <a:t>د</a:t>
            </a:r>
            <a:endParaRPr lang="ar-SA" sz="2400" dirty="0"/>
          </a:p>
        </p:txBody>
      </p:sp>
      <p:sp>
        <p:nvSpPr>
          <p:cNvPr id="23" name="text-235"/>
          <p:cNvSpPr txBox="1"/>
          <p:nvPr/>
        </p:nvSpPr>
        <p:spPr>
          <a:xfrm>
            <a:off x="822960" y="4480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شدّ حبل</a:t>
            </a:r>
            <a:endParaRPr lang="ar-SA" sz="2400" dirty="0"/>
          </a:p>
        </p:txBody>
      </p:sp>
      <p:sp>
        <p:nvSpPr>
          <p:cNvPr id="24" name="text-236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3"/>
                </a:solidFill>
              </a:rPr>
              <a:t>⏱ 20 ثانية   ⭐ نجمتان للإجابة الصحيحة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237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" name="icon-23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239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سؤال 3 من 5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التحدي النهائي</a:t>
            </a:r>
            <a:endParaRPr lang="ar-SA" sz="3600" dirty="0"/>
          </a:p>
        </p:txBody>
      </p:sp>
      <p:sp>
        <p:nvSpPr>
          <p:cNvPr id="6" name="card-240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7" name="text-241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chemeClr val="bg1"/>
                </a:solidFill>
              </a:rPr>
              <a:t>عندما تضرب الكرة المتحركة بالمضرب فإن القوة تغيّر:</a:t>
            </a:r>
            <a:endParaRPr lang="ar-SA" sz="2800" dirty="0"/>
          </a:p>
        </p:txBody>
      </p:sp>
      <p:sp>
        <p:nvSpPr>
          <p:cNvPr id="8" name="card-242"/>
          <p:cNvSpPr/>
          <p:nvPr/>
        </p:nvSpPr>
        <p:spPr>
          <a:xfrm>
            <a:off x="6263640" y="306324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9" name="letter-243"/>
          <p:cNvSpPr/>
          <p:nvPr/>
        </p:nvSpPr>
        <p:spPr>
          <a:xfrm>
            <a:off x="10515600" y="3246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-244"/>
          <p:cNvSpPr txBox="1"/>
          <p:nvPr/>
        </p:nvSpPr>
        <p:spPr>
          <a:xfrm>
            <a:off x="1051560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1"/>
                </a:solidFill>
              </a:rPr>
              <a:t>أ</a:t>
            </a:r>
            <a:endParaRPr lang="ar-SA" sz="2400" dirty="0"/>
          </a:p>
        </p:txBody>
      </p:sp>
      <p:sp>
        <p:nvSpPr>
          <p:cNvPr id="11" name="text-245"/>
          <p:cNvSpPr txBox="1"/>
          <p:nvPr/>
        </p:nvSpPr>
        <p:spPr>
          <a:xfrm>
            <a:off x="6537960" y="3063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لونها</a:t>
            </a:r>
            <a:endParaRPr lang="ar-SA" sz="2400" dirty="0"/>
          </a:p>
        </p:txBody>
      </p:sp>
      <p:sp>
        <p:nvSpPr>
          <p:cNvPr id="12" name="card-246"/>
          <p:cNvSpPr/>
          <p:nvPr/>
        </p:nvSpPr>
        <p:spPr>
          <a:xfrm>
            <a:off x="548640" y="306324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13" name="letter-247"/>
          <p:cNvSpPr/>
          <p:nvPr/>
        </p:nvSpPr>
        <p:spPr>
          <a:xfrm>
            <a:off x="4800600" y="3246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-248"/>
          <p:cNvSpPr txBox="1"/>
          <p:nvPr/>
        </p:nvSpPr>
        <p:spPr>
          <a:xfrm>
            <a:off x="480060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2"/>
                </a:solidFill>
              </a:rPr>
              <a:t>ب</a:t>
            </a:r>
            <a:endParaRPr lang="ar-SA" sz="2400" dirty="0"/>
          </a:p>
        </p:txBody>
      </p:sp>
      <p:sp>
        <p:nvSpPr>
          <p:cNvPr id="15" name="text-249"/>
          <p:cNvSpPr txBox="1"/>
          <p:nvPr/>
        </p:nvSpPr>
        <p:spPr>
          <a:xfrm>
            <a:off x="822960" y="3063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كتلتها</a:t>
            </a:r>
            <a:endParaRPr lang="ar-SA" sz="2400" dirty="0"/>
          </a:p>
        </p:txBody>
      </p:sp>
      <p:sp>
        <p:nvSpPr>
          <p:cNvPr id="16" name="card-250"/>
          <p:cNvSpPr/>
          <p:nvPr/>
        </p:nvSpPr>
        <p:spPr>
          <a:xfrm>
            <a:off x="6263640" y="448056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17" name="letter-251"/>
          <p:cNvSpPr/>
          <p:nvPr/>
        </p:nvSpPr>
        <p:spPr>
          <a:xfrm>
            <a:off x="10515600" y="466344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-252"/>
          <p:cNvSpPr txBox="1"/>
          <p:nvPr/>
        </p:nvSpPr>
        <p:spPr>
          <a:xfrm>
            <a:off x="1051560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3"/>
                </a:solidFill>
              </a:rPr>
              <a:t>ج</a:t>
            </a:r>
            <a:endParaRPr lang="ar-SA" sz="2400" dirty="0"/>
          </a:p>
        </p:txBody>
      </p:sp>
      <p:sp>
        <p:nvSpPr>
          <p:cNvPr id="19" name="text-253"/>
          <p:cNvSpPr txBox="1"/>
          <p:nvPr/>
        </p:nvSpPr>
        <p:spPr>
          <a:xfrm>
            <a:off x="6537960" y="4480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اتجاه حركتها</a:t>
            </a:r>
            <a:endParaRPr lang="ar-SA" sz="2400" dirty="0"/>
          </a:p>
        </p:txBody>
      </p:sp>
      <p:sp>
        <p:nvSpPr>
          <p:cNvPr id="20" name="card-254"/>
          <p:cNvSpPr/>
          <p:nvPr/>
        </p:nvSpPr>
        <p:spPr>
          <a:xfrm>
            <a:off x="548640" y="448056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21" name="letter-255"/>
          <p:cNvSpPr/>
          <p:nvPr/>
        </p:nvSpPr>
        <p:spPr>
          <a:xfrm>
            <a:off x="4800600" y="466344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-256"/>
          <p:cNvSpPr txBox="1"/>
          <p:nvPr/>
        </p:nvSpPr>
        <p:spPr>
          <a:xfrm>
            <a:off x="480060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6"/>
                </a:solidFill>
              </a:rPr>
              <a:t>د</a:t>
            </a:r>
            <a:endParaRPr lang="ar-SA" sz="2400" dirty="0"/>
          </a:p>
        </p:txBody>
      </p:sp>
      <p:sp>
        <p:nvSpPr>
          <p:cNvPr id="23" name="text-257"/>
          <p:cNvSpPr txBox="1"/>
          <p:nvPr/>
        </p:nvSpPr>
        <p:spPr>
          <a:xfrm>
            <a:off x="822960" y="4480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مادتها</a:t>
            </a:r>
            <a:endParaRPr lang="ar-SA" sz="2400" dirty="0"/>
          </a:p>
        </p:txBody>
      </p:sp>
      <p:sp>
        <p:nvSpPr>
          <p:cNvPr id="24" name="text-258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3"/>
                </a:solidFill>
              </a:rPr>
              <a:t>⏱ 20 ثانية   ⭐ نجمتان للإجابة الصحيحة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259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" name="icon-26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261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سؤال 4 من 5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التحدي النهائي</a:t>
            </a:r>
            <a:endParaRPr lang="ar-SA" sz="3600" dirty="0"/>
          </a:p>
        </p:txBody>
      </p:sp>
      <p:sp>
        <p:nvSpPr>
          <p:cNvPr id="6" name="card-262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7" name="text-263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chemeClr val="bg1"/>
                </a:solidFill>
              </a:rPr>
              <a:t>قوتان كلٌّ منهما 30 نيوتن في اتجاهين متعاكسين، محصلتهما:</a:t>
            </a:r>
            <a:endParaRPr lang="ar-SA" sz="2800" dirty="0"/>
          </a:p>
        </p:txBody>
      </p:sp>
      <p:sp>
        <p:nvSpPr>
          <p:cNvPr id="8" name="card-264"/>
          <p:cNvSpPr/>
          <p:nvPr/>
        </p:nvSpPr>
        <p:spPr>
          <a:xfrm>
            <a:off x="6263640" y="306324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9" name="letter-265"/>
          <p:cNvSpPr/>
          <p:nvPr/>
        </p:nvSpPr>
        <p:spPr>
          <a:xfrm>
            <a:off x="10515600" y="3246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-266"/>
          <p:cNvSpPr txBox="1"/>
          <p:nvPr/>
        </p:nvSpPr>
        <p:spPr>
          <a:xfrm>
            <a:off x="1051560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1"/>
                </a:solidFill>
              </a:rPr>
              <a:t>أ</a:t>
            </a:r>
            <a:endParaRPr lang="ar-SA" sz="2400" dirty="0"/>
          </a:p>
        </p:txBody>
      </p:sp>
      <p:sp>
        <p:nvSpPr>
          <p:cNvPr id="11" name="text-267"/>
          <p:cNvSpPr txBox="1"/>
          <p:nvPr/>
        </p:nvSpPr>
        <p:spPr>
          <a:xfrm>
            <a:off x="6537960" y="3063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60 نيوتن</a:t>
            </a:r>
            <a:endParaRPr lang="ar-SA" sz="2400" dirty="0"/>
          </a:p>
        </p:txBody>
      </p:sp>
      <p:sp>
        <p:nvSpPr>
          <p:cNvPr id="12" name="card-268"/>
          <p:cNvSpPr/>
          <p:nvPr/>
        </p:nvSpPr>
        <p:spPr>
          <a:xfrm>
            <a:off x="548640" y="306324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13" name="letter-269"/>
          <p:cNvSpPr/>
          <p:nvPr/>
        </p:nvSpPr>
        <p:spPr>
          <a:xfrm>
            <a:off x="4800600" y="3246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-270"/>
          <p:cNvSpPr txBox="1"/>
          <p:nvPr/>
        </p:nvSpPr>
        <p:spPr>
          <a:xfrm>
            <a:off x="480060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2"/>
                </a:solidFill>
              </a:rPr>
              <a:t>ب</a:t>
            </a:r>
            <a:endParaRPr lang="ar-SA" sz="2400" dirty="0"/>
          </a:p>
        </p:txBody>
      </p:sp>
      <p:sp>
        <p:nvSpPr>
          <p:cNvPr id="15" name="text-271"/>
          <p:cNvSpPr txBox="1"/>
          <p:nvPr/>
        </p:nvSpPr>
        <p:spPr>
          <a:xfrm>
            <a:off x="822960" y="3063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30 نيوتن</a:t>
            </a:r>
            <a:endParaRPr lang="ar-SA" sz="2400" dirty="0"/>
          </a:p>
        </p:txBody>
      </p:sp>
      <p:sp>
        <p:nvSpPr>
          <p:cNvPr id="16" name="card-272"/>
          <p:cNvSpPr/>
          <p:nvPr/>
        </p:nvSpPr>
        <p:spPr>
          <a:xfrm>
            <a:off x="6263640" y="448056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17" name="letter-273"/>
          <p:cNvSpPr/>
          <p:nvPr/>
        </p:nvSpPr>
        <p:spPr>
          <a:xfrm>
            <a:off x="10515600" y="466344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-274"/>
          <p:cNvSpPr txBox="1"/>
          <p:nvPr/>
        </p:nvSpPr>
        <p:spPr>
          <a:xfrm>
            <a:off x="1051560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3"/>
                </a:solidFill>
              </a:rPr>
              <a:t>ج</a:t>
            </a:r>
            <a:endParaRPr lang="ar-SA" sz="2400" dirty="0"/>
          </a:p>
        </p:txBody>
      </p:sp>
      <p:sp>
        <p:nvSpPr>
          <p:cNvPr id="19" name="text-275"/>
          <p:cNvSpPr txBox="1"/>
          <p:nvPr/>
        </p:nvSpPr>
        <p:spPr>
          <a:xfrm>
            <a:off x="6537960" y="4480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15 نيوتن</a:t>
            </a:r>
            <a:endParaRPr lang="ar-SA" sz="2400" dirty="0"/>
          </a:p>
        </p:txBody>
      </p:sp>
      <p:sp>
        <p:nvSpPr>
          <p:cNvPr id="20" name="card-276"/>
          <p:cNvSpPr/>
          <p:nvPr/>
        </p:nvSpPr>
        <p:spPr>
          <a:xfrm>
            <a:off x="548640" y="448056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21" name="letter-277"/>
          <p:cNvSpPr/>
          <p:nvPr/>
        </p:nvSpPr>
        <p:spPr>
          <a:xfrm>
            <a:off x="4800600" y="466344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-278"/>
          <p:cNvSpPr txBox="1"/>
          <p:nvPr/>
        </p:nvSpPr>
        <p:spPr>
          <a:xfrm>
            <a:off x="480060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6"/>
                </a:solidFill>
              </a:rPr>
              <a:t>د</a:t>
            </a:r>
            <a:endParaRPr lang="ar-SA" sz="2400" dirty="0"/>
          </a:p>
        </p:txBody>
      </p:sp>
      <p:sp>
        <p:nvSpPr>
          <p:cNvPr id="23" name="text-279"/>
          <p:cNvSpPr txBox="1"/>
          <p:nvPr/>
        </p:nvSpPr>
        <p:spPr>
          <a:xfrm>
            <a:off x="822960" y="4480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0 نيوتن</a:t>
            </a:r>
            <a:endParaRPr lang="ar-SA" sz="2400" dirty="0"/>
          </a:p>
        </p:txBody>
      </p:sp>
      <p:sp>
        <p:nvSpPr>
          <p:cNvPr id="24" name="text-280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3"/>
                </a:solidFill>
              </a:rPr>
              <a:t>⏱ 20 ثانية   ⭐ نجمتان للإجابة الصحيحة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281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" name="icon-2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283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سؤال 5 من 5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التحدي النهائي</a:t>
            </a:r>
            <a:endParaRPr lang="ar-SA" sz="3600" dirty="0"/>
          </a:p>
        </p:txBody>
      </p:sp>
      <p:sp>
        <p:nvSpPr>
          <p:cNvPr id="6" name="card-284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7" name="text-285"/>
          <p:cNvSpPr txBox="1"/>
          <p:nvPr/>
        </p:nvSpPr>
        <p:spPr>
          <a:xfrm>
            <a:off x="822960" y="14173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chemeClr val="bg1"/>
                </a:solidFill>
              </a:rPr>
              <a:t>جسم كتلته 8 كغ على الأرض، وشدة الجاذبية 10 نيوتن/كغ. وزنه:</a:t>
            </a:r>
            <a:endParaRPr lang="ar-SA" sz="2800" dirty="0"/>
          </a:p>
        </p:txBody>
      </p:sp>
      <p:sp>
        <p:nvSpPr>
          <p:cNvPr id="8" name="card-286"/>
          <p:cNvSpPr/>
          <p:nvPr/>
        </p:nvSpPr>
        <p:spPr>
          <a:xfrm>
            <a:off x="6263640" y="306324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9" name="letter-287"/>
          <p:cNvSpPr/>
          <p:nvPr/>
        </p:nvSpPr>
        <p:spPr>
          <a:xfrm>
            <a:off x="10515600" y="3246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-288"/>
          <p:cNvSpPr txBox="1"/>
          <p:nvPr/>
        </p:nvSpPr>
        <p:spPr>
          <a:xfrm>
            <a:off x="1051560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1"/>
                </a:solidFill>
              </a:rPr>
              <a:t>أ</a:t>
            </a:r>
            <a:endParaRPr lang="ar-SA" sz="2400" dirty="0"/>
          </a:p>
        </p:txBody>
      </p:sp>
      <p:sp>
        <p:nvSpPr>
          <p:cNvPr id="11" name="text-289"/>
          <p:cNvSpPr txBox="1"/>
          <p:nvPr/>
        </p:nvSpPr>
        <p:spPr>
          <a:xfrm>
            <a:off x="6537960" y="3063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80 نيوتن</a:t>
            </a:r>
            <a:endParaRPr lang="ar-SA" sz="2400" dirty="0"/>
          </a:p>
        </p:txBody>
      </p:sp>
      <p:sp>
        <p:nvSpPr>
          <p:cNvPr id="12" name="card-290"/>
          <p:cNvSpPr/>
          <p:nvPr/>
        </p:nvSpPr>
        <p:spPr>
          <a:xfrm>
            <a:off x="548640" y="306324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13" name="letter-291"/>
          <p:cNvSpPr/>
          <p:nvPr/>
        </p:nvSpPr>
        <p:spPr>
          <a:xfrm>
            <a:off x="4800600" y="324612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-292"/>
          <p:cNvSpPr txBox="1"/>
          <p:nvPr/>
        </p:nvSpPr>
        <p:spPr>
          <a:xfrm>
            <a:off x="4800600" y="3246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2"/>
                </a:solidFill>
              </a:rPr>
              <a:t>ب</a:t>
            </a:r>
            <a:endParaRPr lang="ar-SA" sz="2400" dirty="0"/>
          </a:p>
        </p:txBody>
      </p:sp>
      <p:sp>
        <p:nvSpPr>
          <p:cNvPr id="15" name="text-293"/>
          <p:cNvSpPr txBox="1"/>
          <p:nvPr/>
        </p:nvSpPr>
        <p:spPr>
          <a:xfrm>
            <a:off x="822960" y="30632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8 نيوتن</a:t>
            </a:r>
            <a:endParaRPr lang="ar-SA" sz="2400" dirty="0"/>
          </a:p>
        </p:txBody>
      </p:sp>
      <p:sp>
        <p:nvSpPr>
          <p:cNvPr id="16" name="card-294"/>
          <p:cNvSpPr/>
          <p:nvPr/>
        </p:nvSpPr>
        <p:spPr>
          <a:xfrm>
            <a:off x="6263640" y="448056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17" name="letter-295"/>
          <p:cNvSpPr/>
          <p:nvPr/>
        </p:nvSpPr>
        <p:spPr>
          <a:xfrm>
            <a:off x="10515600" y="466344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-296"/>
          <p:cNvSpPr txBox="1"/>
          <p:nvPr/>
        </p:nvSpPr>
        <p:spPr>
          <a:xfrm>
            <a:off x="1051560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3"/>
                </a:solidFill>
              </a:rPr>
              <a:t>ج</a:t>
            </a:r>
            <a:endParaRPr lang="ar-SA" sz="2400" dirty="0"/>
          </a:p>
        </p:txBody>
      </p:sp>
      <p:sp>
        <p:nvSpPr>
          <p:cNvPr id="19" name="text-297"/>
          <p:cNvSpPr txBox="1"/>
          <p:nvPr/>
        </p:nvSpPr>
        <p:spPr>
          <a:xfrm>
            <a:off x="6537960" y="4480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18 نيوتن</a:t>
            </a:r>
            <a:endParaRPr lang="ar-SA" sz="2400" dirty="0"/>
          </a:p>
        </p:txBody>
      </p:sp>
      <p:sp>
        <p:nvSpPr>
          <p:cNvPr id="20" name="card-298"/>
          <p:cNvSpPr/>
          <p:nvPr/>
        </p:nvSpPr>
        <p:spPr>
          <a:xfrm>
            <a:off x="548640" y="4480560"/>
            <a:ext cx="5349240" cy="1188720"/>
          </a:xfrm>
          <a:prstGeom prst="roundRect">
            <a:avLst>
              <a:gd name="adj" fmla="val 1153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9">
                <a:alpha val="18000"/>
              </a:srgbClr>
            </a:outerShdw>
          </a:effectLst>
        </p:spPr>
      </p:sp>
      <p:sp>
        <p:nvSpPr>
          <p:cNvPr id="21" name="letter-299"/>
          <p:cNvSpPr/>
          <p:nvPr/>
        </p:nvSpPr>
        <p:spPr>
          <a:xfrm>
            <a:off x="4800600" y="466344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-300"/>
          <p:cNvSpPr txBox="1"/>
          <p:nvPr/>
        </p:nvSpPr>
        <p:spPr>
          <a:xfrm>
            <a:off x="4800600" y="4663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accent6"/>
                </a:solidFill>
              </a:rPr>
              <a:t>د</a:t>
            </a:r>
            <a:endParaRPr lang="ar-SA" sz="2400" dirty="0"/>
          </a:p>
        </p:txBody>
      </p:sp>
      <p:sp>
        <p:nvSpPr>
          <p:cNvPr id="23" name="text-301"/>
          <p:cNvSpPr txBox="1"/>
          <p:nvPr/>
        </p:nvSpPr>
        <p:spPr>
          <a:xfrm>
            <a:off x="822960" y="44805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0.8 نيوتن</a:t>
            </a:r>
            <a:endParaRPr lang="ar-SA" sz="2400" dirty="0"/>
          </a:p>
        </p:txBody>
      </p:sp>
      <p:sp>
        <p:nvSpPr>
          <p:cNvPr id="24" name="text-302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3"/>
                </a:solidFill>
              </a:rPr>
              <a:t>⏱ 20 ثانية   ⭐ نجمتان للإجابة الصحيحة</a:t>
            </a:r>
            <a:endParaRPr lang="ar-S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303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" name="icon-30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305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الإجابات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مفتاح الإجابات</a:t>
            </a:r>
            <a:endParaRPr lang="ar-SA" sz="3600" dirty="0"/>
          </a:p>
        </p:txBody>
      </p:sp>
      <p:sp>
        <p:nvSpPr>
          <p:cNvPr id="6" name="card-306"/>
          <p:cNvSpPr/>
          <p:nvPr/>
        </p:nvSpPr>
        <p:spPr>
          <a:xfrm>
            <a:off x="548640" y="1417320"/>
            <a:ext cx="11064240" cy="749808"/>
          </a:xfrm>
          <a:prstGeom prst="roundRect">
            <a:avLst>
              <a:gd name="adj" fmla="val 182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um-307"/>
          <p:cNvSpPr/>
          <p:nvPr/>
        </p:nvSpPr>
        <p:spPr>
          <a:xfrm>
            <a:off x="10835640" y="151790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-308"/>
          <p:cNvSpPr txBox="1"/>
          <p:nvPr/>
        </p:nvSpPr>
        <p:spPr>
          <a:xfrm>
            <a:off x="10835640" y="1517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1</a:t>
            </a:r>
            <a:endParaRPr lang="ar-SA" sz="1800" dirty="0"/>
          </a:p>
        </p:txBody>
      </p:sp>
      <p:sp>
        <p:nvSpPr>
          <p:cNvPr id="9" name="text-309"/>
          <p:cNvSpPr txBox="1"/>
          <p:nvPr/>
        </p:nvSpPr>
        <p:spPr>
          <a:xfrm>
            <a:off x="7315200" y="141732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2"/>
                </a:solidFill>
              </a:rPr>
              <a:t>(ب) النيوتن</a:t>
            </a:r>
            <a:endParaRPr lang="ar-SA" sz="2000" dirty="0"/>
          </a:p>
        </p:txBody>
      </p:sp>
      <p:sp>
        <p:nvSpPr>
          <p:cNvPr id="10" name="text-310"/>
          <p:cNvSpPr txBox="1"/>
          <p:nvPr/>
        </p:nvSpPr>
        <p:spPr>
          <a:xfrm>
            <a:off x="777240" y="141732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2"/>
                </a:solidFill>
              </a:rPr>
              <a:t>النيوتن (N) هو وحدة قياس القوة</a:t>
            </a:r>
            <a:endParaRPr lang="ar-SA" sz="1700" dirty="0"/>
          </a:p>
        </p:txBody>
      </p:sp>
      <p:sp>
        <p:nvSpPr>
          <p:cNvPr id="11" name="card-311"/>
          <p:cNvSpPr/>
          <p:nvPr/>
        </p:nvSpPr>
        <p:spPr>
          <a:xfrm>
            <a:off x="548640" y="2331720"/>
            <a:ext cx="11064240" cy="749808"/>
          </a:xfrm>
          <a:prstGeom prst="roundRect">
            <a:avLst>
              <a:gd name="adj" fmla="val 1829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num-312"/>
          <p:cNvSpPr/>
          <p:nvPr/>
        </p:nvSpPr>
        <p:spPr>
          <a:xfrm>
            <a:off x="10835640" y="243230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-313"/>
          <p:cNvSpPr txBox="1"/>
          <p:nvPr/>
        </p:nvSpPr>
        <p:spPr>
          <a:xfrm>
            <a:off x="10835640" y="2432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2</a:t>
            </a:r>
            <a:endParaRPr lang="ar-SA" sz="1800" dirty="0"/>
          </a:p>
        </p:txBody>
      </p:sp>
      <p:sp>
        <p:nvSpPr>
          <p:cNvPr id="14" name="text-314"/>
          <p:cNvSpPr txBox="1"/>
          <p:nvPr/>
        </p:nvSpPr>
        <p:spPr>
          <a:xfrm>
            <a:off x="7315200" y="233172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3"/>
                </a:solidFill>
              </a:rPr>
              <a:t>(ج) الجاذبية</a:t>
            </a:r>
            <a:endParaRPr lang="ar-SA" sz="2000" dirty="0"/>
          </a:p>
        </p:txBody>
      </p:sp>
      <p:sp>
        <p:nvSpPr>
          <p:cNvPr id="15" name="text-315"/>
          <p:cNvSpPr txBox="1"/>
          <p:nvPr/>
        </p:nvSpPr>
        <p:spPr>
          <a:xfrm>
            <a:off x="777240" y="233172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2"/>
                </a:solidFill>
              </a:rPr>
              <a:t>الجاذبية تؤثر دون تلامس</a:t>
            </a:r>
            <a:endParaRPr lang="ar-SA" sz="1700" dirty="0"/>
          </a:p>
        </p:txBody>
      </p:sp>
      <p:sp>
        <p:nvSpPr>
          <p:cNvPr id="16" name="card-316"/>
          <p:cNvSpPr/>
          <p:nvPr/>
        </p:nvSpPr>
        <p:spPr>
          <a:xfrm>
            <a:off x="548640" y="3246120"/>
            <a:ext cx="11064240" cy="749808"/>
          </a:xfrm>
          <a:prstGeom prst="roundRect">
            <a:avLst>
              <a:gd name="adj" fmla="val 182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-317"/>
          <p:cNvSpPr/>
          <p:nvPr/>
        </p:nvSpPr>
        <p:spPr>
          <a:xfrm>
            <a:off x="10835640" y="334670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-318"/>
          <p:cNvSpPr txBox="1"/>
          <p:nvPr/>
        </p:nvSpPr>
        <p:spPr>
          <a:xfrm>
            <a:off x="10835640" y="3346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3</a:t>
            </a:r>
            <a:endParaRPr lang="ar-SA" sz="1800" dirty="0"/>
          </a:p>
        </p:txBody>
      </p:sp>
      <p:sp>
        <p:nvSpPr>
          <p:cNvPr id="19" name="text-319"/>
          <p:cNvSpPr txBox="1"/>
          <p:nvPr/>
        </p:nvSpPr>
        <p:spPr>
          <a:xfrm>
            <a:off x="7315200" y="324612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3"/>
                </a:solidFill>
              </a:rPr>
              <a:t>(ج) اتجاه حركتها</a:t>
            </a:r>
            <a:endParaRPr lang="ar-SA" sz="2000" dirty="0"/>
          </a:p>
        </p:txBody>
      </p:sp>
      <p:sp>
        <p:nvSpPr>
          <p:cNvPr id="20" name="text-320"/>
          <p:cNvSpPr txBox="1"/>
          <p:nvPr/>
        </p:nvSpPr>
        <p:spPr>
          <a:xfrm>
            <a:off x="777240" y="324612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2"/>
                </a:solidFill>
              </a:rPr>
              <a:t>القوة تغيّر اتجاه حركة الجسم</a:t>
            </a:r>
            <a:endParaRPr lang="ar-SA" sz="1700" dirty="0"/>
          </a:p>
        </p:txBody>
      </p:sp>
      <p:sp>
        <p:nvSpPr>
          <p:cNvPr id="21" name="card-321"/>
          <p:cNvSpPr/>
          <p:nvPr/>
        </p:nvSpPr>
        <p:spPr>
          <a:xfrm>
            <a:off x="548640" y="4160520"/>
            <a:ext cx="11064240" cy="749808"/>
          </a:xfrm>
          <a:prstGeom prst="roundRect">
            <a:avLst>
              <a:gd name="adj" fmla="val 1829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num-322"/>
          <p:cNvSpPr/>
          <p:nvPr/>
        </p:nvSpPr>
        <p:spPr>
          <a:xfrm>
            <a:off x="10835640" y="426110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-323"/>
          <p:cNvSpPr txBox="1"/>
          <p:nvPr/>
        </p:nvSpPr>
        <p:spPr>
          <a:xfrm>
            <a:off x="10835640" y="4261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4</a:t>
            </a:r>
            <a:endParaRPr lang="ar-SA" sz="1800" dirty="0"/>
          </a:p>
        </p:txBody>
      </p:sp>
      <p:sp>
        <p:nvSpPr>
          <p:cNvPr id="24" name="text-324"/>
          <p:cNvSpPr txBox="1"/>
          <p:nvPr/>
        </p:nvSpPr>
        <p:spPr>
          <a:xfrm>
            <a:off x="7315200" y="416052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6"/>
                </a:solidFill>
              </a:rPr>
              <a:t>(د) 0 نيوتن</a:t>
            </a:r>
            <a:endParaRPr lang="ar-SA" sz="2000" dirty="0"/>
          </a:p>
        </p:txBody>
      </p:sp>
      <p:sp>
        <p:nvSpPr>
          <p:cNvPr id="25" name="text-325"/>
          <p:cNvSpPr txBox="1"/>
          <p:nvPr/>
        </p:nvSpPr>
        <p:spPr>
          <a:xfrm>
            <a:off x="777240" y="416052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tx2"/>
                </a:solidFill>
              </a:rPr>
              <a:t>قوتان متساويتان ومتعاكستان ← متوازنتان</a:t>
            </a:r>
            <a:endParaRPr lang="ar-SA" sz="1700" dirty="0"/>
          </a:p>
        </p:txBody>
      </p:sp>
      <p:sp>
        <p:nvSpPr>
          <p:cNvPr id="26" name="card-326"/>
          <p:cNvSpPr/>
          <p:nvPr/>
        </p:nvSpPr>
        <p:spPr>
          <a:xfrm>
            <a:off x="548640" y="5074920"/>
            <a:ext cx="11064240" cy="749808"/>
          </a:xfrm>
          <a:prstGeom prst="roundRect">
            <a:avLst>
              <a:gd name="adj" fmla="val 182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num-327"/>
          <p:cNvSpPr/>
          <p:nvPr/>
        </p:nvSpPr>
        <p:spPr>
          <a:xfrm>
            <a:off x="10835640" y="517550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-328"/>
          <p:cNvSpPr txBox="1"/>
          <p:nvPr/>
        </p:nvSpPr>
        <p:spPr>
          <a:xfrm>
            <a:off x="10835640" y="5175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5</a:t>
            </a:r>
            <a:endParaRPr lang="ar-SA" sz="1800" dirty="0"/>
          </a:p>
        </p:txBody>
      </p:sp>
      <p:sp>
        <p:nvSpPr>
          <p:cNvPr id="29" name="text-329"/>
          <p:cNvSpPr txBox="1"/>
          <p:nvPr/>
        </p:nvSpPr>
        <p:spPr>
          <a:xfrm>
            <a:off x="7315200" y="507492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000" b="1" dirty="0">
                <a:solidFill>
                  <a:schemeClr val="accent1"/>
                </a:solidFill>
              </a:rPr>
              <a:t>(أ) 80 نيوتن</a:t>
            </a:r>
            <a:endParaRPr lang="ar-SA" sz="2000" dirty="0"/>
          </a:p>
        </p:txBody>
      </p:sp>
      <p:sp>
        <p:nvSpPr>
          <p:cNvPr id="30" name="text-330"/>
          <p:cNvSpPr txBox="1"/>
          <p:nvPr/>
        </p:nvSpPr>
        <p:spPr>
          <a:xfrm>
            <a:off x="777240" y="507492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700" dirty="0">
                <a:solidFill>
                  <a:schemeClr val="tx2"/>
                </a:solidFill>
              </a:rPr>
              <a:t>W = 8 × 10 = 80 N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331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" name="icon-33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333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بطاقة خروج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بطاقة الخروج الفردية</a:t>
            </a:r>
            <a:endParaRPr lang="ar-SA" sz="3600" dirty="0"/>
          </a:p>
        </p:txBody>
      </p:sp>
      <p:sp>
        <p:nvSpPr>
          <p:cNvPr id="6" name="text-334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chemeClr val="tx2"/>
                </a:solidFill>
              </a:rPr>
              <a:t>يجيب كل مستكشف وحده على ورقة صغيرة قبل مغادرة الصف</a:t>
            </a:r>
            <a:endParaRPr lang="ar-SA" sz="1800" dirty="0"/>
          </a:p>
        </p:txBody>
      </p:sp>
      <p:sp>
        <p:nvSpPr>
          <p:cNvPr id="7" name="card-335"/>
          <p:cNvSpPr/>
          <p:nvPr/>
        </p:nvSpPr>
        <p:spPr>
          <a:xfrm>
            <a:off x="8001000" y="1920240"/>
            <a:ext cx="3520440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um-336"/>
          <p:cNvSpPr/>
          <p:nvPr/>
        </p:nvSpPr>
        <p:spPr>
          <a:xfrm>
            <a:off x="9162288" y="2148840"/>
            <a:ext cx="1188720" cy="1188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-337"/>
          <p:cNvSpPr txBox="1"/>
          <p:nvPr/>
        </p:nvSpPr>
        <p:spPr>
          <a:xfrm>
            <a:off x="9162288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b="1" dirty="0">
                <a:solidFill>
                  <a:schemeClr val="bg1"/>
                </a:solidFill>
              </a:rPr>
              <a:t>3</a:t>
            </a:r>
            <a:endParaRPr lang="ar-SA" sz="4400" dirty="0"/>
          </a:p>
        </p:txBody>
      </p:sp>
      <p:sp>
        <p:nvSpPr>
          <p:cNvPr id="10" name="text-338"/>
          <p:cNvSpPr txBox="1"/>
          <p:nvPr/>
        </p:nvSpPr>
        <p:spPr>
          <a:xfrm>
            <a:off x="8229600" y="35661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</a:rPr>
              <a:t>أشياء تعلمتها اليوم عن القوى</a:t>
            </a:r>
            <a:endParaRPr lang="ar-SA" sz="1900" dirty="0"/>
          </a:p>
        </p:txBody>
      </p:sp>
      <p:sp>
        <p:nvSpPr>
          <p:cNvPr id="11" name="card-339"/>
          <p:cNvSpPr/>
          <p:nvPr/>
        </p:nvSpPr>
        <p:spPr>
          <a:xfrm>
            <a:off x="4279392" y="1920240"/>
            <a:ext cx="3520440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um-340"/>
          <p:cNvSpPr/>
          <p:nvPr/>
        </p:nvSpPr>
        <p:spPr>
          <a:xfrm>
            <a:off x="5440680" y="2148840"/>
            <a:ext cx="1188720" cy="11887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-341"/>
          <p:cNvSpPr txBox="1"/>
          <p:nvPr/>
        </p:nvSpPr>
        <p:spPr>
          <a:xfrm>
            <a:off x="5440680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b="1" dirty="0">
                <a:solidFill>
                  <a:schemeClr val="bg1"/>
                </a:solidFill>
              </a:rPr>
              <a:t>2</a:t>
            </a:r>
            <a:endParaRPr lang="ar-SA" sz="4400" dirty="0"/>
          </a:p>
        </p:txBody>
      </p:sp>
      <p:sp>
        <p:nvSpPr>
          <p:cNvPr id="14" name="text-342"/>
          <p:cNvSpPr txBox="1"/>
          <p:nvPr/>
        </p:nvSpPr>
        <p:spPr>
          <a:xfrm>
            <a:off x="4507992" y="35661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</a:rPr>
              <a:t>مثالان من حياتي اليومية على قوة تلامس وقوة عن بُعد</a:t>
            </a:r>
            <a:endParaRPr lang="ar-SA" sz="1900" dirty="0"/>
          </a:p>
        </p:txBody>
      </p:sp>
      <p:sp>
        <p:nvSpPr>
          <p:cNvPr id="15" name="card-343"/>
          <p:cNvSpPr/>
          <p:nvPr/>
        </p:nvSpPr>
        <p:spPr>
          <a:xfrm>
            <a:off x="557784" y="1920240"/>
            <a:ext cx="3520440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um-344"/>
          <p:cNvSpPr/>
          <p:nvPr/>
        </p:nvSpPr>
        <p:spPr>
          <a:xfrm>
            <a:off x="1719072" y="2148840"/>
            <a:ext cx="1188720" cy="11887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-345"/>
          <p:cNvSpPr txBox="1"/>
          <p:nvPr/>
        </p:nvSpPr>
        <p:spPr>
          <a:xfrm>
            <a:off x="1719072" y="2148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b="1" dirty="0">
                <a:solidFill>
                  <a:schemeClr val="bg1"/>
                </a:solidFill>
              </a:rPr>
              <a:t>1</a:t>
            </a:r>
            <a:endParaRPr lang="ar-SA" sz="4400" dirty="0"/>
          </a:p>
        </p:txBody>
      </p:sp>
      <p:sp>
        <p:nvSpPr>
          <p:cNvPr id="18" name="text-346"/>
          <p:cNvSpPr txBox="1"/>
          <p:nvPr/>
        </p:nvSpPr>
        <p:spPr>
          <a:xfrm>
            <a:off x="786384" y="35661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chemeClr val="tx1"/>
                </a:solidFill>
              </a:rPr>
              <a:t>سؤال ما زلت أفكّر فيه</a:t>
            </a:r>
            <a:endParaRPr lang="ar-SA" sz="1900" dirty="0"/>
          </a:p>
        </p:txBody>
      </p:sp>
      <p:sp>
        <p:nvSpPr>
          <p:cNvPr id="19" name="card-347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87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-348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chemeClr val="bg1"/>
                </a:solidFill>
              </a:rPr>
              <a:t>تقييم ذاتي: ضع إشارة على مستواك →   😀 أستطيع شرحه لزميلي   🙂 فهمته   😐 أحتاج مساعدة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-349"/>
          <p:cNvSpPr/>
          <p:nvPr/>
        </p:nvSpPr>
        <p:spPr>
          <a:xfrm>
            <a:off x="548640" y="457200"/>
            <a:ext cx="210312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" name="icon-35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548640"/>
            <a:ext cx="365760" cy="365760"/>
          </a:xfrm>
          <a:prstGeom prst="rect">
            <a:avLst/>
          </a:prstGeom>
        </p:spPr>
      </p:pic>
      <p:sp>
        <p:nvSpPr>
          <p:cNvPr id="4" name="text-351"/>
          <p:cNvSpPr txBox="1"/>
          <p:nvPr/>
        </p:nvSpPr>
        <p:spPr>
          <a:xfrm>
            <a:off x="640080" y="4572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chemeClr val="bg1"/>
                </a:solidFill>
              </a:rPr>
              <a:t>سلّم التقدير</a:t>
            </a:r>
            <a:endParaRPr lang="ar-SA" sz="15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سلّم تقدير أداء الفرق</a:t>
            </a:r>
            <a:endParaRPr lang="ar-SA" sz="3600" dirty="0"/>
          </a:p>
        </p:txBody>
      </p:sp>
      <p:graphicFrame>
        <p:nvGraphicFramePr>
          <p:cNvPr id="22" name="table-3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73152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600" b="1" dirty="0">
                          <a:solidFill>
                            <a:schemeClr val="bg1"/>
                          </a:solidFill>
                        </a:rPr>
                        <a:t>المعيار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b="1" dirty="0">
                          <a:solidFill>
                            <a:schemeClr val="bg1"/>
                          </a:solidFill>
                        </a:rPr>
                        <a:t>ممتاز ⭐⭐⭐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b="1" dirty="0">
                          <a:solidFill>
                            <a:schemeClr val="bg1"/>
                          </a:solidFill>
                        </a:rPr>
                        <a:t>جيد ⭐⭐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b="1" dirty="0">
                          <a:solidFill>
                            <a:schemeClr val="bg1"/>
                          </a:solidFill>
                        </a:rPr>
                        <a:t>يحتاج دعمًا ⭐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600" b="1" dirty="0">
                          <a:solidFill>
                            <a:schemeClr val="tx1"/>
                          </a:solidFill>
                        </a:rPr>
                        <a:t>الاستكشاف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ملاحظات دقيقة وتوقعات مبرَّرة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ملاحظات صحيحة ناقصة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ملاحظات قليلة غير دقيقة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600" b="1" dirty="0">
                          <a:solidFill>
                            <a:schemeClr val="tx1"/>
                          </a:solidFill>
                        </a:rPr>
                        <a:t>التطبيق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حسابات صحيحة مع الوحدة والاتجاه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حسابات صحيحة دون وحدة أو اتجاه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أخطاء في الحساب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600" b="1" dirty="0">
                          <a:solidFill>
                            <a:schemeClr val="tx1"/>
                          </a:solidFill>
                        </a:rPr>
                        <a:t>التقييم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4–5 إجابات صحيحة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3 إجابات صحيحة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أقل من 3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600" b="1" dirty="0">
                          <a:solidFill>
                            <a:schemeClr val="tx1"/>
                          </a:solidFill>
                        </a:rPr>
                        <a:t>العمل الجماعي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كل الأدوار فاعلة والتزام بالوقت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معظم الأدوار فاعلة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600" dirty="0">
                          <a:solidFill>
                            <a:schemeClr val="tx1"/>
                          </a:solidFill>
                        </a:rPr>
                        <a:t>مشاركة فرد أو اثنين</a:t>
                      </a:r>
                      <a:endParaRPr lang="ar-SA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-353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chemeClr val="accent3"/>
                </a:solidFill>
              </a:rPr>
              <a:t>مجموع النجوم يحدد الشارة النهائية للفريق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926080" y="3200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لوحة الأبطال</a:t>
            </a:r>
            <a:endParaRPr lang="ar-SA" sz="3600" dirty="0"/>
          </a:p>
        </p:txBody>
      </p:sp>
      <p:sp>
        <p:nvSpPr>
          <p:cNvPr id="3" name="card-354"/>
          <p:cNvSpPr/>
          <p:nvPr/>
        </p:nvSpPr>
        <p:spPr>
          <a:xfrm>
            <a:off x="8001000" y="1554480"/>
            <a:ext cx="3520440" cy="329184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badge-355"/>
          <p:cNvSpPr/>
          <p:nvPr/>
        </p:nvSpPr>
        <p:spPr>
          <a:xfrm>
            <a:off x="9070848" y="178308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-35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2084832"/>
            <a:ext cx="768096" cy="768096"/>
          </a:xfrm>
          <a:prstGeom prst="rect">
            <a:avLst/>
          </a:prstGeom>
        </p:spPr>
      </p:pic>
      <p:sp>
        <p:nvSpPr>
          <p:cNvPr id="6" name="text-357"/>
          <p:cNvSpPr txBox="1"/>
          <p:nvPr/>
        </p:nvSpPr>
        <p:spPr>
          <a:xfrm>
            <a:off x="8183880" y="3291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بطل القوى</a:t>
            </a:r>
            <a:endParaRPr lang="ar-SA" sz="2400" dirty="0"/>
          </a:p>
        </p:txBody>
      </p:sp>
      <p:sp>
        <p:nvSpPr>
          <p:cNvPr id="7" name="text-358"/>
          <p:cNvSpPr txBox="1"/>
          <p:nvPr/>
        </p:nvSpPr>
        <p:spPr>
          <a:xfrm>
            <a:off x="8183880" y="3977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accent4"/>
                </a:solidFill>
              </a:rPr>
              <a:t>أكثر من 30 نجمة</a:t>
            </a:r>
            <a:endParaRPr lang="ar-SA" sz="1800" dirty="0"/>
          </a:p>
        </p:txBody>
      </p:sp>
      <p:sp>
        <p:nvSpPr>
          <p:cNvPr id="8" name="card-359"/>
          <p:cNvSpPr/>
          <p:nvPr/>
        </p:nvSpPr>
        <p:spPr>
          <a:xfrm>
            <a:off x="4279392" y="1554480"/>
            <a:ext cx="3520440" cy="329184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badge-360"/>
          <p:cNvSpPr/>
          <p:nvPr/>
        </p:nvSpPr>
        <p:spPr>
          <a:xfrm>
            <a:off x="5349240" y="1783080"/>
            <a:ext cx="1371600" cy="1371600"/>
          </a:xfrm>
          <a:prstGeom prst="ellipse">
            <a:avLst/>
          </a:prstGeom>
          <a:solidFill>
            <a:srgbClr val="C0C7D1"/>
          </a:solidFill>
          <a:ln w="12700">
            <a:solidFill>
              <a:srgbClr val="C0C7D1"/>
            </a:solidFill>
            <a:prstDash val="solid"/>
          </a:ln>
        </p:spPr>
      </p:sp>
      <p:pic>
        <p:nvPicPr>
          <p:cNvPr id="10" name="icon-3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084832"/>
            <a:ext cx="768096" cy="768096"/>
          </a:xfrm>
          <a:prstGeom prst="rect">
            <a:avLst/>
          </a:prstGeom>
        </p:spPr>
      </p:pic>
      <p:sp>
        <p:nvSpPr>
          <p:cNvPr id="11" name="text-362"/>
          <p:cNvSpPr txBox="1"/>
          <p:nvPr/>
        </p:nvSpPr>
        <p:spPr>
          <a:xfrm>
            <a:off x="4462272" y="3291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مهندس القوى</a:t>
            </a:r>
            <a:endParaRPr lang="ar-SA" sz="2400" dirty="0"/>
          </a:p>
        </p:txBody>
      </p:sp>
      <p:sp>
        <p:nvSpPr>
          <p:cNvPr id="12" name="text-363"/>
          <p:cNvSpPr txBox="1"/>
          <p:nvPr/>
        </p:nvSpPr>
        <p:spPr>
          <a:xfrm>
            <a:off x="4462272" y="3977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accent4"/>
                </a:solidFill>
              </a:rPr>
              <a:t>20 – 30 نجمة</a:t>
            </a:r>
            <a:endParaRPr lang="ar-SA" sz="1800" dirty="0"/>
          </a:p>
        </p:txBody>
      </p:sp>
      <p:sp>
        <p:nvSpPr>
          <p:cNvPr id="13" name="card-364"/>
          <p:cNvSpPr/>
          <p:nvPr/>
        </p:nvSpPr>
        <p:spPr>
          <a:xfrm>
            <a:off x="557784" y="1554480"/>
            <a:ext cx="3520440" cy="3291840"/>
          </a:xfrm>
          <a:prstGeom prst="roundRect">
            <a:avLst>
              <a:gd name="adj" fmla="val 41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badge-365"/>
          <p:cNvSpPr/>
          <p:nvPr/>
        </p:nvSpPr>
        <p:spPr>
          <a:xfrm>
            <a:off x="1627632" y="1783080"/>
            <a:ext cx="1371600" cy="1371600"/>
          </a:xfrm>
          <a:prstGeom prst="ellipse">
            <a:avLst/>
          </a:prstGeom>
          <a:solidFill>
            <a:srgbClr val="CD8B4E"/>
          </a:solidFill>
          <a:ln w="12700">
            <a:solidFill>
              <a:srgbClr val="CD8B4E"/>
            </a:solidFill>
            <a:prstDash val="solid"/>
          </a:ln>
        </p:spPr>
      </p:sp>
      <p:pic>
        <p:nvPicPr>
          <p:cNvPr id="15" name="icon-36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384" y="2084832"/>
            <a:ext cx="768096" cy="768096"/>
          </a:xfrm>
          <a:prstGeom prst="rect">
            <a:avLst/>
          </a:prstGeom>
        </p:spPr>
      </p:pic>
      <p:sp>
        <p:nvSpPr>
          <p:cNvPr id="16" name="text-367"/>
          <p:cNvSpPr txBox="1"/>
          <p:nvPr/>
        </p:nvSpPr>
        <p:spPr>
          <a:xfrm>
            <a:off x="740664" y="3291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2400" b="1" dirty="0">
                <a:solidFill>
                  <a:schemeClr val="bg1"/>
                </a:solidFill>
              </a:rPr>
              <a:t>مستكشف القوى</a:t>
            </a:r>
            <a:endParaRPr lang="ar-SA" sz="2400" dirty="0"/>
          </a:p>
        </p:txBody>
      </p:sp>
      <p:sp>
        <p:nvSpPr>
          <p:cNvPr id="17" name="text-368"/>
          <p:cNvSpPr txBox="1"/>
          <p:nvPr/>
        </p:nvSpPr>
        <p:spPr>
          <a:xfrm>
            <a:off x="740664" y="3977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ar-SA" altLang="en-US" sz="1800" dirty="0">
                <a:solidFill>
                  <a:schemeClr val="accent4"/>
                </a:solidFill>
              </a:rPr>
              <a:t>أقل من 20 نجمة</a:t>
            </a:r>
            <a:endParaRPr lang="ar-SA" sz="1800" dirty="0"/>
          </a:p>
        </p:txBody>
      </p:sp>
      <p:sp>
        <p:nvSpPr>
          <p:cNvPr id="18" name="text-369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القوة في كل مكان حولنا… والآن أصبحتم تعرفون كيف تكتشفونها وتقيسونها!</a:t>
            </a:r>
            <a:endParaRPr lang="ar-SA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657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ce Quest">
  <a:themeElements>
    <a:clrScheme name="Force Quest">
      <a:dk1>
        <a:srgbClr val="1B2A49"/>
      </a:dk1>
      <a:lt1>
        <a:srgbClr val="FFFFFF"/>
      </a:lt1>
      <a:dk2>
        <a:srgbClr val="33415C"/>
      </a:dk2>
      <a:lt2>
        <a:srgbClr val="EEF3FA"/>
      </a:lt2>
      <a:accent1>
        <a:srgbClr val="13A89E"/>
      </a:accent1>
      <a:accent2>
        <a:srgbClr val="F26B1D"/>
      </a:accent2>
      <a:accent3>
        <a:srgbClr val="6C4AB6"/>
      </a:accent3>
      <a:accent4>
        <a:srgbClr val="FFC93C"/>
      </a:accent4>
      <a:accent5>
        <a:srgbClr val="E63946"/>
      </a:accent5>
      <a:accent6>
        <a:srgbClr val="2E86DE"/>
      </a:accent6>
      <a:hlink>
        <a:srgbClr val="2E86DE"/>
      </a:hlink>
      <a:folHlink>
        <a:srgbClr val="6C4AB6"/>
      </a:folHlink>
    </a:clrScheme>
    <a:fontScheme name="Force Ques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مغامرة القوى - لعبة استكشافية</dc:title>
  <dc:subject>PptxGenJS Presentation</dc:subject>
  <dc:creator>PptxGenJS</dc:creator>
  <cp:lastModifiedBy>PptxGenJS</cp:lastModifiedBy>
  <cp:revision>1</cp:revision>
  <dcterms:created xsi:type="dcterms:W3CDTF">2026-10-11T09:40:51Z</dcterms:created>
  <dcterms:modified xsi:type="dcterms:W3CDTF">2026-10-11T09:40:51Z</dcterms:modified>
</cp:coreProperties>
</file>