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قدمة" id="{802197c9-b212-a29e-1840-70755a10e2e4}">
          <p14:sldIdLst>
            <p14:sldId id="256"/>
            <p14:sldId id="257"/>
          </p14:sldIdLst>
        </p14:section>
        <p14:section name="النشاط التمهيدي" id="{22351d52-73b1-6ea7-ab74-6b41573f6b26}">
          <p14:sldIdLst>
            <p14:sldId id="258"/>
          </p14:sldIdLst>
        </p14:section>
        <p14:section name="النشاط الاستكشافي" id="{5d4f2594-7df8-2a11-0966-f1884a14bf58}">
          <p14:sldIdLst>
            <p14:sldId id="259"/>
            <p14:sldId id="260"/>
          </p14:sldIdLst>
        </p14:section>
        <p14:section name="بناء المفهوم" id="{95021e3a-8cc1-5570-1d0f-6a20a49f3e99}">
          <p14:sldIdLst>
            <p14:sldId id="261"/>
            <p14:sldId id="262"/>
          </p14:sldIdLst>
        </p14:section>
        <p14:section name="أمثلة محلولة" id="{67326726-e2b0-90ee-c8db-6d15ccd79fd8}">
          <p14:sldIdLst>
            <p14:sldId id="263"/>
            <p14:sldId id="264"/>
            <p14:sldId id="265"/>
          </p14:sldIdLst>
        </p14:section>
        <p14:section name="العمل التطبيقي" id="{6fd84b35-affe-91c9-4334-17c989170fef}">
          <p14:sldIdLst>
            <p14:sldId id="266"/>
            <p14:sldId id="267"/>
            <p14:sldId id="268"/>
            <p14:sldId id="269"/>
          </p14:sldIdLst>
        </p14:section>
        <p14:section name="التقويم والخلاصة" id="{6bbd98cf-b537-df77-6cfc-26172403aee2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B3C49"/>
                </a:solidFill>
                <a:latin typeface="+mn-lt"/>
              </a:rPr>
              <a:t>f(x) = x² − x − 6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f(x) = x² − x − 6</c:v>
                </c:pt>
              </c:strCache>
            </c:strRef>
          </c:tx>
          <c:spPr>
            <a:solidFill>
              <a:srgbClr val="1B998B"/>
            </a:solidFill>
            <a:ln w="38100" cap="flat">
              <a:solidFill>
                <a:srgbClr val="1B99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-4</c:v>
                  </c:pt>
                  <c:pt idx="1">
                    <c:v>-3</c:v>
                  </c:pt>
                  <c:pt idx="2">
                    <c:v>-2</c:v>
                  </c:pt>
                  <c:pt idx="3">
                    <c:v>-1</c:v>
                  </c:pt>
                  <c:pt idx="4">
                    <c:v>0</c:v>
                  </c:pt>
                  <c:pt idx="5">
                    <c:v>1</c:v>
                  </c:pt>
                  <c:pt idx="6">
                    <c:v>2</c:v>
                  </c:pt>
                  <c:pt idx="7">
                    <c:v>3</c:v>
                  </c:pt>
                  <c:pt idx="8">
                    <c:v>4</c:v>
                  </c:pt>
                  <c:pt idx="9">
                    <c:v>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</c:v>
                </c:pt>
                <c:pt idx="1">
                  <c:v>6</c:v>
                </c:pt>
                <c:pt idx="2">
                  <c:v>0</c:v>
                </c:pt>
                <c:pt idx="3">
                  <c:v>-4</c:v>
                </c:pt>
                <c:pt idx="4">
                  <c:v>-6</c:v>
                </c:pt>
                <c:pt idx="5">
                  <c:v>-6</c:v>
                </c:pt>
                <c:pt idx="6">
                  <c:v>-4</c:v>
                </c:pt>
                <c:pt idx="7">
                  <c:v>0</c:v>
                </c:pt>
                <c:pt idx="8">
                  <c:v>6</c:v>
                </c:pt>
                <c:pt idx="9">
                  <c:v>14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4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-8"/>
        </c:scaling>
        <c:delete val="0"/>
        <c:axPos val="l"/>
        <c:majorGridlines>
          <c:spPr>
            <a:ln w="9525" cap="flat">
              <a:solidFill>
                <a:srgbClr val="DDE7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4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3C49"/>
                </a:solidFill>
                <a:latin typeface="+mn-lt"/>
              </a:rPr>
              <a:t>f₁(x) = x² − 2x − 3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f₁(x) = x² − 2x − 3</c:v>
                </c:pt>
              </c:strCache>
            </c:strRef>
          </c:tx>
          <c:spPr>
            <a:solidFill>
              <a:srgbClr val="1B998B"/>
            </a:solidFill>
            <a:ln w="31750" cap="flat">
              <a:solidFill>
                <a:srgbClr val="1B99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-2</c:v>
                  </c:pt>
                  <c:pt idx="1">
                    <c:v>-1</c:v>
                  </c:pt>
                  <c:pt idx="2">
                    <c:v>0</c:v>
                  </c:pt>
                  <c:pt idx="3">
                    <c:v>1</c:v>
                  </c:pt>
                  <c:pt idx="4">
                    <c:v>2</c:v>
                  </c:pt>
                  <c:pt idx="5">
                    <c:v>3</c:v>
                  </c:pt>
                  <c:pt idx="6">
                    <c:v>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0</c:v>
                </c:pt>
                <c:pt idx="2">
                  <c:v>-3</c:v>
                </c:pt>
                <c:pt idx="3">
                  <c:v>-4</c:v>
                </c:pt>
                <c:pt idx="4">
                  <c:v>-3</c:v>
                </c:pt>
                <c:pt idx="5">
                  <c:v>0</c:v>
                </c:pt>
                <c:pt idx="6">
                  <c:v>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4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-4"/>
        </c:scaling>
        <c:delete val="0"/>
        <c:axPos val="l"/>
        <c:majorGridlines>
          <c:spPr>
            <a:ln w="6350" cap="flat">
              <a:solidFill>
                <a:srgbClr val="DDE7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4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3C49"/>
                </a:solidFill>
                <a:latin typeface="+mn-lt"/>
              </a:rPr>
              <a:t>f₂(x) = x² − 2x + 1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f₂(x) = x² − 2x + 1</c:v>
                </c:pt>
              </c:strCache>
            </c:strRef>
          </c:tx>
          <c:spPr>
            <a:solidFill>
              <a:srgbClr val="E0A100"/>
            </a:solidFill>
            <a:ln w="31750" cap="flat">
              <a:solidFill>
                <a:srgbClr val="E0A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A100"/>
              </a:solidFill>
              <a:ln w="9525" cap="flat">
                <a:solidFill>
                  <a:srgbClr val="E0A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-2</c:v>
                  </c:pt>
                  <c:pt idx="1">
                    <c:v>-1</c:v>
                  </c:pt>
                  <c:pt idx="2">
                    <c:v>0</c:v>
                  </c:pt>
                  <c:pt idx="3">
                    <c:v>1</c:v>
                  </c:pt>
                  <c:pt idx="4">
                    <c:v>2</c:v>
                  </c:pt>
                  <c:pt idx="5">
                    <c:v>3</c:v>
                  </c:pt>
                  <c:pt idx="6">
                    <c:v>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</c:v>
                </c:pt>
                <c:pt idx="1">
                  <c:v>4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4</c:v>
                </c:pt>
                <c:pt idx="6">
                  <c:v>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4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-4"/>
        </c:scaling>
        <c:delete val="0"/>
        <c:axPos val="l"/>
        <c:majorGridlines>
          <c:spPr>
            <a:ln w="6350" cap="flat">
              <a:solidFill>
                <a:srgbClr val="DDE7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4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3C49"/>
                </a:solidFill>
                <a:latin typeface="+mn-lt"/>
              </a:rPr>
              <a:t>f₃(x) = x² − 2x + 3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f₃(x) = x² − 2x + 3</c:v>
                </c:pt>
              </c:strCache>
            </c:strRef>
          </c:tx>
          <c:spPr>
            <a:solidFill>
              <a:srgbClr val="7B4BB7"/>
            </a:solidFill>
            <a:ln w="31750" cap="flat">
              <a:solidFill>
                <a:srgbClr val="7B4BB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B4BB7"/>
              </a:solidFill>
              <a:ln w="9525" cap="flat">
                <a:solidFill>
                  <a:srgbClr val="7B4BB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-2</c:v>
                  </c:pt>
                  <c:pt idx="1">
                    <c:v>-1</c:v>
                  </c:pt>
                  <c:pt idx="2">
                    <c:v>0</c:v>
                  </c:pt>
                  <c:pt idx="3">
                    <c:v>1</c:v>
                  </c:pt>
                  <c:pt idx="4">
                    <c:v>2</c:v>
                  </c:pt>
                  <c:pt idx="5">
                    <c:v>3</c:v>
                  </c:pt>
                  <c:pt idx="6">
                    <c:v>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</c:v>
                </c:pt>
                <c:pt idx="1">
                  <c:v>6</c:v>
                </c:pt>
                <c:pt idx="2">
                  <c:v>3</c:v>
                </c:pt>
                <c:pt idx="3">
                  <c:v>2</c:v>
                </c:pt>
                <c:pt idx="4">
                  <c:v>3</c:v>
                </c:pt>
                <c:pt idx="5">
                  <c:v>6</c:v>
                </c:pt>
                <c:pt idx="6">
                  <c:v>11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4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-4"/>
        </c:scaling>
        <c:delete val="0"/>
        <c:axPos val="l"/>
        <c:majorGridlines>
          <c:spPr>
            <a:ln w="6350" cap="flat">
              <a:solidFill>
                <a:srgbClr val="DDE7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4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مدة الحصة المقترحة: حصتان (2 × 50 دقيقة). المكتسبات القبلية: حل معادلة من الدرجة الثانية باستعمال المميّز Δ، وإشارة ثنائي الحد ax +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الحلول:
1) Δ = 25 − 24 = 1 ، x₁ = 2 و x₂ = 3.
2) Δ = 1 − 24 = −23 &lt; 0 ، لا جذور حقيقية.
3) 2x − 4 = 0 عندما x = 2 ؛ سالب قبل 2 وموجب بعد 2 (إشارة a = 2 بعد الجذر).
التوزيع على المستويات: من أخطأ في 1 و3 ← المستوى الأول؛ من أجاب عن 1 و3 ← المستوى الثاني؛ من أجاب عن الثلاثة بسرعة ودقة ← المستوى الثالث.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الإجابات المتوقعة:
1) x = −2 و x = 3 ، وهما جذرا المعادلة x² − x − 6 = 0.
2) المنحنى فوق محور الفواصل عندما x &lt; −2 أو x &gt; 3 ← f(x) &gt; 0.
3) تحته عندما −2 &lt; x &lt; 3 ← f(x) &lt; 0.
4) −2 ≤ x ≤ 3 أي [−2 ; 3].
يمكن عرض الرسم على GeoGebra وتحريك المعاملات.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الإجابات:
f₁: Δ = 16 &gt; 0 ، نقطتا تقاطع (x = −1 و x = 3) ، f₁ موجبة خارج الجذرين وسالبة بينهما.
f₂: Δ = 0 ، نقطة تماس واحدة x = 1 ، f₂ موجبة ما عدا عند x = 1 حيث تنعدم.
f₃: Δ = −8 &lt; 0 ، لا تقاطع ، f₃ موجبة دائمًا.
سؤال إضافي للنقاش: ماذا يتغيّر لو كان a &lt; 0؟ (ينقلب المنحنى نحو الأسفل فتنقلب الإشارات).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نلخّص ما استنتجه التلاميذ من النشاط الاستكشافي. التركيز على عبارة: «إشارة a دائمًا، إلا بين الجذرين».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مراعاة الفروق الفردية: البطاقات الثلاث تتناول المفهوم نفسه بمستويات تعقيد مختلفة. يمكن نقل التلميذ إلى مستوى أعلى عند إنهائه بطاقته بنجاح. المعلّم يتجوّل ويطرح أسئلة موجِّهة دون إعطاء الحل.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الحلول:
أ) جذران −4 و 1 ، a = 1 &gt; 0 ⟵ S = ]−∞ ; −4[ ∪ ]1 ; +∞[.
ب) جذران −3 و 3 ⟵ S = [−3 ; 3].
ج) Δ = 16 − 12 = 4 ، جذران 1 و 3 ⟵ S = ]1 ; 3[.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الحلول:
أ) Δ = 25 + 24 = 49 ، الجذران 3 و −1/2 ، a &gt; 0 ⟵ S = ]−∞ ; −1/2] ∪ [3 ; +∞[.
ب) Δ = −3 &lt; 0 ، a &gt; 0 ⟵ S = ℝ.
ج) Δ = 0 ، x₀ = 2 ، a &lt; 0 فالعبارة سالبة وتنعدم عند 2 ⟵ S = {2}.
د) 3x² − 2x − 1 ≤ 0 ، Δ = 16 ، الجذران 1 و −1/3 ⟵ S = [−1/3 ; 1].
التحدي: (x − 1)(x − 4) ≥ 0 أي x² − 5x + 4 ≥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الحلول:
1) العرض 10 − x ، x(10 − x) ≥ 21 ⟺ x² − 10x + 21 ≤ 0 ، الجذران 3 و 7 ⟵ x ∈ [3 ; 7] (مع 0 &lt; x &lt; 10).
2) a = 1 &gt; 0 فيكفي Δ &lt; 0: m² − 16 &lt; 0 ⟵ m ∈ ]−4 ; 4[.
3) t² − 5t + 4 &lt; 0 ⟵ 1 &lt; t &lt; 4 ⟵ 1 &lt; x² &lt; 4 ⟵ S = ]−2 ; −1[ ∪ ]1 ; 2[.
التحدي: Δ = 4m² − 4(m + 2) = 4(m² − m − 2) = 4(m − 2)(m + 1) &gt; 0 ⟵ m ∈ ]−∞ ; −1[ ∪ ]2 ; +∞[.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حل بطاقة الخروج: الجذران −2 و 2 ، a &gt; 0 ⟵ S = ]−∞ ; −2[ ∪ ]2 ; +∞[.
تُجمع البطاقات لتحديد من يحتاج إلى دعم في الحصة القادمة.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حل الواجب: (1) x² − x − 6 &lt; 0 ⟵ S = ]−2 ; 3[. (2) (2x − 1)² ≤ 0 ⟵ S = {1/2}.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320040"/>
            <a:ext cx="779983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4800" b="1" dirty="0">
                <a:solidFill>
                  <a:schemeClr val="bg1"/>
                </a:solidFill>
              </a:rPr>
              <a:t>المتراجحات من الدرجة الثانية</a:t>
            </a:r>
            <a:endParaRPr lang="ar-LB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2200" dirty="0">
                <a:solidFill>
                  <a:schemeClr val="bg2"/>
                </a:solidFill>
              </a:rPr>
              <a:t>إشارة ثلاثي الحدود ax² + bx + c وكيفية حل المتراجحة</a:t>
            </a:r>
            <a:endParaRPr lang="ar-LB" sz="2200" dirty="0"/>
          </a:p>
        </p:txBody>
      </p:sp>
      <p:sp>
        <p:nvSpPr>
          <p:cNvPr id="4" name="tag"/>
          <p:cNvSpPr/>
          <p:nvPr/>
        </p:nvSpPr>
        <p:spPr>
          <a:xfrm>
            <a:off x="731520" y="4754880"/>
            <a:ext cx="512064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47548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نشاط تمهيدي · استكشاف · أمثلة · عمل مجموعات</a:t>
            </a:r>
            <a:endParaRPr lang="en-US" sz="1600" dirty="0"/>
          </a:p>
        </p:txBody>
      </p:sp>
      <p:pic>
        <p:nvPicPr>
          <p:cNvPr id="6" name="motif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320040"/>
            <a:ext cx="7799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3200" b="1" dirty="0">
                <a:solidFill>
                  <a:schemeClr val="tx2"/>
                </a:solidFill>
              </a:rPr>
              <a:t>أهداف الدرس</a:t>
            </a:r>
            <a:endParaRPr lang="ar-LB" sz="3200" dirty="0"/>
          </a:p>
        </p:txBody>
      </p:sp>
      <p:sp>
        <p:nvSpPr>
          <p:cNvPr id="3" name="phase-pill"/>
          <p:cNvSpPr/>
          <p:nvPr/>
        </p:nvSpPr>
        <p:spPr>
          <a:xfrm>
            <a:off x="548640" y="502920"/>
            <a:ext cx="2926080" cy="43891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4" name="phase-text"/>
          <p:cNvSpPr txBox="1"/>
          <p:nvPr/>
        </p:nvSpPr>
        <p:spPr>
          <a:xfrm>
            <a:off x="548640" y="502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bg1"/>
                </a:solidFill>
              </a:rPr>
              <a:t>في نهاية الدرس</a:t>
            </a:r>
            <a:endParaRPr lang="ar-LB" sz="1400" dirty="0"/>
          </a:p>
        </p:txBody>
      </p:sp>
      <p:sp>
        <p:nvSpPr>
          <p:cNvPr id="5" name="card"/>
          <p:cNvSpPr/>
          <p:nvPr/>
        </p:nvSpPr>
        <p:spPr>
          <a:xfrm>
            <a:off x="1463040" y="1508760"/>
            <a:ext cx="92354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10058400" y="161848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187" y="1785275"/>
            <a:ext cx="361371" cy="36137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6002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2000" dirty="0">
                <a:solidFill>
                  <a:schemeClr val="tx1"/>
                </a:solidFill>
              </a:rPr>
              <a:t>أربط إشارة ثلاثي الحدود بموقع منحنيه بالنسبة لمحور الفواصل</a:t>
            </a:r>
            <a:endParaRPr lang="ar-LB" sz="2000" dirty="0"/>
          </a:p>
        </p:txBody>
      </p:sp>
      <p:sp>
        <p:nvSpPr>
          <p:cNvPr id="9" name="card"/>
          <p:cNvSpPr/>
          <p:nvPr/>
        </p:nvSpPr>
        <p:spPr>
          <a:xfrm>
            <a:off x="1463040" y="2651760"/>
            <a:ext cx="92354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10058400" y="276148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187" y="2928275"/>
            <a:ext cx="361371" cy="36137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37360" y="27432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2000" dirty="0">
                <a:solidFill>
                  <a:schemeClr val="tx1"/>
                </a:solidFill>
              </a:rPr>
              <a:t>أحدّد إشارة ‪ax² + bx + c‬ حسب إشارة المميّز Δ وإشارة a</a:t>
            </a:r>
            <a:endParaRPr lang="ar-LB" sz="2000" dirty="0"/>
          </a:p>
        </p:txBody>
      </p:sp>
      <p:sp>
        <p:nvSpPr>
          <p:cNvPr id="13" name="card"/>
          <p:cNvSpPr/>
          <p:nvPr/>
        </p:nvSpPr>
        <p:spPr>
          <a:xfrm>
            <a:off x="1463040" y="3794760"/>
            <a:ext cx="92354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10058400" y="3904488"/>
            <a:ext cx="694944" cy="69494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187" y="4071275"/>
            <a:ext cx="361371" cy="36137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37360" y="38862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2000" dirty="0">
                <a:solidFill>
                  <a:schemeClr val="tx1"/>
                </a:solidFill>
              </a:rPr>
              <a:t>أحلّ متراجحة من الدرجة الثانية وأكتب مجموعة الحلول على شكل مجالات</a:t>
            </a:r>
            <a:endParaRPr lang="ar-LB" sz="2000" dirty="0"/>
          </a:p>
        </p:txBody>
      </p:sp>
      <p:sp>
        <p:nvSpPr>
          <p:cNvPr id="17" name="card"/>
          <p:cNvSpPr/>
          <p:nvPr/>
        </p:nvSpPr>
        <p:spPr>
          <a:xfrm>
            <a:off x="1463040" y="4937760"/>
            <a:ext cx="92354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18" name="icon-circle"/>
          <p:cNvSpPr/>
          <p:nvPr/>
        </p:nvSpPr>
        <p:spPr>
          <a:xfrm>
            <a:off x="10058400" y="5047488"/>
            <a:ext cx="694944" cy="69494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187" y="5214275"/>
            <a:ext cx="361371" cy="36137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737360" y="50292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2000" dirty="0">
                <a:solidFill>
                  <a:schemeClr val="tx1"/>
                </a:solidFill>
              </a:rPr>
              <a:t>أوظّف المتراجحات في حلّ مسائل حياتية ومسائل بوسيط</a:t>
            </a:r>
            <a:endParaRPr lang="ar-LB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320040"/>
            <a:ext cx="7799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3200" b="1" dirty="0">
                <a:solidFill>
                  <a:schemeClr val="tx2"/>
                </a:solidFill>
              </a:rPr>
              <a:t>نشاط تمهيدي: نتذكّر معًا</a:t>
            </a:r>
            <a:endParaRPr lang="ar-LB" sz="3200" dirty="0"/>
          </a:p>
        </p:txBody>
      </p:sp>
      <p:sp>
        <p:nvSpPr>
          <p:cNvPr id="3" name="phase-pill"/>
          <p:cNvSpPr/>
          <p:nvPr/>
        </p:nvSpPr>
        <p:spPr>
          <a:xfrm>
            <a:off x="548640" y="502920"/>
            <a:ext cx="2926080" cy="43891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phase-text"/>
          <p:cNvSpPr txBox="1"/>
          <p:nvPr/>
        </p:nvSpPr>
        <p:spPr>
          <a:xfrm>
            <a:off x="548640" y="502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bg1"/>
                </a:solidFill>
              </a:rPr>
              <a:t>نشاط تمهيدي · 10 دقائق</a:t>
            </a:r>
            <a:endParaRPr lang="ar-LB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chemeClr val="accent6"/>
                </a:solidFill>
              </a:rPr>
              <a:t>يعمل كل تلميذ منفردًا، ثم نصحّح جماعيًا. تساعدنا النتائج على توزيع التلاميذ على مستويات العمل التطبيقي.</a:t>
            </a:r>
            <a:endParaRPr lang="ar-LB" sz="1600" dirty="0"/>
          </a:p>
        </p:txBody>
      </p:sp>
      <p:sp>
        <p:nvSpPr>
          <p:cNvPr id="6" name="card"/>
          <p:cNvSpPr/>
          <p:nvPr/>
        </p:nvSpPr>
        <p:spPr>
          <a:xfrm>
            <a:off x="8138160" y="1965960"/>
            <a:ext cx="3502152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7" name="number-badge"/>
          <p:cNvSpPr/>
          <p:nvPr/>
        </p:nvSpPr>
        <p:spPr>
          <a:xfrm>
            <a:off x="10954512" y="21488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5451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2148840"/>
            <a:ext cx="2587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700" b="1" dirty="0">
                <a:solidFill>
                  <a:schemeClr val="tx1"/>
                </a:solidFill>
              </a:rPr>
              <a:t>حلّ المعادلة:</a:t>
            </a:r>
            <a:endParaRPr lang="ar-LB" sz="1700" dirty="0"/>
          </a:p>
        </p:txBody>
      </p:sp>
      <p:sp>
        <p:nvSpPr>
          <p:cNvPr id="10" name="expr-box"/>
          <p:cNvSpPr/>
          <p:nvPr/>
        </p:nvSpPr>
        <p:spPr>
          <a:xfrm>
            <a:off x="8366760" y="3017520"/>
            <a:ext cx="3044952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rgbClr val="B8CB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301752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x² − 5x + 6 = 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931920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i="1" dirty="0">
                <a:solidFill>
                  <a:schemeClr val="accent6"/>
                </a:solidFill>
              </a:rPr>
              <a:t>استعمل المميّز  Δ = b² − 4ac</a:t>
            </a:r>
            <a:endParaRPr lang="ar-LB" sz="1500" dirty="0"/>
          </a:p>
        </p:txBody>
      </p:sp>
      <p:sp>
        <p:nvSpPr>
          <p:cNvPr id="13" name="card"/>
          <p:cNvSpPr/>
          <p:nvPr/>
        </p:nvSpPr>
        <p:spPr>
          <a:xfrm>
            <a:off x="4361688" y="1965960"/>
            <a:ext cx="3502152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14" name="number-badge"/>
          <p:cNvSpPr/>
          <p:nvPr/>
        </p:nvSpPr>
        <p:spPr>
          <a:xfrm>
            <a:off x="7178040" y="21488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780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2148840"/>
            <a:ext cx="2587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700" b="1" dirty="0">
                <a:solidFill>
                  <a:schemeClr val="tx1"/>
                </a:solidFill>
              </a:rPr>
              <a:t>احسب المميّز ثم استنتج عدد الجذور:</a:t>
            </a:r>
            <a:endParaRPr lang="ar-LB" sz="1700" dirty="0"/>
          </a:p>
        </p:txBody>
      </p:sp>
      <p:sp>
        <p:nvSpPr>
          <p:cNvPr id="17" name="expr-box"/>
          <p:cNvSpPr/>
          <p:nvPr/>
        </p:nvSpPr>
        <p:spPr>
          <a:xfrm>
            <a:off x="4590288" y="3017520"/>
            <a:ext cx="3044952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rgbClr val="B8CBC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90288" y="301752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2x² + x + 3 = 0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544568" y="3931920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i="1" dirty="0">
                <a:solidFill>
                  <a:schemeClr val="accent6"/>
                </a:solidFill>
              </a:rPr>
              <a:t>هل للمعادلة حلول في ℝ؟</a:t>
            </a:r>
            <a:endParaRPr lang="ar-LB" sz="1500" dirty="0"/>
          </a:p>
        </p:txBody>
      </p:sp>
      <p:sp>
        <p:nvSpPr>
          <p:cNvPr id="20" name="card"/>
          <p:cNvSpPr/>
          <p:nvPr/>
        </p:nvSpPr>
        <p:spPr>
          <a:xfrm>
            <a:off x="585216" y="1965960"/>
            <a:ext cx="3502152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21" name="number-badge"/>
          <p:cNvSpPr/>
          <p:nvPr/>
        </p:nvSpPr>
        <p:spPr>
          <a:xfrm>
            <a:off x="3401568" y="21488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0156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" y="2148840"/>
            <a:ext cx="2587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700" b="1" dirty="0">
                <a:solidFill>
                  <a:schemeClr val="tx1"/>
                </a:solidFill>
              </a:rPr>
              <a:t>أكمل جدول إشارة ثنائي الحد:</a:t>
            </a:r>
            <a:endParaRPr lang="ar-LB" sz="1700" dirty="0"/>
          </a:p>
        </p:txBody>
      </p:sp>
      <p:sp>
        <p:nvSpPr>
          <p:cNvPr id="24" name="expr-box"/>
          <p:cNvSpPr/>
          <p:nvPr/>
        </p:nvSpPr>
        <p:spPr>
          <a:xfrm>
            <a:off x="813816" y="3017520"/>
            <a:ext cx="3044952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rgbClr val="B8CBC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3816" y="301752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2x − 4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" y="3931920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i="1" dirty="0">
                <a:solidFill>
                  <a:schemeClr val="accent6"/>
                </a:solidFill>
              </a:rPr>
              <a:t>متى يكون موجبًا؟ ومتى يكون سالبًا؟</a:t>
            </a:r>
            <a:endParaRPr lang="ar-LB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530352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500" b="1" dirty="0">
                <a:solidFill>
                  <a:schemeClr val="tx1"/>
                </a:solidFill>
              </a:rPr>
              <a:t>جدول البند 3 للتعبئة:</a:t>
            </a:r>
            <a:endParaRPr lang="ar-LB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5257800"/>
          <a:ext cx="9144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1188720"/>
                <a:gridCol w="731520"/>
                <a:gridCol w="118872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−∞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+∞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2x − 4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320040"/>
            <a:ext cx="7799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3200" b="1" dirty="0">
                <a:solidFill>
                  <a:schemeClr val="tx2"/>
                </a:solidFill>
              </a:rPr>
              <a:t>نشاط استكشافي (1): نقرأ المنحنى</a:t>
            </a:r>
            <a:endParaRPr lang="ar-LB" sz="3200" dirty="0"/>
          </a:p>
        </p:txBody>
      </p:sp>
      <p:sp>
        <p:nvSpPr>
          <p:cNvPr id="3" name="phase-pill"/>
          <p:cNvSpPr/>
          <p:nvPr/>
        </p:nvSpPr>
        <p:spPr>
          <a:xfrm>
            <a:off x="548640" y="502920"/>
            <a:ext cx="292608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phase-text"/>
          <p:cNvSpPr txBox="1"/>
          <p:nvPr/>
        </p:nvSpPr>
        <p:spPr>
          <a:xfrm>
            <a:off x="548640" y="502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bg1"/>
                </a:solidFill>
              </a:rPr>
              <a:t>نشاط استكشافي · 15 دقيقة</a:t>
            </a:r>
            <a:endParaRPr lang="ar-LB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280160"/>
            <a:ext cx="5852160" cy="493776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85800" y="1371600"/>
          <a:ext cx="55778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675120" y="1325880"/>
            <a:ext cx="4965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chemeClr val="tx1"/>
                </a:solidFill>
              </a:rPr>
              <a:t>لاحظ المنحنى الممثّل للدالة f ثم أجب:</a:t>
            </a:r>
            <a:endParaRPr lang="ar-LB" sz="1800" dirty="0"/>
          </a:p>
        </p:txBody>
      </p:sp>
      <p:sp>
        <p:nvSpPr>
          <p:cNvPr id="8" name="number-badge"/>
          <p:cNvSpPr/>
          <p:nvPr/>
        </p:nvSpPr>
        <p:spPr>
          <a:xfrm>
            <a:off x="11183112" y="1965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183112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192024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ما فواصل نقاط تقاطع المنحنى مع محور الفواصل؟ ماذا تمثّل هذه القيم بالنسبة للمعادلة ‪f(x) = 0‬؟</a:t>
            </a:r>
            <a:endParaRPr lang="ar-LB" sz="1500" dirty="0"/>
          </a:p>
        </p:txBody>
      </p:sp>
      <p:sp>
        <p:nvSpPr>
          <p:cNvPr id="11" name="number-badge"/>
          <p:cNvSpPr/>
          <p:nvPr/>
        </p:nvSpPr>
        <p:spPr>
          <a:xfrm>
            <a:off x="11183112" y="30175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183112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297180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على أيّ مجالات يقع المنحنى فوق محور الفواصل؟ ما إشارة ‪f(x)‬ عندها؟</a:t>
            </a:r>
            <a:endParaRPr lang="ar-LB" sz="1500" dirty="0"/>
          </a:p>
        </p:txBody>
      </p:sp>
      <p:sp>
        <p:nvSpPr>
          <p:cNvPr id="14" name="number-badge"/>
          <p:cNvSpPr/>
          <p:nvPr/>
        </p:nvSpPr>
        <p:spPr>
          <a:xfrm>
            <a:off x="11183112" y="40690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183112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402336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على أيّ مجال يقع المنحنى تحت محور الفواصل؟ ما إشارة ‪f(x)‬ عندها؟</a:t>
            </a:r>
            <a:endParaRPr lang="ar-LB" sz="1500" dirty="0"/>
          </a:p>
        </p:txBody>
      </p:sp>
      <p:sp>
        <p:nvSpPr>
          <p:cNvPr id="17" name="number-badge"/>
          <p:cNvSpPr/>
          <p:nvPr/>
        </p:nvSpPr>
        <p:spPr>
          <a:xfrm>
            <a:off x="11183112" y="51206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1183112" y="5120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675120" y="507492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استنتج قيم x التي تحقّق: ‪x² − x − 6 ≤ 0‬</a:t>
            </a:r>
            <a:endParaRPr lang="ar-LB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320040"/>
            <a:ext cx="7799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3200" b="1" dirty="0">
                <a:solidFill>
                  <a:schemeClr val="tx2"/>
                </a:solidFill>
              </a:rPr>
              <a:t>نشاط استكشافي (2): حالات المميّز</a:t>
            </a:r>
            <a:endParaRPr lang="ar-LB" sz="3200" dirty="0"/>
          </a:p>
        </p:txBody>
      </p:sp>
      <p:sp>
        <p:nvSpPr>
          <p:cNvPr id="3" name="phase-pill"/>
          <p:cNvSpPr/>
          <p:nvPr/>
        </p:nvSpPr>
        <p:spPr>
          <a:xfrm>
            <a:off x="548640" y="502920"/>
            <a:ext cx="292608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phase-text"/>
          <p:cNvSpPr txBox="1"/>
          <p:nvPr/>
        </p:nvSpPr>
        <p:spPr>
          <a:xfrm>
            <a:off x="548640" y="502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bg1"/>
                </a:solidFill>
              </a:rPr>
              <a:t>استكشاف · عمل ثنائي</a:t>
            </a:r>
            <a:endParaRPr lang="ar-LB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700" dirty="0">
                <a:solidFill>
                  <a:schemeClr val="tx1"/>
                </a:solidFill>
              </a:rPr>
              <a:t>لكل دالة: احسب Δ، حدّد عدد نقاط التقاطع مع محور الفواصل، ثم صِف إشارة ‪f(x)‬.</a:t>
            </a:r>
            <a:endParaRPr lang="ar-LB" sz="1700" dirty="0"/>
          </a:p>
        </p:txBody>
      </p:sp>
      <p:sp>
        <p:nvSpPr>
          <p:cNvPr id="6" name="card"/>
          <p:cNvSpPr/>
          <p:nvPr/>
        </p:nvSpPr>
        <p:spPr>
          <a:xfrm>
            <a:off x="8138160" y="1828800"/>
            <a:ext cx="3502152" cy="4434840"/>
          </a:xfrm>
          <a:prstGeom prst="roundRect">
            <a:avLst>
              <a:gd name="adj" fmla="val 31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8229600" y="1874520"/>
          <a:ext cx="331927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366760" y="4709160"/>
            <a:ext cx="3044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500" b="1" dirty="0">
                <a:solidFill>
                  <a:schemeClr val="tx1"/>
                </a:solidFill>
              </a:rPr>
              <a:t>‪Δ = ……‬</a:t>
            </a:r>
            <a:endParaRPr lang="ar-LB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5184648"/>
            <a:ext cx="3044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عدد نقاط التقاطع: ……</a:t>
            </a:r>
            <a:endParaRPr lang="ar-LB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5660136"/>
            <a:ext cx="3044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إشارة ‪f(x)‬: ……………</a:t>
            </a:r>
            <a:endParaRPr lang="ar-LB" sz="1500" dirty="0"/>
          </a:p>
        </p:txBody>
      </p:sp>
      <p:sp>
        <p:nvSpPr>
          <p:cNvPr id="11" name="card"/>
          <p:cNvSpPr/>
          <p:nvPr/>
        </p:nvSpPr>
        <p:spPr>
          <a:xfrm>
            <a:off x="4343400" y="1828800"/>
            <a:ext cx="3502152" cy="4434840"/>
          </a:xfrm>
          <a:prstGeom prst="roundRect">
            <a:avLst>
              <a:gd name="adj" fmla="val 31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graphicFrame>
        <p:nvGraphicFramePr>
          <p:cNvPr id="12" name="Chart 1" descr=""/>
          <p:cNvGraphicFramePr/>
          <p:nvPr/>
        </p:nvGraphicFramePr>
        <p:xfrm>
          <a:off x="4434840" y="1874520"/>
          <a:ext cx="331927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4572000" y="4709160"/>
            <a:ext cx="3044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500" b="1" dirty="0">
                <a:solidFill>
                  <a:schemeClr val="tx1"/>
                </a:solidFill>
              </a:rPr>
              <a:t>‪Δ = ……‬</a:t>
            </a:r>
            <a:endParaRPr lang="ar-LB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5184648"/>
            <a:ext cx="3044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عدد نقاط التقاطع: ……</a:t>
            </a:r>
            <a:endParaRPr lang="ar-LB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5660136"/>
            <a:ext cx="3044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إشارة ‪f(x)‬: ……………</a:t>
            </a:r>
            <a:endParaRPr lang="ar-LB" sz="1500" dirty="0"/>
          </a:p>
        </p:txBody>
      </p:sp>
      <p:sp>
        <p:nvSpPr>
          <p:cNvPr id="16" name="card"/>
          <p:cNvSpPr/>
          <p:nvPr/>
        </p:nvSpPr>
        <p:spPr>
          <a:xfrm>
            <a:off x="548640" y="1828800"/>
            <a:ext cx="3502152" cy="4434840"/>
          </a:xfrm>
          <a:prstGeom prst="roundRect">
            <a:avLst>
              <a:gd name="adj" fmla="val 31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graphicFrame>
        <p:nvGraphicFramePr>
          <p:cNvPr id="17" name="Chart 2" descr=""/>
          <p:cNvGraphicFramePr/>
          <p:nvPr/>
        </p:nvGraphicFramePr>
        <p:xfrm>
          <a:off x="640080" y="1874520"/>
          <a:ext cx="331927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777240" y="4709160"/>
            <a:ext cx="3044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500" b="1" dirty="0">
                <a:solidFill>
                  <a:schemeClr val="tx1"/>
                </a:solidFill>
              </a:rPr>
              <a:t>‪Δ = ……‬</a:t>
            </a:r>
            <a:endParaRPr lang="ar-LB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5184648"/>
            <a:ext cx="3044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عدد نقاط التقاطع: ……</a:t>
            </a:r>
            <a:endParaRPr lang="ar-LB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5660136"/>
            <a:ext cx="3044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إشارة ‪f(x)‬: ……………</a:t>
            </a:r>
            <a:endParaRPr lang="ar-LB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320040"/>
            <a:ext cx="7799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3200" b="1" dirty="0">
                <a:solidFill>
                  <a:schemeClr val="tx2"/>
                </a:solidFill>
              </a:rPr>
              <a:t>القاعدة: إشارة ‪ax² + bx + c‬</a:t>
            </a:r>
            <a:endParaRPr lang="ar-LB" sz="3200" dirty="0"/>
          </a:p>
        </p:txBody>
      </p:sp>
      <p:sp>
        <p:nvSpPr>
          <p:cNvPr id="3" name="phase-pill"/>
          <p:cNvSpPr/>
          <p:nvPr/>
        </p:nvSpPr>
        <p:spPr>
          <a:xfrm>
            <a:off x="548640" y="502920"/>
            <a:ext cx="2926080" cy="4389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phase-text"/>
          <p:cNvSpPr txBox="1"/>
          <p:nvPr/>
        </p:nvSpPr>
        <p:spPr>
          <a:xfrm>
            <a:off x="548640" y="502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bg1"/>
                </a:solidFill>
              </a:rPr>
              <a:t>استنتاج · نعمّم</a:t>
            </a:r>
            <a:endParaRPr lang="ar-LB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325880"/>
            <a:ext cx="110916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6" name="case-badge"/>
          <p:cNvSpPr/>
          <p:nvPr/>
        </p:nvSpPr>
        <p:spPr>
          <a:xfrm>
            <a:off x="9464040" y="1508760"/>
            <a:ext cx="196596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15087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Δ &gt; 0</a:t>
            </a:r>
            <a:endParaRPr lang="en-US" sz="2400" dirty="0"/>
          </a:p>
          <a:p>
            <a:pPr rtl="1"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جذران x₁ &lt; x₂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1673352"/>
          <a:ext cx="9144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02920"/>
                <a:gridCol w="868680"/>
                <a:gridCol w="457200"/>
                <a:gridCol w="868680"/>
                <a:gridCol w="457200"/>
                <a:gridCol w="868680"/>
                <a:gridCol w="502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−∞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x₁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x₂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+∞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P(x)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مثل a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عكس a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مثل a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77240" y="1508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600" b="1" dirty="0">
                <a:solidFill>
                  <a:schemeClr val="tx1"/>
                </a:solidFill>
              </a:rPr>
              <a:t>إشارة a خارج الجذرين، وعكس إشارة a بينهما</a:t>
            </a:r>
            <a:endParaRPr lang="ar-LB" sz="1600" dirty="0"/>
          </a:p>
        </p:txBody>
      </p:sp>
      <p:sp>
        <p:nvSpPr>
          <p:cNvPr id="10" name="card"/>
          <p:cNvSpPr/>
          <p:nvPr/>
        </p:nvSpPr>
        <p:spPr>
          <a:xfrm>
            <a:off x="548640" y="2971800"/>
            <a:ext cx="110916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11" name="case-badge"/>
          <p:cNvSpPr/>
          <p:nvPr/>
        </p:nvSpPr>
        <p:spPr>
          <a:xfrm>
            <a:off x="9464040" y="3154680"/>
            <a:ext cx="1965960" cy="109728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464040" y="31546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Δ = 0</a:t>
            </a:r>
            <a:endParaRPr lang="en-US" sz="2400" dirty="0"/>
          </a:p>
          <a:p>
            <a:pPr rtl="1"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جذر مضاعف x₀</a:t>
            </a:r>
            <a:endParaRPr lang="en-US" sz="2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37660" y="3319272"/>
          <a:ext cx="9144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48640"/>
                <a:gridCol w="1280160"/>
                <a:gridCol w="548640"/>
                <a:gridCol w="1280160"/>
                <a:gridCol w="5486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−∞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x₀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+∞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P(x)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مثل a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مثل a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777240" y="31546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600" b="1" dirty="0">
                <a:solidFill>
                  <a:schemeClr val="tx1"/>
                </a:solidFill>
              </a:rPr>
              <a:t>إشارة a لكل ‪x ≠ x₀‬ ، وتنعدم عند ‪x₀‬</a:t>
            </a:r>
            <a:endParaRPr lang="ar-LB" sz="1600" dirty="0"/>
          </a:p>
        </p:txBody>
      </p:sp>
      <p:sp>
        <p:nvSpPr>
          <p:cNvPr id="15" name="card"/>
          <p:cNvSpPr/>
          <p:nvPr/>
        </p:nvSpPr>
        <p:spPr>
          <a:xfrm>
            <a:off x="548640" y="4617720"/>
            <a:ext cx="110916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16" name="case-badge"/>
          <p:cNvSpPr/>
          <p:nvPr/>
        </p:nvSpPr>
        <p:spPr>
          <a:xfrm>
            <a:off x="9464040" y="4800600"/>
            <a:ext cx="1965960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9464040" y="480060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Δ &lt; 0</a:t>
            </a:r>
            <a:endParaRPr lang="en-US" sz="2400" dirty="0"/>
          </a:p>
          <a:p>
            <a:pPr rtl="1"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لا جذور</a:t>
            </a:r>
            <a:endParaRPr lang="en-US" sz="24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91940" y="4965192"/>
          <a:ext cx="9144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22960"/>
                <a:gridCol w="265176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−∞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+∞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P(x)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مثل a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9" name="Text 14"/>
          <p:cNvSpPr txBox="1"/>
          <p:nvPr/>
        </p:nvSpPr>
        <p:spPr>
          <a:xfrm>
            <a:off x="777240" y="48006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600" b="1" dirty="0">
                <a:solidFill>
                  <a:schemeClr val="tx1"/>
                </a:solidFill>
              </a:rPr>
              <a:t>إشارة a دائمًا لكل x من ℝ</a:t>
            </a:r>
            <a:endParaRPr lang="ar-LB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320040"/>
            <a:ext cx="7799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3200" b="1" dirty="0">
                <a:solidFill>
                  <a:schemeClr val="tx2"/>
                </a:solidFill>
              </a:rPr>
              <a:t>كيف نحلّ متراجحة من الدرجة الثانية؟</a:t>
            </a:r>
            <a:endParaRPr lang="ar-LB" sz="3200" dirty="0"/>
          </a:p>
        </p:txBody>
      </p:sp>
      <p:sp>
        <p:nvSpPr>
          <p:cNvPr id="3" name="phase-pill"/>
          <p:cNvSpPr/>
          <p:nvPr/>
        </p:nvSpPr>
        <p:spPr>
          <a:xfrm>
            <a:off x="548640" y="502920"/>
            <a:ext cx="2926080" cy="4389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phase-text"/>
          <p:cNvSpPr txBox="1"/>
          <p:nvPr/>
        </p:nvSpPr>
        <p:spPr>
          <a:xfrm>
            <a:off x="548640" y="502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bg1"/>
                </a:solidFill>
              </a:rPr>
              <a:t>طريقة الحل · 4 خطوات</a:t>
            </a:r>
            <a:endParaRPr lang="ar-LB" sz="1400" dirty="0"/>
          </a:p>
        </p:txBody>
      </p:sp>
      <p:sp>
        <p:nvSpPr>
          <p:cNvPr id="5" name="card"/>
          <p:cNvSpPr/>
          <p:nvPr/>
        </p:nvSpPr>
        <p:spPr>
          <a:xfrm>
            <a:off x="9043416" y="1417320"/>
            <a:ext cx="2596896" cy="4297680"/>
          </a:xfrm>
          <a:prstGeom prst="roundRect">
            <a:avLst>
              <a:gd name="adj" fmla="val 422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9930384" y="16459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7894" y="1843430"/>
            <a:ext cx="427939" cy="427939"/>
          </a:xfrm>
          <a:prstGeom prst="rect">
            <a:avLst/>
          </a:prstGeom>
        </p:spPr>
      </p:pic>
      <p:sp>
        <p:nvSpPr>
          <p:cNvPr id="8" name="number-badge"/>
          <p:cNvSpPr/>
          <p:nvPr/>
        </p:nvSpPr>
        <p:spPr>
          <a:xfrm>
            <a:off x="11091672" y="15544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91672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80576" y="260604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نرتّب المتراجحة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9226296" y="3154680"/>
            <a:ext cx="223113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ننقل جميع الحدود إلى طرف واحد لنحصل على الشكل:</a:t>
            </a:r>
            <a:endParaRPr lang="ar-LB" sz="1500" dirty="0"/>
          </a:p>
        </p:txBody>
      </p:sp>
      <p:sp>
        <p:nvSpPr>
          <p:cNvPr id="12" name="expr-box"/>
          <p:cNvSpPr/>
          <p:nvPr/>
        </p:nvSpPr>
        <p:spPr>
          <a:xfrm>
            <a:off x="9180576" y="4434840"/>
            <a:ext cx="2322576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B8CBC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80576" y="4434840"/>
            <a:ext cx="232257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ax² + bx + c ≥ 0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(أو ≤ ، &gt; ، &lt;)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6217920" y="1417320"/>
            <a:ext cx="2596896" cy="4297680"/>
          </a:xfrm>
          <a:prstGeom prst="roundRect">
            <a:avLst>
              <a:gd name="adj" fmla="val 422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15" name="icon-circle"/>
          <p:cNvSpPr/>
          <p:nvPr/>
        </p:nvSpPr>
        <p:spPr>
          <a:xfrm>
            <a:off x="7104888" y="16459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398" y="1843430"/>
            <a:ext cx="427939" cy="427939"/>
          </a:xfrm>
          <a:prstGeom prst="rect">
            <a:avLst/>
          </a:prstGeom>
        </p:spPr>
      </p:pic>
      <p:sp>
        <p:nvSpPr>
          <p:cNvPr id="17" name="number-badge"/>
          <p:cNvSpPr/>
          <p:nvPr/>
        </p:nvSpPr>
        <p:spPr>
          <a:xfrm>
            <a:off x="8266176" y="15544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266176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6355080" y="260604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نحسب المميّز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6400800" y="3154680"/>
            <a:ext cx="223113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نحسب Δ ثم الجذور إن وُجدت:</a:t>
            </a:r>
            <a:endParaRPr lang="ar-LB" sz="1500" dirty="0"/>
          </a:p>
        </p:txBody>
      </p:sp>
      <p:sp>
        <p:nvSpPr>
          <p:cNvPr id="21" name="expr-box"/>
          <p:cNvSpPr/>
          <p:nvPr/>
        </p:nvSpPr>
        <p:spPr>
          <a:xfrm>
            <a:off x="6355080" y="4434840"/>
            <a:ext cx="2322576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B8CBC9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355080" y="4434840"/>
            <a:ext cx="232257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Δ = b² − 4ac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x = (−b ± √Δ) / 2a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3392424" y="1417320"/>
            <a:ext cx="2596896" cy="4297680"/>
          </a:xfrm>
          <a:prstGeom prst="roundRect">
            <a:avLst>
              <a:gd name="adj" fmla="val 422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24" name="icon-circle"/>
          <p:cNvSpPr/>
          <p:nvPr/>
        </p:nvSpPr>
        <p:spPr>
          <a:xfrm>
            <a:off x="4279392" y="16459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902" y="1843430"/>
            <a:ext cx="427939" cy="427939"/>
          </a:xfrm>
          <a:prstGeom prst="rect">
            <a:avLst/>
          </a:prstGeom>
        </p:spPr>
      </p:pic>
      <p:sp>
        <p:nvSpPr>
          <p:cNvPr id="26" name="number-badge"/>
          <p:cNvSpPr/>
          <p:nvPr/>
        </p:nvSpPr>
        <p:spPr>
          <a:xfrm>
            <a:off x="5440680" y="15544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54406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3529584" y="260604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ننشئ جدول الإشارة</a:t>
            </a:r>
            <a:endParaRPr lang="en-US" sz="1900" dirty="0"/>
          </a:p>
        </p:txBody>
      </p:sp>
      <p:sp>
        <p:nvSpPr>
          <p:cNvPr id="29" name="Text 24"/>
          <p:cNvSpPr txBox="1"/>
          <p:nvPr/>
        </p:nvSpPr>
        <p:spPr>
          <a:xfrm>
            <a:off x="3575304" y="3154680"/>
            <a:ext cx="223113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نطبّق القاعدة حسب إشارة Δ وإشارة a</a:t>
            </a:r>
            <a:endParaRPr lang="ar-LB" sz="1500" dirty="0"/>
          </a:p>
        </p:txBody>
      </p:sp>
      <p:sp>
        <p:nvSpPr>
          <p:cNvPr id="30" name="expr-box"/>
          <p:cNvSpPr/>
          <p:nvPr/>
        </p:nvSpPr>
        <p:spPr>
          <a:xfrm>
            <a:off x="3529584" y="4434840"/>
            <a:ext cx="2322576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B8CBC9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3529584" y="4434840"/>
            <a:ext cx="232257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Δ &gt; 0 ، Δ = 0 ، Δ &lt; 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+ / −</a:t>
            </a:r>
            <a:endParaRPr lang="en-US" sz="1500" dirty="0"/>
          </a:p>
        </p:txBody>
      </p:sp>
      <p:sp>
        <p:nvSpPr>
          <p:cNvPr id="32" name="card"/>
          <p:cNvSpPr/>
          <p:nvPr/>
        </p:nvSpPr>
        <p:spPr>
          <a:xfrm>
            <a:off x="566928" y="1417320"/>
            <a:ext cx="2596896" cy="4297680"/>
          </a:xfrm>
          <a:prstGeom prst="roundRect">
            <a:avLst>
              <a:gd name="adj" fmla="val 422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33" name="icon-circle"/>
          <p:cNvSpPr/>
          <p:nvPr/>
        </p:nvSpPr>
        <p:spPr>
          <a:xfrm>
            <a:off x="1453896" y="16459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4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406" y="1843430"/>
            <a:ext cx="427939" cy="427939"/>
          </a:xfrm>
          <a:prstGeom prst="rect">
            <a:avLst/>
          </a:prstGeom>
        </p:spPr>
      </p:pic>
      <p:sp>
        <p:nvSpPr>
          <p:cNvPr id="35" name="number-badge"/>
          <p:cNvSpPr/>
          <p:nvPr/>
        </p:nvSpPr>
        <p:spPr>
          <a:xfrm>
            <a:off x="2615184" y="15544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2615184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704088" y="260604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نكتب مجموعة الحلول</a:t>
            </a:r>
            <a:endParaRPr lang="en-US" sz="1900" dirty="0"/>
          </a:p>
        </p:txBody>
      </p:sp>
      <p:sp>
        <p:nvSpPr>
          <p:cNvPr id="38" name="Text 32"/>
          <p:cNvSpPr txBox="1"/>
          <p:nvPr/>
        </p:nvSpPr>
        <p:spPr>
          <a:xfrm>
            <a:off x="749808" y="3154680"/>
            <a:ext cx="223113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نختار المجالات التي تحقّق رمز المتراجحة</a:t>
            </a:r>
            <a:endParaRPr lang="ar-LB" sz="1500" dirty="0"/>
          </a:p>
        </p:txBody>
      </p:sp>
      <p:sp>
        <p:nvSpPr>
          <p:cNvPr id="39" name="expr-box"/>
          <p:cNvSpPr/>
          <p:nvPr/>
        </p:nvSpPr>
        <p:spPr>
          <a:xfrm>
            <a:off x="704088" y="4434840"/>
            <a:ext cx="2322576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B8CBC9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704088" y="4434840"/>
            <a:ext cx="232257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≤ , ≥  →  [ 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&lt; , &gt;  →  ] [</a:t>
            </a:r>
            <a:endParaRPr lang="en-US" sz="1500" dirty="0"/>
          </a:p>
        </p:txBody>
      </p:sp>
      <p:sp>
        <p:nvSpPr>
          <p:cNvPr id="41" name="key-tip"/>
          <p:cNvSpPr/>
          <p:nvPr/>
        </p:nvSpPr>
        <p:spPr>
          <a:xfrm>
            <a:off x="548640" y="5897880"/>
            <a:ext cx="11091672" cy="54864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600" b="1" dirty="0">
                <a:solidFill>
                  <a:schemeClr val="bg1"/>
                </a:solidFill>
              </a:rPr>
              <a:t>تذكّر: في المتراجحة نبحث عن مجموعة من القيم (مجال أو اتحاد مجالات)، وليس عن قيمة واحدة.</a:t>
            </a:r>
            <a:endParaRPr lang="ar-LB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320040"/>
            <a:ext cx="7799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3200" b="1" dirty="0">
                <a:solidFill>
                  <a:schemeClr val="tx2"/>
                </a:solidFill>
              </a:rPr>
              <a:t>مثال محلول (1): حالة ‪Δ &gt; 0‬</a:t>
            </a:r>
            <a:endParaRPr lang="ar-LB" sz="3200" dirty="0"/>
          </a:p>
        </p:txBody>
      </p:sp>
      <p:sp>
        <p:nvSpPr>
          <p:cNvPr id="3" name="phase-pill"/>
          <p:cNvSpPr/>
          <p:nvPr/>
        </p:nvSpPr>
        <p:spPr>
          <a:xfrm>
            <a:off x="548640" y="502920"/>
            <a:ext cx="292608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phase-text"/>
          <p:cNvSpPr txBox="1"/>
          <p:nvPr/>
        </p:nvSpPr>
        <p:spPr>
          <a:xfrm>
            <a:off x="548640" y="502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bg1"/>
                </a:solidFill>
              </a:rPr>
              <a:t>أمثلة محلولة</a:t>
            </a:r>
            <a:endParaRPr lang="ar-LB" sz="1400" dirty="0"/>
          </a:p>
        </p:txBody>
      </p:sp>
      <p:sp>
        <p:nvSpPr>
          <p:cNvPr id="5" name="problem"/>
          <p:cNvSpPr/>
          <p:nvPr/>
        </p:nvSpPr>
        <p:spPr>
          <a:xfrm>
            <a:off x="6492240" y="1280160"/>
            <a:ext cx="5148072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92240" y="1280160"/>
            <a:ext cx="5148072" cy="685800"/>
          </a:xfrm>
          <a:prstGeom prst="rect">
            <a:avLst/>
          </a:prstGeom>
          <a:noFill/>
          <a:ln/>
        </p:spPr>
        <p:txBody>
          <a:bodyPr wrap="square" lIns="0" tIns="228600" rIns="22860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حلّ في ℝ المتراجحة:   </a:t>
            </a:r>
            <a:pPr algn="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‪x² − x − 6 ≤ 0‬</a:t>
            </a:r>
            <a:endParaRPr lang="en-US" sz="2200" dirty="0"/>
          </a:p>
        </p:txBody>
      </p:sp>
      <p:sp>
        <p:nvSpPr>
          <p:cNvPr id="7" name="number-badge"/>
          <p:cNvSpPr/>
          <p:nvPr/>
        </p:nvSpPr>
        <p:spPr>
          <a:xfrm>
            <a:off x="11228832" y="21945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228832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215798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700" b="1" dirty="0">
                <a:solidFill>
                  <a:schemeClr val="tx1"/>
                </a:solidFill>
              </a:rPr>
              <a:t>المعاملات:</a:t>
            </a:r>
            <a:endParaRPr lang="ar-LB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6060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a = 1 &gt; 0 ،  b = −1 ،  c = −6</a:t>
            </a:r>
            <a:endParaRPr lang="en-US" sz="1700" dirty="0"/>
          </a:p>
        </p:txBody>
      </p:sp>
      <p:sp>
        <p:nvSpPr>
          <p:cNvPr id="11" name="number-badge"/>
          <p:cNvSpPr/>
          <p:nvPr/>
        </p:nvSpPr>
        <p:spPr>
          <a:xfrm>
            <a:off x="11228832" y="318211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228832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0" y="314553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700" b="1" dirty="0">
                <a:solidFill>
                  <a:schemeClr val="tx1"/>
                </a:solidFill>
              </a:rPr>
              <a:t>المميّز:</a:t>
            </a:r>
            <a:endParaRPr lang="ar-LB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59359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Δ = (−1)² − 4(1)(−6) = 1 + 24 = 25 &gt; 0</a:t>
            </a:r>
            <a:endParaRPr lang="en-US" sz="1700" dirty="0"/>
          </a:p>
        </p:txBody>
      </p:sp>
      <p:sp>
        <p:nvSpPr>
          <p:cNvPr id="15" name="number-badge"/>
          <p:cNvSpPr/>
          <p:nvPr/>
        </p:nvSpPr>
        <p:spPr>
          <a:xfrm>
            <a:off x="11228832" y="41696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228832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413308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700" b="1" dirty="0">
                <a:solidFill>
                  <a:schemeClr val="tx1"/>
                </a:solidFill>
              </a:rPr>
              <a:t>الجذران:</a:t>
            </a:r>
            <a:endParaRPr lang="ar-LB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458114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x₁ = (1 − 5)/2 = −2  ،  x₂ = (1 + 5)/2 = 3</a:t>
            </a:r>
            <a:endParaRPr lang="en-US" sz="1700" dirty="0"/>
          </a:p>
        </p:txBody>
      </p:sp>
      <p:sp>
        <p:nvSpPr>
          <p:cNvPr id="19" name="number-badge"/>
          <p:cNvSpPr/>
          <p:nvPr/>
        </p:nvSpPr>
        <p:spPr>
          <a:xfrm>
            <a:off x="11228832" y="515721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228832" y="5157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5120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700" b="1" dirty="0">
                <a:solidFill>
                  <a:schemeClr val="tx1"/>
                </a:solidFill>
              </a:rPr>
              <a:t>الإشارة:</a:t>
            </a:r>
            <a:endParaRPr lang="ar-LB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5568696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chemeClr val="tx1"/>
                </a:solidFill>
              </a:rPr>
              <a:t>بما أنّ ‪a &gt; 0‬ فإنّ ‪P(x)‬ سالبة بين الجذرين فقط</a:t>
            </a:r>
            <a:endParaRPr lang="ar-LB" sz="1600" dirty="0"/>
          </a:p>
        </p:txBody>
      </p:sp>
      <p:sp>
        <p:nvSpPr>
          <p:cNvPr id="23" name="card"/>
          <p:cNvSpPr/>
          <p:nvPr/>
        </p:nvSpPr>
        <p:spPr>
          <a:xfrm>
            <a:off x="548640" y="1280160"/>
            <a:ext cx="5394960" cy="4892040"/>
          </a:xfrm>
          <a:prstGeom prst="roundRect">
            <a:avLst>
              <a:gd name="adj" fmla="val 22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31520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chemeClr val="tx2"/>
                </a:solidFill>
              </a:rPr>
              <a:t>جدول الإشارة</a:t>
            </a:r>
            <a:endParaRPr lang="ar-LB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11680"/>
          <a:ext cx="9144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57200"/>
                <a:gridCol w="640080"/>
                <a:gridCol w="457200"/>
                <a:gridCol w="640080"/>
                <a:gridCol w="457200"/>
                <a:gridCol w="640080"/>
                <a:gridCol w="457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−∞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−2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+∞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x² − x − 6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+</a:t>
                      </a:r>
                      <a:endParaRPr lang="en-US" sz="2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−</a:t>
                      </a:r>
                      <a:endParaRPr lang="en-US" sz="2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+</a:t>
                      </a:r>
                      <a:endParaRPr lang="en-US" sz="2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777240" y="3108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نختار المجال حيث ‪P(x) ≤ 0‬ ، والجذران داخلان لأنّ الرمز ‪≤‬</a:t>
            </a:r>
            <a:endParaRPr lang="ar-LB" sz="1500" dirty="0"/>
          </a:p>
        </p:txBody>
      </p:sp>
      <p:sp>
        <p:nvSpPr>
          <p:cNvPr id="27" name="solution"/>
          <p:cNvSpPr/>
          <p:nvPr/>
        </p:nvSpPr>
        <p:spPr>
          <a:xfrm>
            <a:off x="1005840" y="4114800"/>
            <a:ext cx="4480560" cy="1005840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005840" y="411480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 = [ −2 ; 3 ]</a:t>
            </a:r>
            <a:endParaRPr lang="en-US" sz="32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5257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400" i="1" dirty="0">
                <a:solidFill>
                  <a:schemeClr val="accent6"/>
                </a:solidFill>
              </a:rPr>
              <a:t>ولو كانت المتراجحة ‪x² − x − 6 &gt; 0‬ لكان:</a:t>
            </a:r>
            <a:endParaRPr lang="ar-LB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5669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S = ]−∞ ; −2[ ∪ ]3 ; +∞[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320040"/>
            <a:ext cx="7799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3200" b="1" dirty="0">
                <a:solidFill>
                  <a:schemeClr val="tx2"/>
                </a:solidFill>
              </a:rPr>
              <a:t>مثالان محلولان: حالتا ‪Δ &lt; 0‬ و ‪Δ = 0‬</a:t>
            </a:r>
            <a:endParaRPr lang="ar-LB" sz="3200" dirty="0"/>
          </a:p>
        </p:txBody>
      </p:sp>
      <p:sp>
        <p:nvSpPr>
          <p:cNvPr id="3" name="phase-pill"/>
          <p:cNvSpPr/>
          <p:nvPr/>
        </p:nvSpPr>
        <p:spPr>
          <a:xfrm>
            <a:off x="548640" y="502920"/>
            <a:ext cx="292608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phase-text"/>
          <p:cNvSpPr txBox="1"/>
          <p:nvPr/>
        </p:nvSpPr>
        <p:spPr>
          <a:xfrm>
            <a:off x="548640" y="502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bg1"/>
                </a:solidFill>
              </a:rPr>
              <a:t>أمثلة محلولة</a:t>
            </a:r>
            <a:endParaRPr lang="ar-LB" sz="1400" dirty="0"/>
          </a:p>
        </p:txBody>
      </p:sp>
      <p:sp>
        <p:nvSpPr>
          <p:cNvPr id="5" name="card"/>
          <p:cNvSpPr/>
          <p:nvPr/>
        </p:nvSpPr>
        <p:spPr>
          <a:xfrm>
            <a:off x="6245352" y="1325880"/>
            <a:ext cx="539496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6" name="problem"/>
          <p:cNvSpPr/>
          <p:nvPr/>
        </p:nvSpPr>
        <p:spPr>
          <a:xfrm>
            <a:off x="6473952" y="1508760"/>
            <a:ext cx="4937760" cy="73152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73952" y="15087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203200" rIns="20320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مثال (2):   </a:t>
            </a:r>
            <a:pPr algn="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‪−2x² + 3x − 5 &lt; 0‬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19672" y="24688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 = −2 &lt; 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3017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Δ = 9 − 40 = −31 &lt; 0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36118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600" b="1" dirty="0">
                <a:solidFill>
                  <a:schemeClr val="tx1"/>
                </a:solidFill>
              </a:rPr>
              <a:t>لا جذور، فالعبارة تأخذ إشارة a دائمًا: سالبة لكل x</a:t>
            </a:r>
            <a:endParaRPr lang="ar-LB" sz="1600" dirty="0"/>
          </a:p>
        </p:txBody>
      </p:sp>
      <p:sp>
        <p:nvSpPr>
          <p:cNvPr id="11" name="solution"/>
          <p:cNvSpPr/>
          <p:nvPr/>
        </p:nvSpPr>
        <p:spPr>
          <a:xfrm>
            <a:off x="7159752" y="4434840"/>
            <a:ext cx="3566160" cy="868680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59752" y="44348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 = ℝ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54864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LB" altLang="en-US" sz="1400" i="1" dirty="0">
                <a:solidFill>
                  <a:schemeClr val="accent6"/>
                </a:solidFill>
              </a:rPr>
              <a:t>ولو كانت ‪−2x² + 3x − 5 &gt; 0‬ لكان ‪S = ∅‬</a:t>
            </a:r>
            <a:endParaRPr lang="ar-LB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1325880"/>
            <a:ext cx="539496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15" name="problem"/>
          <p:cNvSpPr/>
          <p:nvPr/>
        </p:nvSpPr>
        <p:spPr>
          <a:xfrm>
            <a:off x="777240" y="1508760"/>
            <a:ext cx="493776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15087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203200" rIns="20320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مثال (3):   </a:t>
            </a:r>
            <a:pPr algn="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‪x² − 6x + 9 &gt; 0‬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24688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 = 1 &gt; 0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017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Δ = 36 − 36 = 0  ،  x₀ = 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6118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600" b="1" dirty="0">
                <a:solidFill>
                  <a:schemeClr val="tx1"/>
                </a:solidFill>
              </a:rPr>
              <a:t>موجبة لكل ‪x ≠ 3‬ ، وتنعدم عند ‪x = 3‬</a:t>
            </a:r>
            <a:endParaRPr lang="ar-LB" sz="1600" dirty="0"/>
          </a:p>
        </p:txBody>
      </p:sp>
      <p:sp>
        <p:nvSpPr>
          <p:cNvPr id="20" name="solution"/>
          <p:cNvSpPr/>
          <p:nvPr/>
        </p:nvSpPr>
        <p:spPr>
          <a:xfrm>
            <a:off x="1463040" y="4434840"/>
            <a:ext cx="3566160" cy="868680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463040" y="44348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 = ℝ − {3}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4864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LB" altLang="en-US" sz="1400" i="1" dirty="0">
                <a:solidFill>
                  <a:schemeClr val="accent6"/>
                </a:solidFill>
              </a:rPr>
              <a:t>ولو كانت ‪x² − 6x + 9 &lt; 0‬ لكان ‪S = ∅‬</a:t>
            </a:r>
            <a:endParaRPr lang="ar-LB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320040"/>
            <a:ext cx="7799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3200" b="1" dirty="0">
                <a:solidFill>
                  <a:schemeClr val="tx2"/>
                </a:solidFill>
              </a:rPr>
              <a:t>أخطاء شائعة نتجنّبها</a:t>
            </a:r>
            <a:endParaRPr lang="ar-LB" sz="3200" dirty="0"/>
          </a:p>
        </p:txBody>
      </p:sp>
      <p:sp>
        <p:nvSpPr>
          <p:cNvPr id="3" name="phase-pill"/>
          <p:cNvSpPr/>
          <p:nvPr/>
        </p:nvSpPr>
        <p:spPr>
          <a:xfrm>
            <a:off x="548640" y="502920"/>
            <a:ext cx="2926080" cy="4389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phase-text"/>
          <p:cNvSpPr txBox="1"/>
          <p:nvPr/>
        </p:nvSpPr>
        <p:spPr>
          <a:xfrm>
            <a:off x="548640" y="502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bg1"/>
                </a:solidFill>
              </a:rPr>
              <a:t>انتبه!</a:t>
            </a:r>
            <a:endParaRPr lang="ar-LB" sz="1400" dirty="0"/>
          </a:p>
        </p:txBody>
      </p:sp>
      <p:sp>
        <p:nvSpPr>
          <p:cNvPr id="5" name="card"/>
          <p:cNvSpPr/>
          <p:nvPr/>
        </p:nvSpPr>
        <p:spPr>
          <a:xfrm>
            <a:off x="6245352" y="1325880"/>
            <a:ext cx="53949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10863072" y="15087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9135" y="1644823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73952" y="150876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900" b="1" dirty="0">
                <a:solidFill>
                  <a:schemeClr val="tx2"/>
                </a:solidFill>
              </a:rPr>
              <a:t>الحلّ قبل الترتيب</a:t>
            </a:r>
            <a:endParaRPr lang="ar-LB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473952" y="21488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لا نحسب Δ قبل نقل كل الحدود إلى طرف واحد.</a:t>
            </a:r>
            <a:endParaRPr lang="ar-LB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73952" y="29260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3x² ≤ 2x + 1  ⟺  3x² − 2x − 1 ≤ 0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548640" y="1325880"/>
            <a:ext cx="53949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12" name="icon-circle"/>
          <p:cNvSpPr/>
          <p:nvPr/>
        </p:nvSpPr>
        <p:spPr>
          <a:xfrm>
            <a:off x="5166360" y="15087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423" y="164482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77240" y="150876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900" b="1" dirty="0">
                <a:solidFill>
                  <a:schemeClr val="tx2"/>
                </a:solidFill>
              </a:rPr>
              <a:t>القسمة على x</a:t>
            </a:r>
            <a:endParaRPr lang="ar-LB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21488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x قد تكون سالبة فينقلب الرمز؛ لذلك لا نقسم على عبارة مجهولة الإشارة.</a:t>
            </a:r>
            <a:endParaRPr lang="ar-LB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29260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x² &gt; 3x  ⟺  x² − 3x &gt; 0  ⟺  x(x − 3) &gt; 0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6245352" y="3931920"/>
            <a:ext cx="53949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18" name="icon-circle"/>
          <p:cNvSpPr/>
          <p:nvPr/>
        </p:nvSpPr>
        <p:spPr>
          <a:xfrm>
            <a:off x="10863072" y="411480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9135" y="4250863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73952" y="411480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900" b="1" dirty="0">
                <a:solidFill>
                  <a:schemeClr val="tx2"/>
                </a:solidFill>
              </a:rPr>
              <a:t>الخلط بين الأقواس</a:t>
            </a:r>
            <a:endParaRPr lang="ar-LB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6473952" y="47548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الرمز الواسع يُدخل الجذور في الحل، والرمز التامّ يستثنيها. واللانهاية دائمًا مفتوحة.</a:t>
            </a:r>
            <a:endParaRPr lang="ar-LB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473952" y="55321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[ −2 ; 3 ]      ]−∞ ; −2[ ∪ ]3 ; +∞[</a:t>
            </a:r>
            <a:endParaRPr lang="en-US" sz="1600" dirty="0"/>
          </a:p>
        </p:txBody>
      </p:sp>
      <p:sp>
        <p:nvSpPr>
          <p:cNvPr id="23" name="card"/>
          <p:cNvSpPr/>
          <p:nvPr/>
        </p:nvSpPr>
        <p:spPr>
          <a:xfrm>
            <a:off x="548640" y="3931920"/>
            <a:ext cx="53949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24" name="icon-circle"/>
          <p:cNvSpPr/>
          <p:nvPr/>
        </p:nvSpPr>
        <p:spPr>
          <a:xfrm>
            <a:off x="5166360" y="411480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423" y="4250863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77240" y="411480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900" b="1" dirty="0">
                <a:solidFill>
                  <a:schemeClr val="tx2"/>
                </a:solidFill>
              </a:rPr>
              <a:t>هل ‪Δ &lt; 0‬ تعني انعدام الحل؟</a:t>
            </a:r>
            <a:endParaRPr lang="ar-LB" sz="1900" dirty="0"/>
          </a:p>
        </p:txBody>
      </p:sp>
      <p:sp>
        <p:nvSpPr>
          <p:cNvPr id="27" name="Text 21"/>
          <p:cNvSpPr txBox="1"/>
          <p:nvPr/>
        </p:nvSpPr>
        <p:spPr>
          <a:xfrm>
            <a:off x="777240" y="47548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ليس دائمًا! مجموعة الحلول إمّا ℝ وإمّا ∅ حسب إشارة a ورمز المتراجحة.</a:t>
            </a:r>
            <a:endParaRPr lang="ar-LB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777240" y="55321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x² + 1 &gt; 0  ⟹  S = 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320040"/>
            <a:ext cx="7799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3200" b="1" dirty="0">
                <a:solidFill>
                  <a:schemeClr val="tx2"/>
                </a:solidFill>
              </a:rPr>
              <a:t>عمل تطبيقي متعدّد المستويات</a:t>
            </a:r>
            <a:endParaRPr lang="ar-LB" sz="3200" dirty="0"/>
          </a:p>
        </p:txBody>
      </p:sp>
      <p:sp>
        <p:nvSpPr>
          <p:cNvPr id="3" name="phase-pill"/>
          <p:cNvSpPr/>
          <p:nvPr/>
        </p:nvSpPr>
        <p:spPr>
          <a:xfrm>
            <a:off x="548640" y="502920"/>
            <a:ext cx="2926080" cy="43891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" name="phase-text"/>
          <p:cNvSpPr txBox="1"/>
          <p:nvPr/>
        </p:nvSpPr>
        <p:spPr>
          <a:xfrm>
            <a:off x="548640" y="502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bg1"/>
                </a:solidFill>
              </a:rPr>
              <a:t>عمل تطبيقي · 20 دقيقة</a:t>
            </a:r>
            <a:endParaRPr lang="ar-LB" sz="1400" dirty="0"/>
          </a:p>
        </p:txBody>
      </p:sp>
      <p:sp>
        <p:nvSpPr>
          <p:cNvPr id="5" name="card"/>
          <p:cNvSpPr/>
          <p:nvPr/>
        </p:nvSpPr>
        <p:spPr>
          <a:xfrm>
            <a:off x="6035040" y="1325880"/>
            <a:ext cx="5605272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263640" y="1463040"/>
            <a:ext cx="5148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2000" b="1" dirty="0">
                <a:solidFill>
                  <a:schemeClr val="tx2"/>
                </a:solidFill>
              </a:rPr>
              <a:t>تنظيم العمل</a:t>
            </a:r>
            <a:endParaRPr lang="ar-LB" sz="2000" dirty="0"/>
          </a:p>
        </p:txBody>
      </p:sp>
      <p:sp>
        <p:nvSpPr>
          <p:cNvPr id="7" name="icon-circle"/>
          <p:cNvSpPr/>
          <p:nvPr/>
        </p:nvSpPr>
        <p:spPr>
          <a:xfrm>
            <a:off x="10881360" y="20574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3034" y="2189074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263640" y="1984248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مجموعات من 4 تلاميذ، تُشكَّل حسب نتائج النشاط التمهيدي</a:t>
            </a:r>
            <a:endParaRPr lang="ar-LB" sz="1500" dirty="0"/>
          </a:p>
        </p:txBody>
      </p:sp>
      <p:sp>
        <p:nvSpPr>
          <p:cNvPr id="10" name="icon-circle"/>
          <p:cNvSpPr/>
          <p:nvPr/>
        </p:nvSpPr>
        <p:spPr>
          <a:xfrm>
            <a:off x="10881360" y="28803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3034" y="30120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63640" y="2807208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الأدوار: قائد (الوقت) · كاتب · مدقّق · عارض</a:t>
            </a:r>
            <a:endParaRPr lang="ar-LB" sz="1500" dirty="0"/>
          </a:p>
        </p:txBody>
      </p:sp>
      <p:sp>
        <p:nvSpPr>
          <p:cNvPr id="13" name="icon-circle"/>
          <p:cNvSpPr/>
          <p:nvPr/>
        </p:nvSpPr>
        <p:spPr>
          <a:xfrm>
            <a:off x="10881360" y="37033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383499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63640" y="3630168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20 دقيقة عمل، ثم 10 دقائق عرض ومناقشة</a:t>
            </a:r>
            <a:endParaRPr lang="ar-LB" sz="1500" dirty="0"/>
          </a:p>
        </p:txBody>
      </p:sp>
      <p:sp>
        <p:nvSpPr>
          <p:cNvPr id="16" name="icon-circle"/>
          <p:cNvSpPr/>
          <p:nvPr/>
        </p:nvSpPr>
        <p:spPr>
          <a:xfrm>
            <a:off x="10881360" y="45262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034" y="465795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63640" y="4453128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المجموعة التي تنهي باكرًا تحلّ «التحدّي» أو تساعد مجموعة أخرى</a:t>
            </a:r>
            <a:endParaRPr lang="ar-LB" sz="1500" dirty="0"/>
          </a:p>
        </p:txBody>
      </p:sp>
      <p:sp>
        <p:nvSpPr>
          <p:cNvPr id="19" name="icon-circle"/>
          <p:cNvSpPr/>
          <p:nvPr/>
        </p:nvSpPr>
        <p:spPr>
          <a:xfrm>
            <a:off x="10881360" y="534924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3034" y="5480914"/>
            <a:ext cx="285293" cy="28529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263640" y="5276088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«بطاقة مساعدة» متوفّرة عند المعلّم لمن يحتاجها</a:t>
            </a:r>
            <a:endParaRPr lang="ar-LB" sz="1500" dirty="0"/>
          </a:p>
        </p:txBody>
      </p:sp>
      <p:sp>
        <p:nvSpPr>
          <p:cNvPr id="22" name="level-card"/>
          <p:cNvSpPr/>
          <p:nvPr/>
        </p:nvSpPr>
        <p:spPr>
          <a:xfrm>
            <a:off x="548640" y="1325880"/>
            <a:ext cx="5212080" cy="1481328"/>
          </a:xfrm>
          <a:prstGeom prst="roundRect">
            <a:avLst>
              <a:gd name="adj" fmla="val 7407"/>
            </a:avLst>
          </a:prstGeom>
          <a:solidFill>
            <a:schemeClr val="accent3"/>
          </a:solidFill>
          <a:ln/>
        </p:spPr>
      </p:sp>
      <p:sp>
        <p:nvSpPr>
          <p:cNvPr id="23" name="icon-circle"/>
          <p:cNvSpPr/>
          <p:nvPr/>
        </p:nvSpPr>
        <p:spPr>
          <a:xfrm>
            <a:off x="4800600" y="1554480"/>
            <a:ext cx="731520" cy="7315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6165" y="1730045"/>
            <a:ext cx="380390" cy="38039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77240" y="150876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900" b="1" dirty="0">
                <a:solidFill>
                  <a:schemeClr val="bg1"/>
                </a:solidFill>
              </a:rPr>
              <a:t>المستوى الأول · أساسي</a:t>
            </a:r>
            <a:endParaRPr lang="ar-LB" sz="1900" dirty="0"/>
          </a:p>
        </p:txBody>
      </p:sp>
      <p:sp>
        <p:nvSpPr>
          <p:cNvPr id="26" name="Text 18"/>
          <p:cNvSpPr txBox="1"/>
          <p:nvPr/>
        </p:nvSpPr>
        <p:spPr>
          <a:xfrm>
            <a:off x="777240" y="203911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bg1"/>
                </a:solidFill>
              </a:rPr>
              <a:t>تطبيق مباشر مع جدول إشارة جاهز وتلميحات</a:t>
            </a:r>
            <a:endParaRPr lang="ar-LB" sz="1500" dirty="0"/>
          </a:p>
        </p:txBody>
      </p:sp>
      <p:sp>
        <p:nvSpPr>
          <p:cNvPr id="27" name="level-card"/>
          <p:cNvSpPr/>
          <p:nvPr/>
        </p:nvSpPr>
        <p:spPr>
          <a:xfrm>
            <a:off x="548640" y="3026664"/>
            <a:ext cx="5212080" cy="1481328"/>
          </a:xfrm>
          <a:prstGeom prst="roundRect">
            <a:avLst>
              <a:gd name="adj" fmla="val 7407"/>
            </a:avLst>
          </a:prstGeom>
          <a:solidFill>
            <a:schemeClr val="accent4"/>
          </a:solidFill>
          <a:ln/>
        </p:spPr>
      </p:sp>
      <p:sp>
        <p:nvSpPr>
          <p:cNvPr id="28" name="icon-circle"/>
          <p:cNvSpPr/>
          <p:nvPr/>
        </p:nvSpPr>
        <p:spPr>
          <a:xfrm>
            <a:off x="4800600" y="3255264"/>
            <a:ext cx="731520" cy="7315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9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6165" y="3430829"/>
            <a:ext cx="380390" cy="38039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77240" y="320954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900" b="1" dirty="0">
                <a:solidFill>
                  <a:schemeClr val="bg1"/>
                </a:solidFill>
              </a:rPr>
              <a:t>المستوى الثاني · متوسط</a:t>
            </a:r>
            <a:endParaRPr lang="ar-LB" sz="1900" dirty="0"/>
          </a:p>
        </p:txBody>
      </p:sp>
      <p:sp>
        <p:nvSpPr>
          <p:cNvPr id="31" name="Text 22"/>
          <p:cNvSpPr txBox="1"/>
          <p:nvPr/>
        </p:nvSpPr>
        <p:spPr>
          <a:xfrm>
            <a:off x="777240" y="3739896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bg1"/>
                </a:solidFill>
              </a:rPr>
              <a:t>جميع حالات Δ وترتيب المتراجحة قبل الحل</a:t>
            </a:r>
            <a:endParaRPr lang="ar-LB" sz="1500" dirty="0"/>
          </a:p>
        </p:txBody>
      </p:sp>
      <p:sp>
        <p:nvSpPr>
          <p:cNvPr id="32" name="level-card"/>
          <p:cNvSpPr/>
          <p:nvPr/>
        </p:nvSpPr>
        <p:spPr>
          <a:xfrm>
            <a:off x="548640" y="4727448"/>
            <a:ext cx="5212080" cy="1481328"/>
          </a:xfrm>
          <a:prstGeom prst="roundRect">
            <a:avLst>
              <a:gd name="adj" fmla="val 7407"/>
            </a:avLst>
          </a:prstGeom>
          <a:solidFill>
            <a:schemeClr val="accent5"/>
          </a:solidFill>
          <a:ln/>
        </p:spPr>
      </p:sp>
      <p:sp>
        <p:nvSpPr>
          <p:cNvPr id="33" name="icon-circle"/>
          <p:cNvSpPr/>
          <p:nvPr/>
        </p:nvSpPr>
        <p:spPr>
          <a:xfrm>
            <a:off x="4800600" y="4956048"/>
            <a:ext cx="731520" cy="7315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4" name="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6165" y="5131613"/>
            <a:ext cx="380390" cy="38039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77240" y="49103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900" b="1" dirty="0">
                <a:solidFill>
                  <a:schemeClr val="bg1"/>
                </a:solidFill>
              </a:rPr>
              <a:t>المستوى الثالث · متقدّم</a:t>
            </a:r>
            <a:endParaRPr lang="ar-LB" sz="1900" dirty="0"/>
          </a:p>
        </p:txBody>
      </p:sp>
      <p:sp>
        <p:nvSpPr>
          <p:cNvPr id="36" name="Text 26"/>
          <p:cNvSpPr txBox="1"/>
          <p:nvPr/>
        </p:nvSpPr>
        <p:spPr>
          <a:xfrm>
            <a:off x="777240" y="54406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bg1"/>
                </a:solidFill>
              </a:rPr>
              <a:t>مسألة حياتية، وسيط m، ومتراجحة بتغيير متغيّر</a:t>
            </a:r>
            <a:endParaRPr lang="ar-LB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320040"/>
            <a:ext cx="7799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3200" b="1" dirty="0">
                <a:solidFill>
                  <a:schemeClr val="tx2"/>
                </a:solidFill>
              </a:rPr>
              <a:t>بطاقة المستوى الأول · أساسي</a:t>
            </a:r>
            <a:endParaRPr lang="ar-LB" sz="3200" dirty="0"/>
          </a:p>
        </p:txBody>
      </p:sp>
      <p:sp>
        <p:nvSpPr>
          <p:cNvPr id="3" name="phase-pill"/>
          <p:cNvSpPr/>
          <p:nvPr/>
        </p:nvSpPr>
        <p:spPr>
          <a:xfrm>
            <a:off x="548640" y="502920"/>
            <a:ext cx="292608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phase-text"/>
          <p:cNvSpPr txBox="1"/>
          <p:nvPr/>
        </p:nvSpPr>
        <p:spPr>
          <a:xfrm>
            <a:off x="548640" y="502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bg1"/>
                </a:solidFill>
              </a:rPr>
              <a:t>المستوى الأول</a:t>
            </a:r>
            <a:endParaRPr lang="ar-LB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chemeClr val="tx1"/>
                </a:solidFill>
              </a:rPr>
              <a:t>حلّ في ℝ كلًّا من المتراجحات الآتية، واكتب مجموعة الحلول:</a:t>
            </a:r>
            <a:endParaRPr lang="ar-LB" sz="1800" dirty="0"/>
          </a:p>
        </p:txBody>
      </p:sp>
      <p:sp>
        <p:nvSpPr>
          <p:cNvPr id="6" name="card"/>
          <p:cNvSpPr/>
          <p:nvPr/>
        </p:nvSpPr>
        <p:spPr>
          <a:xfrm>
            <a:off x="6400800" y="1874520"/>
            <a:ext cx="523951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7" name="number-badge"/>
          <p:cNvSpPr/>
          <p:nvPr/>
        </p:nvSpPr>
        <p:spPr>
          <a:xfrm>
            <a:off x="11045952" y="2057400"/>
            <a:ext cx="475488" cy="47548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045952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أ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874520"/>
            <a:ext cx="4297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(x − 1)(x + 4) &gt; 0</a:t>
            </a:r>
            <a:endParaRPr lang="en-US" sz="2400" dirty="0"/>
          </a:p>
        </p:txBody>
      </p:sp>
      <p:sp>
        <p:nvSpPr>
          <p:cNvPr id="10" name="card"/>
          <p:cNvSpPr/>
          <p:nvPr/>
        </p:nvSpPr>
        <p:spPr>
          <a:xfrm>
            <a:off x="6400800" y="2898648"/>
            <a:ext cx="523951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11" name="number-badge"/>
          <p:cNvSpPr/>
          <p:nvPr/>
        </p:nvSpPr>
        <p:spPr>
          <a:xfrm>
            <a:off x="11045952" y="3081528"/>
            <a:ext cx="475488" cy="47548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045952" y="3081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ب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898648"/>
            <a:ext cx="4297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x² − 9 ≤ 0</a:t>
            </a:r>
            <a:endParaRPr lang="en-US" sz="2400" dirty="0"/>
          </a:p>
        </p:txBody>
      </p:sp>
      <p:sp>
        <p:nvSpPr>
          <p:cNvPr id="14" name="card"/>
          <p:cNvSpPr/>
          <p:nvPr/>
        </p:nvSpPr>
        <p:spPr>
          <a:xfrm>
            <a:off x="6400800" y="3922776"/>
            <a:ext cx="523951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15" name="number-badge"/>
          <p:cNvSpPr/>
          <p:nvPr/>
        </p:nvSpPr>
        <p:spPr>
          <a:xfrm>
            <a:off x="11045952" y="4105656"/>
            <a:ext cx="475488" cy="47548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045952" y="4105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ج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922776"/>
            <a:ext cx="4297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x² − 4x + 3 &lt; 0</a:t>
            </a:r>
            <a:endParaRPr lang="en-US" sz="2400" dirty="0"/>
          </a:p>
        </p:txBody>
      </p:sp>
      <p:sp>
        <p:nvSpPr>
          <p:cNvPr id="18" name="card"/>
          <p:cNvSpPr/>
          <p:nvPr/>
        </p:nvSpPr>
        <p:spPr>
          <a:xfrm>
            <a:off x="548640" y="1874520"/>
            <a:ext cx="5577840" cy="4343400"/>
          </a:xfrm>
          <a:prstGeom prst="roundRect">
            <a:avLst>
              <a:gd name="adj" fmla="val 2526"/>
            </a:avLst>
          </a:prstGeom>
          <a:solidFill>
            <a:srgbClr val="E7F4EC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19" name="icon-circle"/>
          <p:cNvSpPr/>
          <p:nvPr/>
        </p:nvSpPr>
        <p:spPr>
          <a:xfrm>
            <a:off x="5349240" y="20116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0914" y="2143354"/>
            <a:ext cx="285293" cy="285293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77240" y="20116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chemeClr val="tx2"/>
                </a:solidFill>
              </a:rPr>
              <a:t>بطاقة مساعدة للبند (أ)</a:t>
            </a:r>
            <a:endParaRPr lang="ar-LB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2651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أكمل جدول إشارة الجداء مستعينًا بإشارة ثنائي الحد:</a:t>
            </a:r>
            <a:endParaRPr lang="ar-LB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200400"/>
          <a:ext cx="9144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02920"/>
                <a:gridCol w="594360"/>
                <a:gridCol w="502920"/>
                <a:gridCol w="594360"/>
                <a:gridCol w="502920"/>
                <a:gridCol w="594360"/>
                <a:gridCol w="502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−∞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−4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+∞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x + 4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−</a:t>
                      </a:r>
                      <a:endParaRPr lang="en-US" sz="2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x − 1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+</a:t>
                      </a:r>
                      <a:endParaRPr lang="en-US" sz="20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الجداء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777240" y="489204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accent6"/>
                </a:solidFill>
              </a:rPr>
              <a:t>تلميح (ب): حلّل إلى جداء عاملين</a:t>
            </a:r>
            <a:endParaRPr lang="ar-LB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777240" y="525780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x² − 9 = (x − 3)(x + 3)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777240" y="566928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accent6"/>
                </a:solidFill>
              </a:rPr>
              <a:t>تلميح (ج): ابدأ بحساب Δ، ثم طبّق القاعدة</a:t>
            </a:r>
            <a:endParaRPr lang="ar-LB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320040"/>
            <a:ext cx="7799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3200" b="1" dirty="0">
                <a:solidFill>
                  <a:schemeClr val="tx2"/>
                </a:solidFill>
              </a:rPr>
              <a:t>بطاقة المستوى الثاني · متوسط</a:t>
            </a:r>
            <a:endParaRPr lang="ar-LB" sz="3200" dirty="0"/>
          </a:p>
        </p:txBody>
      </p:sp>
      <p:sp>
        <p:nvSpPr>
          <p:cNvPr id="3" name="phase-pill"/>
          <p:cNvSpPr/>
          <p:nvPr/>
        </p:nvSpPr>
        <p:spPr>
          <a:xfrm>
            <a:off x="548640" y="502920"/>
            <a:ext cx="2926080" cy="43891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phase-text"/>
          <p:cNvSpPr txBox="1"/>
          <p:nvPr/>
        </p:nvSpPr>
        <p:spPr>
          <a:xfrm>
            <a:off x="548640" y="502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bg1"/>
                </a:solidFill>
              </a:rPr>
              <a:t>المستوى الثاني</a:t>
            </a:r>
            <a:endParaRPr lang="ar-LB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chemeClr val="tx1"/>
                </a:solidFill>
              </a:rPr>
              <a:t>حلّ في ℝ كلًّا من المتراجحات الآتية (انتبه إلى إشارة Δ وإشارة a):</a:t>
            </a:r>
            <a:endParaRPr lang="ar-LB" sz="1800" dirty="0"/>
          </a:p>
        </p:txBody>
      </p:sp>
      <p:sp>
        <p:nvSpPr>
          <p:cNvPr id="6" name="card"/>
          <p:cNvSpPr/>
          <p:nvPr/>
        </p:nvSpPr>
        <p:spPr>
          <a:xfrm>
            <a:off x="6245352" y="187452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7" name="number-badge"/>
          <p:cNvSpPr/>
          <p:nvPr/>
        </p:nvSpPr>
        <p:spPr>
          <a:xfrm>
            <a:off x="10954512" y="2313432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54512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أ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187452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2x² − 5x − 3 ≥ 0</a:t>
            </a:r>
            <a:endParaRPr lang="en-US" sz="2600" dirty="0"/>
          </a:p>
        </p:txBody>
      </p:sp>
      <p:sp>
        <p:nvSpPr>
          <p:cNvPr id="10" name="card"/>
          <p:cNvSpPr/>
          <p:nvPr/>
        </p:nvSpPr>
        <p:spPr>
          <a:xfrm>
            <a:off x="548640" y="187452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11" name="number-badge"/>
          <p:cNvSpPr/>
          <p:nvPr/>
        </p:nvSpPr>
        <p:spPr>
          <a:xfrm>
            <a:off x="5257800" y="2313432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5780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ب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187452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x² + x + 1 &gt; 0</a:t>
            </a:r>
            <a:endParaRPr lang="en-US" sz="2600" dirty="0"/>
          </a:p>
        </p:txBody>
      </p:sp>
      <p:sp>
        <p:nvSpPr>
          <p:cNvPr id="14" name="card"/>
          <p:cNvSpPr/>
          <p:nvPr/>
        </p:nvSpPr>
        <p:spPr>
          <a:xfrm>
            <a:off x="6245352" y="352044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15" name="number-badge"/>
          <p:cNvSpPr/>
          <p:nvPr/>
        </p:nvSpPr>
        <p:spPr>
          <a:xfrm>
            <a:off x="10954512" y="3959352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54512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ج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352044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−x² + 4x − 4 ≥ 0</a:t>
            </a:r>
            <a:endParaRPr lang="en-US" sz="2600" dirty="0"/>
          </a:p>
        </p:txBody>
      </p:sp>
      <p:sp>
        <p:nvSpPr>
          <p:cNvPr id="18" name="card"/>
          <p:cNvSpPr/>
          <p:nvPr/>
        </p:nvSpPr>
        <p:spPr>
          <a:xfrm>
            <a:off x="548640" y="352044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19" name="number-badge"/>
          <p:cNvSpPr/>
          <p:nvPr/>
        </p:nvSpPr>
        <p:spPr>
          <a:xfrm>
            <a:off x="5257800" y="3959352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5780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د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52044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3x² ≤ 2x + 1</a:t>
            </a:r>
            <a:endParaRPr lang="en-US" sz="2600" dirty="0"/>
          </a:p>
        </p:txBody>
      </p:sp>
      <p:sp>
        <p:nvSpPr>
          <p:cNvPr id="22" name="challenge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13636"/>
            </a:avLst>
          </a:prstGeom>
          <a:solidFill>
            <a:srgbClr val="FBF1D3"/>
          </a:solidFill>
          <a:ln w="19050">
            <a:solidFill>
              <a:srgbClr val="E0A100"/>
            </a:solidFill>
            <a:prstDash val="solid"/>
          </a:ln>
        </p:spPr>
      </p:sp>
      <p:sp>
        <p:nvSpPr>
          <p:cNvPr id="23" name="icon-circle"/>
          <p:cNvSpPr/>
          <p:nvPr/>
        </p:nvSpPr>
        <p:spPr>
          <a:xfrm>
            <a:off x="10881360" y="5413248"/>
            <a:ext cx="658368" cy="65836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9368" y="5571256"/>
            <a:ext cx="342351" cy="342351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4846320" y="525780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تحدٍّ: </a:t>
            </a:r>
            <a:pPr rtl="1" algn="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اكتب متراجحة من الدرجة الثانية مجموعة حلولها: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52578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]−∞ ; 1] ∪ [4 ; +∞[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320040"/>
            <a:ext cx="7799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3200" b="1" dirty="0">
                <a:solidFill>
                  <a:schemeClr val="tx2"/>
                </a:solidFill>
              </a:rPr>
              <a:t>بطاقة المستوى الثالث · متقدّم</a:t>
            </a:r>
            <a:endParaRPr lang="ar-LB" sz="3200" dirty="0"/>
          </a:p>
        </p:txBody>
      </p:sp>
      <p:sp>
        <p:nvSpPr>
          <p:cNvPr id="3" name="phase-pill"/>
          <p:cNvSpPr/>
          <p:nvPr/>
        </p:nvSpPr>
        <p:spPr>
          <a:xfrm>
            <a:off x="548640" y="502920"/>
            <a:ext cx="2926080" cy="43891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" name="phase-text"/>
          <p:cNvSpPr txBox="1"/>
          <p:nvPr/>
        </p:nvSpPr>
        <p:spPr>
          <a:xfrm>
            <a:off x="548640" y="502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bg1"/>
                </a:solidFill>
              </a:rPr>
              <a:t>المستوى الثالث</a:t>
            </a:r>
            <a:endParaRPr lang="ar-LB" sz="1400" dirty="0"/>
          </a:p>
        </p:txBody>
      </p:sp>
      <p:sp>
        <p:nvSpPr>
          <p:cNvPr id="5" name="card"/>
          <p:cNvSpPr/>
          <p:nvPr/>
        </p:nvSpPr>
        <p:spPr>
          <a:xfrm>
            <a:off x="8138160" y="1325880"/>
            <a:ext cx="3502152" cy="3703320"/>
          </a:xfrm>
          <a:prstGeom prst="roundRect">
            <a:avLst>
              <a:gd name="adj" fmla="val 31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6" name="number-badge"/>
          <p:cNvSpPr/>
          <p:nvPr/>
        </p:nvSpPr>
        <p:spPr>
          <a:xfrm>
            <a:off x="10981944" y="150876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8194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1481328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900" b="1" dirty="0">
                <a:solidFill>
                  <a:schemeClr val="tx2"/>
                </a:solidFill>
              </a:rPr>
              <a:t>مسألة حياتية</a:t>
            </a:r>
            <a:endParaRPr lang="ar-LB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366760" y="214884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chemeClr val="tx1"/>
                </a:solidFill>
              </a:rPr>
              <a:t>مستطيل محيطه 20 سم وطوله x. أوجد قيم x التي تجعل مساحته 21 سم² على الأقل.</a:t>
            </a:r>
            <a:endParaRPr lang="ar-LB" sz="1600" dirty="0"/>
          </a:p>
        </p:txBody>
      </p:sp>
      <p:sp>
        <p:nvSpPr>
          <p:cNvPr id="10" name="expr-box"/>
          <p:cNvSpPr/>
          <p:nvPr/>
        </p:nvSpPr>
        <p:spPr>
          <a:xfrm>
            <a:off x="8366760" y="3840480"/>
            <a:ext cx="3044952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B8CB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3840480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x(10 − x) ≥ 21</a:t>
            </a:r>
            <a:endParaRPr lang="en-US" sz="2200" dirty="0"/>
          </a:p>
        </p:txBody>
      </p:sp>
      <p:sp>
        <p:nvSpPr>
          <p:cNvPr id="12" name="card"/>
          <p:cNvSpPr/>
          <p:nvPr/>
        </p:nvSpPr>
        <p:spPr>
          <a:xfrm>
            <a:off x="4343400" y="1325880"/>
            <a:ext cx="3502152" cy="3703320"/>
          </a:xfrm>
          <a:prstGeom prst="roundRect">
            <a:avLst>
              <a:gd name="adj" fmla="val 31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13" name="number-badge"/>
          <p:cNvSpPr/>
          <p:nvPr/>
        </p:nvSpPr>
        <p:spPr>
          <a:xfrm>
            <a:off x="7187184" y="150876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8718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1481328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900" b="1" dirty="0">
                <a:solidFill>
                  <a:schemeClr val="tx2"/>
                </a:solidFill>
              </a:rPr>
              <a:t>وسيط</a:t>
            </a:r>
            <a:endParaRPr lang="ar-LB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14884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chemeClr val="tx1"/>
                </a:solidFill>
              </a:rPr>
              <a:t>أوجد قيم العدد الحقيقي m بحيث يكون لكل x من ℝ:</a:t>
            </a:r>
            <a:endParaRPr lang="ar-LB" sz="1600" dirty="0"/>
          </a:p>
        </p:txBody>
      </p:sp>
      <p:sp>
        <p:nvSpPr>
          <p:cNvPr id="17" name="expr-box"/>
          <p:cNvSpPr/>
          <p:nvPr/>
        </p:nvSpPr>
        <p:spPr>
          <a:xfrm>
            <a:off x="4572000" y="3840480"/>
            <a:ext cx="3044952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B8CBC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3840480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x² + mx + 4 &gt; 0</a:t>
            </a:r>
            <a:endParaRPr lang="en-US" sz="2200" dirty="0"/>
          </a:p>
        </p:txBody>
      </p:sp>
      <p:sp>
        <p:nvSpPr>
          <p:cNvPr id="19" name="card"/>
          <p:cNvSpPr/>
          <p:nvPr/>
        </p:nvSpPr>
        <p:spPr>
          <a:xfrm>
            <a:off x="548640" y="1325880"/>
            <a:ext cx="3502152" cy="3703320"/>
          </a:xfrm>
          <a:prstGeom prst="roundRect">
            <a:avLst>
              <a:gd name="adj" fmla="val 31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20" name="number-badge"/>
          <p:cNvSpPr/>
          <p:nvPr/>
        </p:nvSpPr>
        <p:spPr>
          <a:xfrm>
            <a:off x="3392424" y="150876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39242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1481328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900" b="1" dirty="0">
                <a:solidFill>
                  <a:schemeClr val="tx2"/>
                </a:solidFill>
              </a:rPr>
              <a:t>تغيير متغيّر</a:t>
            </a:r>
            <a:endParaRPr lang="ar-LB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214884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chemeClr val="tx1"/>
                </a:solidFill>
              </a:rPr>
              <a:t>حلّ في ℝ المتراجحة الآتية مستعينًا بتغيير المتغيّر:</a:t>
            </a:r>
            <a:endParaRPr lang="ar-LB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306324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t = x²</a:t>
            </a:r>
            <a:endParaRPr lang="en-US" sz="1800" dirty="0"/>
          </a:p>
        </p:txBody>
      </p:sp>
      <p:sp>
        <p:nvSpPr>
          <p:cNvPr id="25" name="expr-box"/>
          <p:cNvSpPr/>
          <p:nvPr/>
        </p:nvSpPr>
        <p:spPr>
          <a:xfrm>
            <a:off x="777240" y="3840480"/>
            <a:ext cx="3044952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B8CBC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840480"/>
            <a:ext cx="3044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x⁴ − 5x² + 4 &lt; 0</a:t>
            </a:r>
            <a:endParaRPr lang="en-US" sz="2200" dirty="0"/>
          </a:p>
        </p:txBody>
      </p:sp>
      <p:sp>
        <p:nvSpPr>
          <p:cNvPr id="27" name="challenge"/>
          <p:cNvSpPr/>
          <p:nvPr/>
        </p:nvSpPr>
        <p:spPr>
          <a:xfrm>
            <a:off x="548640" y="5303520"/>
            <a:ext cx="11091672" cy="960120"/>
          </a:xfrm>
          <a:prstGeom prst="roundRect">
            <a:avLst>
              <a:gd name="adj" fmla="val 14286"/>
            </a:avLst>
          </a:prstGeom>
          <a:solidFill>
            <a:srgbClr val="EEE6F7"/>
          </a:solidFill>
          <a:ln w="19050">
            <a:solidFill>
              <a:srgbClr val="7B4BB7"/>
            </a:solidFill>
            <a:prstDash val="solid"/>
          </a:ln>
        </p:spPr>
      </p:sp>
      <p:sp>
        <p:nvSpPr>
          <p:cNvPr id="28" name="icon-circle"/>
          <p:cNvSpPr/>
          <p:nvPr/>
        </p:nvSpPr>
        <p:spPr>
          <a:xfrm>
            <a:off x="10881360" y="5440680"/>
            <a:ext cx="658368" cy="65836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9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9368" y="5598688"/>
            <a:ext cx="342351" cy="342351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822960" y="5303520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تحدٍّ: </a:t>
            </a:r>
            <a:pPr rtl="1" algn="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حدّد قيم m ليكون للمعادلة </a:t>
            </a:r>
            <a:pPr algn="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‪x² − 2mx + m + 2 = 0‬</a:t>
            </a:r>
            <a:pPr rtl="1" algn="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جذران مختلفان.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320040"/>
            <a:ext cx="7799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3200" b="1" dirty="0">
                <a:solidFill>
                  <a:schemeClr val="tx2"/>
                </a:solidFill>
              </a:rPr>
              <a:t>عرض المجموعات والتقويم</a:t>
            </a:r>
            <a:endParaRPr lang="ar-LB" sz="3200" dirty="0"/>
          </a:p>
        </p:txBody>
      </p:sp>
      <p:sp>
        <p:nvSpPr>
          <p:cNvPr id="3" name="phase-pill"/>
          <p:cNvSpPr/>
          <p:nvPr/>
        </p:nvSpPr>
        <p:spPr>
          <a:xfrm>
            <a:off x="548640" y="502920"/>
            <a:ext cx="2926080" cy="43891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4" name="phase-text"/>
          <p:cNvSpPr txBox="1"/>
          <p:nvPr/>
        </p:nvSpPr>
        <p:spPr>
          <a:xfrm>
            <a:off x="548640" y="502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bg1"/>
                </a:solidFill>
              </a:rPr>
              <a:t>تقويم · 10 دقائق</a:t>
            </a:r>
            <a:endParaRPr lang="ar-LB" sz="1400" dirty="0"/>
          </a:p>
        </p:txBody>
      </p:sp>
      <p:sp>
        <p:nvSpPr>
          <p:cNvPr id="5" name="card"/>
          <p:cNvSpPr/>
          <p:nvPr/>
        </p:nvSpPr>
        <p:spPr>
          <a:xfrm>
            <a:off x="6035040" y="1325880"/>
            <a:ext cx="5605272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263640" y="1463040"/>
            <a:ext cx="5148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2000" b="1" dirty="0">
                <a:solidFill>
                  <a:schemeClr val="tx2"/>
                </a:solidFill>
              </a:rPr>
              <a:t>عرض ومناقشة</a:t>
            </a:r>
            <a:endParaRPr lang="ar-LB" sz="2000" dirty="0"/>
          </a:p>
        </p:txBody>
      </p:sp>
      <p:sp>
        <p:nvSpPr>
          <p:cNvPr id="7" name="number-badge"/>
          <p:cNvSpPr/>
          <p:nvPr/>
        </p:nvSpPr>
        <p:spPr>
          <a:xfrm>
            <a:off x="10972800" y="2176272"/>
            <a:ext cx="438912" cy="43891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0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1031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chemeClr val="tx1"/>
                </a:solidFill>
              </a:rPr>
              <a:t>يعرض «العارض» في كل مجموعة حلّ تمرين واحد على اللوح.</a:t>
            </a:r>
            <a:endParaRPr lang="ar-LB" sz="1600" dirty="0"/>
          </a:p>
        </p:txBody>
      </p:sp>
      <p:sp>
        <p:nvSpPr>
          <p:cNvPr id="10" name="number-badge"/>
          <p:cNvSpPr/>
          <p:nvPr/>
        </p:nvSpPr>
        <p:spPr>
          <a:xfrm>
            <a:off x="10972800" y="3163824"/>
            <a:ext cx="438912" cy="43891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0" y="3163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309067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chemeClr val="tx1"/>
                </a:solidFill>
              </a:rPr>
              <a:t>تتحقّق مجموعة أخرى من المستوى نفسه وتطرح سؤالًا.</a:t>
            </a:r>
            <a:endParaRPr lang="ar-LB" sz="1600" dirty="0"/>
          </a:p>
        </p:txBody>
      </p:sp>
      <p:sp>
        <p:nvSpPr>
          <p:cNvPr id="13" name="number-badge"/>
          <p:cNvSpPr/>
          <p:nvPr/>
        </p:nvSpPr>
        <p:spPr>
          <a:xfrm>
            <a:off x="10972800" y="4151376"/>
            <a:ext cx="438912" cy="43891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0" y="4151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4078224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chemeClr val="tx1"/>
                </a:solidFill>
              </a:rPr>
              <a:t>نقارن طرائق الحل ونصحّح الأخطاء الشائعة معًا.</a:t>
            </a:r>
            <a:endParaRPr lang="ar-LB" sz="1600" dirty="0"/>
          </a:p>
        </p:txBody>
      </p:sp>
      <p:sp>
        <p:nvSpPr>
          <p:cNvPr id="16" name="number-badge"/>
          <p:cNvSpPr/>
          <p:nvPr/>
        </p:nvSpPr>
        <p:spPr>
          <a:xfrm>
            <a:off x="10972800" y="5138928"/>
            <a:ext cx="438912" cy="43891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0" y="5138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5065776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chemeClr val="tx1"/>
                </a:solidFill>
              </a:rPr>
              <a:t>يربط المعلّم بين حلول المستويات الثلاثة والقاعدة.</a:t>
            </a:r>
            <a:endParaRPr lang="ar-LB" sz="1600" dirty="0"/>
          </a:p>
        </p:txBody>
      </p:sp>
      <p:sp>
        <p:nvSpPr>
          <p:cNvPr id="19" name="exit-ticket"/>
          <p:cNvSpPr/>
          <p:nvPr/>
        </p:nvSpPr>
        <p:spPr>
          <a:xfrm>
            <a:off x="548640" y="1325880"/>
            <a:ext cx="5212080" cy="2377440"/>
          </a:xfrm>
          <a:prstGeom prst="roundRect">
            <a:avLst>
              <a:gd name="adj" fmla="val 5769"/>
            </a:avLst>
          </a:prstGeom>
          <a:solidFill>
            <a:schemeClr val="tx2"/>
          </a:solidFill>
          <a:ln/>
        </p:spPr>
      </p:sp>
      <p:sp>
        <p:nvSpPr>
          <p:cNvPr id="20" name="icon-circle"/>
          <p:cNvSpPr/>
          <p:nvPr/>
        </p:nvSpPr>
        <p:spPr>
          <a:xfrm>
            <a:off x="4892040" y="15087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5659" y="1662379"/>
            <a:ext cx="332842" cy="33284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77240" y="15544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900" b="1" dirty="0">
                <a:solidFill>
                  <a:schemeClr val="bg1"/>
                </a:solidFill>
              </a:rPr>
              <a:t>بطاقة الخروج · دقيقتان</a:t>
            </a:r>
            <a:endParaRPr lang="ar-LB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22402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chemeClr val="bg2"/>
                </a:solidFill>
              </a:rPr>
              <a:t>حلّ في ℝ:</a:t>
            </a:r>
            <a:endParaRPr lang="ar-LB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26974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x² − 4 &gt; 0</a:t>
            </a:r>
            <a:endParaRPr lang="en-US" sz="3000" dirty="0"/>
          </a:p>
        </p:txBody>
      </p:sp>
      <p:sp>
        <p:nvSpPr>
          <p:cNvPr id="25" name="card"/>
          <p:cNvSpPr/>
          <p:nvPr/>
        </p:nvSpPr>
        <p:spPr>
          <a:xfrm>
            <a:off x="548640" y="3931920"/>
            <a:ext cx="52120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9AB3B0">
                <a:alpha val="3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77240" y="4023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LB" altLang="en-US" sz="1700" b="1" dirty="0">
                <a:solidFill>
                  <a:schemeClr val="tx2"/>
                </a:solidFill>
              </a:rPr>
              <a:t>تقويم ذاتي: أين أنا الآن؟</a:t>
            </a:r>
            <a:endParaRPr lang="ar-LB" sz="1700" dirty="0"/>
          </a:p>
        </p:txBody>
      </p:sp>
      <p:sp>
        <p:nvSpPr>
          <p:cNvPr id="27" name="traffic-light"/>
          <p:cNvSpPr/>
          <p:nvPr/>
        </p:nvSpPr>
        <p:spPr>
          <a:xfrm>
            <a:off x="5074920" y="4645152"/>
            <a:ext cx="347472" cy="3474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77240" y="457200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أحلّ المتراجحة وحدي</a:t>
            </a:r>
            <a:endParaRPr lang="ar-LB" sz="1500" dirty="0"/>
          </a:p>
        </p:txBody>
      </p:sp>
      <p:sp>
        <p:nvSpPr>
          <p:cNvPr id="29" name="traffic-light"/>
          <p:cNvSpPr/>
          <p:nvPr/>
        </p:nvSpPr>
        <p:spPr>
          <a:xfrm>
            <a:off x="5074920" y="5193792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77240" y="512064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أحتاج إلى مساعدة بسيطة</a:t>
            </a:r>
            <a:endParaRPr lang="ar-LB" sz="1500" dirty="0"/>
          </a:p>
        </p:txBody>
      </p:sp>
      <p:sp>
        <p:nvSpPr>
          <p:cNvPr id="31" name="traffic-light"/>
          <p:cNvSpPr/>
          <p:nvPr/>
        </p:nvSpPr>
        <p:spPr>
          <a:xfrm>
            <a:off x="5074920" y="5742432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77240" y="566928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</a:rPr>
              <a:t>أحتاج إلى مراجعة القاعدة</a:t>
            </a:r>
            <a:endParaRPr lang="ar-LB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4000" b="1" dirty="0">
                <a:solidFill>
                  <a:schemeClr val="bg1"/>
                </a:solidFill>
              </a:rPr>
              <a:t>الخلاصة</a:t>
            </a:r>
            <a:endParaRPr lang="ar-LB" sz="4000" dirty="0"/>
          </a:p>
        </p:txBody>
      </p:sp>
      <p:sp>
        <p:nvSpPr>
          <p:cNvPr id="3" name="icon-circle"/>
          <p:cNvSpPr/>
          <p:nvPr/>
        </p:nvSpPr>
        <p:spPr>
          <a:xfrm>
            <a:off x="1074420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9765" y="1821485"/>
            <a:ext cx="380390" cy="3803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60020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2100" dirty="0">
                <a:solidFill>
                  <a:schemeClr val="bg1"/>
                </a:solidFill>
              </a:rPr>
              <a:t>ثلاثي الحدود يأخذ إشارة a دائمًا، إلا بين الجذرين عندما ‪Δ &gt; 0‬</a:t>
            </a:r>
            <a:endParaRPr lang="ar-LB" sz="2100" dirty="0"/>
          </a:p>
        </p:txBody>
      </p:sp>
      <p:sp>
        <p:nvSpPr>
          <p:cNvPr id="6" name="icon-circle"/>
          <p:cNvSpPr/>
          <p:nvPr/>
        </p:nvSpPr>
        <p:spPr>
          <a:xfrm>
            <a:off x="10744200" y="2697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9765" y="2873045"/>
            <a:ext cx="380390" cy="38039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6517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2100" dirty="0">
                <a:solidFill>
                  <a:schemeClr val="bg1"/>
                </a:solidFill>
              </a:rPr>
              <a:t>نرتّب ⟵ نحسب Δ والجذور ⟵ جدول الإشارة ⟵ مجموعة الحلول</a:t>
            </a:r>
            <a:endParaRPr lang="ar-LB" sz="2100" dirty="0"/>
          </a:p>
        </p:txBody>
      </p:sp>
      <p:sp>
        <p:nvSpPr>
          <p:cNvPr id="9" name="icon-circle"/>
          <p:cNvSpPr/>
          <p:nvPr/>
        </p:nvSpPr>
        <p:spPr>
          <a:xfrm>
            <a:off x="10744200" y="3749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9765" y="3924605"/>
            <a:ext cx="380390" cy="38039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035040" y="37033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2100" dirty="0">
                <a:solidFill>
                  <a:schemeClr val="bg1"/>
                </a:solidFill>
              </a:rPr>
              <a:t>الجذور داخلة أو مستثناة حسب الرمز:</a:t>
            </a:r>
            <a:endParaRPr lang="ar-LB" sz="2100" dirty="0"/>
          </a:p>
        </p:txBody>
      </p:sp>
      <p:sp>
        <p:nvSpPr>
          <p:cNvPr id="12" name="Text 7"/>
          <p:cNvSpPr txBox="1"/>
          <p:nvPr/>
        </p:nvSpPr>
        <p:spPr>
          <a:xfrm>
            <a:off x="731520" y="37490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≤ , ≥  →  [ ]        &lt; , &gt;  →  ] [</a:t>
            </a:r>
            <a:endParaRPr lang="en-US" sz="2100" dirty="0"/>
          </a:p>
        </p:txBody>
      </p:sp>
      <p:sp>
        <p:nvSpPr>
          <p:cNvPr id="13" name="homework"/>
          <p:cNvSpPr/>
          <p:nvPr/>
        </p:nvSpPr>
        <p:spPr>
          <a:xfrm>
            <a:off x="731520" y="4937760"/>
            <a:ext cx="10744200" cy="1280160"/>
          </a:xfrm>
          <a:prstGeom prst="roundRect">
            <a:avLst>
              <a:gd name="adj" fmla="val 10714"/>
            </a:avLst>
          </a:prstGeom>
          <a:solidFill>
            <a:schemeClr val="accent1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10561320" y="52120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6885" y="5387645"/>
            <a:ext cx="380390" cy="38039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400800" y="493776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2100" b="1" dirty="0">
                <a:solidFill>
                  <a:schemeClr val="bg1"/>
                </a:solidFill>
              </a:rPr>
              <a:t>واجب منزلي: حلّ في ℝ</a:t>
            </a:r>
            <a:endParaRPr lang="ar-LB" sz="2100" dirty="0"/>
          </a:p>
        </p:txBody>
      </p:sp>
      <p:sp>
        <p:nvSpPr>
          <p:cNvPr id="17" name="Text 11"/>
          <p:cNvSpPr txBox="1"/>
          <p:nvPr/>
        </p:nvSpPr>
        <p:spPr>
          <a:xfrm>
            <a:off x="914400" y="493776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(2)  4x² − 4x + 1 ≤ 0          (1)  −x² + x + 6 &gt; 0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dratic Inequalities">
  <a:themeElements>
    <a:clrScheme name="Quadratic Inequalities">
      <a:dk1>
        <a:srgbClr val="1D2B36"/>
      </a:dk1>
      <a:lt1>
        <a:srgbClr val="FFFFFF"/>
      </a:lt1>
      <a:dk2>
        <a:srgbClr val="0B3C49"/>
      </a:dk2>
      <a:lt2>
        <a:srgbClr val="EEF5F4"/>
      </a:lt2>
      <a:accent1>
        <a:srgbClr val="1B998B"/>
      </a:accent1>
      <a:accent2>
        <a:srgbClr val="F46036"/>
      </a:accent2>
      <a:accent3>
        <a:srgbClr val="2E9E5B"/>
      </a:accent3>
      <a:accent4>
        <a:srgbClr val="E0A100"/>
      </a:accent4>
      <a:accent5>
        <a:srgbClr val="7B4BB7"/>
      </a:accent5>
      <a:accent6>
        <a:srgbClr val="5C7480"/>
      </a:accent6>
      <a:hlink>
        <a:srgbClr val="1B998B"/>
      </a:hlink>
      <a:folHlink>
        <a:srgbClr val="7B4BB7"/>
      </a:folHlink>
    </a:clrScheme>
    <a:fontScheme name="Quadratic Inequalities">
      <a:majorFont>
        <a:latin typeface="Arial"/>
        <a:ea typeface="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المتراجحات من الدرجة الثانية</dc:title>
  <dc:subject>رياضيات</dc:subject>
  <dc:creator>PptxGenJS</dc:creator>
  <cp:lastModifiedBy>PptxGenJS</cp:lastModifiedBy>
  <cp:revision>1</cp:revision>
  <dcterms:created xsi:type="dcterms:W3CDTF">2026-10-11T12:35:54Z</dcterms:created>
  <dcterms:modified xsi:type="dcterms:W3CDTF">2026-10-11T12:35:54Z</dcterms:modified>
</cp:coreProperties>
</file>