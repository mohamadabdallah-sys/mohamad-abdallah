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49d53e8d-62d7-d978-99b9-54bbe5863ed2}">
          <p14:sldIdLst>
            <p14:sldId id="256"/>
            <p14:sldId id="257"/>
          </p14:sldIdLst>
        </p14:section>
        <p14:section name="التمهيد" id="{2d9efbf0-204d-b51f-e436-8e0833a687d0}">
          <p14:sldIdLst>
            <p14:sldId id="258"/>
          </p14:sldIdLst>
        </p14:section>
        <p14:section name="الاستكشاف" id="{ffab763d-72df-4727-2c24-54d22944a6b9}">
          <p14:sldIdLst>
            <p14:sldId id="259"/>
            <p14:sldId id="260"/>
          </p14:sldIdLst>
        </p14:section>
        <p14:section name="التفسير" id="{74c74e1b-f8f1-d9c9-3f65-033f970da231}">
          <p14:sldIdLst>
            <p14:sldId id="261"/>
            <p14:sldId id="262"/>
          </p14:sldIdLst>
        </p14:section>
        <p14:section name="الفروقات الفردية" id="{fbec8d29-5c2f-b8e9-10f7-6c22786de818}">
          <p14:sldIdLst>
            <p14:sldId id="263"/>
          </p14:sldIdLst>
        </p14:section>
        <p14:section name="التقييم" id="{ae9cc6a5-ab99-2317-351b-2b1730ce8af1}">
          <p14:sldIdLst>
            <p14:sldId id="264"/>
          </p14:sldIdLst>
        </p14:section>
        <p14:section name="الختام" id="{71e1e7dc-d656-2a94-0f4b-385a3f133f5a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نعرض عنوان الحصّة. المنحنى الأخضر فوق محور الفواصل والأحمر تحته: هذه هي فكرة الحصّة كلّها، وسنعود إليها في الشريحة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نقرأ الهدفين. نشير إلى المصطلحات الجديدة: متراجحة من الدرجة الثانية، ثلاثي الحدود، المميّز Δ، الجذر، جدول الإشارة. أنماط التعلّم: رياضي-منطقي (حساب Δ والقاعدة)، مكاني-بصري (قراءة المنحنى)، اجتماعي (العمل الثنائي).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التمهيد (10 د) – ربط بالمكتسبات السابقة. يحلّ التلاميذ الأسئلة الثلاثة فرديًّا (بطاقة التمهيد). ثم تصحيح جماعي سريع: كل نقرة تُظهر إجابة سؤال. نسجّل من أخطأ في كل سؤال لتوزيع التلاميذ على الفئات في الحصّة الثانية.
الإجابات: (1) Δ = 1، الحلّان 2 و3. (2) Δ = −23 &lt; 0 لا حلول. (3) 2x − 4 سالب قبل 2، صفر عند 2، موجب بعد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الاستكشاف (10 د) – استقصاء موجّه على اللوح التفاعلي (يمكن فتح المنحنى نفسه في GeoGebra وتحريك نقطة عليه). نطرح الأسئلة الثلاثة واحدًا واحدًا، وكل نقرة تُظهر الإجابة. الاستنتاج: f(x) &lt; 0 بين الجذرين −2 و3، وf(x) &gt; 0 خارجهما. النقرة الرابعة تُظهر جدول الإشارة.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عمل ثنائي (12 د) – كل ثنائي يدرس الدوال الثلاث على بطاقة الاستكشاف: يحسب Δ، يحدّد عدد نقاط التقاطع مع محور الفواصل، ويصف إشارة الدالة. بعد العمل، كل نقرة تُظهر منحنى دالة ونتائجها للتصحيح. المتعثّرون يستعملون جدول القيم الجاهز على بطاقة الدعم.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التفسير (13 د) – تعرض الثنائيات نتائجها، ونقود صياغة القاعدة: ثلاثي الحدود يأخذ إشارة a دائمًا، إلا بين الجذرين عندما Δ &gt; 0. يدوّن التلاميذ جداول الإشارة للحالات الثلاث في دفاترهم (x₁ و x₂ الجذران، x₀ = −b/2a الجذر المضاعف).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نطبّق القاعدة على دوال الشريحة 5 (a = 1 &gt; 0 في الثلاث). يدوّن التلاميذ الجداول في دفاترهم. نؤكّد: عند Δ = 0 الدالة لا تتغيّر إشارتها، لكنها تنعدم عند الجذر.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للمتعثّرين: جدول قيم جاهز للدالة x² − x − 6 لقراءة المنحنى (القيم 0 تعني الجذور، القيم الموجبة فوق المحور). للمتفوّقين: ماذا يتغيّر إذا كان a &lt; 0؟ النقرة تُظهر منحنى −x² + x + 6 والاستنتاج: تنقلب الإشارات، فتكون الدالة موجبة بين الجذرين وسالبة خارجهما — أي تبقى القاعدة نفسها: إشارة a خارج الجذرين.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أسئلة شفهيّة: يحدّد التلاميذ الإشارة من دون رسم، فقط من Δ وإشارة a. النقرة الأولى تُظهر حلّ الدالة الأولى، والثانية حلّ الثانية.
(1) Δ = 16 − 12 = 4 &gt; 0، الجذران 1 و3، a = 1 &gt; 0: موجبة خارج [1 ; 3] وسالبة بينهما.
(2) Δ = 4 − 20 = −16 &lt; 0، a = −1 &lt; 0: سالبة دائمًا.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الواجب: دراسة إشارة 2x² − 3x − 2 (Δ = 25، الجذران −1/2 و 2) و x² + 6x + 9 (Δ = 0، الجذر −3). بطاقة الدعم: جدول إشارة جاهز للتعبئة للدالة x² − 9.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نعود إلى الهدفين: هل يستطيع كل تلميذ ربط الإشارة بموقع المنحنى، وتحديدها من Δ وإشارة a؟ (الفقرة التأمّليّة: تحقّق الأهداف).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0" y="1463040"/>
            <a:ext cx="597103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153912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7"/>
                </a:solidFill>
              </a:rPr>
              <a:t>إشارة ثلاثي الحدود من الدرجة الثانية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0" y="1463040"/>
            <a:ext cx="5971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إشارة ثلاثي الحدود من الدرجة الثانية</a:t>
            </a:r>
            <a:endParaRPr lang="ar-SA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3429000"/>
            <a:ext cx="597103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32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ax</a:t>
            </a:r>
            <a:pPr algn="r" indent="0" marL="0">
              <a:buNone/>
            </a:pPr>
            <a:r>
              <a:rPr lang="en-US" sz="3200" b="1" i="1" baseline="300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32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bx + 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4251960"/>
            <a:ext cx="597103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المتراجحات من الدرجة الثانية · مدّة الحصّة 45 دقيقة + التقييم</a:t>
            </a:r>
            <a:endParaRPr lang="ar-SA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4572000" cy="3712464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15568"/>
            <a:ext cx="4297680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983480"/>
            <a:ext cx="224028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8348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فوق المحور: f(x) &gt; 0</a:t>
            </a:r>
            <a:endParaRPr lang="ar-SA" sz="1400" dirty="0"/>
          </a:p>
        </p:txBody>
      </p:sp>
      <p:sp>
        <p:nvSpPr>
          <p:cNvPr id="9" name="Shape 6"/>
          <p:cNvSpPr/>
          <p:nvPr/>
        </p:nvSpPr>
        <p:spPr>
          <a:xfrm>
            <a:off x="3063240" y="4983480"/>
            <a:ext cx="2240280" cy="54864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4983480"/>
            <a:ext cx="2240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تحت المحور: f(x) &lt; 0</a:t>
            </a:r>
            <a:endParaRPr lang="ar-S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أهداف الحصّة والمصطلحات</a:t>
            </a:r>
            <a:endParaRPr lang="ar-SA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206240" y="1234440"/>
            <a:ext cx="7434072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5B6878"/>
                </a:solidFill>
              </a:rPr>
              <a:t>في نهاية الحصّة يتوقّع أن يصبح التلميذ قادرًا على أن:</a:t>
            </a:r>
            <a:endParaRPr lang="ar-SA" sz="1600" dirty="0"/>
          </a:p>
        </p:txBody>
      </p:sp>
      <p:sp>
        <p:nvSpPr>
          <p:cNvPr id="5" name="Shape 2"/>
          <p:cNvSpPr/>
          <p:nvPr/>
        </p:nvSpPr>
        <p:spPr>
          <a:xfrm>
            <a:off x="4206240" y="1737360"/>
            <a:ext cx="74340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0" y="19568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737360"/>
            <a:ext cx="649224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يربط إشارة ثلاثي الحدود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ax</a:t>
            </a:r>
            <a:pPr algn="r" indent="0" marL="0">
              <a:buNone/>
            </a:pPr>
            <a:r>
              <a:rPr lang="ar-SA" altLang="en-US" sz="17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bx + c</a:t>
            </a:r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 بموقع منحنيه بالنسبة لمحور الفواصل.</a:t>
            </a:r>
            <a:endParaRPr lang="ar-SA" sz="1700" dirty="0"/>
          </a:p>
        </p:txBody>
      </p:sp>
      <p:sp>
        <p:nvSpPr>
          <p:cNvPr id="9" name="Shape 6"/>
          <p:cNvSpPr/>
          <p:nvPr/>
        </p:nvSpPr>
        <p:spPr>
          <a:xfrm>
            <a:off x="4206240" y="2788920"/>
            <a:ext cx="7434072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0" y="30083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43400" y="2788920"/>
            <a:ext cx="649224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يحدّد إشارة ثلاثي الحدود حسب إشارة المميّز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 وإشارة </a:t>
            </a:r>
            <a:pPr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.</a:t>
            </a:r>
            <a:endParaRPr lang="ar-SA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931920"/>
            <a:ext cx="74340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2"/>
                </a:solidFill>
              </a:rPr>
              <a:t>المصطلحات</a:t>
            </a:r>
            <a:endParaRPr lang="ar-SA" sz="2000" dirty="0"/>
          </a:p>
        </p:txBody>
      </p:sp>
      <p:sp>
        <p:nvSpPr>
          <p:cNvPr id="14" name="Shape 11"/>
          <p:cNvSpPr/>
          <p:nvPr/>
        </p:nvSpPr>
        <p:spPr>
          <a:xfrm>
            <a:off x="8988552" y="4480560"/>
            <a:ext cx="265176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79992" y="4480560"/>
            <a:ext cx="246888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متراجحة من الدرجة الثانية</a:t>
            </a:r>
            <a:endParaRPr lang="ar-SA" sz="1500" dirty="0"/>
          </a:p>
        </p:txBody>
      </p:sp>
      <p:sp>
        <p:nvSpPr>
          <p:cNvPr id="16" name="Shape 13"/>
          <p:cNvSpPr/>
          <p:nvPr/>
        </p:nvSpPr>
        <p:spPr>
          <a:xfrm>
            <a:off x="6675120" y="4480560"/>
            <a:ext cx="21488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4498848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ثلاثي الحدود</a:t>
            </a:r>
            <a:endParaRPr lang="ar-SA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</a:t>
            </a:r>
            <a:pPr algn="ctr" indent="0" marL="0">
              <a:buNone/>
            </a:pPr>
            <a:r>
              <a:rPr lang="en-US" sz="1500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bx + c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361688" y="4480560"/>
            <a:ext cx="21488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53128" y="4498848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المميّز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453128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b</a:t>
            </a:r>
            <a:pPr algn="ctr" indent="0" marL="0">
              <a:buNone/>
            </a:pPr>
            <a:r>
              <a:rPr lang="en-US" sz="1500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− 4ac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262872" y="5376672"/>
            <a:ext cx="2377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54312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جذر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354312" y="5742432"/>
            <a:ext cx="21945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f(x₀) = 0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720840" y="5376672"/>
            <a:ext cx="23774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5376672"/>
            <a:ext cx="21945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جدول الإشارة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1234440"/>
            <a:ext cx="3291840" cy="4910328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</a:rPr>
              <a:t>أنماط التعلّم</a:t>
            </a:r>
            <a:endParaRPr lang="ar-SA" sz="2000" dirty="0"/>
          </a:p>
        </p:txBody>
      </p:sp>
      <p:sp>
        <p:nvSpPr>
          <p:cNvPr id="29" name="Shape 26"/>
          <p:cNvSpPr/>
          <p:nvPr/>
        </p:nvSpPr>
        <p:spPr>
          <a:xfrm>
            <a:off x="1783080" y="19659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050" y="2179930"/>
            <a:ext cx="395021" cy="395021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31520" y="2807208"/>
            <a:ext cx="2926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رياضي – منطقي</a:t>
            </a:r>
            <a:endParaRPr lang="ar-SA" sz="1700" dirty="0"/>
          </a:p>
        </p:txBody>
      </p:sp>
      <p:sp>
        <p:nvSpPr>
          <p:cNvPr id="32" name="Shape 28"/>
          <p:cNvSpPr/>
          <p:nvPr/>
        </p:nvSpPr>
        <p:spPr>
          <a:xfrm>
            <a:off x="1783080" y="33375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050" y="3551530"/>
            <a:ext cx="395021" cy="395021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31520" y="4178808"/>
            <a:ext cx="2926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مكاني – بصري</a:t>
            </a:r>
            <a:endParaRPr lang="ar-SA" sz="1700" dirty="0"/>
          </a:p>
        </p:txBody>
      </p:sp>
      <p:sp>
        <p:nvSpPr>
          <p:cNvPr id="35" name="Shape 30"/>
          <p:cNvSpPr/>
          <p:nvPr/>
        </p:nvSpPr>
        <p:spPr>
          <a:xfrm>
            <a:off x="1783080" y="47091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050" y="4923130"/>
            <a:ext cx="395021" cy="395021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31520" y="5550408"/>
            <a:ext cx="2926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اجتماعي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تمهيد: نتذكّر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التمهيد · 10 د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982712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5B6878"/>
                </a:solidFill>
              </a:rPr>
              <a:t>حلّ فرديًّا:</a:t>
            </a:r>
            <a:endParaRPr lang="ar-SA" sz="1800" dirty="0"/>
          </a:p>
        </p:txBody>
      </p:sp>
      <p:sp>
        <p:nvSpPr>
          <p:cNvPr id="8" name="Shape 4"/>
          <p:cNvSpPr/>
          <p:nvPr/>
        </p:nvSpPr>
        <p:spPr>
          <a:xfrm>
            <a:off x="8046720" y="1691640"/>
            <a:ext cx="3593592" cy="44805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1064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064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حلّ المعادلة</a:t>
            </a:r>
            <a:endParaRPr lang="ar-SA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2377440"/>
            <a:ext cx="341071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25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− 5x + 6 = 0</a:t>
            </a:r>
            <a:endParaRPr lang="en-US" sz="2500" dirty="0"/>
          </a:p>
        </p:txBody>
      </p:sp>
      <p:sp>
        <p:nvSpPr>
          <p:cNvPr id="13" name="Shape 9"/>
          <p:cNvSpPr/>
          <p:nvPr/>
        </p:nvSpPr>
        <p:spPr>
          <a:xfrm>
            <a:off x="8412480" y="3246120"/>
            <a:ext cx="2862072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7680" y="1691640"/>
            <a:ext cx="3593592" cy="44805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احسب المميّز Δ للمعادلة</a:t>
            </a:r>
            <a:endParaRPr lang="ar-SA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4389120" y="2377440"/>
            <a:ext cx="341071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algn="ctr" indent="0" marL="0">
              <a:buNone/>
            </a:pPr>
            <a:r>
              <a:rPr lang="en-US" sz="2500" b="1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x + 3 = 0</a:t>
            </a:r>
            <a:endParaRPr lang="en-US" sz="2500" dirty="0"/>
          </a:p>
        </p:txBody>
      </p:sp>
      <p:sp>
        <p:nvSpPr>
          <p:cNvPr id="19" name="Shape 15"/>
          <p:cNvSpPr/>
          <p:nvPr/>
        </p:nvSpPr>
        <p:spPr>
          <a:xfrm>
            <a:off x="4663440" y="3246120"/>
            <a:ext cx="2862072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1691640"/>
            <a:ext cx="3593592" cy="448056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56616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566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أكمل جدول إشارة</a:t>
            </a:r>
            <a:endParaRPr lang="ar-SA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2377440"/>
            <a:ext cx="341071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− 4</a:t>
            </a:r>
            <a:endParaRPr lang="en-US" sz="2500" dirty="0"/>
          </a:p>
        </p:txBody>
      </p:sp>
      <p:sp>
        <p:nvSpPr>
          <p:cNvPr id="25" name="Shape 21"/>
          <p:cNvSpPr/>
          <p:nvPr/>
        </p:nvSpPr>
        <p:spPr>
          <a:xfrm>
            <a:off x="914400" y="3246120"/>
            <a:ext cx="2862072" cy="0"/>
          </a:xfrm>
          <a:prstGeom prst="line">
            <a:avLst/>
          </a:prstGeom>
          <a:noFill/>
          <a:ln w="12700">
            <a:solidFill>
              <a:srgbClr val="DCE2E9"/>
            </a:solidFill>
            <a:prstDash val="solid"/>
          </a:ln>
        </p:spPr>
      </p:sp>
      <p:sp>
        <p:nvSpPr>
          <p:cNvPr id="26" name="rv1_1"/>
          <p:cNvSpPr txBox="1"/>
          <p:nvPr/>
        </p:nvSpPr>
        <p:spPr>
          <a:xfrm>
            <a:off x="8138160" y="342900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25 − 24 = 1</a:t>
            </a:r>
            <a:endParaRPr lang="en-US" sz="2200" dirty="0"/>
          </a:p>
        </p:txBody>
      </p:sp>
      <p:sp>
        <p:nvSpPr>
          <p:cNvPr id="27" name="rv1_2"/>
          <p:cNvSpPr txBox="1"/>
          <p:nvPr/>
        </p:nvSpPr>
        <p:spPr>
          <a:xfrm>
            <a:off x="8138160" y="402336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(5 − 1)/2 = 2</a:t>
            </a:r>
            <a:endParaRPr lang="en-US" sz="2200" dirty="0"/>
          </a:p>
        </p:txBody>
      </p:sp>
      <p:sp>
        <p:nvSpPr>
          <p:cNvPr id="28" name="rv1_3"/>
          <p:cNvSpPr txBox="1"/>
          <p:nvPr/>
        </p:nvSpPr>
        <p:spPr>
          <a:xfrm>
            <a:off x="8138160" y="457200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(5 + 1)/2 = 3</a:t>
            </a:r>
            <a:endParaRPr lang="en-US" sz="2200" dirty="0"/>
          </a:p>
        </p:txBody>
      </p:sp>
      <p:sp>
        <p:nvSpPr>
          <p:cNvPr id="29" name="rv1_4"/>
          <p:cNvSpPr txBox="1"/>
          <p:nvPr/>
        </p:nvSpPr>
        <p:spPr>
          <a:xfrm>
            <a:off x="8138160" y="525780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3"/>
                </a:solidFill>
              </a:rPr>
              <a:t>حلّان: 2 و 3</a:t>
            </a:r>
            <a:endParaRPr lang="ar-SA" sz="2000" dirty="0"/>
          </a:p>
        </p:txBody>
      </p:sp>
      <p:sp>
        <p:nvSpPr>
          <p:cNvPr id="30" name="rv2_5"/>
          <p:cNvSpPr txBox="1"/>
          <p:nvPr/>
        </p:nvSpPr>
        <p:spPr>
          <a:xfrm>
            <a:off x="4389120" y="342900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</a:t>
            </a:r>
            <a:pPr algn="ctr" indent="0" marL="0">
              <a:buNone/>
            </a:pPr>
            <a:r>
              <a:rPr lang="en-US" sz="22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− 4 × 2 × 3</a:t>
            </a:r>
            <a:endParaRPr lang="en-US" sz="2200" dirty="0"/>
          </a:p>
        </p:txBody>
      </p:sp>
      <p:sp>
        <p:nvSpPr>
          <p:cNvPr id="31" name="rv2_6"/>
          <p:cNvSpPr txBox="1"/>
          <p:nvPr/>
        </p:nvSpPr>
        <p:spPr>
          <a:xfrm>
            <a:off x="4389120" y="4023360"/>
            <a:ext cx="341071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1 − 24 = −23</a:t>
            </a:r>
            <a:endParaRPr lang="en-US" sz="2200" dirty="0"/>
          </a:p>
        </p:txBody>
      </p:sp>
      <p:sp>
        <p:nvSpPr>
          <p:cNvPr id="32" name="rv2_7"/>
          <p:cNvSpPr txBox="1"/>
          <p:nvPr/>
        </p:nvSpPr>
        <p:spPr>
          <a:xfrm>
            <a:off x="4389120" y="4617720"/>
            <a:ext cx="341071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&lt; 0</a:t>
            </a:r>
            <a:endParaRPr lang="en-US" sz="2200" dirty="0"/>
          </a:p>
        </p:txBody>
      </p:sp>
      <p:sp>
        <p:nvSpPr>
          <p:cNvPr id="33" name="rv2_8"/>
          <p:cNvSpPr txBox="1"/>
          <p:nvPr/>
        </p:nvSpPr>
        <p:spPr>
          <a:xfrm>
            <a:off x="4389120" y="5166360"/>
            <a:ext cx="341071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4"/>
                </a:solidFill>
              </a:rPr>
              <a:t>لا حلول للمعادلة</a:t>
            </a:r>
            <a:endParaRPr lang="ar-SA" sz="2000" dirty="0"/>
          </a:p>
        </p:txBody>
      </p:sp>
      <p:sp>
        <p:nvSpPr>
          <p:cNvPr id="34" name="rv3_9"/>
          <p:cNvSpPr txBox="1"/>
          <p:nvPr/>
        </p:nvSpPr>
        <p:spPr>
          <a:xfrm>
            <a:off x="640080" y="3429000"/>
            <a:ext cx="341071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تنعدم عند </a:t>
            </a:r>
            <a:pPr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</a:t>
            </a:r>
            <a:endParaRPr lang="ar-SA" sz="1800" dirty="0"/>
          </a:p>
        </p:txBody>
      </p:sp>
      <p:sp>
        <p:nvSpPr>
          <p:cNvPr id="35" name="Shape 31"/>
          <p:cNvSpPr/>
          <p:nvPr/>
        </p:nvSpPr>
        <p:spPr>
          <a:xfrm>
            <a:off x="713232" y="4069080"/>
            <a:ext cx="3264408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" y="4617720"/>
            <a:ext cx="3264408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673352" y="4069080"/>
            <a:ext cx="0" cy="109728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22376" y="4078224"/>
            <a:ext cx="941832" cy="10789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13232" y="4069080"/>
            <a:ext cx="960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713232" y="4617720"/>
            <a:ext cx="9601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2x−4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1399032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2276856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39"/>
          <p:cNvSpPr txBox="1"/>
          <p:nvPr/>
        </p:nvSpPr>
        <p:spPr>
          <a:xfrm>
            <a:off x="315468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2825496" y="4617720"/>
            <a:ext cx="0" cy="54864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45" name="rv3_10"/>
          <p:cNvSpPr txBox="1"/>
          <p:nvPr/>
        </p:nvSpPr>
        <p:spPr>
          <a:xfrm>
            <a:off x="1975104" y="467258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000" dirty="0"/>
          </a:p>
        </p:txBody>
      </p:sp>
      <p:sp>
        <p:nvSpPr>
          <p:cNvPr id="46" name="rv3_11"/>
          <p:cNvSpPr txBox="1"/>
          <p:nvPr/>
        </p:nvSpPr>
        <p:spPr>
          <a:xfrm>
            <a:off x="2633472" y="4672584"/>
            <a:ext cx="384048" cy="43891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47" name="rv3_12"/>
          <p:cNvSpPr txBox="1"/>
          <p:nvPr/>
        </p:nvSpPr>
        <p:spPr>
          <a:xfrm>
            <a:off x="2852928" y="467258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45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المنحنى ومحور الفواصل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الاستكشاف · 10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234440"/>
            <a:ext cx="566928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41148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</a:t>
            </a:r>
            <a:pPr algn="ctr" indent="0" marL="0">
              <a:buNone/>
            </a:pPr>
            <a:r>
              <a:rPr lang="en-US" sz="26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6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 − 6</a:t>
            </a:r>
            <a:endParaRPr lang="en-US" sz="2600" dirty="0"/>
          </a:p>
        </p:txBody>
      </p:sp>
      <p:sp>
        <p:nvSpPr>
          <p:cNvPr id="10" name="Shape 5"/>
          <p:cNvSpPr/>
          <p:nvPr/>
        </p:nvSpPr>
        <p:spPr>
          <a:xfrm>
            <a:off x="11183112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1118311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492240" y="1234440"/>
            <a:ext cx="45994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أين يقطع المنحنى محور الفواصل؟</a:t>
            </a:r>
            <a:endParaRPr lang="ar-SA" sz="1900" dirty="0"/>
          </a:p>
        </p:txBody>
      </p:sp>
      <p:sp>
        <p:nvSpPr>
          <p:cNvPr id="13" name="rv1_13"/>
          <p:cNvSpPr/>
          <p:nvPr/>
        </p:nvSpPr>
        <p:spPr>
          <a:xfrm>
            <a:off x="6492240" y="1783080"/>
            <a:ext cx="5148072" cy="548640"/>
          </a:xfrm>
          <a:prstGeom prst="roundRect">
            <a:avLst>
              <a:gd name="adj" fmla="val 2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14" name="rv1_14"/>
          <p:cNvSpPr txBox="1"/>
          <p:nvPr/>
        </p:nvSpPr>
        <p:spPr>
          <a:xfrm>
            <a:off x="6583680" y="1783080"/>
            <a:ext cx="49651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−2   ;   x = 3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11183112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111831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2423160"/>
            <a:ext cx="45994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متى يقع المنحنى فوق المحور؟</a:t>
            </a:r>
            <a:endParaRPr lang="ar-SA" sz="1900" dirty="0"/>
          </a:p>
        </p:txBody>
      </p:sp>
      <p:sp>
        <p:nvSpPr>
          <p:cNvPr id="18" name="rv2_15"/>
          <p:cNvSpPr/>
          <p:nvPr/>
        </p:nvSpPr>
        <p:spPr>
          <a:xfrm>
            <a:off x="6492240" y="2971800"/>
            <a:ext cx="5148072" cy="548640"/>
          </a:xfrm>
          <a:prstGeom prst="roundRect">
            <a:avLst>
              <a:gd name="adj" fmla="val 20000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</p:spPr>
      </p:sp>
      <p:sp>
        <p:nvSpPr>
          <p:cNvPr id="19" name="rv2_16"/>
          <p:cNvSpPr txBox="1"/>
          <p:nvPr/>
        </p:nvSpPr>
        <p:spPr>
          <a:xfrm>
            <a:off x="6583680" y="2971800"/>
            <a:ext cx="49651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&lt; −2   </a:t>
            </a:r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</a:t>
            </a:r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x &gt; 3   ⇒   f(x) &gt; 0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11183112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1183112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611880"/>
            <a:ext cx="459943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tx2"/>
                </a:solidFill>
              </a:rPr>
              <a:t>متى يقع المنحنى تحت المحور؟</a:t>
            </a:r>
            <a:endParaRPr lang="ar-SA" sz="1900" dirty="0"/>
          </a:p>
        </p:txBody>
      </p:sp>
      <p:sp>
        <p:nvSpPr>
          <p:cNvPr id="23" name="rv3_17"/>
          <p:cNvSpPr/>
          <p:nvPr/>
        </p:nvSpPr>
        <p:spPr>
          <a:xfrm>
            <a:off x="6492240" y="4160520"/>
            <a:ext cx="5148072" cy="548640"/>
          </a:xfrm>
          <a:prstGeom prst="roundRect">
            <a:avLst>
              <a:gd name="adj" fmla="val 20000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24" name="rv3_18"/>
          <p:cNvSpPr txBox="1"/>
          <p:nvPr/>
        </p:nvSpPr>
        <p:spPr>
          <a:xfrm>
            <a:off x="6583680" y="4160520"/>
            <a:ext cx="49651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 &lt; x &lt; 3   ⇒   f(x) &lt; 0</a:t>
            </a:r>
            <a:endParaRPr lang="en-US" sz="2000" dirty="0"/>
          </a:p>
        </p:txBody>
      </p:sp>
      <p:sp>
        <p:nvSpPr>
          <p:cNvPr id="25" name="rv4_19"/>
          <p:cNvSpPr txBox="1"/>
          <p:nvPr/>
        </p:nvSpPr>
        <p:spPr>
          <a:xfrm>
            <a:off x="6492240" y="4846320"/>
            <a:ext cx="51480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جدول الإشارة</a:t>
            </a:r>
            <a:endParaRPr lang="ar-SA" sz="1600" dirty="0"/>
          </a:p>
        </p:txBody>
      </p:sp>
      <p:sp>
        <p:nvSpPr>
          <p:cNvPr id="26" name="Shape 21"/>
          <p:cNvSpPr/>
          <p:nvPr/>
        </p:nvSpPr>
        <p:spPr>
          <a:xfrm>
            <a:off x="6492240" y="5230368"/>
            <a:ext cx="5148072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92240" y="5705856"/>
            <a:ext cx="5148072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0" y="5230368"/>
            <a:ext cx="0" cy="950976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501384" y="5239512"/>
            <a:ext cx="987552" cy="932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92240" y="5230368"/>
            <a:ext cx="10058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6492240" y="5705856"/>
            <a:ext cx="100584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7360920" y="5230368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8467344" y="5230368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9573768" y="5230368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0680192" y="5230368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36" name="Shape 31"/>
          <p:cNvSpPr/>
          <p:nvPr/>
        </p:nvSpPr>
        <p:spPr>
          <a:xfrm>
            <a:off x="9015984" y="5705856"/>
            <a:ext cx="0" cy="475488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37" name="Shape 32"/>
          <p:cNvSpPr/>
          <p:nvPr/>
        </p:nvSpPr>
        <p:spPr>
          <a:xfrm>
            <a:off x="10122408" y="5705856"/>
            <a:ext cx="0" cy="475488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38" name="rv4_20"/>
          <p:cNvSpPr txBox="1"/>
          <p:nvPr/>
        </p:nvSpPr>
        <p:spPr>
          <a:xfrm>
            <a:off x="8051292" y="5760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9" name="rv4_21"/>
          <p:cNvSpPr txBox="1"/>
          <p:nvPr/>
        </p:nvSpPr>
        <p:spPr>
          <a:xfrm>
            <a:off x="8823960" y="5760720"/>
            <a:ext cx="38404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40" name="rv4_22"/>
          <p:cNvSpPr txBox="1"/>
          <p:nvPr/>
        </p:nvSpPr>
        <p:spPr>
          <a:xfrm>
            <a:off x="9157716" y="5760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200" dirty="0"/>
          </a:p>
        </p:txBody>
      </p:sp>
      <p:sp>
        <p:nvSpPr>
          <p:cNvPr id="41" name="rv4_23"/>
          <p:cNvSpPr txBox="1"/>
          <p:nvPr/>
        </p:nvSpPr>
        <p:spPr>
          <a:xfrm>
            <a:off x="9930384" y="5760720"/>
            <a:ext cx="38404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rv4_24"/>
          <p:cNvSpPr txBox="1"/>
          <p:nvPr/>
        </p:nvSpPr>
        <p:spPr>
          <a:xfrm>
            <a:off x="10264140" y="5760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9" grpId="0"/>
      <p:bldP spid="23" grpId="0"/>
      <p:bldP spid="24" grpId="0"/>
      <p:bldP spid="25" grpId="0"/>
      <p:bldP spid="38" grpId="0"/>
      <p:bldP spid="39" grpId="0"/>
      <p:bldP spid="40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عمل ثنائي: ثلاث دوال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عمل ثنائي · 12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8046720" y="1234440"/>
            <a:ext cx="3593592" cy="498348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046720" y="1234440"/>
            <a:ext cx="3593592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0" y="1234440"/>
            <a:ext cx="359359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− 3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8321040" y="2057400"/>
            <a:ext cx="3044952" cy="22860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2E9"/>
            </a:solidFill>
            <a:prstDash val="dash"/>
          </a:ln>
        </p:spPr>
      </p:sp>
      <p:sp>
        <p:nvSpPr>
          <p:cNvPr id="11" name="Text 7"/>
          <p:cNvSpPr txBox="1"/>
          <p:nvPr/>
        </p:nvSpPr>
        <p:spPr>
          <a:xfrm>
            <a:off x="8321040" y="2057400"/>
            <a:ext cx="3044952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9AA5B4"/>
                </a:solidFill>
              </a:rPr>
              <a:t>؟</a:t>
            </a:r>
            <a:endParaRPr lang="ar-SA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10469880" y="4480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المميّز:</a:t>
            </a:r>
            <a:endParaRPr lang="ar-SA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0469880" y="502920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التقاطع:</a:t>
            </a:r>
            <a:endParaRPr lang="ar-SA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469880" y="55778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الإشارة:</a:t>
            </a:r>
            <a:endParaRPr lang="ar-SA" sz="1400" dirty="0"/>
          </a:p>
        </p:txBody>
      </p:sp>
      <p:pic>
        <p:nvPicPr>
          <p:cNvPr id="15" name="rv1_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3044952" cy="2286000"/>
          </a:xfrm>
          <a:prstGeom prst="rect">
            <a:avLst/>
          </a:prstGeom>
        </p:spPr>
      </p:pic>
      <p:sp>
        <p:nvSpPr>
          <p:cNvPr id="16" name="rv1_26"/>
          <p:cNvSpPr txBox="1"/>
          <p:nvPr/>
        </p:nvSpPr>
        <p:spPr>
          <a:xfrm>
            <a:off x="813816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4 + 12 = 16 &gt; 0</a:t>
            </a:r>
            <a:endParaRPr lang="en-US" sz="1600" dirty="0"/>
          </a:p>
        </p:txBody>
      </p:sp>
      <p:sp>
        <p:nvSpPr>
          <p:cNvPr id="17" name="rv1_27"/>
          <p:cNvSpPr txBox="1"/>
          <p:nvPr/>
        </p:nvSpPr>
        <p:spPr>
          <a:xfrm>
            <a:off x="8138160" y="502920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نقطتان: −1 و 3</a:t>
            </a:r>
            <a:endParaRPr lang="ar-SA" sz="1500" dirty="0"/>
          </a:p>
        </p:txBody>
      </p:sp>
      <p:sp>
        <p:nvSpPr>
          <p:cNvPr id="18" name="rv1_28"/>
          <p:cNvSpPr txBox="1"/>
          <p:nvPr/>
        </p:nvSpPr>
        <p:spPr>
          <a:xfrm>
            <a:off x="8138160" y="5577840"/>
            <a:ext cx="2331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tx2"/>
                </a:solidFill>
              </a:rPr>
              <a:t>سالبة بين −1 و 3، موجبة خارجهما</a:t>
            </a:r>
            <a:endParaRPr lang="ar-SA" sz="1400" dirty="0"/>
          </a:p>
        </p:txBody>
      </p:sp>
      <p:sp>
        <p:nvSpPr>
          <p:cNvPr id="19" name="Shape 14"/>
          <p:cNvSpPr/>
          <p:nvPr/>
        </p:nvSpPr>
        <p:spPr>
          <a:xfrm>
            <a:off x="4297680" y="1234440"/>
            <a:ext cx="3593592" cy="498348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97680" y="1234440"/>
            <a:ext cx="3593592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297680" y="1234440"/>
            <a:ext cx="359359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+ 1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4572000" y="2057400"/>
            <a:ext cx="3044952" cy="22860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2E9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4572000" y="2057400"/>
            <a:ext cx="3044952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9AA5B4"/>
                </a:solidFill>
              </a:rPr>
              <a:t>؟</a:t>
            </a:r>
            <a:endParaRPr lang="ar-SA" sz="4800" dirty="0"/>
          </a:p>
        </p:txBody>
      </p:sp>
      <p:sp>
        <p:nvSpPr>
          <p:cNvPr id="24" name="Text 19"/>
          <p:cNvSpPr txBox="1"/>
          <p:nvPr/>
        </p:nvSpPr>
        <p:spPr>
          <a:xfrm>
            <a:off x="6720840" y="4480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المميّز:</a:t>
            </a:r>
            <a:endParaRPr lang="ar-SA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720840" y="502920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التقاطع:</a:t>
            </a:r>
            <a:endParaRPr lang="ar-SA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720840" y="55778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الإشارة:</a:t>
            </a:r>
            <a:endParaRPr lang="ar-SA" sz="1400" dirty="0"/>
          </a:p>
        </p:txBody>
      </p:sp>
      <p:pic>
        <p:nvPicPr>
          <p:cNvPr id="27" name="rv2_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3044952" cy="2286000"/>
          </a:xfrm>
          <a:prstGeom prst="rect">
            <a:avLst/>
          </a:prstGeom>
        </p:spPr>
      </p:pic>
      <p:sp>
        <p:nvSpPr>
          <p:cNvPr id="28" name="rv2_30"/>
          <p:cNvSpPr txBox="1"/>
          <p:nvPr/>
        </p:nvSpPr>
        <p:spPr>
          <a:xfrm>
            <a:off x="438912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4 − 4 = 0</a:t>
            </a:r>
            <a:endParaRPr lang="en-US" sz="1600" dirty="0"/>
          </a:p>
        </p:txBody>
      </p:sp>
      <p:sp>
        <p:nvSpPr>
          <p:cNvPr id="29" name="rv2_31"/>
          <p:cNvSpPr txBox="1"/>
          <p:nvPr/>
        </p:nvSpPr>
        <p:spPr>
          <a:xfrm>
            <a:off x="4389120" y="502920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نقطة واحدة: 1</a:t>
            </a:r>
            <a:endParaRPr lang="ar-SA" sz="1500" dirty="0"/>
          </a:p>
        </p:txBody>
      </p:sp>
      <p:sp>
        <p:nvSpPr>
          <p:cNvPr id="30" name="rv2_32"/>
          <p:cNvSpPr txBox="1"/>
          <p:nvPr/>
        </p:nvSpPr>
        <p:spPr>
          <a:xfrm>
            <a:off x="4389120" y="5577840"/>
            <a:ext cx="2331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موجبة، صفر عند 1</a:t>
            </a:r>
            <a:endParaRPr lang="ar-SA" sz="1400" dirty="0"/>
          </a:p>
        </p:txBody>
      </p:sp>
      <p:sp>
        <p:nvSpPr>
          <p:cNvPr id="31" name="Shape 25"/>
          <p:cNvSpPr/>
          <p:nvPr/>
        </p:nvSpPr>
        <p:spPr>
          <a:xfrm>
            <a:off x="548640" y="1234440"/>
            <a:ext cx="3593592" cy="4983480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48640" y="1234440"/>
            <a:ext cx="3593592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48640" y="1234440"/>
            <a:ext cx="3593592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2400" b="1" i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+ 3</a:t>
            </a:r>
            <a:endParaRPr lang="en-US" sz="2400" dirty="0"/>
          </a:p>
        </p:txBody>
      </p:sp>
      <p:sp>
        <p:nvSpPr>
          <p:cNvPr id="34" name="Shape 28"/>
          <p:cNvSpPr/>
          <p:nvPr/>
        </p:nvSpPr>
        <p:spPr>
          <a:xfrm>
            <a:off x="822960" y="2057400"/>
            <a:ext cx="3044952" cy="2286000"/>
          </a:xfrm>
          <a:prstGeom prst="rect">
            <a:avLst/>
          </a:prstGeom>
          <a:solidFill>
            <a:schemeClr val="bg2"/>
          </a:solidFill>
          <a:ln w="12700">
            <a:solidFill>
              <a:srgbClr val="DCE2E9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822960" y="2057400"/>
            <a:ext cx="3044952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9AA5B4"/>
                </a:solidFill>
              </a:rPr>
              <a:t>؟</a:t>
            </a:r>
            <a:endParaRPr lang="ar-SA" sz="4800" dirty="0"/>
          </a:p>
        </p:txBody>
      </p:sp>
      <p:sp>
        <p:nvSpPr>
          <p:cNvPr id="36" name="Text 30"/>
          <p:cNvSpPr txBox="1"/>
          <p:nvPr/>
        </p:nvSpPr>
        <p:spPr>
          <a:xfrm>
            <a:off x="2971800" y="448056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المميّز:</a:t>
            </a:r>
            <a:endParaRPr lang="ar-SA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2971800" y="502920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التقاطع:</a:t>
            </a:r>
            <a:endParaRPr lang="ar-SA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2971800" y="5577840"/>
            <a:ext cx="10515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5B6878"/>
                </a:solidFill>
              </a:rPr>
              <a:t>الإشارة:</a:t>
            </a:r>
            <a:endParaRPr lang="ar-SA" sz="1400" dirty="0"/>
          </a:p>
        </p:txBody>
      </p:sp>
      <p:pic>
        <p:nvPicPr>
          <p:cNvPr id="39" name="rv3_3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57400"/>
            <a:ext cx="3044952" cy="2286000"/>
          </a:xfrm>
          <a:prstGeom prst="rect">
            <a:avLst/>
          </a:prstGeom>
        </p:spPr>
      </p:pic>
      <p:sp>
        <p:nvSpPr>
          <p:cNvPr id="40" name="rv3_34"/>
          <p:cNvSpPr txBox="1"/>
          <p:nvPr/>
        </p:nvSpPr>
        <p:spPr>
          <a:xfrm>
            <a:off x="640080" y="448056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4 − 12 = −8 &lt; 0</a:t>
            </a:r>
            <a:endParaRPr lang="en-US" sz="1600" dirty="0"/>
          </a:p>
        </p:txBody>
      </p:sp>
      <p:sp>
        <p:nvSpPr>
          <p:cNvPr id="41" name="rv3_35"/>
          <p:cNvSpPr txBox="1"/>
          <p:nvPr/>
        </p:nvSpPr>
        <p:spPr>
          <a:xfrm>
            <a:off x="640080" y="5029200"/>
            <a:ext cx="2331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tx2"/>
                </a:solidFill>
              </a:rPr>
              <a:t>لا تقاطع</a:t>
            </a:r>
            <a:endParaRPr lang="ar-SA" sz="1500" dirty="0"/>
          </a:p>
        </p:txBody>
      </p:sp>
      <p:sp>
        <p:nvSpPr>
          <p:cNvPr id="42" name="rv3_36"/>
          <p:cNvSpPr txBox="1"/>
          <p:nvPr/>
        </p:nvSpPr>
        <p:spPr>
          <a:xfrm>
            <a:off x="640080" y="5577840"/>
            <a:ext cx="2331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3"/>
                </a:solidFill>
              </a:rPr>
              <a:t>موجبة دائمًا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7" grpId="0"/>
      <p:bldP spid="28" grpId="0"/>
      <p:bldP spid="29" grpId="0"/>
      <p:bldP spid="30" grpId="0"/>
      <p:bldP spid="39" grpId="0"/>
      <p:bldP spid="40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القاعدة: إشارة ثلاثي الحدود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13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23444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234440"/>
            <a:ext cx="1072591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ثلاثي الحدود يأخذ </a:t>
            </a:r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إشارة </a:t>
            </a:r>
            <a:pPr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 دائمًا، إلا بين الجذرين عندما </a:t>
            </a:r>
            <a:pPr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&gt; 0</a:t>
            </a:r>
            <a:endParaRPr lang="ar-SA" sz="2400" dirty="0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110916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784080" y="2505456"/>
            <a:ext cx="1719072" cy="905256"/>
          </a:xfrm>
          <a:prstGeom prst="roundRect">
            <a:avLst>
              <a:gd name="adj" fmla="val 1212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784080" y="2505456"/>
            <a:ext cx="1719072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&gt; 0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2505456"/>
            <a:ext cx="2606040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جذران x₁ &lt; x₂</a:t>
            </a:r>
            <a:endParaRPr lang="ar-SA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2505456"/>
            <a:ext cx="61264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2962656"/>
            <a:ext cx="612648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600200" y="2505456"/>
            <a:ext cx="0" cy="91440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" y="2514600"/>
            <a:ext cx="850392" cy="8961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2505456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2962656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46304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294132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41960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5897880" y="2505456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3489960" y="2962656"/>
            <a:ext cx="0" cy="45720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4968240" y="2962656"/>
            <a:ext cx="0" cy="45720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1874520" y="3017520"/>
            <a:ext cx="1752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3"/>
                </a:solidFill>
              </a:rPr>
              <a:t>إشارة a</a:t>
            </a:r>
            <a:endParaRPr lang="ar-SA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3297936" y="3017520"/>
            <a:ext cx="38404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3352800" y="3017520"/>
            <a:ext cx="1752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4"/>
                </a:solidFill>
              </a:rPr>
              <a:t>عكس إشارة a</a:t>
            </a:r>
            <a:endParaRPr lang="ar-SA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776216" y="3017520"/>
            <a:ext cx="38404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4831080" y="3017520"/>
            <a:ext cx="1752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3"/>
                </a:solidFill>
              </a:rPr>
              <a:t>إشارة a</a:t>
            </a:r>
            <a:endParaRPr lang="ar-SA" sz="1300" dirty="0"/>
          </a:p>
        </p:txBody>
      </p:sp>
      <p:sp>
        <p:nvSpPr>
          <p:cNvPr id="30" name="Shape 26"/>
          <p:cNvSpPr/>
          <p:nvPr/>
        </p:nvSpPr>
        <p:spPr>
          <a:xfrm>
            <a:off x="548640" y="3675888"/>
            <a:ext cx="110916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784080" y="3803904"/>
            <a:ext cx="1719072" cy="905256"/>
          </a:xfrm>
          <a:prstGeom prst="roundRect">
            <a:avLst>
              <a:gd name="adj" fmla="val 12121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784080" y="3803904"/>
            <a:ext cx="1719072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0</a:t>
            </a:r>
            <a:endParaRPr lang="en-US" sz="2600" dirty="0"/>
          </a:p>
        </p:txBody>
      </p:sp>
      <p:sp>
        <p:nvSpPr>
          <p:cNvPr id="33" name="Text 29"/>
          <p:cNvSpPr txBox="1"/>
          <p:nvPr/>
        </p:nvSpPr>
        <p:spPr>
          <a:xfrm>
            <a:off x="7040880" y="3803904"/>
            <a:ext cx="2606040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جذر مضاعف x₀ = −b/2a</a:t>
            </a:r>
            <a:endParaRPr lang="ar-SA" sz="1600" dirty="0"/>
          </a:p>
        </p:txBody>
      </p:sp>
      <p:sp>
        <p:nvSpPr>
          <p:cNvPr id="34" name="Shape 30"/>
          <p:cNvSpPr/>
          <p:nvPr/>
        </p:nvSpPr>
        <p:spPr>
          <a:xfrm>
            <a:off x="731520" y="3803904"/>
            <a:ext cx="61264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31520" y="4261104"/>
            <a:ext cx="612648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600200" y="3803904"/>
            <a:ext cx="0" cy="91440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40664" y="3813048"/>
            <a:ext cx="850392" cy="8961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31520" y="3803904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731520" y="4261104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1463040" y="3803904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3680460" y="3803904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x₀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5897880" y="3803904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4229100" y="4261104"/>
            <a:ext cx="0" cy="45720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1931670" y="4315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3"/>
                </a:solidFill>
              </a:rPr>
              <a:t>إشارة a</a:t>
            </a:r>
            <a:endParaRPr lang="ar-SA" sz="1300" dirty="0"/>
          </a:p>
        </p:txBody>
      </p:sp>
      <p:sp>
        <p:nvSpPr>
          <p:cNvPr id="45" name="Text 41"/>
          <p:cNvSpPr txBox="1"/>
          <p:nvPr/>
        </p:nvSpPr>
        <p:spPr>
          <a:xfrm>
            <a:off x="4037076" y="4315968"/>
            <a:ext cx="38404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Text 42"/>
          <p:cNvSpPr txBox="1"/>
          <p:nvPr/>
        </p:nvSpPr>
        <p:spPr>
          <a:xfrm>
            <a:off x="4149090" y="4315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3"/>
                </a:solidFill>
              </a:rPr>
              <a:t>إشارة a</a:t>
            </a:r>
            <a:endParaRPr lang="ar-SA" sz="1300" dirty="0"/>
          </a:p>
        </p:txBody>
      </p:sp>
      <p:sp>
        <p:nvSpPr>
          <p:cNvPr id="47" name="Shape 43"/>
          <p:cNvSpPr/>
          <p:nvPr/>
        </p:nvSpPr>
        <p:spPr>
          <a:xfrm>
            <a:off x="548640" y="4974336"/>
            <a:ext cx="11091672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784080" y="5102352"/>
            <a:ext cx="1719072" cy="905256"/>
          </a:xfrm>
          <a:prstGeom prst="roundRect">
            <a:avLst>
              <a:gd name="adj" fmla="val 12121"/>
            </a:avLst>
          </a:prstGeom>
          <a:solidFill>
            <a:schemeClr val="accent6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784080" y="5102352"/>
            <a:ext cx="1719072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&lt; 0</a:t>
            </a:r>
            <a:endParaRPr lang="en-US" sz="2600" dirty="0"/>
          </a:p>
        </p:txBody>
      </p:sp>
      <p:sp>
        <p:nvSpPr>
          <p:cNvPr id="50" name="Text 46"/>
          <p:cNvSpPr txBox="1"/>
          <p:nvPr/>
        </p:nvSpPr>
        <p:spPr>
          <a:xfrm>
            <a:off x="7040880" y="5102352"/>
            <a:ext cx="2606040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2"/>
                </a:solidFill>
              </a:rPr>
              <a:t>لا جذور</a:t>
            </a:r>
            <a:endParaRPr lang="ar-SA" sz="1600" dirty="0"/>
          </a:p>
        </p:txBody>
      </p:sp>
      <p:sp>
        <p:nvSpPr>
          <p:cNvPr id="51" name="Shape 47"/>
          <p:cNvSpPr/>
          <p:nvPr/>
        </p:nvSpPr>
        <p:spPr>
          <a:xfrm>
            <a:off x="731520" y="5102352"/>
            <a:ext cx="61264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31520" y="5559552"/>
            <a:ext cx="612648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600200" y="5102352"/>
            <a:ext cx="0" cy="91440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40664" y="5111496"/>
            <a:ext cx="850392" cy="8961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31520" y="5102352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56" name="Text 52"/>
          <p:cNvSpPr txBox="1"/>
          <p:nvPr/>
        </p:nvSpPr>
        <p:spPr>
          <a:xfrm>
            <a:off x="731520" y="5559552"/>
            <a:ext cx="868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1463040" y="5102352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600" dirty="0"/>
          </a:p>
        </p:txBody>
      </p:sp>
      <p:sp>
        <p:nvSpPr>
          <p:cNvPr id="58" name="Text 54"/>
          <p:cNvSpPr txBox="1"/>
          <p:nvPr/>
        </p:nvSpPr>
        <p:spPr>
          <a:xfrm>
            <a:off x="5897880" y="5102352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600" dirty="0"/>
          </a:p>
        </p:txBody>
      </p:sp>
      <p:sp>
        <p:nvSpPr>
          <p:cNvPr id="59" name="Text 55"/>
          <p:cNvSpPr txBox="1"/>
          <p:nvPr/>
        </p:nvSpPr>
        <p:spPr>
          <a:xfrm>
            <a:off x="3040380" y="5614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chemeClr val="accent3"/>
                </a:solidFill>
              </a:rPr>
              <a:t>إشارة a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جداول الإشارة في الدفتر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التفسير · 13 د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1234440"/>
            <a:ext cx="11091672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7782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en-US" sz="24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− 3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16 &gt; 0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2743200" y="1508760"/>
            <a:ext cx="5760720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0" y="1984248"/>
            <a:ext cx="576072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0" y="1508760"/>
            <a:ext cx="0" cy="950976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52344" y="1517904"/>
            <a:ext cx="896112" cy="932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743200" y="1508760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1984248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1508760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861560" y="1508760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202680" y="1508760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543800" y="1508760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410200" y="1984248"/>
            <a:ext cx="0" cy="475488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751320" y="1984248"/>
            <a:ext cx="0" cy="475488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4328160" y="2039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5218176" y="2039112"/>
            <a:ext cx="38404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5669280" y="2039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559296" y="2039112"/>
            <a:ext cx="38404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7010400" y="2039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4168"/>
            <a:ext cx="1719072" cy="128930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48640" y="2907792"/>
            <a:ext cx="11091672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8778240" y="3090672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en-US" sz="24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+ 1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8778240" y="3685032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0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2743200" y="3182112"/>
            <a:ext cx="5760720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743200" y="3657600"/>
            <a:ext cx="576072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657600" y="3182112"/>
            <a:ext cx="0" cy="950976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752344" y="3191256"/>
            <a:ext cx="896112" cy="932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743200" y="3182112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2743200" y="3657600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37" name="Text 32"/>
          <p:cNvSpPr txBox="1"/>
          <p:nvPr/>
        </p:nvSpPr>
        <p:spPr>
          <a:xfrm>
            <a:off x="3520440" y="3182112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5532120" y="3182112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7543800" y="3182112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40" name="Shape 35"/>
          <p:cNvSpPr/>
          <p:nvPr/>
        </p:nvSpPr>
        <p:spPr>
          <a:xfrm>
            <a:off x="6080760" y="3657600"/>
            <a:ext cx="0" cy="475488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41" name="Text 36"/>
          <p:cNvSpPr txBox="1"/>
          <p:nvPr/>
        </p:nvSpPr>
        <p:spPr>
          <a:xfrm>
            <a:off x="4663440" y="37124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42" name="Text 37"/>
          <p:cNvSpPr txBox="1"/>
          <p:nvPr/>
        </p:nvSpPr>
        <p:spPr>
          <a:xfrm>
            <a:off x="5888736" y="3712464"/>
            <a:ext cx="384048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38"/>
          <p:cNvSpPr txBox="1"/>
          <p:nvPr/>
        </p:nvSpPr>
        <p:spPr>
          <a:xfrm>
            <a:off x="6675120" y="37124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1719072" cy="1289304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548640" y="4581144"/>
            <a:ext cx="11091672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46" name="Text 40"/>
          <p:cNvSpPr txBox="1"/>
          <p:nvPr/>
        </p:nvSpPr>
        <p:spPr>
          <a:xfrm>
            <a:off x="8778240" y="4764024"/>
            <a:ext cx="2743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en-US" sz="24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en-US" sz="24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− 2x + 3</a:t>
            </a:r>
            <a:endParaRPr lang="en-US" sz="2400" dirty="0"/>
          </a:p>
        </p:txBody>
      </p:sp>
      <p:sp>
        <p:nvSpPr>
          <p:cNvPr id="47" name="Text 41"/>
          <p:cNvSpPr txBox="1"/>
          <p:nvPr/>
        </p:nvSpPr>
        <p:spPr>
          <a:xfrm>
            <a:off x="8778240" y="5358384"/>
            <a:ext cx="2743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−8 &lt; 0</a:t>
            </a:r>
            <a:endParaRPr lang="en-US" sz="1800" dirty="0"/>
          </a:p>
        </p:txBody>
      </p:sp>
      <p:sp>
        <p:nvSpPr>
          <p:cNvPr id="48" name="Shape 42"/>
          <p:cNvSpPr/>
          <p:nvPr/>
        </p:nvSpPr>
        <p:spPr>
          <a:xfrm>
            <a:off x="2743200" y="4855464"/>
            <a:ext cx="5760720" cy="950976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2743200" y="5330952"/>
            <a:ext cx="576072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657600" y="4855464"/>
            <a:ext cx="0" cy="950976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2752344" y="4864608"/>
            <a:ext cx="896112" cy="932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2743200" y="4855464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53" name="Text 47"/>
          <p:cNvSpPr txBox="1"/>
          <p:nvPr/>
        </p:nvSpPr>
        <p:spPr>
          <a:xfrm>
            <a:off x="2743200" y="5330952"/>
            <a:ext cx="9144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3520440" y="4855464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55" name="Text 49"/>
          <p:cNvSpPr txBox="1"/>
          <p:nvPr/>
        </p:nvSpPr>
        <p:spPr>
          <a:xfrm>
            <a:off x="7543800" y="4855464"/>
            <a:ext cx="10972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56" name="Text 50"/>
          <p:cNvSpPr txBox="1"/>
          <p:nvPr/>
        </p:nvSpPr>
        <p:spPr>
          <a:xfrm>
            <a:off x="5669280" y="53858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90872"/>
            <a:ext cx="1719072" cy="12893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لكلٍّ حسب حاجته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الفروقات الفرديّة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0744200" y="14173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15956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0080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3"/>
                </a:solidFill>
              </a:rPr>
              <a:t>دعم: جدول قيم جاهز</a:t>
            </a:r>
            <a:endParaRPr lang="ar-SA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6400800" y="2057400"/>
            <a:ext cx="5074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</a:t>
            </a:r>
            <a:pPr algn="ctr" indent="0" marL="0">
              <a:buNone/>
            </a:pPr>
            <a:r>
              <a:rPr lang="en-US" sz="20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0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x − 6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743200"/>
          <a:ext cx="5074920" cy="914400"/>
        </p:xfrm>
        <a:graphic>
          <a:graphicData uri="http://schemas.openxmlformats.org/drawingml/2006/table">
            <a:tbl>
              <a:tblPr/>
              <a:tblGrid>
                <a:gridCol w="758952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  <a:gridCol w="53949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x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i="1" dirty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f(x)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D4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223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5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5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5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2452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−4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223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7D4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6400800" y="397764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0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← جذر: المنحنى يقطع المحور</a:t>
            </a:r>
            <a:endParaRPr lang="ar-SA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6400800" y="448056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2F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&gt; 0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← المنحنى فوق المحور</a:t>
            </a:r>
            <a:endParaRPr lang="ar-SA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6400800" y="4983480"/>
            <a:ext cx="50749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rgbClr val="C24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&lt; 0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← المنحنى تحت المحور</a:t>
            </a:r>
            <a:endParaRPr lang="ar-SA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029200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08" y="15956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152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100" b="1" dirty="0">
                <a:solidFill>
                  <a:schemeClr val="accent2"/>
                </a:solidFill>
              </a:rPr>
              <a:t>إثراء: ماذا يتغيّر إذا كان </a:t>
            </a:r>
            <a:pPr algn="r" indent="0" marL="0">
              <a:buNone/>
            </a:pPr>
            <a:r>
              <a:rPr lang="ar-SA" altLang="en-US" sz="21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&lt; 0</a:t>
            </a:r>
            <a:pPr rtl="1" algn="r" indent="0" marL="0">
              <a:buNone/>
            </a:pPr>
            <a:r>
              <a:rPr lang="ar-SA" altLang="en-US" sz="2100" b="1" dirty="0">
                <a:solidFill>
                  <a:schemeClr val="accent2"/>
                </a:solidFill>
              </a:rPr>
              <a:t>؟</a:t>
            </a:r>
            <a:endParaRPr lang="ar-SA" sz="2100" dirty="0"/>
          </a:p>
        </p:txBody>
      </p:sp>
      <p:sp>
        <p:nvSpPr>
          <p:cNvPr id="20" name="Text 13"/>
          <p:cNvSpPr txBox="1"/>
          <p:nvPr/>
        </p:nvSpPr>
        <p:spPr>
          <a:xfrm>
            <a:off x="7315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−x</a:t>
            </a:r>
            <a:pPr algn="ctr" indent="0" marL="0">
              <a:buNone/>
            </a:pPr>
            <a:r>
              <a:rPr lang="en-US" sz="2000" b="1" i="1" baseline="3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0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x + 6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7315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ارسم أو تخيّل المنحنى، ثم قارن مع x² − x − 6</a:t>
            </a:r>
            <a:endParaRPr lang="ar-SA" sz="1500" dirty="0"/>
          </a:p>
        </p:txBody>
      </p:sp>
      <p:sp>
        <p:nvSpPr>
          <p:cNvPr id="22" name="rv1_37"/>
          <p:cNvSpPr/>
          <p:nvPr/>
        </p:nvSpPr>
        <p:spPr>
          <a:xfrm>
            <a:off x="777240" y="3108960"/>
            <a:ext cx="4937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23" name="rv1_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54680"/>
            <a:ext cx="2743200" cy="2057400"/>
          </a:xfrm>
          <a:prstGeom prst="rect">
            <a:avLst/>
          </a:prstGeom>
        </p:spPr>
      </p:pic>
      <p:sp>
        <p:nvSpPr>
          <p:cNvPr id="24" name="rv1_39"/>
          <p:cNvSpPr txBox="1"/>
          <p:nvPr/>
        </p:nvSpPr>
        <p:spPr>
          <a:xfrm>
            <a:off x="731520" y="534924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تنقلب الإشارات: موجبة بين الجذرين وسالبة خارجهما</a:t>
            </a:r>
            <a:endParaRPr lang="ar-SA" sz="1500" dirty="0"/>
          </a:p>
        </p:txBody>
      </p:sp>
      <p:sp>
        <p:nvSpPr>
          <p:cNvPr id="25" name="rv1_40"/>
          <p:cNvSpPr txBox="1"/>
          <p:nvPr/>
        </p:nvSpPr>
        <p:spPr>
          <a:xfrm>
            <a:off x="731520" y="5733288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القاعدة نفسها: إشارة </a:t>
            </a:r>
            <a:pPr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ctr" indent="0" marL="0">
              <a:buNone/>
            </a:pPr>
            <a:r>
              <a:rPr lang="ar-SA" altLang="en-US" sz="1500" dirty="0">
                <a:solidFill>
                  <a:schemeClr val="bg1"/>
                </a:solidFill>
              </a:rPr>
              <a:t> خارج الجذرين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تقييم شفهي: من دون رسم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أسئلة شفهيّة</a:t>
            </a:r>
            <a:endParaRPr lang="ar-SA" sz="1400" dirty="0"/>
          </a:p>
        </p:txBody>
      </p:sp>
      <p:sp>
        <p:nvSpPr>
          <p:cNvPr id="7" name="Shape 3"/>
          <p:cNvSpPr/>
          <p:nvPr/>
        </p:nvSpPr>
        <p:spPr>
          <a:xfrm>
            <a:off x="6245352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11000232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00023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28232" y="137160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8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− 4x + 3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428232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5B6878"/>
                </a:solidFill>
              </a:rPr>
              <a:t>ما إشارة f(x)؟</a:t>
            </a:r>
            <a:endParaRPr lang="ar-SA" sz="1800" dirty="0"/>
          </a:p>
        </p:txBody>
      </p:sp>
      <p:sp>
        <p:nvSpPr>
          <p:cNvPr id="12" name="rv1_41"/>
          <p:cNvSpPr txBox="1"/>
          <p:nvPr/>
        </p:nvSpPr>
        <p:spPr>
          <a:xfrm>
            <a:off x="6428232" y="274320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16 − 12 = 4 &gt; 0</a:t>
            </a:r>
            <a:endParaRPr lang="en-US" sz="2200" dirty="0"/>
          </a:p>
        </p:txBody>
      </p:sp>
      <p:sp>
        <p:nvSpPr>
          <p:cNvPr id="13" name="rv1_42"/>
          <p:cNvSpPr txBox="1"/>
          <p:nvPr/>
        </p:nvSpPr>
        <p:spPr>
          <a:xfrm>
            <a:off x="6428232" y="333756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الجذران 1 و 3</a:t>
            </a:r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  ،  </a:t>
            </a:r>
            <a:pPr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1 &gt; 0</a:t>
            </a:r>
            <a:endParaRPr lang="ar-SA" sz="1800" dirty="0"/>
          </a:p>
        </p:txBody>
      </p:sp>
      <p:sp>
        <p:nvSpPr>
          <p:cNvPr id="14" name="Shape 10"/>
          <p:cNvSpPr/>
          <p:nvPr/>
        </p:nvSpPr>
        <p:spPr>
          <a:xfrm>
            <a:off x="6565392" y="4069080"/>
            <a:ext cx="475488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65392" y="4572000"/>
            <a:ext cx="475488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79792" y="4069080"/>
            <a:ext cx="0" cy="100584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74536" y="4078224"/>
            <a:ext cx="896112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65392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565392" y="4572000"/>
            <a:ext cx="914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342632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348472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9354312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0360152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8897112" y="4572000"/>
            <a:ext cx="0" cy="50292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9902952" y="4572000"/>
            <a:ext cx="0" cy="50292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6" name="rv1_43"/>
          <p:cNvSpPr txBox="1"/>
          <p:nvPr/>
        </p:nvSpPr>
        <p:spPr>
          <a:xfrm>
            <a:off x="7982712" y="462686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rv1_44"/>
          <p:cNvSpPr txBox="1"/>
          <p:nvPr/>
        </p:nvSpPr>
        <p:spPr>
          <a:xfrm>
            <a:off x="8705088" y="4626864"/>
            <a:ext cx="384048" cy="3931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rv1_45"/>
          <p:cNvSpPr txBox="1"/>
          <p:nvPr/>
        </p:nvSpPr>
        <p:spPr>
          <a:xfrm>
            <a:off x="8988552" y="462686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200" dirty="0"/>
          </a:p>
        </p:txBody>
      </p:sp>
      <p:sp>
        <p:nvSpPr>
          <p:cNvPr id="29" name="rv1_46"/>
          <p:cNvSpPr txBox="1"/>
          <p:nvPr/>
        </p:nvSpPr>
        <p:spPr>
          <a:xfrm>
            <a:off x="9710928" y="4626864"/>
            <a:ext cx="384048" cy="3931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rv1_47"/>
          <p:cNvSpPr txBox="1"/>
          <p:nvPr/>
        </p:nvSpPr>
        <p:spPr>
          <a:xfrm>
            <a:off x="9994392" y="462686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1" name="rv1_48"/>
          <p:cNvSpPr txBox="1"/>
          <p:nvPr/>
        </p:nvSpPr>
        <p:spPr>
          <a:xfrm>
            <a:off x="6428232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tx2"/>
                </a:solidFill>
              </a:rPr>
              <a:t>سالبة بين 1 و 3، موجبة خارجهما</a:t>
            </a:r>
            <a:endParaRPr lang="ar-SA" sz="1800" dirty="0"/>
          </a:p>
        </p:txBody>
      </p:sp>
      <p:sp>
        <p:nvSpPr>
          <p:cNvPr id="32" name="Shape 28"/>
          <p:cNvSpPr/>
          <p:nvPr/>
        </p:nvSpPr>
        <p:spPr>
          <a:xfrm>
            <a:off x="548640" y="1234440"/>
            <a:ext cx="5394960" cy="4983480"/>
          </a:xfrm>
          <a:prstGeom prst="roundRect">
            <a:avLst>
              <a:gd name="adj" fmla="val 2202"/>
            </a:avLst>
          </a:prstGeom>
          <a:solidFill>
            <a:schemeClr val="bg1"/>
          </a:solidFill>
          <a:ln w="9525">
            <a:solidFill>
              <a:srgbClr val="DCE2E9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4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30352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303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" y="1371600"/>
            <a:ext cx="4480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−x</a:t>
            </a:r>
            <a:pPr algn="ctr" indent="0" marL="0">
              <a:buNone/>
            </a:pPr>
            <a:r>
              <a:rPr lang="en-US" sz="28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28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+ 2x − 5</a:t>
            </a:r>
            <a:endParaRPr lang="en-US" sz="2800" dirty="0"/>
          </a:p>
        </p:txBody>
      </p:sp>
      <p:sp>
        <p:nvSpPr>
          <p:cNvPr id="36" name="Text 32"/>
          <p:cNvSpPr txBox="1"/>
          <p:nvPr/>
        </p:nvSpPr>
        <p:spPr>
          <a:xfrm>
            <a:off x="73152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rgbClr val="5B6878"/>
                </a:solidFill>
              </a:rPr>
              <a:t>ما إشارة f(x)؟</a:t>
            </a:r>
            <a:endParaRPr lang="ar-SA" sz="1800" dirty="0"/>
          </a:p>
        </p:txBody>
      </p:sp>
      <p:sp>
        <p:nvSpPr>
          <p:cNvPr id="37" name="rv2_49"/>
          <p:cNvSpPr txBox="1"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4 − 20 = −16 &lt; 0</a:t>
            </a:r>
            <a:endParaRPr lang="en-US" sz="2200" dirty="0"/>
          </a:p>
        </p:txBody>
      </p:sp>
      <p:sp>
        <p:nvSpPr>
          <p:cNvPr id="38" name="rv2_50"/>
          <p:cNvSpPr txBox="1"/>
          <p:nvPr/>
        </p:nvSpPr>
        <p:spPr>
          <a:xfrm>
            <a:off x="731520" y="3337560"/>
            <a:ext cx="5029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لا جذور</a:t>
            </a:r>
            <a:pPr rtl="1"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  ،  </a:t>
            </a:r>
            <a:pPr algn="ct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−1 &lt; 0</a:t>
            </a:r>
            <a:endParaRPr lang="ar-SA" sz="1800" dirty="0"/>
          </a:p>
        </p:txBody>
      </p:sp>
      <p:sp>
        <p:nvSpPr>
          <p:cNvPr id="39" name="Shape 35"/>
          <p:cNvSpPr/>
          <p:nvPr/>
        </p:nvSpPr>
        <p:spPr>
          <a:xfrm>
            <a:off x="868680" y="4069080"/>
            <a:ext cx="475488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68680" y="4572000"/>
            <a:ext cx="475488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783080" y="4069080"/>
            <a:ext cx="0" cy="100584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77824" y="4078224"/>
            <a:ext cx="896112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6868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868680" y="4572000"/>
            <a:ext cx="914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endParaRPr lang="en-US" sz="1600" dirty="0"/>
          </a:p>
        </p:txBody>
      </p:sp>
      <p:sp>
        <p:nvSpPr>
          <p:cNvPr id="45" name="Text 41"/>
          <p:cNvSpPr txBox="1"/>
          <p:nvPr/>
        </p:nvSpPr>
        <p:spPr>
          <a:xfrm>
            <a:off x="164592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466344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47" name="rv2_51"/>
          <p:cNvSpPr txBox="1"/>
          <p:nvPr/>
        </p:nvSpPr>
        <p:spPr>
          <a:xfrm>
            <a:off x="3291840" y="4626864"/>
            <a:ext cx="822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200" dirty="0"/>
          </a:p>
        </p:txBody>
      </p:sp>
      <p:sp>
        <p:nvSpPr>
          <p:cNvPr id="48" name="rv2_52"/>
          <p:cNvSpPr txBox="1"/>
          <p:nvPr/>
        </p:nvSpPr>
        <p:spPr>
          <a:xfrm>
            <a:off x="73152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سالبة دائمًا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6" grpId="0"/>
      <p:bldP spid="27" grpId="0"/>
      <p:bldP spid="28" grpId="0"/>
      <p:bldP spid="29" grpId="0"/>
      <p:bldP spid="30" grpId="0"/>
      <p:bldP spid="31" grpId="0"/>
      <p:bldP spid="37" grpId="0"/>
      <p:bldP spid="38" grpId="0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840480" y="292608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chemeClr val="tx2"/>
                </a:solidFill>
              </a:rPr>
              <a:t>الواجب البيتي</a:t>
            </a:r>
            <a:endParaRPr lang="ar-SA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429768"/>
            <a:ext cx="30175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539496"/>
            <a:ext cx="283464" cy="2834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429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الواجب البيتي</a:t>
            </a:r>
            <a:endParaRPr lang="ar-SA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280160"/>
            <a:ext cx="6153912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2"/>
                </a:solidFill>
              </a:rPr>
              <a:t>ادرس إشارة كلٍّ من:</a:t>
            </a:r>
            <a:endParaRPr lang="ar-SA" sz="2200" dirty="0"/>
          </a:p>
        </p:txBody>
      </p:sp>
      <p:sp>
        <p:nvSpPr>
          <p:cNvPr id="8" name="Shape 4"/>
          <p:cNvSpPr/>
          <p:nvPr/>
        </p:nvSpPr>
        <p:spPr>
          <a:xfrm>
            <a:off x="6245352" y="192024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000232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00023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28232" y="1920240"/>
            <a:ext cx="44805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pPr algn="ctr" indent="0" marL="0">
              <a:buNone/>
            </a:pPr>
            <a:r>
              <a:rPr lang="en-US" sz="32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− 3x − 2</a:t>
            </a:r>
            <a:endParaRPr lang="en-US" sz="3200" dirty="0"/>
          </a:p>
        </p:txBody>
      </p:sp>
      <p:sp>
        <p:nvSpPr>
          <p:cNvPr id="12" name="Shape 8"/>
          <p:cNvSpPr/>
          <p:nvPr/>
        </p:nvSpPr>
        <p:spPr>
          <a:xfrm>
            <a:off x="548640" y="1920240"/>
            <a:ext cx="5394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303520" y="2331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" y="1920240"/>
            <a:ext cx="448056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3200" b="1" i="1" baseline="300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3200" b="1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+ 6x + 9</a:t>
            </a:r>
            <a:endParaRPr lang="en-US" sz="3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3383280"/>
            <a:ext cx="1109167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ctr" indent="0" marL="0">
              <a:buNone/>
            </a:pPr>
            <a:r>
              <a:rPr lang="ar-SA" altLang="en-US" sz="1700" dirty="0">
                <a:solidFill>
                  <a:srgbClr val="5B6878"/>
                </a:solidFill>
              </a:rPr>
              <a:t>خطوات: احسب Δ ← حدّد الجذور ← انظر إلى إشارة a ← ارسم جدول الإشارة</a:t>
            </a:r>
            <a:endParaRPr lang="ar-SA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11091672" cy="2103120"/>
          </a:xfrm>
          <a:prstGeom prst="roundRect">
            <a:avLst>
              <a:gd name="adj" fmla="val 521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50000"/>
              </a:scheme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835640" y="4251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061" y="441838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943600" y="4297680"/>
            <a:ext cx="4754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900" b="1" dirty="0">
                <a:solidFill>
                  <a:schemeClr val="accent3"/>
                </a:solidFill>
              </a:rPr>
              <a:t>بطاقة دعم: أكمل جدول إشارة </a:t>
            </a:r>
            <a:pPr algn="r" indent="0" marL="0">
              <a:buNone/>
            </a:pPr>
            <a:r>
              <a:rPr lang="ar-SA" alt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ar-SA" altLang="en-US" sz="1900" b="1" baseline="300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ar-SA" alt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− 9</a:t>
            </a:r>
            <a:endParaRPr lang="ar-SA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94360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تلميح: </a:t>
            </a:r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r" indent="0" marL="0">
              <a:buNone/>
            </a:pPr>
            <a:r>
              <a:rPr lang="ar-SA" altLang="en-US" sz="16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− 9 = 0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عندما </a:t>
            </a:r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−3</a:t>
            </a:r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 أو </a:t>
            </a:r>
            <a:pPr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</a:t>
            </a:r>
            <a:endParaRPr lang="ar-SA" sz="1600" dirty="0"/>
          </a:p>
        </p:txBody>
      </p:sp>
      <p:sp>
        <p:nvSpPr>
          <p:cNvPr id="22" name="Shape 17"/>
          <p:cNvSpPr/>
          <p:nvPr/>
        </p:nvSpPr>
        <p:spPr>
          <a:xfrm>
            <a:off x="777240" y="4526280"/>
            <a:ext cx="493776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9AA5B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5074920"/>
            <a:ext cx="4937760" cy="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783080" y="4526280"/>
            <a:ext cx="0" cy="1097280"/>
          </a:xfrm>
          <a:prstGeom prst="line">
            <a:avLst/>
          </a:prstGeom>
          <a:noFill/>
          <a:ln w="15875">
            <a:solidFill>
              <a:srgbClr val="9AA5B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86384" y="4535424"/>
            <a:ext cx="987552" cy="10789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77240" y="4526280"/>
            <a:ext cx="1005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" y="5074920"/>
            <a:ext cx="1005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1600" i="1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1645920" y="45262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−∞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2682240" y="45262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3718560" y="45262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4754880" y="4526280"/>
            <a:ext cx="10972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+∞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3230880" y="5074920"/>
            <a:ext cx="0" cy="54864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33" name="Shape 28"/>
          <p:cNvSpPr/>
          <p:nvPr/>
        </p:nvSpPr>
        <p:spPr>
          <a:xfrm>
            <a:off x="4267200" y="5074920"/>
            <a:ext cx="0" cy="548640"/>
          </a:xfrm>
          <a:prstGeom prst="line">
            <a:avLst/>
          </a:prstGeom>
          <a:noFill/>
          <a:ln w="12700">
            <a:solidFill>
              <a:srgbClr val="C9D2DE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7C879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502920"/>
            <a:ext cx="962863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خلاصة الحصّة</a:t>
            </a:r>
            <a:endParaRPr lang="ar-SA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600200"/>
            <a:ext cx="107259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835640" y="18013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3564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1</a:t>
            </a:r>
            <a:endParaRPr lang="en-US" sz="1456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00200"/>
            <a:ext cx="9784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المنحنى فوق محور الفواصل: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 موجبة؛ وتحته: سالبة</a:t>
            </a:r>
            <a:endParaRPr lang="ar-SA" sz="220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107259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35640" y="289864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835640" y="2898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2</a:t>
            </a:r>
            <a:endParaRPr lang="en-US" sz="1456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697480"/>
            <a:ext cx="9784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&gt; 0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: إشارة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 خارج الجذرين، وعكسها بينهما</a:t>
            </a:r>
            <a:endParaRPr lang="ar-SA" sz="2200" dirty="0"/>
          </a:p>
        </p:txBody>
      </p:sp>
      <p:sp>
        <p:nvSpPr>
          <p:cNvPr id="12" name="Shape 9"/>
          <p:cNvSpPr/>
          <p:nvPr/>
        </p:nvSpPr>
        <p:spPr>
          <a:xfrm>
            <a:off x="731520" y="3794760"/>
            <a:ext cx="107259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35640" y="399592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83564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3</a:t>
            </a:r>
            <a:endParaRPr lang="en-US" sz="1456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794760"/>
            <a:ext cx="9784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0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: إشارة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، وتنعدم عند الجذر المضاعف</a:t>
            </a:r>
            <a:endParaRPr lang="ar-SA" sz="2200" dirty="0"/>
          </a:p>
        </p:txBody>
      </p:sp>
      <p:sp>
        <p:nvSpPr>
          <p:cNvPr id="16" name="Shape 13"/>
          <p:cNvSpPr/>
          <p:nvPr/>
        </p:nvSpPr>
        <p:spPr>
          <a:xfrm>
            <a:off x="731520" y="4892040"/>
            <a:ext cx="1072591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35640" y="509320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83564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chemeClr val="bg1"/>
                </a:solidFill>
              </a:rPr>
              <a:t>4</a:t>
            </a:r>
            <a:endParaRPr lang="en-US" sz="1456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892040"/>
            <a:ext cx="97840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&lt; 0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: إشارة </a:t>
            </a:r>
            <a:pPr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 دائمًا</a:t>
            </a:r>
            <a:endParaRPr lang="ar-SA" sz="22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669280" y="1463040"/>
            <a:ext cx="5971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nomial sign">
  <a:themeElements>
    <a:clrScheme name="Trinomial sign">
      <a:dk1>
        <a:srgbClr val="172231"/>
      </a:dk1>
      <a:lt1>
        <a:srgbClr val="FFFFFF"/>
      </a:lt1>
      <a:dk2>
        <a:srgbClr val="123B4A"/>
      </a:dk2>
      <a:lt2>
        <a:srgbClr val="EDF3F5"/>
      </a:lt2>
      <a:accent1>
        <a:srgbClr val="1F6F8B"/>
      </a:accent1>
      <a:accent2>
        <a:srgbClr val="F2A541"/>
      </a:accent2>
      <a:accent3>
        <a:srgbClr val="2F7D46"/>
      </a:accent3>
      <a:accent4>
        <a:srgbClr val="C2452F"/>
      </a:accent4>
      <a:accent5>
        <a:srgbClr val="6C4AB6"/>
      </a:accent5>
      <a:accent6>
        <a:srgbClr val="4F5C6E"/>
      </a:accent6>
      <a:hlink>
        <a:srgbClr val="1F6F8B"/>
      </a:hlink>
      <a:folHlink>
        <a:srgbClr val="6C4AB6"/>
      </a:folHlink>
    </a:clrScheme>
    <a:fontScheme name="Trinomial sig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إشارة ثلاثي الحدود من الدرجة الثانية</dc:title>
  <dc:subject>رياضيات – المتراجحات من الدرجة الثانية</dc:subject>
  <dc:creator>Mohamad Abdallah</dc:creator>
  <cp:lastModifiedBy>Mohamad Abdallah</cp:lastModifiedBy>
  <cp:revision>1</cp:revision>
  <dcterms:created xsi:type="dcterms:W3CDTF">2026-10-11T17:35:36Z</dcterms:created>
  <dcterms:modified xsi:type="dcterms:W3CDTF">2026-10-11T17:35:36Z</dcterms:modified>
</cp:coreProperties>
</file>