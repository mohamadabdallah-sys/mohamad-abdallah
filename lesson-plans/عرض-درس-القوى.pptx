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البداية" id="{188a294e-be67-560b-2951-a49288088c01}">
          <p14:sldIdLst>
            <p14:sldId id="256"/>
            <p14:sldId id="257"/>
          </p14:sldIdLst>
        </p14:section>
        <p14:section name="التمهيد" id="{ebd9c3a4-0bc0-3b9c-d07b-3d7e948d4fdb}">
          <p14:sldIdLst>
            <p14:sldId id="258"/>
            <p14:sldId id="259"/>
          </p14:sldIdLst>
        </p14:section>
        <p14:section name="الاستكشاف" id="{4666168c-653f-2be4-224b-68fc2c1776ff}">
          <p14:sldIdLst>
            <p14:sldId id="260"/>
            <p14:sldId id="261"/>
            <p14:sldId id="262"/>
            <p14:sldId id="263"/>
            <p14:sldId id="264"/>
          </p14:sldIdLst>
        </p14:section>
        <p14:section name="التطبيق التمايزي" id="{7f302da9-a4fb-ca21-c11b-da7a9d322539}">
          <p14:sldIdLst>
            <p14:sldId id="265"/>
            <p14:sldId id="266"/>
            <p14:sldId id="267"/>
            <p14:sldId id="268"/>
          </p14:sldIdLst>
        </p14:section>
        <p14:section name="التقييم" id="{5d6abf74-a060-7930-72b2-cbc3a1e7efdf}">
          <p14:sldIdLst>
            <p14:sldId id="269"/>
            <p14:sldId id="270"/>
            <p14:sldId id="271"/>
          </p14:sldIdLst>
        </p14:section>
        <p14:section name="الخلاصة" id="{f7bc2589-8cf0-e874-1327-ff5a426841b0}">
          <p14:sldIdLst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الحصة الأولى من درس القوى: الانتقال من الضرب المتكرر إلى الترميز aⁿ وتحديد الأساس والأس.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سرد القصة بإيجاز، ثم سؤال التلاميذ شفهياً عن عدد الحبات في المربعات 4 و5 و6 وكتابتها كجداء على اللوح.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فكّر – زاوج – شارك. الجواب المتوقع: 8 = 2×2×2 ، 16 = 2×2×2×2. بعد 10 طيّات: 1024 طبقة. للمتفوقين: 7 طيّات = 128 طبقة.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مثال محلول في رأس البطاقة: 6×6×6 = 6³ (الأساس 6، الأس 3). الأجوبة: 3⁴ ، 7² ، 10³ / الأساس 5 والأس 3، 5×5×5 = 125 / 8 ، 16.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الأجوبة: 81 ، 100000 ، 1 ، 0 / 2³ = 8 ≠ 6 ، 3² = 9 / 32 = 2⁵ ، 81 = 3⁴ (أو 9²).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الأجوبة: 2⁶ = 64 خلية / 64 = 2⁶ = 4³ = 8² / 2⁵ = 32 &gt; 5² = 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فردياً، 5 دقائق. ثم أسئلة شفهية: ما الفرق بين 3² و 3×2؟ ماذا يمثل الأس؟ تُصنَّف النتائج لتوجيه الحصة التالية.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3291840" y="1325880"/>
            <a:ext cx="539496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algn="r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3291840" y="2560320"/>
            <a:ext cx="539496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en-US" sz="2400" dirty="0">
                <a:solidFill>
                  <a:schemeClr val="accent1"/>
                </a:solidFill>
              </a:defRPr>
            </a:lvl1pPr>
          </a:lstStyle>
          <a:p>
            <a:pPr algn="r" indent="0" marL="0">
              <a:buNone/>
            </a:pPr>
            <a:endParaRPr lang="en-US" sz="2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2926080" y="274320"/>
            <a:ext cx="576072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r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029200" y="47548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8794"/>
                </a:solidFill>
              </a:rPr>
              <a:t>رياضيات – الصف السابع · القوى (1/8)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79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79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3291840" y="1325880"/>
            <a:ext cx="53949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القوى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3291840" y="2560320"/>
            <a:ext cx="53949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2400" dirty="0">
                <a:solidFill>
                  <a:schemeClr val="accent1"/>
                </a:solidFill>
              </a:rPr>
              <a:t>مفهوم القوة · الأساس والأس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3291840" y="329184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600" dirty="0">
                <a:solidFill>
                  <a:srgbClr val="CFE3EA"/>
                </a:solidFill>
              </a:rPr>
              <a:t>رياضيات – الصف السابع  |  الحصة 1 من 8</a:t>
            </a:r>
            <a:endParaRPr lang="ar-SA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1097280"/>
            <a:ext cx="2377440" cy="23774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1097280"/>
            <a:ext cx="2377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0B4F6C"/>
                </a:solidFill>
              </a:rPr>
              <a:t>2</a:t>
            </a:r>
            <a:pPr algn="ctr" indent="0" marL="0">
              <a:buNone/>
            </a:pPr>
            <a:r>
              <a:rPr lang="en-US" sz="6600" b="1" baseline="30000" dirty="0">
                <a:solidFill>
                  <a:srgbClr val="0B4F6C"/>
                </a:solidFill>
              </a:rPr>
              <a:t>n</a:t>
            </a:r>
            <a:endParaRPr lang="en-US" sz="6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2926080" y="274320"/>
            <a:ext cx="5760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أهداف الحصة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7680960" cy="658368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366760" y="1307592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366760" y="13075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234440"/>
            <a:ext cx="74066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2000" dirty="0">
                <a:solidFill>
                  <a:schemeClr val="tx1"/>
                </a:solidFill>
              </a:rPr>
              <a:t>أكتب جداء عوامل متساوية على شكل قوة ‪aⁿ‬</a:t>
            </a:r>
            <a:endParaRPr lang="ar-SA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057400"/>
            <a:ext cx="7680960" cy="658368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366760" y="2130552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366760" y="21305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057400"/>
            <a:ext cx="74066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2000" dirty="0">
                <a:solidFill>
                  <a:schemeClr val="tx1"/>
                </a:solidFill>
              </a:rPr>
              <a:t>أحدّد الأساس والأس في قوة وأقرؤها قراءة صحيحة</a:t>
            </a:r>
            <a:endParaRPr lang="ar-SA" sz="2000" dirty="0"/>
          </a:p>
        </p:txBody>
      </p:sp>
      <p:sp>
        <p:nvSpPr>
          <p:cNvPr id="11" name="Shape 9"/>
          <p:cNvSpPr/>
          <p:nvPr/>
        </p:nvSpPr>
        <p:spPr>
          <a:xfrm>
            <a:off x="548640" y="2880360"/>
            <a:ext cx="7680960" cy="658368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366760" y="2953512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366760" y="29535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2880360"/>
            <a:ext cx="74066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2000" dirty="0">
                <a:solidFill>
                  <a:schemeClr val="tx1"/>
                </a:solidFill>
              </a:rPr>
              <a:t>أحسب قيمة قوة: مربّع العدد ومكعّبه</a:t>
            </a:r>
            <a:endParaRPr lang="ar-SA" sz="2000" dirty="0"/>
          </a:p>
        </p:txBody>
      </p:sp>
      <p:sp>
        <p:nvSpPr>
          <p:cNvPr id="15" name="Shape 13"/>
          <p:cNvSpPr/>
          <p:nvPr/>
        </p:nvSpPr>
        <p:spPr>
          <a:xfrm>
            <a:off x="548640" y="3703320"/>
            <a:ext cx="7680960" cy="658368"/>
          </a:xfrm>
          <a:prstGeom prst="roundRect">
            <a:avLst>
              <a:gd name="adj" fmla="val 1666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366760" y="3776472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366760" y="3776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3703320"/>
            <a:ext cx="74066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2000" dirty="0">
                <a:solidFill>
                  <a:schemeClr val="tx1"/>
                </a:solidFill>
              </a:rPr>
              <a:t>أميّز بين القوة ‪2³‬ والجداء ‪2×3‬</a:t>
            </a:r>
            <a:endParaRPr lang="ar-SA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79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2926080" y="274320"/>
            <a:ext cx="5760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قصة رقعة الشطرنج</a:t>
            </a:r>
            <a:endParaRPr lang="en-US" sz="3000" dirty="0"/>
          </a:p>
        </p:txBody>
      </p:sp>
      <p:sp>
        <p:nvSpPr>
          <p:cNvPr id="3" name="stage pill"/>
          <p:cNvSpPr/>
          <p:nvPr/>
        </p:nvSpPr>
        <p:spPr>
          <a:xfrm>
            <a:off x="457200" y="411480"/>
            <a:ext cx="2194560" cy="411480"/>
          </a:xfrm>
          <a:prstGeom prst="roundRect">
            <a:avLst>
              <a:gd name="adj" fmla="val 48889"/>
            </a:avLst>
          </a:prstGeom>
          <a:solidFill>
            <a:schemeClr val="accent1"/>
          </a:solidFill>
          <a:ln/>
        </p:spPr>
      </p:sp>
      <p:sp>
        <p:nvSpPr>
          <p:cNvPr id="4" name="stage label"/>
          <p:cNvSpPr txBox="1"/>
          <p:nvPr/>
        </p:nvSpPr>
        <p:spPr>
          <a:xfrm>
            <a:off x="457200" y="4114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" b="1" dirty="0">
                <a:solidFill>
                  <a:schemeClr val="bg1"/>
                </a:solidFill>
              </a:rPr>
              <a:t>التمهيد · 5 د</a:t>
            </a:r>
            <a:endParaRPr lang="ar-SA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143000"/>
            <a:ext cx="393192" cy="393192"/>
          </a:xfrm>
          <a:prstGeom prst="rect">
            <a:avLst/>
          </a:prstGeom>
          <a:solidFill>
            <a:schemeClr val="bg2"/>
          </a:solidFill>
          <a:ln w="6350">
            <a:solidFill>
              <a:srgbClr val="C9D6D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41832" y="1143000"/>
            <a:ext cx="393192" cy="393192"/>
          </a:xfrm>
          <a:prstGeom prst="rect">
            <a:avLst/>
          </a:prstGeom>
          <a:solidFill>
            <a:schemeClr val="tx2"/>
          </a:solidFill>
          <a:ln w="6350">
            <a:solidFill>
              <a:srgbClr val="C9D6D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35024" y="1143000"/>
            <a:ext cx="393192" cy="393192"/>
          </a:xfrm>
          <a:prstGeom prst="rect">
            <a:avLst/>
          </a:prstGeom>
          <a:solidFill>
            <a:schemeClr val="bg2"/>
          </a:solidFill>
          <a:ln w="6350">
            <a:solidFill>
              <a:srgbClr val="C9D6D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728216" y="1143000"/>
            <a:ext cx="393192" cy="393192"/>
          </a:xfrm>
          <a:prstGeom prst="rect">
            <a:avLst/>
          </a:prstGeom>
          <a:solidFill>
            <a:schemeClr val="tx2"/>
          </a:solidFill>
          <a:ln w="6350">
            <a:solidFill>
              <a:srgbClr val="C9D6D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121408" y="1143000"/>
            <a:ext cx="393192" cy="393192"/>
          </a:xfrm>
          <a:prstGeom prst="rect">
            <a:avLst/>
          </a:prstGeom>
          <a:solidFill>
            <a:schemeClr val="bg2"/>
          </a:solidFill>
          <a:ln w="6350">
            <a:solidFill>
              <a:srgbClr val="C9D6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514600" y="1143000"/>
            <a:ext cx="393192" cy="393192"/>
          </a:xfrm>
          <a:prstGeom prst="rect">
            <a:avLst/>
          </a:prstGeom>
          <a:solidFill>
            <a:schemeClr val="tx2"/>
          </a:solidFill>
          <a:ln w="6350">
            <a:solidFill>
              <a:srgbClr val="C9D6D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907792" y="1143000"/>
            <a:ext cx="393192" cy="393192"/>
          </a:xfrm>
          <a:prstGeom prst="rect">
            <a:avLst/>
          </a:prstGeom>
          <a:solidFill>
            <a:schemeClr val="bg2"/>
          </a:solidFill>
          <a:ln w="6350">
            <a:solidFill>
              <a:srgbClr val="C9D6D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00984" y="1143000"/>
            <a:ext cx="393192" cy="393192"/>
          </a:xfrm>
          <a:prstGeom prst="rect">
            <a:avLst/>
          </a:prstGeom>
          <a:solidFill>
            <a:schemeClr val="tx2"/>
          </a:solidFill>
          <a:ln w="6350">
            <a:solidFill>
              <a:srgbClr val="C9D6D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1536192"/>
            <a:ext cx="393192" cy="393192"/>
          </a:xfrm>
          <a:prstGeom prst="rect">
            <a:avLst/>
          </a:prstGeom>
          <a:solidFill>
            <a:schemeClr val="tx2"/>
          </a:solidFill>
          <a:ln w="6350">
            <a:solidFill>
              <a:srgbClr val="C9D6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41832" y="1536192"/>
            <a:ext cx="393192" cy="393192"/>
          </a:xfrm>
          <a:prstGeom prst="rect">
            <a:avLst/>
          </a:prstGeom>
          <a:solidFill>
            <a:schemeClr val="bg2"/>
          </a:solidFill>
          <a:ln w="6350">
            <a:solidFill>
              <a:srgbClr val="C9D6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335024" y="1536192"/>
            <a:ext cx="393192" cy="393192"/>
          </a:xfrm>
          <a:prstGeom prst="rect">
            <a:avLst/>
          </a:prstGeom>
          <a:solidFill>
            <a:schemeClr val="tx2"/>
          </a:solidFill>
          <a:ln w="6350">
            <a:solidFill>
              <a:srgbClr val="C9D6D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28216" y="1536192"/>
            <a:ext cx="393192" cy="393192"/>
          </a:xfrm>
          <a:prstGeom prst="rect">
            <a:avLst/>
          </a:prstGeom>
          <a:solidFill>
            <a:schemeClr val="bg2"/>
          </a:solidFill>
          <a:ln w="6350">
            <a:solidFill>
              <a:srgbClr val="C9D6D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121408" y="1536192"/>
            <a:ext cx="393192" cy="393192"/>
          </a:xfrm>
          <a:prstGeom prst="rect">
            <a:avLst/>
          </a:prstGeom>
          <a:solidFill>
            <a:schemeClr val="tx2"/>
          </a:solidFill>
          <a:ln w="6350">
            <a:solidFill>
              <a:srgbClr val="C9D6D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14600" y="1536192"/>
            <a:ext cx="393192" cy="393192"/>
          </a:xfrm>
          <a:prstGeom prst="rect">
            <a:avLst/>
          </a:prstGeom>
          <a:solidFill>
            <a:schemeClr val="bg2"/>
          </a:solidFill>
          <a:ln w="6350">
            <a:solidFill>
              <a:srgbClr val="C9D6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907792" y="1536192"/>
            <a:ext cx="393192" cy="393192"/>
          </a:xfrm>
          <a:prstGeom prst="rect">
            <a:avLst/>
          </a:prstGeom>
          <a:solidFill>
            <a:schemeClr val="tx2"/>
          </a:solidFill>
          <a:ln w="6350">
            <a:solidFill>
              <a:srgbClr val="C9D6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00984" y="1536192"/>
            <a:ext cx="393192" cy="393192"/>
          </a:xfrm>
          <a:prstGeom prst="rect">
            <a:avLst/>
          </a:prstGeom>
          <a:solidFill>
            <a:schemeClr val="bg2"/>
          </a:solidFill>
          <a:ln w="6350">
            <a:solidFill>
              <a:srgbClr val="C9D6D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8640" y="1929384"/>
            <a:ext cx="393192" cy="393192"/>
          </a:xfrm>
          <a:prstGeom prst="rect">
            <a:avLst/>
          </a:prstGeom>
          <a:solidFill>
            <a:schemeClr val="bg2"/>
          </a:solidFill>
          <a:ln w="6350">
            <a:solidFill>
              <a:srgbClr val="C9D6D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41832" y="1929384"/>
            <a:ext cx="393192" cy="393192"/>
          </a:xfrm>
          <a:prstGeom prst="rect">
            <a:avLst/>
          </a:prstGeom>
          <a:solidFill>
            <a:schemeClr val="tx2"/>
          </a:solidFill>
          <a:ln w="6350">
            <a:solidFill>
              <a:srgbClr val="C9D6D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335024" y="1929384"/>
            <a:ext cx="393192" cy="393192"/>
          </a:xfrm>
          <a:prstGeom prst="rect">
            <a:avLst/>
          </a:prstGeom>
          <a:solidFill>
            <a:schemeClr val="bg2"/>
          </a:solidFill>
          <a:ln w="6350">
            <a:solidFill>
              <a:srgbClr val="C9D6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728216" y="1929384"/>
            <a:ext cx="393192" cy="393192"/>
          </a:xfrm>
          <a:prstGeom prst="rect">
            <a:avLst/>
          </a:prstGeom>
          <a:solidFill>
            <a:schemeClr val="tx2"/>
          </a:solidFill>
          <a:ln w="6350">
            <a:solidFill>
              <a:srgbClr val="C9D6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121408" y="1929384"/>
            <a:ext cx="393192" cy="393192"/>
          </a:xfrm>
          <a:prstGeom prst="rect">
            <a:avLst/>
          </a:prstGeom>
          <a:solidFill>
            <a:schemeClr val="bg2"/>
          </a:solidFill>
          <a:ln w="6350">
            <a:solidFill>
              <a:srgbClr val="C9D6D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514600" y="1929384"/>
            <a:ext cx="393192" cy="393192"/>
          </a:xfrm>
          <a:prstGeom prst="rect">
            <a:avLst/>
          </a:prstGeom>
          <a:solidFill>
            <a:schemeClr val="tx2"/>
          </a:solidFill>
          <a:ln w="6350">
            <a:solidFill>
              <a:srgbClr val="C9D6D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07792" y="1929384"/>
            <a:ext cx="393192" cy="393192"/>
          </a:xfrm>
          <a:prstGeom prst="rect">
            <a:avLst/>
          </a:prstGeom>
          <a:solidFill>
            <a:schemeClr val="bg2"/>
          </a:solidFill>
          <a:ln w="6350">
            <a:solidFill>
              <a:srgbClr val="C9D6D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300984" y="1929384"/>
            <a:ext cx="393192" cy="393192"/>
          </a:xfrm>
          <a:prstGeom prst="rect">
            <a:avLst/>
          </a:prstGeom>
          <a:solidFill>
            <a:schemeClr val="tx2"/>
          </a:solidFill>
          <a:ln w="6350">
            <a:solidFill>
              <a:srgbClr val="C9D6D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48640" y="2322576"/>
            <a:ext cx="393192" cy="393192"/>
          </a:xfrm>
          <a:prstGeom prst="rect">
            <a:avLst/>
          </a:prstGeom>
          <a:solidFill>
            <a:schemeClr val="tx2"/>
          </a:solidFill>
          <a:ln w="6350">
            <a:solidFill>
              <a:srgbClr val="C9D6D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41832" y="2322576"/>
            <a:ext cx="393192" cy="393192"/>
          </a:xfrm>
          <a:prstGeom prst="rect">
            <a:avLst/>
          </a:prstGeom>
          <a:solidFill>
            <a:schemeClr val="bg2"/>
          </a:solidFill>
          <a:ln w="6350">
            <a:solidFill>
              <a:srgbClr val="C9D6D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335024" y="2322576"/>
            <a:ext cx="393192" cy="393192"/>
          </a:xfrm>
          <a:prstGeom prst="rect">
            <a:avLst/>
          </a:prstGeom>
          <a:solidFill>
            <a:schemeClr val="tx2"/>
          </a:solidFill>
          <a:ln w="6350">
            <a:solidFill>
              <a:srgbClr val="C9D6D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728216" y="2322576"/>
            <a:ext cx="393192" cy="393192"/>
          </a:xfrm>
          <a:prstGeom prst="rect">
            <a:avLst/>
          </a:prstGeom>
          <a:solidFill>
            <a:schemeClr val="bg2"/>
          </a:solidFill>
          <a:ln w="6350">
            <a:solidFill>
              <a:srgbClr val="C9D6D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1408" y="2322576"/>
            <a:ext cx="393192" cy="393192"/>
          </a:xfrm>
          <a:prstGeom prst="rect">
            <a:avLst/>
          </a:prstGeom>
          <a:solidFill>
            <a:schemeClr val="tx2"/>
          </a:solidFill>
          <a:ln w="6350">
            <a:solidFill>
              <a:srgbClr val="C9D6D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514600" y="2322576"/>
            <a:ext cx="393192" cy="393192"/>
          </a:xfrm>
          <a:prstGeom prst="rect">
            <a:avLst/>
          </a:prstGeom>
          <a:solidFill>
            <a:schemeClr val="bg2"/>
          </a:solidFill>
          <a:ln w="6350">
            <a:solidFill>
              <a:srgbClr val="C9D6D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907792" y="2322576"/>
            <a:ext cx="393192" cy="393192"/>
          </a:xfrm>
          <a:prstGeom prst="rect">
            <a:avLst/>
          </a:prstGeom>
          <a:solidFill>
            <a:schemeClr val="tx2"/>
          </a:solidFill>
          <a:ln w="6350">
            <a:solidFill>
              <a:srgbClr val="C9D6D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300984" y="2322576"/>
            <a:ext cx="393192" cy="393192"/>
          </a:xfrm>
          <a:prstGeom prst="rect">
            <a:avLst/>
          </a:prstGeom>
          <a:solidFill>
            <a:schemeClr val="bg2"/>
          </a:solidFill>
          <a:ln w="6350">
            <a:solidFill>
              <a:srgbClr val="C9D6D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48640" y="2715768"/>
            <a:ext cx="393192" cy="393192"/>
          </a:xfrm>
          <a:prstGeom prst="rect">
            <a:avLst/>
          </a:prstGeom>
          <a:solidFill>
            <a:schemeClr val="bg2"/>
          </a:solidFill>
          <a:ln w="6350">
            <a:solidFill>
              <a:srgbClr val="C9D6D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41832" y="2715768"/>
            <a:ext cx="393192" cy="393192"/>
          </a:xfrm>
          <a:prstGeom prst="rect">
            <a:avLst/>
          </a:prstGeom>
          <a:solidFill>
            <a:schemeClr val="tx2"/>
          </a:solidFill>
          <a:ln w="6350">
            <a:solidFill>
              <a:srgbClr val="C9D6D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335024" y="2715768"/>
            <a:ext cx="393192" cy="393192"/>
          </a:xfrm>
          <a:prstGeom prst="rect">
            <a:avLst/>
          </a:prstGeom>
          <a:solidFill>
            <a:schemeClr val="bg2"/>
          </a:solidFill>
          <a:ln w="6350">
            <a:solidFill>
              <a:srgbClr val="C9D6D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728216" y="2715768"/>
            <a:ext cx="393192" cy="393192"/>
          </a:xfrm>
          <a:prstGeom prst="rect">
            <a:avLst/>
          </a:prstGeom>
          <a:solidFill>
            <a:schemeClr val="tx2"/>
          </a:solidFill>
          <a:ln w="6350">
            <a:solidFill>
              <a:srgbClr val="C9D6D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121408" y="2715768"/>
            <a:ext cx="393192" cy="393192"/>
          </a:xfrm>
          <a:prstGeom prst="rect">
            <a:avLst/>
          </a:prstGeom>
          <a:solidFill>
            <a:schemeClr val="bg2"/>
          </a:solidFill>
          <a:ln w="6350">
            <a:solidFill>
              <a:srgbClr val="C9D6D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514600" y="2715768"/>
            <a:ext cx="393192" cy="393192"/>
          </a:xfrm>
          <a:prstGeom prst="rect">
            <a:avLst/>
          </a:prstGeom>
          <a:solidFill>
            <a:schemeClr val="tx2"/>
          </a:solidFill>
          <a:ln w="6350">
            <a:solidFill>
              <a:srgbClr val="C9D6D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907792" y="2715768"/>
            <a:ext cx="393192" cy="393192"/>
          </a:xfrm>
          <a:prstGeom prst="rect">
            <a:avLst/>
          </a:prstGeom>
          <a:solidFill>
            <a:schemeClr val="bg2"/>
          </a:solidFill>
          <a:ln w="6350">
            <a:solidFill>
              <a:srgbClr val="C9D6D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300984" y="2715768"/>
            <a:ext cx="393192" cy="393192"/>
          </a:xfrm>
          <a:prstGeom prst="rect">
            <a:avLst/>
          </a:prstGeom>
          <a:solidFill>
            <a:schemeClr val="tx2"/>
          </a:solidFill>
          <a:ln w="6350">
            <a:solidFill>
              <a:srgbClr val="C9D6D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48640" y="3108960"/>
            <a:ext cx="393192" cy="393192"/>
          </a:xfrm>
          <a:prstGeom prst="rect">
            <a:avLst/>
          </a:prstGeom>
          <a:solidFill>
            <a:schemeClr val="tx2"/>
          </a:solidFill>
          <a:ln w="6350">
            <a:solidFill>
              <a:srgbClr val="C9D6D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941832" y="3108960"/>
            <a:ext cx="393192" cy="393192"/>
          </a:xfrm>
          <a:prstGeom prst="rect">
            <a:avLst/>
          </a:prstGeom>
          <a:solidFill>
            <a:schemeClr val="bg2"/>
          </a:solidFill>
          <a:ln w="6350">
            <a:solidFill>
              <a:srgbClr val="C9D6D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335024" y="3108960"/>
            <a:ext cx="393192" cy="393192"/>
          </a:xfrm>
          <a:prstGeom prst="rect">
            <a:avLst/>
          </a:prstGeom>
          <a:solidFill>
            <a:schemeClr val="tx2"/>
          </a:solidFill>
          <a:ln w="6350">
            <a:solidFill>
              <a:srgbClr val="C9D6DC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728216" y="3108960"/>
            <a:ext cx="393192" cy="393192"/>
          </a:xfrm>
          <a:prstGeom prst="rect">
            <a:avLst/>
          </a:prstGeom>
          <a:solidFill>
            <a:schemeClr val="bg2"/>
          </a:solidFill>
          <a:ln w="6350">
            <a:solidFill>
              <a:srgbClr val="C9D6DC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121408" y="3108960"/>
            <a:ext cx="393192" cy="393192"/>
          </a:xfrm>
          <a:prstGeom prst="rect">
            <a:avLst/>
          </a:prstGeom>
          <a:solidFill>
            <a:schemeClr val="tx2"/>
          </a:solidFill>
          <a:ln w="6350">
            <a:solidFill>
              <a:srgbClr val="C9D6DC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2514600" y="3108960"/>
            <a:ext cx="393192" cy="393192"/>
          </a:xfrm>
          <a:prstGeom prst="rect">
            <a:avLst/>
          </a:prstGeom>
          <a:solidFill>
            <a:schemeClr val="bg2"/>
          </a:solidFill>
          <a:ln w="6350">
            <a:solidFill>
              <a:srgbClr val="C9D6D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2907792" y="3108960"/>
            <a:ext cx="393192" cy="393192"/>
          </a:xfrm>
          <a:prstGeom prst="rect">
            <a:avLst/>
          </a:prstGeom>
          <a:solidFill>
            <a:schemeClr val="tx2"/>
          </a:solidFill>
          <a:ln w="6350">
            <a:solidFill>
              <a:srgbClr val="C9D6DC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300984" y="3108960"/>
            <a:ext cx="393192" cy="393192"/>
          </a:xfrm>
          <a:prstGeom prst="rect">
            <a:avLst/>
          </a:prstGeom>
          <a:solidFill>
            <a:schemeClr val="bg2"/>
          </a:solidFill>
          <a:ln w="6350">
            <a:solidFill>
              <a:srgbClr val="C9D6DC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48640" y="3502152"/>
            <a:ext cx="393192" cy="393192"/>
          </a:xfrm>
          <a:prstGeom prst="rect">
            <a:avLst/>
          </a:prstGeom>
          <a:solidFill>
            <a:schemeClr val="bg2"/>
          </a:solidFill>
          <a:ln w="6350">
            <a:solidFill>
              <a:srgbClr val="C9D6DC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941832" y="3502152"/>
            <a:ext cx="393192" cy="393192"/>
          </a:xfrm>
          <a:prstGeom prst="rect">
            <a:avLst/>
          </a:prstGeom>
          <a:solidFill>
            <a:schemeClr val="tx2"/>
          </a:solidFill>
          <a:ln w="6350">
            <a:solidFill>
              <a:srgbClr val="C9D6DC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335024" y="3502152"/>
            <a:ext cx="393192" cy="393192"/>
          </a:xfrm>
          <a:prstGeom prst="rect">
            <a:avLst/>
          </a:prstGeom>
          <a:solidFill>
            <a:schemeClr val="bg2"/>
          </a:solidFill>
          <a:ln w="6350">
            <a:solidFill>
              <a:srgbClr val="C9D6DC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1728216" y="3502152"/>
            <a:ext cx="393192" cy="393192"/>
          </a:xfrm>
          <a:prstGeom prst="rect">
            <a:avLst/>
          </a:prstGeom>
          <a:solidFill>
            <a:schemeClr val="tx2"/>
          </a:solidFill>
          <a:ln w="6350">
            <a:solidFill>
              <a:srgbClr val="C9D6DC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2121408" y="3502152"/>
            <a:ext cx="393192" cy="393192"/>
          </a:xfrm>
          <a:prstGeom prst="rect">
            <a:avLst/>
          </a:prstGeom>
          <a:solidFill>
            <a:schemeClr val="bg2"/>
          </a:solidFill>
          <a:ln w="6350">
            <a:solidFill>
              <a:srgbClr val="C9D6DC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2514600" y="3502152"/>
            <a:ext cx="393192" cy="393192"/>
          </a:xfrm>
          <a:prstGeom prst="rect">
            <a:avLst/>
          </a:prstGeom>
          <a:solidFill>
            <a:schemeClr val="tx2"/>
          </a:solidFill>
          <a:ln w="6350">
            <a:solidFill>
              <a:srgbClr val="C9D6DC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2907792" y="3502152"/>
            <a:ext cx="393192" cy="393192"/>
          </a:xfrm>
          <a:prstGeom prst="rect">
            <a:avLst/>
          </a:prstGeom>
          <a:solidFill>
            <a:schemeClr val="bg2"/>
          </a:solidFill>
          <a:ln w="6350">
            <a:solidFill>
              <a:srgbClr val="C9D6DC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3300984" y="3502152"/>
            <a:ext cx="393192" cy="393192"/>
          </a:xfrm>
          <a:prstGeom prst="rect">
            <a:avLst/>
          </a:prstGeom>
          <a:solidFill>
            <a:schemeClr val="tx2"/>
          </a:solidFill>
          <a:ln w="6350">
            <a:solidFill>
              <a:srgbClr val="C9D6DC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548640" y="3895344"/>
            <a:ext cx="393192" cy="393192"/>
          </a:xfrm>
          <a:prstGeom prst="rect">
            <a:avLst/>
          </a:prstGeom>
          <a:solidFill>
            <a:schemeClr val="tx2"/>
          </a:solidFill>
          <a:ln w="6350">
            <a:solidFill>
              <a:srgbClr val="C9D6DC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941832" y="3895344"/>
            <a:ext cx="393192" cy="393192"/>
          </a:xfrm>
          <a:prstGeom prst="rect">
            <a:avLst/>
          </a:prstGeom>
          <a:solidFill>
            <a:schemeClr val="bg2"/>
          </a:solidFill>
          <a:ln w="6350">
            <a:solidFill>
              <a:srgbClr val="C9D6DC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335024" y="3895344"/>
            <a:ext cx="393192" cy="393192"/>
          </a:xfrm>
          <a:prstGeom prst="rect">
            <a:avLst/>
          </a:prstGeom>
          <a:solidFill>
            <a:schemeClr val="tx2"/>
          </a:solidFill>
          <a:ln w="6350">
            <a:solidFill>
              <a:srgbClr val="C9D6DC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1728216" y="3895344"/>
            <a:ext cx="393192" cy="393192"/>
          </a:xfrm>
          <a:prstGeom prst="rect">
            <a:avLst/>
          </a:prstGeom>
          <a:solidFill>
            <a:schemeClr val="bg2"/>
          </a:solidFill>
          <a:ln w="6350">
            <a:solidFill>
              <a:srgbClr val="C9D6DC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2121408" y="3895344"/>
            <a:ext cx="393192" cy="393192"/>
          </a:xfrm>
          <a:prstGeom prst="rect">
            <a:avLst/>
          </a:prstGeom>
          <a:solidFill>
            <a:schemeClr val="tx2"/>
          </a:solidFill>
          <a:ln w="6350">
            <a:solidFill>
              <a:srgbClr val="C9D6DC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2514600" y="3895344"/>
            <a:ext cx="393192" cy="393192"/>
          </a:xfrm>
          <a:prstGeom prst="rect">
            <a:avLst/>
          </a:prstGeom>
          <a:solidFill>
            <a:schemeClr val="bg2"/>
          </a:solidFill>
          <a:ln w="6350">
            <a:solidFill>
              <a:srgbClr val="C9D6DC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2907792" y="3895344"/>
            <a:ext cx="393192" cy="393192"/>
          </a:xfrm>
          <a:prstGeom prst="rect">
            <a:avLst/>
          </a:prstGeom>
          <a:solidFill>
            <a:schemeClr val="tx2"/>
          </a:solidFill>
          <a:ln w="6350">
            <a:solidFill>
              <a:srgbClr val="C9D6DC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3300984" y="3895344"/>
            <a:ext cx="393192" cy="393192"/>
          </a:xfrm>
          <a:prstGeom prst="rect">
            <a:avLst/>
          </a:prstGeom>
          <a:solidFill>
            <a:schemeClr val="bg2"/>
          </a:solidFill>
          <a:ln w="6350">
            <a:solidFill>
              <a:srgbClr val="C9D6DC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76072" y="3922776"/>
            <a:ext cx="338328" cy="33832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548640" y="3895344"/>
            <a:ext cx="3931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1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969264" y="3922776"/>
            <a:ext cx="338328" cy="33832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941832" y="3895344"/>
            <a:ext cx="3931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2</a:t>
            </a:r>
            <a:endParaRPr lang="en-US" sz="1100" dirty="0"/>
          </a:p>
        </p:txBody>
      </p:sp>
      <p:sp>
        <p:nvSpPr>
          <p:cNvPr id="73" name="Shape 71"/>
          <p:cNvSpPr/>
          <p:nvPr/>
        </p:nvSpPr>
        <p:spPr>
          <a:xfrm>
            <a:off x="1362456" y="3922776"/>
            <a:ext cx="338328" cy="33832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1335024" y="3895344"/>
            <a:ext cx="3931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4</a:t>
            </a:r>
            <a:endParaRPr lang="en-US" sz="1100" dirty="0"/>
          </a:p>
        </p:txBody>
      </p:sp>
      <p:sp>
        <p:nvSpPr>
          <p:cNvPr id="75" name="Shape 73"/>
          <p:cNvSpPr/>
          <p:nvPr/>
        </p:nvSpPr>
        <p:spPr>
          <a:xfrm>
            <a:off x="1755648" y="3922776"/>
            <a:ext cx="338328" cy="33832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1728216" y="3895344"/>
            <a:ext cx="3931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8</a:t>
            </a:r>
            <a:endParaRPr lang="en-US" sz="1100" dirty="0"/>
          </a:p>
        </p:txBody>
      </p:sp>
      <p:sp>
        <p:nvSpPr>
          <p:cNvPr id="77" name="Shape 75"/>
          <p:cNvSpPr/>
          <p:nvPr/>
        </p:nvSpPr>
        <p:spPr>
          <a:xfrm>
            <a:off x="2148840" y="3922776"/>
            <a:ext cx="338328" cy="33832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2121408" y="3895344"/>
            <a:ext cx="3931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16</a:t>
            </a:r>
            <a:endParaRPr lang="en-US" sz="1100" dirty="0"/>
          </a:p>
        </p:txBody>
      </p:sp>
      <p:sp>
        <p:nvSpPr>
          <p:cNvPr id="79" name="Shape 77"/>
          <p:cNvSpPr/>
          <p:nvPr/>
        </p:nvSpPr>
        <p:spPr>
          <a:xfrm>
            <a:off x="2542032" y="3922776"/>
            <a:ext cx="338328" cy="33832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2514600" y="3895344"/>
            <a:ext cx="3931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32</a:t>
            </a:r>
            <a:endParaRPr lang="en-US" sz="1100" dirty="0"/>
          </a:p>
        </p:txBody>
      </p:sp>
      <p:sp>
        <p:nvSpPr>
          <p:cNvPr id="81" name="Shape 79"/>
          <p:cNvSpPr/>
          <p:nvPr/>
        </p:nvSpPr>
        <p:spPr>
          <a:xfrm>
            <a:off x="2935224" y="3922776"/>
            <a:ext cx="338328" cy="338328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2907792" y="3895344"/>
            <a:ext cx="3931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?</a:t>
            </a:r>
            <a:endParaRPr lang="en-US" sz="1100" dirty="0"/>
          </a:p>
        </p:txBody>
      </p:sp>
      <p:sp>
        <p:nvSpPr>
          <p:cNvPr id="83" name="Text 81"/>
          <p:cNvSpPr txBox="1"/>
          <p:nvPr/>
        </p:nvSpPr>
        <p:spPr>
          <a:xfrm>
            <a:off x="4023360" y="1188720"/>
            <a:ext cx="46634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ar-SA" altLang="en-US" sz="1800" b="1" dirty="0">
                <a:solidFill>
                  <a:schemeClr val="tx1"/>
                </a:solidFill>
              </a:rPr>
              <a:t>طلب مخترع الشطرنج من الملك مكافأة:</a:t>
            </a:r>
            <a:endParaRPr lang="ar-SA" sz="1800" dirty="0"/>
          </a:p>
          <a:p>
            <a:pPr algn="r" indent="0" marL="0">
              <a:buNone/>
            </a:pPr>
            <a:r>
              <a:rPr lang="ar-SA" altLang="en-US" sz="1800" dirty="0">
                <a:solidFill>
                  <a:schemeClr val="tx1"/>
                </a:solidFill>
              </a:rPr>
              <a:t>حبّة قمح في المربع الأول، حبّتان في الثاني، 4 في الثالث… ويتضاعف العدد في كل مربع.</a:t>
            </a:r>
            <a:endParaRPr lang="ar-SA" sz="1800" dirty="0"/>
          </a:p>
          <a:p>
            <a:pPr algn="r" indent="0" marL="0">
              <a:buNone/>
            </a:pPr>
            <a:r>
              <a:rPr lang="ar-SA" altLang="en-US" sz="800" dirty="0">
                <a:solidFill>
                  <a:schemeClr val="tx1"/>
                </a:solidFill>
              </a:rPr>
              <a:t> </a:t>
            </a:r>
            <a:endParaRPr lang="ar-SA" sz="1800" dirty="0"/>
          </a:p>
          <a:p>
            <a:pPr algn="r" indent="0" marL="0">
              <a:buNone/>
            </a:pPr>
            <a:r>
              <a:rPr lang="ar-SA" altLang="en-US" sz="1800" b="1" dirty="0">
                <a:solidFill>
                  <a:schemeClr val="accent4"/>
                </a:solidFill>
              </a:rPr>
              <a:t>كم حبّة في المربع الرابع؟ والخامس؟</a:t>
            </a:r>
            <a:endParaRPr lang="ar-SA" sz="1800" dirty="0"/>
          </a:p>
        </p:txBody>
      </p:sp>
      <p:sp>
        <p:nvSpPr>
          <p:cNvPr id="84" name="Shape 82"/>
          <p:cNvSpPr/>
          <p:nvPr/>
        </p:nvSpPr>
        <p:spPr>
          <a:xfrm>
            <a:off x="4206240" y="3154680"/>
            <a:ext cx="4480560" cy="1325880"/>
          </a:xfrm>
          <a:prstGeom prst="roundRect">
            <a:avLst>
              <a:gd name="adj" fmla="val 8276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5" name="Text 83"/>
          <p:cNvSpPr txBox="1"/>
          <p:nvPr/>
        </p:nvSpPr>
        <p:spPr>
          <a:xfrm>
            <a:off x="4297680" y="3246120"/>
            <a:ext cx="4297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4F6C"/>
                </a:solidFill>
              </a:rPr>
              <a:t>8 = 2 × 2 × 2</a:t>
            </a:r>
            <a:endParaRPr lang="en-US" sz="2200" dirty="0"/>
          </a:p>
        </p:txBody>
      </p:sp>
      <p:sp>
        <p:nvSpPr>
          <p:cNvPr id="86" name="Text 84"/>
          <p:cNvSpPr txBox="1"/>
          <p:nvPr/>
        </p:nvSpPr>
        <p:spPr>
          <a:xfrm>
            <a:off x="4297680" y="3794760"/>
            <a:ext cx="4297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4F6C"/>
                </a:solidFill>
              </a:rPr>
              <a:t>16 = 2 × 2 × 2 × 2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79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2926080" y="274320"/>
            <a:ext cx="5760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هل للضرب المتكرر اختصار؟</a:t>
            </a:r>
            <a:endParaRPr lang="en-US" sz="3000" dirty="0"/>
          </a:p>
        </p:txBody>
      </p:sp>
      <p:sp>
        <p:nvSpPr>
          <p:cNvPr id="3" name="stage pill"/>
          <p:cNvSpPr/>
          <p:nvPr/>
        </p:nvSpPr>
        <p:spPr>
          <a:xfrm>
            <a:off x="457200" y="411480"/>
            <a:ext cx="2194560" cy="411480"/>
          </a:xfrm>
          <a:prstGeom prst="roundRect">
            <a:avLst>
              <a:gd name="adj" fmla="val 48889"/>
            </a:avLst>
          </a:prstGeom>
          <a:solidFill>
            <a:schemeClr val="accent1"/>
          </a:solidFill>
          <a:ln/>
        </p:spPr>
      </p:sp>
      <p:sp>
        <p:nvSpPr>
          <p:cNvPr id="4" name="stage label"/>
          <p:cNvSpPr txBox="1"/>
          <p:nvPr/>
        </p:nvSpPr>
        <p:spPr>
          <a:xfrm>
            <a:off x="457200" y="4114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" b="1" dirty="0">
                <a:solidFill>
                  <a:schemeClr val="bg1"/>
                </a:solidFill>
              </a:rPr>
              <a:t>التمهيد · 5 د</a:t>
            </a:r>
            <a:endParaRPr lang="ar-SA" sz="1400" dirty="0"/>
          </a:p>
        </p:txBody>
      </p:sp>
      <p:sp>
        <p:nvSpPr>
          <p:cNvPr id="5" name="Shape 3"/>
          <p:cNvSpPr/>
          <p:nvPr/>
        </p:nvSpPr>
        <p:spPr>
          <a:xfrm>
            <a:off x="4754880" y="1280160"/>
            <a:ext cx="3931920" cy="301752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4937760" y="1417320"/>
            <a:ext cx="3566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chemeClr val="tx2"/>
                </a:solidFill>
              </a:rPr>
              <a:t>نعرف أن الضرب اختصار للجمع المتكرر</a:t>
            </a:r>
            <a:endParaRPr lang="ar-SA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4937760" y="2377440"/>
            <a:ext cx="3566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B2433"/>
                </a:solidFill>
              </a:rPr>
              <a:t>3 + 3 + 3 + 3 = 4 × 3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4937760" y="320040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ar-SA" altLang="en-US" sz="1600" dirty="0">
                <a:solidFill>
                  <a:srgbClr val="5B6B78"/>
                </a:solidFill>
              </a:rPr>
              <a:t>4 مرّات ← نكتب 4 × 3</a:t>
            </a:r>
            <a:endParaRPr lang="ar-SA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1280160"/>
            <a:ext cx="3931920" cy="3017520"/>
          </a:xfrm>
          <a:prstGeom prst="roundRect">
            <a:avLst>
              <a:gd name="adj" fmla="val 3636"/>
            </a:avLst>
          </a:prstGeom>
          <a:solidFill>
            <a:schemeClr val="tx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40080" y="1417320"/>
            <a:ext cx="3566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800" b="1" dirty="0">
                <a:solidFill>
                  <a:schemeClr val="accent1"/>
                </a:solidFill>
              </a:rPr>
              <a:t>وماذا عن الضرب المتكرر؟</a:t>
            </a:r>
            <a:endParaRPr lang="ar-SA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377440"/>
            <a:ext cx="3566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2 × 2 × 2 × … × 2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154680"/>
            <a:ext cx="3566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ar-SA" altLang="en-US" sz="1600" dirty="0">
                <a:solidFill>
                  <a:srgbClr val="FFFFFF"/>
                </a:solidFill>
              </a:rPr>
              <a:t>المربع 64 فيه جداء 63 عاملاً! كيف نكتبه باختصار؟</a:t>
            </a:r>
            <a:endParaRPr lang="ar-SA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79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2926080" y="274320"/>
            <a:ext cx="5760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نشاط استكشافي: نطوي الورقة</a:t>
            </a:r>
            <a:endParaRPr lang="en-US" sz="3000" dirty="0"/>
          </a:p>
        </p:txBody>
      </p:sp>
      <p:sp>
        <p:nvSpPr>
          <p:cNvPr id="3" name="stage pill"/>
          <p:cNvSpPr/>
          <p:nvPr/>
        </p:nvSpPr>
        <p:spPr>
          <a:xfrm>
            <a:off x="457200" y="411480"/>
            <a:ext cx="2194560" cy="411480"/>
          </a:xfrm>
          <a:prstGeom prst="roundRect">
            <a:avLst>
              <a:gd name="adj" fmla="val 48889"/>
            </a:avLst>
          </a:prstGeom>
          <a:solidFill>
            <a:schemeClr val="accent5"/>
          </a:solidFill>
          <a:ln/>
        </p:spPr>
      </p:sp>
      <p:sp>
        <p:nvSpPr>
          <p:cNvPr id="4" name="stage label"/>
          <p:cNvSpPr txBox="1"/>
          <p:nvPr/>
        </p:nvSpPr>
        <p:spPr>
          <a:xfrm>
            <a:off x="457200" y="4114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" b="1" dirty="0">
                <a:solidFill>
                  <a:schemeClr val="bg1"/>
                </a:solidFill>
              </a:rPr>
              <a:t>الاستكشاف · 15 د</a:t>
            </a:r>
            <a:endParaRPr lang="ar-SA" sz="1400" dirty="0"/>
          </a:p>
        </p:txBody>
      </p:sp>
      <p:sp>
        <p:nvSpPr>
          <p:cNvPr id="5" name="Shape 3"/>
          <p:cNvSpPr/>
          <p:nvPr/>
        </p:nvSpPr>
        <p:spPr>
          <a:xfrm>
            <a:off x="8229600" y="1188720"/>
            <a:ext cx="502920" cy="50292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0" y="118872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700" dirty="0">
                <a:solidFill>
                  <a:schemeClr val="tx1"/>
                </a:solidFill>
              </a:rPr>
              <a:t>خذ ورقة A4 مع زميلك</a:t>
            </a:r>
            <a:endParaRPr lang="ar-SA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1965960"/>
            <a:ext cx="502920" cy="50292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0" y="1965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5486400" y="196596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700" dirty="0">
                <a:solidFill>
                  <a:schemeClr val="tx1"/>
                </a:solidFill>
              </a:rPr>
              <a:t>اطوِ الورقة نصفين</a:t>
            </a:r>
            <a:endParaRPr lang="ar-SA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2743200"/>
            <a:ext cx="502920" cy="50292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29600" y="2743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0" y="274320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700" dirty="0">
                <a:solidFill>
                  <a:schemeClr val="tx1"/>
                </a:solidFill>
              </a:rPr>
              <a:t>عُدّ الطبقات بعد كل طيّة</a:t>
            </a:r>
            <a:endParaRPr lang="ar-SA" sz="1700" dirty="0"/>
          </a:p>
        </p:txBody>
      </p:sp>
      <p:sp>
        <p:nvSpPr>
          <p:cNvPr id="14" name="Shape 12"/>
          <p:cNvSpPr/>
          <p:nvPr/>
        </p:nvSpPr>
        <p:spPr>
          <a:xfrm>
            <a:off x="8229600" y="3520440"/>
            <a:ext cx="502920" cy="50292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0" y="3520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0" y="352044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700" dirty="0">
                <a:solidFill>
                  <a:schemeClr val="tx1"/>
                </a:solidFill>
              </a:rPr>
              <a:t>دوّن النتيجة في الجدول</a:t>
            </a:r>
            <a:endParaRPr lang="ar-SA" sz="17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475488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463040"/>
                <a:gridCol w="1463040"/>
              </a:tblGrid>
              <a:tr h="438912"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على شكل جداء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F6C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عدد الطبقات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F6C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عدد الطيّات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F6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433"/>
                          </a:solidFill>
                        </a:rPr>
                        <a:t>2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433"/>
                          </a:solidFill>
                        </a:rPr>
                        <a:t>2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433"/>
                          </a:solidFill>
                        </a:rPr>
                        <a:t>1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433"/>
                          </a:solidFill>
                        </a:rPr>
                        <a:t>2 × 2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433"/>
                          </a:solidFill>
                        </a:rPr>
                        <a:t>4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433"/>
                          </a:solidFill>
                        </a:rPr>
                        <a:t>2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433"/>
                          </a:solidFill>
                        </a:rPr>
                        <a:t>…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433"/>
                          </a:solidFill>
                        </a:rPr>
                        <a:t>…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433"/>
                          </a:solidFill>
                        </a:rPr>
                        <a:t>3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433"/>
                          </a:solidFill>
                        </a:rPr>
                        <a:t>…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433"/>
                          </a:solidFill>
                        </a:rPr>
                        <a:t>…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433"/>
                          </a:solidFill>
                        </a:rPr>
                        <a:t>4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433"/>
                          </a:solidFill>
                        </a:rPr>
                        <a:t>؟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433"/>
                          </a:solidFill>
                        </a:rPr>
                        <a:t>؟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433"/>
                          </a:solidFill>
                        </a:rPr>
                        <a:t>10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79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2926080" y="274320"/>
            <a:ext cx="5760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ماذا تلاحظ؟</a:t>
            </a:r>
            <a:endParaRPr lang="en-US" sz="3000" dirty="0"/>
          </a:p>
        </p:txBody>
      </p:sp>
      <p:sp>
        <p:nvSpPr>
          <p:cNvPr id="3" name="stage pill"/>
          <p:cNvSpPr/>
          <p:nvPr/>
        </p:nvSpPr>
        <p:spPr>
          <a:xfrm>
            <a:off x="457200" y="411480"/>
            <a:ext cx="2194560" cy="411480"/>
          </a:xfrm>
          <a:prstGeom prst="roundRect">
            <a:avLst>
              <a:gd name="adj" fmla="val 48889"/>
            </a:avLst>
          </a:prstGeom>
          <a:solidFill>
            <a:schemeClr val="accent5"/>
          </a:solidFill>
          <a:ln/>
        </p:spPr>
      </p:sp>
      <p:sp>
        <p:nvSpPr>
          <p:cNvPr id="4" name="stage label"/>
          <p:cNvSpPr txBox="1"/>
          <p:nvPr/>
        </p:nvSpPr>
        <p:spPr>
          <a:xfrm>
            <a:off x="457200" y="4114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" b="1" dirty="0">
                <a:solidFill>
                  <a:schemeClr val="bg1"/>
                </a:solidFill>
              </a:rPr>
              <a:t>الاستكشاف · 15 د</a:t>
            </a:r>
            <a:endParaRPr lang="ar-SA" sz="1400" dirty="0"/>
          </a:p>
        </p:txBody>
      </p:sp>
      <p:sp>
        <p:nvSpPr>
          <p:cNvPr id="5" name="Shape 3"/>
          <p:cNvSpPr/>
          <p:nvPr/>
        </p:nvSpPr>
        <p:spPr>
          <a:xfrm>
            <a:off x="5989320" y="1280160"/>
            <a:ext cx="2560320" cy="292608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858000" y="1508760"/>
            <a:ext cx="822960" cy="82296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59168" y="1709928"/>
            <a:ext cx="420624" cy="42062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126480" y="2514600"/>
            <a:ext cx="2286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ctr" indent="0" marL="0">
              <a:buNone/>
            </a:pPr>
            <a:r>
              <a:rPr lang="ar-SA" altLang="en-US" sz="1800" dirty="0">
                <a:solidFill>
                  <a:schemeClr val="tx1"/>
                </a:solidFill>
              </a:rPr>
              <a:t>ما العدد الذي يتكرّر في كل جداء؟</a:t>
            </a:r>
            <a:endParaRPr lang="ar-SA" sz="1800" dirty="0"/>
          </a:p>
        </p:txBody>
      </p:sp>
      <p:sp>
        <p:nvSpPr>
          <p:cNvPr id="9" name="Shape 6"/>
          <p:cNvSpPr/>
          <p:nvPr/>
        </p:nvSpPr>
        <p:spPr>
          <a:xfrm>
            <a:off x="3246120" y="1280160"/>
            <a:ext cx="2560320" cy="292608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114800" y="1508760"/>
            <a:ext cx="822960" cy="82296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5968" y="1709928"/>
            <a:ext cx="420624" cy="42062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383280" y="2514600"/>
            <a:ext cx="2286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ctr" indent="0" marL="0">
              <a:buNone/>
            </a:pPr>
            <a:r>
              <a:rPr lang="ar-SA" altLang="en-US" sz="1800" dirty="0">
                <a:solidFill>
                  <a:schemeClr val="tx1"/>
                </a:solidFill>
              </a:rPr>
              <a:t>كم مرة تكرّر؟ وما علاقة ذلك بعدد الطيّات؟</a:t>
            </a:r>
            <a:endParaRPr lang="ar-SA" sz="1800" dirty="0"/>
          </a:p>
        </p:txBody>
      </p:sp>
      <p:sp>
        <p:nvSpPr>
          <p:cNvPr id="13" name="Shape 9"/>
          <p:cNvSpPr/>
          <p:nvPr/>
        </p:nvSpPr>
        <p:spPr>
          <a:xfrm>
            <a:off x="502920" y="1280160"/>
            <a:ext cx="2560320" cy="292608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1371600" y="1508760"/>
            <a:ext cx="822960" cy="82296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2768" y="1709928"/>
            <a:ext cx="420624" cy="4206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40080" y="2514600"/>
            <a:ext cx="2286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ctr" indent="0" marL="0">
              <a:buNone/>
            </a:pPr>
            <a:r>
              <a:rPr lang="ar-SA" altLang="en-US" sz="1800" dirty="0">
                <a:solidFill>
                  <a:schemeClr val="tx1"/>
                </a:solidFill>
              </a:rPr>
              <a:t>كيف نكتب ‪2×2×2×2‬ بشكل مختصر؟</a:t>
            </a:r>
            <a:endParaRPr lang="ar-SA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79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2926080" y="274320"/>
            <a:ext cx="5760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القوة: الأساس والأس</a:t>
            </a:r>
            <a:endParaRPr lang="en-US" sz="3000" dirty="0"/>
          </a:p>
        </p:txBody>
      </p:sp>
      <p:sp>
        <p:nvSpPr>
          <p:cNvPr id="3" name="stage pill"/>
          <p:cNvSpPr/>
          <p:nvPr/>
        </p:nvSpPr>
        <p:spPr>
          <a:xfrm>
            <a:off x="457200" y="411480"/>
            <a:ext cx="2194560" cy="411480"/>
          </a:xfrm>
          <a:prstGeom prst="roundRect">
            <a:avLst>
              <a:gd name="adj" fmla="val 48889"/>
            </a:avLst>
          </a:prstGeom>
          <a:solidFill>
            <a:schemeClr val="accent5"/>
          </a:solidFill>
          <a:ln/>
        </p:spPr>
      </p:sp>
      <p:sp>
        <p:nvSpPr>
          <p:cNvPr id="4" name="stage label"/>
          <p:cNvSpPr txBox="1"/>
          <p:nvPr/>
        </p:nvSpPr>
        <p:spPr>
          <a:xfrm>
            <a:off x="457200" y="4114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" b="1" dirty="0">
                <a:solidFill>
                  <a:schemeClr val="bg1"/>
                </a:solidFill>
              </a:rPr>
              <a:t>الاستكشاف · 15 د</a:t>
            </a:r>
            <a:endParaRPr lang="ar-SA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143000"/>
            <a:ext cx="822960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548640" y="118872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B4F6C"/>
                </a:solidFill>
              </a:rPr>
              <a:t>a</a:t>
            </a:r>
            <a:pPr algn="ctr" indent="0" marL="0">
              <a:buNone/>
            </a:pPr>
            <a:r>
              <a:rPr lang="en-US" sz="3600" b="1" baseline="30000" dirty="0">
                <a:solidFill>
                  <a:srgbClr val="0B4F6C"/>
                </a:solidFill>
              </a:rPr>
              <a:t>n</a:t>
            </a:r>
            <a:pPr algn="ctr" indent="0" marL="0">
              <a:buNone/>
            </a:pPr>
            <a:r>
              <a:rPr lang="en-US" sz="3600" b="1" dirty="0">
                <a:solidFill>
                  <a:srgbClr val="0B4F6C"/>
                </a:solidFill>
              </a:rPr>
              <a:t> = a × a × … × a</a:t>
            </a:r>
            <a:endParaRPr 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9202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ar-SA" altLang="en-US" sz="1600" dirty="0">
                <a:solidFill>
                  <a:srgbClr val="5B6B78"/>
                </a:solidFill>
              </a:rPr>
              <a:t>(n عاملاً كلٌّ منها يساوي a)</a:t>
            </a:r>
            <a:endParaRPr lang="ar-SA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251460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0" b="1" dirty="0">
                <a:solidFill>
                  <a:srgbClr val="1B2433"/>
                </a:solidFill>
              </a:rPr>
              <a:t>2</a:t>
            </a:r>
            <a:pPr algn="ctr" indent="0" marL="0">
              <a:buNone/>
            </a:pPr>
            <a:r>
              <a:rPr lang="en-US" sz="8800" b="1" baseline="30000" dirty="0">
                <a:solidFill>
                  <a:srgbClr val="1B2433"/>
                </a:solidFill>
              </a:rPr>
              <a:t>4</a:t>
            </a:r>
            <a:endParaRPr lang="en-US" sz="8800" dirty="0"/>
          </a:p>
        </p:txBody>
      </p:sp>
      <p:sp>
        <p:nvSpPr>
          <p:cNvPr id="9" name="Shape 7"/>
          <p:cNvSpPr/>
          <p:nvPr/>
        </p:nvSpPr>
        <p:spPr>
          <a:xfrm>
            <a:off x="6035040" y="2651760"/>
            <a:ext cx="2651760" cy="914400"/>
          </a:xfrm>
          <a:prstGeom prst="roundRect">
            <a:avLst>
              <a:gd name="adj" fmla="val 12000"/>
            </a:avLst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035040" y="2651760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ar-SA" altLang="en-US" sz="1800" b="1" dirty="0">
                <a:solidFill>
                  <a:schemeClr val="tx1"/>
                </a:solidFill>
              </a:rPr>
              <a:t>الأس = 4</a:t>
            </a:r>
            <a:endParaRPr lang="ar-SA" sz="1800" dirty="0"/>
          </a:p>
          <a:p>
            <a:pPr algn="ctr" indent="0" marL="0">
              <a:buNone/>
            </a:pPr>
            <a:r>
              <a:rPr lang="ar-SA" altLang="en-US" sz="1300" dirty="0">
                <a:solidFill>
                  <a:schemeClr val="tx1"/>
                </a:solidFill>
              </a:rPr>
              <a:t>عدد مرات تكرار العامل</a:t>
            </a:r>
            <a:endParaRPr lang="ar-SA" sz="1800" dirty="0"/>
          </a:p>
        </p:txBody>
      </p:sp>
      <p:sp>
        <p:nvSpPr>
          <p:cNvPr id="11" name="Shape 9"/>
          <p:cNvSpPr/>
          <p:nvPr/>
        </p:nvSpPr>
        <p:spPr>
          <a:xfrm>
            <a:off x="5074920" y="2971800"/>
            <a:ext cx="960120" cy="0"/>
          </a:xfrm>
          <a:prstGeom prst="line">
            <a:avLst/>
          </a:prstGeom>
          <a:noFill/>
          <a:ln w="31750">
            <a:solidFill>
              <a:srgbClr val="F4A259"/>
            </a:solidFill>
            <a:prstDash val="solid"/>
            <a:headEnd type="triangle"/>
          </a:ln>
        </p:spPr>
      </p:sp>
      <p:sp>
        <p:nvSpPr>
          <p:cNvPr id="12" name="Shape 10"/>
          <p:cNvSpPr/>
          <p:nvPr/>
        </p:nvSpPr>
        <p:spPr>
          <a:xfrm>
            <a:off x="457200" y="3383280"/>
            <a:ext cx="2651760" cy="914400"/>
          </a:xfrm>
          <a:prstGeom prst="roundRect">
            <a:avLst>
              <a:gd name="adj" fmla="val 12000"/>
            </a:avLst>
          </a:prstGeom>
          <a:solidFill>
            <a:schemeClr val="accent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7200" y="3383280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ar-SA" altLang="en-US" sz="1800" b="1" dirty="0">
                <a:solidFill>
                  <a:schemeClr val="bg1"/>
                </a:solidFill>
              </a:rPr>
              <a:t>الأساس = 2</a:t>
            </a:r>
            <a:endParaRPr lang="ar-SA" sz="1800" dirty="0"/>
          </a:p>
          <a:p>
            <a:pPr algn="ctr" indent="0" marL="0">
              <a:buNone/>
            </a:pPr>
            <a:r>
              <a:rPr lang="ar-SA" altLang="en-US" sz="1300" dirty="0">
                <a:solidFill>
                  <a:schemeClr val="bg1"/>
                </a:solidFill>
              </a:rPr>
              <a:t>العدد المكرَّر في الضرب</a:t>
            </a:r>
            <a:endParaRPr lang="ar-SA" sz="1800" dirty="0"/>
          </a:p>
        </p:txBody>
      </p:sp>
      <p:sp>
        <p:nvSpPr>
          <p:cNvPr id="14" name="Shape 12"/>
          <p:cNvSpPr/>
          <p:nvPr/>
        </p:nvSpPr>
        <p:spPr>
          <a:xfrm>
            <a:off x="3108960" y="3840480"/>
            <a:ext cx="777240" cy="0"/>
          </a:xfrm>
          <a:prstGeom prst="line">
            <a:avLst/>
          </a:prstGeom>
          <a:noFill/>
          <a:ln w="31750">
            <a:solidFill>
              <a:srgbClr val="3A86A8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3108960" y="425196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ar-SA" altLang="en-US" sz="1400" dirty="0">
                <a:solidFill>
                  <a:srgbClr val="5B6B78"/>
                </a:solidFill>
              </a:rPr>
              <a:t>تُقرأ «2 أُس 4» أو «2 قوة 4»</a:t>
            </a:r>
            <a:endParaRPr lang="ar-SA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79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2926080" y="274320"/>
            <a:ext cx="5760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أمثلة وحالات خاصة</a:t>
            </a:r>
            <a:endParaRPr lang="en-US" sz="3000" dirty="0"/>
          </a:p>
        </p:txBody>
      </p:sp>
      <p:sp>
        <p:nvSpPr>
          <p:cNvPr id="3" name="stage pill"/>
          <p:cNvSpPr/>
          <p:nvPr/>
        </p:nvSpPr>
        <p:spPr>
          <a:xfrm>
            <a:off x="457200" y="411480"/>
            <a:ext cx="2194560" cy="411480"/>
          </a:xfrm>
          <a:prstGeom prst="roundRect">
            <a:avLst>
              <a:gd name="adj" fmla="val 48889"/>
            </a:avLst>
          </a:prstGeom>
          <a:solidFill>
            <a:schemeClr val="accent5"/>
          </a:solidFill>
          <a:ln/>
        </p:spPr>
      </p:sp>
      <p:sp>
        <p:nvSpPr>
          <p:cNvPr id="4" name="stage label"/>
          <p:cNvSpPr txBox="1"/>
          <p:nvPr/>
        </p:nvSpPr>
        <p:spPr>
          <a:xfrm>
            <a:off x="457200" y="4114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" b="1" dirty="0">
                <a:solidFill>
                  <a:schemeClr val="bg1"/>
                </a:solidFill>
              </a:rPr>
              <a:t>الاستكشاف · 15 د</a:t>
            </a:r>
            <a:endParaRPr lang="ar-SA" sz="1400" dirty="0"/>
          </a:p>
        </p:txBody>
      </p:sp>
      <p:sp>
        <p:nvSpPr>
          <p:cNvPr id="5" name="Shape 3"/>
          <p:cNvSpPr/>
          <p:nvPr/>
        </p:nvSpPr>
        <p:spPr>
          <a:xfrm>
            <a:off x="4663440" y="1188720"/>
            <a:ext cx="4023360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040880" y="1353312"/>
            <a:ext cx="1463040" cy="384048"/>
          </a:xfrm>
          <a:prstGeom prst="roundRect">
            <a:avLst>
              <a:gd name="adj" fmla="val 47619"/>
            </a:avLst>
          </a:prstGeom>
          <a:solidFill>
            <a:schemeClr val="accent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040880" y="1353312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" b="1" dirty="0">
                <a:solidFill>
                  <a:schemeClr val="bg1"/>
                </a:solidFill>
              </a:rPr>
              <a:t>القوة</a:t>
            </a:r>
            <a:endParaRPr lang="ar-SA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800600" y="178308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433"/>
                </a:solidFill>
              </a:rPr>
              <a:t>2</a:t>
            </a:r>
            <a:pPr algn="ctr" indent="0" marL="0">
              <a:buNone/>
            </a:pPr>
            <a:r>
              <a:rPr lang="en-US" sz="2400" b="1" baseline="30000" dirty="0">
                <a:solidFill>
                  <a:srgbClr val="1B2433"/>
                </a:solidFill>
              </a:rPr>
              <a:t>4</a:t>
            </a:r>
            <a:pPr algn="ctr" indent="0" marL="0">
              <a:buNone/>
            </a:pPr>
            <a:r>
              <a:rPr lang="en-US" sz="2400" b="1" dirty="0">
                <a:solidFill>
                  <a:srgbClr val="1B2433"/>
                </a:solidFill>
              </a:rPr>
              <a:t> = 2×2×2×2 = 16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4800600" y="2286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ar-SA" altLang="en-US" sz="1400" dirty="0">
                <a:solidFill>
                  <a:srgbClr val="5B6B78"/>
                </a:solidFill>
              </a:rPr>
              <a:t>«2 أُس 4»</a:t>
            </a:r>
            <a:endParaRPr lang="ar-SA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1188720"/>
            <a:ext cx="4023360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834640" y="1353312"/>
            <a:ext cx="1463040" cy="384048"/>
          </a:xfrm>
          <a:prstGeom prst="roundRect">
            <a:avLst>
              <a:gd name="adj" fmla="val 47619"/>
            </a:avLst>
          </a:prstGeom>
          <a:solidFill>
            <a:schemeClr val="accent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834640" y="1353312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" b="1" dirty="0">
                <a:solidFill>
                  <a:schemeClr val="bg1"/>
                </a:solidFill>
              </a:rPr>
              <a:t>مربّع العدد</a:t>
            </a:r>
            <a:endParaRPr lang="ar-SA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" y="178308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433"/>
                </a:solidFill>
              </a:rPr>
              <a:t>5</a:t>
            </a:r>
            <a:pPr algn="ctr" indent="0" marL="0">
              <a:buNone/>
            </a:pPr>
            <a:r>
              <a:rPr lang="en-US" sz="2400" b="1" baseline="30000" dirty="0">
                <a:solidFill>
                  <a:srgbClr val="1B2433"/>
                </a:solidFill>
              </a:rPr>
              <a:t>2</a:t>
            </a:r>
            <a:pPr algn="ctr" indent="0" marL="0">
              <a:buNone/>
            </a:pPr>
            <a:r>
              <a:rPr lang="en-US" sz="2400" b="1" dirty="0">
                <a:solidFill>
                  <a:srgbClr val="1B2433"/>
                </a:solidFill>
              </a:rPr>
              <a:t> = 5×5 = 25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2286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ar-SA" altLang="en-US" sz="1400" dirty="0">
                <a:solidFill>
                  <a:srgbClr val="5B6B78"/>
                </a:solidFill>
              </a:rPr>
              <a:t>«5 مربّع» أو «5 أُس 2»</a:t>
            </a:r>
            <a:endParaRPr lang="ar-SA" sz="1400" dirty="0"/>
          </a:p>
        </p:txBody>
      </p:sp>
      <p:sp>
        <p:nvSpPr>
          <p:cNvPr id="15" name="Shape 13"/>
          <p:cNvSpPr/>
          <p:nvPr/>
        </p:nvSpPr>
        <p:spPr>
          <a:xfrm>
            <a:off x="4663440" y="2926080"/>
            <a:ext cx="4023360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040880" y="3090672"/>
            <a:ext cx="1463040" cy="384048"/>
          </a:xfrm>
          <a:prstGeom prst="roundRect">
            <a:avLst>
              <a:gd name="adj" fmla="val 47619"/>
            </a:avLst>
          </a:prstGeom>
          <a:solidFill>
            <a:schemeClr val="accent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040880" y="3090672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" b="1" dirty="0">
                <a:solidFill>
                  <a:schemeClr val="bg1"/>
                </a:solidFill>
              </a:rPr>
              <a:t>مكعّب العدد</a:t>
            </a:r>
            <a:endParaRPr lang="ar-SA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800600" y="35204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433"/>
                </a:solidFill>
              </a:rPr>
              <a:t>4</a:t>
            </a:r>
            <a:pPr algn="ctr" indent="0" marL="0">
              <a:buNone/>
            </a:pPr>
            <a:r>
              <a:rPr lang="en-US" sz="2400" b="1" baseline="30000" dirty="0">
                <a:solidFill>
                  <a:srgbClr val="1B2433"/>
                </a:solidFill>
              </a:rPr>
              <a:t>3</a:t>
            </a:r>
            <a:pPr algn="ctr" indent="0" marL="0">
              <a:buNone/>
            </a:pPr>
            <a:r>
              <a:rPr lang="en-US" sz="2400" b="1" dirty="0">
                <a:solidFill>
                  <a:srgbClr val="1B2433"/>
                </a:solidFill>
              </a:rPr>
              <a:t> = 4×4×4 = 64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4800600" y="402336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ar-SA" altLang="en-US" sz="1400" dirty="0">
                <a:solidFill>
                  <a:srgbClr val="5B6B78"/>
                </a:solidFill>
              </a:rPr>
              <a:t>«4 مكعّب» أو «4 أُس 3»</a:t>
            </a:r>
            <a:endParaRPr lang="ar-SA" sz="1400" dirty="0"/>
          </a:p>
        </p:txBody>
      </p:sp>
      <p:sp>
        <p:nvSpPr>
          <p:cNvPr id="20" name="Shape 18"/>
          <p:cNvSpPr/>
          <p:nvPr/>
        </p:nvSpPr>
        <p:spPr>
          <a:xfrm>
            <a:off x="457200" y="2926080"/>
            <a:ext cx="4023360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2834640" y="3090672"/>
            <a:ext cx="1463040" cy="384048"/>
          </a:xfrm>
          <a:prstGeom prst="roundRect">
            <a:avLst>
              <a:gd name="adj" fmla="val 47619"/>
            </a:avLst>
          </a:prstGeom>
          <a:solidFill>
            <a:schemeClr val="accent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2834640" y="3090672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" b="1" dirty="0">
                <a:solidFill>
                  <a:schemeClr val="bg1"/>
                </a:solidFill>
              </a:rPr>
              <a:t>الأس 1</a:t>
            </a:r>
            <a:endParaRPr lang="ar-SA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" y="35204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433"/>
                </a:solidFill>
              </a:rPr>
              <a:t>7</a:t>
            </a:r>
            <a:pPr algn="ctr" indent="0" marL="0">
              <a:buNone/>
            </a:pPr>
            <a:r>
              <a:rPr lang="en-US" sz="2400" b="1" baseline="30000" dirty="0">
                <a:solidFill>
                  <a:srgbClr val="1B2433"/>
                </a:solidFill>
              </a:rPr>
              <a:t>1</a:t>
            </a:r>
            <a:pPr algn="ctr" indent="0" marL="0">
              <a:buNone/>
            </a:pPr>
            <a:r>
              <a:rPr lang="en-US" sz="2400" b="1" dirty="0">
                <a:solidFill>
                  <a:srgbClr val="1B2433"/>
                </a:solidFill>
              </a:rPr>
              <a:t> = 7</a:t>
            </a:r>
            <a:endParaRPr lang="en-US" sz="24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402336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ar-SA" altLang="en-US" sz="1400" dirty="0">
                <a:solidFill>
                  <a:srgbClr val="5B6B78"/>
                </a:solidFill>
              </a:rPr>
              <a:t>أي عدد أُس 1 يساوي نفسه</a:t>
            </a:r>
            <a:endParaRPr lang="ar-SA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79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2926080" y="274320"/>
            <a:ext cx="5760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انتبه! خطأ شائع</a:t>
            </a:r>
            <a:endParaRPr lang="en-US" sz="3000" dirty="0"/>
          </a:p>
        </p:txBody>
      </p:sp>
      <p:sp>
        <p:nvSpPr>
          <p:cNvPr id="3" name="stage pill"/>
          <p:cNvSpPr/>
          <p:nvPr/>
        </p:nvSpPr>
        <p:spPr>
          <a:xfrm>
            <a:off x="457200" y="411480"/>
            <a:ext cx="2194560" cy="411480"/>
          </a:xfrm>
          <a:prstGeom prst="roundRect">
            <a:avLst>
              <a:gd name="adj" fmla="val 48889"/>
            </a:avLst>
          </a:prstGeom>
          <a:solidFill>
            <a:schemeClr val="accent5"/>
          </a:solidFill>
          <a:ln/>
        </p:spPr>
      </p:sp>
      <p:sp>
        <p:nvSpPr>
          <p:cNvPr id="4" name="stage label"/>
          <p:cNvSpPr txBox="1"/>
          <p:nvPr/>
        </p:nvSpPr>
        <p:spPr>
          <a:xfrm>
            <a:off x="457200" y="4114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" b="1" dirty="0">
                <a:solidFill>
                  <a:schemeClr val="bg1"/>
                </a:solidFill>
              </a:rPr>
              <a:t>الاستكشاف · 15 د</a:t>
            </a:r>
            <a:endParaRPr lang="ar-SA" sz="1400" dirty="0"/>
          </a:p>
        </p:txBody>
      </p:sp>
      <p:sp>
        <p:nvSpPr>
          <p:cNvPr id="5" name="Shape 3"/>
          <p:cNvSpPr/>
          <p:nvPr/>
        </p:nvSpPr>
        <p:spPr>
          <a:xfrm>
            <a:off x="4754880" y="1188720"/>
            <a:ext cx="393192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4846320" y="132588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chemeClr val="accent2"/>
                </a:solidFill>
              </a:rPr>
              <a:t>القوة: نضرب العدد في نفسه</a:t>
            </a:r>
            <a:endParaRPr lang="ar-SA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4846320" y="2011680"/>
            <a:ext cx="3749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9E6B"/>
                </a:solidFill>
              </a:rPr>
              <a:t>2</a:t>
            </a:r>
            <a:pPr algn="ctr" indent="0" marL="0">
              <a:buNone/>
            </a:pPr>
            <a:r>
              <a:rPr lang="en-US" sz="2600" b="1" baseline="30000" dirty="0">
                <a:solidFill>
                  <a:srgbClr val="2E9E6B"/>
                </a:solidFill>
              </a:rPr>
              <a:t>4</a:t>
            </a:r>
            <a:pPr algn="ctr" indent="0" marL="0">
              <a:buNone/>
            </a:pPr>
            <a:r>
              <a:rPr lang="en-US" sz="2600" b="1" dirty="0">
                <a:solidFill>
                  <a:srgbClr val="2E9E6B"/>
                </a:solidFill>
              </a:rPr>
              <a:t> = 2×2×2×2 = 16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93192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548640" y="132588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chemeClr val="accent4"/>
                </a:solidFill>
              </a:rPr>
              <a:t>الضرب العادي: 4 مرات العدد 2</a:t>
            </a:r>
            <a:endParaRPr lang="ar-SA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011680"/>
            <a:ext cx="3749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05A47"/>
                </a:solidFill>
              </a:rPr>
              <a:t>2 × 4 = 2+2+2+2 = 8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1371600" y="3840480"/>
            <a:ext cx="6400800" cy="685800"/>
          </a:xfrm>
          <a:prstGeom prst="roundRect">
            <a:avLst>
              <a:gd name="adj" fmla="val 20000"/>
            </a:avLst>
          </a:prstGeom>
          <a:solidFill>
            <a:schemeClr val="tx2"/>
          </a:solidFill>
          <a:ln/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0" y="3995928"/>
            <a:ext cx="384048" cy="384048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1463040" y="3840480"/>
            <a:ext cx="5577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ar-SA" altLang="en-US" sz="1800" dirty="0">
                <a:solidFill>
                  <a:schemeClr val="bg1"/>
                </a:solidFill>
              </a:rPr>
              <a:t>إذن: </a:t>
            </a:r>
            <a:pPr algn="ctr" indent="0" marL="0">
              <a:buNone/>
            </a:pPr>
            <a:r>
              <a:rPr lang="ar-SA" altLang="en-US" sz="1800" b="1" dirty="0">
                <a:solidFill>
                  <a:schemeClr val="accent1"/>
                </a:solidFill>
              </a:rPr>
              <a:t>‪2⁴ ≠ 2×4‬</a:t>
            </a:r>
            <a:pPr algn="ctr" indent="0" marL="0">
              <a:buNone/>
            </a:pPr>
            <a:r>
              <a:rPr lang="ar-SA" altLang="en-US" sz="1800" dirty="0">
                <a:solidFill>
                  <a:schemeClr val="bg1"/>
                </a:solidFill>
              </a:rPr>
              <a:t> ولا نضرب الأساس في الأس أبداً</a:t>
            </a:r>
            <a:endParaRPr lang="ar-SA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79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2926080" y="274320"/>
            <a:ext cx="5760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تطبيق تمايزي: اختر بطاقتك</a:t>
            </a:r>
            <a:endParaRPr lang="en-US" sz="3000" dirty="0"/>
          </a:p>
        </p:txBody>
      </p:sp>
      <p:sp>
        <p:nvSpPr>
          <p:cNvPr id="3" name="stage pill"/>
          <p:cNvSpPr/>
          <p:nvPr/>
        </p:nvSpPr>
        <p:spPr>
          <a:xfrm>
            <a:off x="457200" y="411480"/>
            <a:ext cx="2194560" cy="411480"/>
          </a:xfrm>
          <a:prstGeom prst="roundRect">
            <a:avLst>
              <a:gd name="adj" fmla="val 48889"/>
            </a:avLst>
          </a:prstGeom>
          <a:solidFill>
            <a:schemeClr val="accent6"/>
          </a:solidFill>
          <a:ln/>
        </p:spPr>
      </p:sp>
      <p:sp>
        <p:nvSpPr>
          <p:cNvPr id="4" name="stage label"/>
          <p:cNvSpPr txBox="1"/>
          <p:nvPr/>
        </p:nvSpPr>
        <p:spPr>
          <a:xfrm>
            <a:off x="457200" y="4114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" b="1" dirty="0">
                <a:solidFill>
                  <a:schemeClr val="bg1"/>
                </a:solidFill>
              </a:rPr>
              <a:t>تطبيق تمايزي · 15 د</a:t>
            </a:r>
            <a:endParaRPr lang="ar-SA" sz="1400" dirty="0"/>
          </a:p>
        </p:txBody>
      </p:sp>
      <p:sp>
        <p:nvSpPr>
          <p:cNvPr id="5" name="Shape 3"/>
          <p:cNvSpPr/>
          <p:nvPr/>
        </p:nvSpPr>
        <p:spPr>
          <a:xfrm>
            <a:off x="5989320" y="1188720"/>
            <a:ext cx="2560320" cy="274320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858000" y="1371600"/>
            <a:ext cx="822960" cy="82296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59168" y="1572768"/>
            <a:ext cx="420624" cy="42062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080760" y="228600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chemeClr val="accent2"/>
                </a:solidFill>
              </a:rPr>
              <a:t>البطاقة الخضراء</a:t>
            </a:r>
            <a:endParaRPr lang="ar-SA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6080760" y="2670048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ar-SA" altLang="en-US" sz="1300" dirty="0">
                <a:solidFill>
                  <a:srgbClr val="5B6B78"/>
                </a:solidFill>
              </a:rPr>
              <a:t>مستوى الدعم</a:t>
            </a:r>
            <a:endParaRPr lang="ar-SA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6126480" y="301752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ctr" indent="0" marL="0">
              <a:buNone/>
            </a:pPr>
            <a:r>
              <a:rPr lang="ar-SA" altLang="en-US" sz="1400" dirty="0">
                <a:solidFill>
                  <a:schemeClr val="tx1"/>
                </a:solidFill>
              </a:rPr>
              <a:t>كتابة جداء على شكل قوة وتحديد الأساس والأس</a:t>
            </a:r>
            <a:endParaRPr lang="ar-SA" sz="1400" dirty="0"/>
          </a:p>
        </p:txBody>
      </p:sp>
      <p:sp>
        <p:nvSpPr>
          <p:cNvPr id="11" name="Shape 8"/>
          <p:cNvSpPr/>
          <p:nvPr/>
        </p:nvSpPr>
        <p:spPr>
          <a:xfrm>
            <a:off x="3246120" y="1188720"/>
            <a:ext cx="2560320" cy="274320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114800" y="1371600"/>
            <a:ext cx="822960" cy="82296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5968" y="1572768"/>
            <a:ext cx="420624" cy="42062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337560" y="228600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chemeClr val="accent3"/>
                </a:solidFill>
              </a:rPr>
              <a:t>البطاقة الصفراء</a:t>
            </a:r>
            <a:endParaRPr lang="ar-SA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3337560" y="2670048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ar-SA" altLang="en-US" sz="1300" dirty="0">
                <a:solidFill>
                  <a:srgbClr val="5B6B78"/>
                </a:solidFill>
              </a:rPr>
              <a:t>المستوى الأساسي</a:t>
            </a:r>
            <a:endParaRPr lang="ar-SA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3383280" y="301752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ctr" indent="0" marL="0">
              <a:buNone/>
            </a:pPr>
            <a:r>
              <a:rPr lang="ar-SA" altLang="en-US" sz="1400" dirty="0">
                <a:solidFill>
                  <a:schemeClr val="tx1"/>
                </a:solidFill>
              </a:rPr>
              <a:t>حساب قيم القوى والتمييز بين القوة والضرب</a:t>
            </a:r>
            <a:endParaRPr lang="ar-SA" sz="1400" dirty="0"/>
          </a:p>
        </p:txBody>
      </p:sp>
      <p:sp>
        <p:nvSpPr>
          <p:cNvPr id="17" name="Shape 13"/>
          <p:cNvSpPr/>
          <p:nvPr/>
        </p:nvSpPr>
        <p:spPr>
          <a:xfrm>
            <a:off x="502920" y="1188720"/>
            <a:ext cx="2560320" cy="274320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1371600" y="1371600"/>
            <a:ext cx="822960" cy="82296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2768" y="1572768"/>
            <a:ext cx="420624" cy="420624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594360" y="228600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chemeClr val="accent4"/>
                </a:solidFill>
              </a:rPr>
              <a:t>البطاقة الحمراء</a:t>
            </a:r>
            <a:endParaRPr lang="ar-SA" sz="1800" dirty="0"/>
          </a:p>
        </p:txBody>
      </p:sp>
      <p:sp>
        <p:nvSpPr>
          <p:cNvPr id="21" name="Text 16"/>
          <p:cNvSpPr txBox="1"/>
          <p:nvPr/>
        </p:nvSpPr>
        <p:spPr>
          <a:xfrm>
            <a:off x="594360" y="2670048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ar-SA" altLang="en-US" sz="1300" dirty="0">
                <a:solidFill>
                  <a:srgbClr val="5B6B78"/>
                </a:solidFill>
              </a:rPr>
              <a:t>مستوى الإثراء</a:t>
            </a:r>
            <a:endParaRPr lang="ar-SA" sz="1300" dirty="0"/>
          </a:p>
        </p:txBody>
      </p:sp>
      <p:sp>
        <p:nvSpPr>
          <p:cNvPr id="22" name="Text 17"/>
          <p:cNvSpPr txBox="1"/>
          <p:nvPr/>
        </p:nvSpPr>
        <p:spPr>
          <a:xfrm>
            <a:off x="640080" y="301752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ctr" indent="0" marL="0">
              <a:buNone/>
            </a:pPr>
            <a:r>
              <a:rPr lang="ar-SA" altLang="en-US" sz="1400" dirty="0">
                <a:solidFill>
                  <a:schemeClr val="tx1"/>
                </a:solidFill>
              </a:rPr>
              <a:t>مسائل حياتية وتفكير أعلى</a:t>
            </a:r>
            <a:endParaRPr lang="ar-SA" sz="1400" dirty="0"/>
          </a:p>
        </p:txBody>
      </p:sp>
      <p:sp>
        <p:nvSpPr>
          <p:cNvPr id="23" name="Text 18"/>
          <p:cNvSpPr txBox="1"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chemeClr val="accent6"/>
                </a:solidFill>
              </a:rPr>
              <a:t>أنهيتَ بطاقتك؟ انتقل إلى البطاقة التالية!</a:t>
            </a:r>
            <a:endParaRPr lang="ar-SA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79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2926080" y="274320"/>
            <a:ext cx="5760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البطاقة الخضراء – مستوى الدعم</a:t>
            </a:r>
            <a:endParaRPr lang="en-US" sz="3000" dirty="0"/>
          </a:p>
        </p:txBody>
      </p:sp>
      <p:sp>
        <p:nvSpPr>
          <p:cNvPr id="3" name="stage pill"/>
          <p:cNvSpPr/>
          <p:nvPr/>
        </p:nvSpPr>
        <p:spPr>
          <a:xfrm>
            <a:off x="457200" y="411480"/>
            <a:ext cx="2194560" cy="411480"/>
          </a:xfrm>
          <a:prstGeom prst="roundRect">
            <a:avLst>
              <a:gd name="adj" fmla="val 48889"/>
            </a:avLst>
          </a:prstGeom>
          <a:solidFill>
            <a:schemeClr val="accent6"/>
          </a:solidFill>
          <a:ln/>
        </p:spPr>
      </p:sp>
      <p:sp>
        <p:nvSpPr>
          <p:cNvPr id="4" name="stage label"/>
          <p:cNvSpPr txBox="1"/>
          <p:nvPr/>
        </p:nvSpPr>
        <p:spPr>
          <a:xfrm>
            <a:off x="457200" y="4114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" b="1" dirty="0">
                <a:solidFill>
                  <a:schemeClr val="bg1"/>
                </a:solidFill>
              </a:rPr>
              <a:t>تطبيق تمايزي · 15 د</a:t>
            </a:r>
            <a:endParaRPr lang="ar-SA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822960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001000" y="141732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00100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188720"/>
            <a:ext cx="3063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700" dirty="0">
                <a:solidFill>
                  <a:schemeClr val="tx1"/>
                </a:solidFill>
              </a:rPr>
              <a:t>اكتب على شكل قوة:</a:t>
            </a:r>
            <a:endParaRPr lang="ar-SA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1887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4F6C"/>
                </a:solidFill>
              </a:rPr>
              <a:t>3×3×3×3 ;  7×7 ;  10×10×10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57200" y="2304288"/>
            <a:ext cx="822960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001000" y="2532888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001000" y="25328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846320" y="2304288"/>
            <a:ext cx="3063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700" dirty="0">
                <a:solidFill>
                  <a:schemeClr val="tx1"/>
                </a:solidFill>
              </a:rPr>
              <a:t>في القوة ‪5³‬ : الأساس … ، الأس … ، الجداء …</a:t>
            </a:r>
            <a:endParaRPr lang="ar-SA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2304288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4F6C"/>
                </a:solidFill>
              </a:rPr>
              <a:t>5</a:t>
            </a:r>
            <a:pPr algn="ctr" indent="0" marL="0">
              <a:buNone/>
            </a:pPr>
            <a:r>
              <a:rPr lang="en-US" sz="2200" b="1" baseline="30000" dirty="0">
                <a:solidFill>
                  <a:srgbClr val="0B4F6C"/>
                </a:solidFill>
              </a:rPr>
              <a:t>3</a:t>
            </a:r>
            <a:pPr algn="ctr" indent="0" marL="0">
              <a:buNone/>
            </a:pPr>
            <a:r>
              <a:rPr lang="en-US" sz="2200" b="1" dirty="0">
                <a:solidFill>
                  <a:srgbClr val="0B4F6C"/>
                </a:solidFill>
              </a:rPr>
              <a:t> = … × … × …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457200" y="3419856"/>
            <a:ext cx="822960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001000" y="3648456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001000" y="364845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4846320" y="3419856"/>
            <a:ext cx="3063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700" dirty="0">
                <a:solidFill>
                  <a:schemeClr val="tx1"/>
                </a:solidFill>
              </a:rPr>
              <a:t>احسب:</a:t>
            </a:r>
            <a:endParaRPr lang="ar-SA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41985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4F6C"/>
                </a:solidFill>
              </a:rPr>
              <a:t>2</a:t>
            </a:r>
            <a:pPr algn="ctr" indent="0" marL="0">
              <a:buNone/>
            </a:pPr>
            <a:r>
              <a:rPr lang="en-US" sz="2200" b="1" baseline="30000" dirty="0">
                <a:solidFill>
                  <a:srgbClr val="0B4F6C"/>
                </a:solidFill>
              </a:rPr>
              <a:t>3</a:t>
            </a:r>
            <a:pPr algn="ctr" indent="0" marL="0">
              <a:buNone/>
            </a:pPr>
            <a:r>
              <a:rPr lang="en-US" sz="2200" b="1" dirty="0">
                <a:solidFill>
                  <a:srgbClr val="0B4F6C"/>
                </a:solidFill>
              </a:rPr>
              <a:t> = …   ;   4</a:t>
            </a:r>
            <a:pPr algn="ctr" indent="0" marL="0">
              <a:buNone/>
            </a:pPr>
            <a:r>
              <a:rPr lang="en-US" sz="2200" b="1" baseline="30000" dirty="0">
                <a:solidFill>
                  <a:srgbClr val="0B4F6C"/>
                </a:solidFill>
              </a:rPr>
              <a:t>2</a:t>
            </a:r>
            <a:pPr algn="ctr" indent="0" marL="0">
              <a:buNone/>
            </a:pPr>
            <a:r>
              <a:rPr lang="en-US" sz="2200" b="1" dirty="0">
                <a:solidFill>
                  <a:srgbClr val="0B4F6C"/>
                </a:solidFill>
              </a:rPr>
              <a:t> = …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79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2926080" y="274320"/>
            <a:ext cx="5760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البطاقة الصفراء – المستوى الأساسي</a:t>
            </a:r>
            <a:endParaRPr lang="en-US" sz="3000" dirty="0"/>
          </a:p>
        </p:txBody>
      </p:sp>
      <p:sp>
        <p:nvSpPr>
          <p:cNvPr id="3" name="stage pill"/>
          <p:cNvSpPr/>
          <p:nvPr/>
        </p:nvSpPr>
        <p:spPr>
          <a:xfrm>
            <a:off x="457200" y="411480"/>
            <a:ext cx="2194560" cy="411480"/>
          </a:xfrm>
          <a:prstGeom prst="roundRect">
            <a:avLst>
              <a:gd name="adj" fmla="val 48889"/>
            </a:avLst>
          </a:prstGeom>
          <a:solidFill>
            <a:schemeClr val="accent6"/>
          </a:solidFill>
          <a:ln/>
        </p:spPr>
      </p:sp>
      <p:sp>
        <p:nvSpPr>
          <p:cNvPr id="4" name="stage label"/>
          <p:cNvSpPr txBox="1"/>
          <p:nvPr/>
        </p:nvSpPr>
        <p:spPr>
          <a:xfrm>
            <a:off x="457200" y="4114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" b="1" dirty="0">
                <a:solidFill>
                  <a:schemeClr val="bg1"/>
                </a:solidFill>
              </a:rPr>
              <a:t>تطبيق تمايزي · 15 د</a:t>
            </a:r>
            <a:endParaRPr lang="ar-SA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822960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001000" y="141732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00100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188720"/>
            <a:ext cx="3063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700" dirty="0">
                <a:solidFill>
                  <a:schemeClr val="tx1"/>
                </a:solidFill>
              </a:rPr>
              <a:t>احسب:</a:t>
            </a:r>
            <a:endParaRPr lang="ar-SA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1887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4F6C"/>
                </a:solidFill>
              </a:rPr>
              <a:t>3</a:t>
            </a:r>
            <a:pPr algn="ctr" indent="0" marL="0">
              <a:buNone/>
            </a:pPr>
            <a:r>
              <a:rPr lang="en-US" sz="2200" b="1" baseline="30000" dirty="0">
                <a:solidFill>
                  <a:srgbClr val="0B4F6C"/>
                </a:solidFill>
              </a:rPr>
              <a:t>4</a:t>
            </a:r>
            <a:pPr algn="ctr" indent="0" marL="0">
              <a:buNone/>
            </a:pPr>
            <a:r>
              <a:rPr lang="en-US" sz="2200" b="1" dirty="0">
                <a:solidFill>
                  <a:srgbClr val="0B4F6C"/>
                </a:solidFill>
              </a:rPr>
              <a:t> ;  10</a:t>
            </a:r>
            <a:pPr algn="ctr" indent="0" marL="0">
              <a:buNone/>
            </a:pPr>
            <a:r>
              <a:rPr lang="en-US" sz="2200" b="1" baseline="30000" dirty="0">
                <a:solidFill>
                  <a:srgbClr val="0B4F6C"/>
                </a:solidFill>
              </a:rPr>
              <a:t>5</a:t>
            </a:r>
            <a:pPr algn="ctr" indent="0" marL="0">
              <a:buNone/>
            </a:pPr>
            <a:r>
              <a:rPr lang="en-US" sz="2200" b="1" dirty="0">
                <a:solidFill>
                  <a:srgbClr val="0B4F6C"/>
                </a:solidFill>
              </a:rPr>
              <a:t> ;  1</a:t>
            </a:r>
            <a:pPr algn="ctr" indent="0" marL="0">
              <a:buNone/>
            </a:pPr>
            <a:r>
              <a:rPr lang="en-US" sz="2200" b="1" baseline="30000" dirty="0">
                <a:solidFill>
                  <a:srgbClr val="0B4F6C"/>
                </a:solidFill>
              </a:rPr>
              <a:t>9</a:t>
            </a:r>
            <a:pPr algn="ctr" indent="0" marL="0">
              <a:buNone/>
            </a:pPr>
            <a:r>
              <a:rPr lang="en-US" sz="2200" b="1" dirty="0">
                <a:solidFill>
                  <a:srgbClr val="0B4F6C"/>
                </a:solidFill>
              </a:rPr>
              <a:t> ;  0</a:t>
            </a:r>
            <a:pPr algn="ctr" indent="0" marL="0">
              <a:buNone/>
            </a:pPr>
            <a:r>
              <a:rPr lang="en-US" sz="2200" b="1" baseline="30000" dirty="0">
                <a:solidFill>
                  <a:srgbClr val="0B4F6C"/>
                </a:solidFill>
              </a:rPr>
              <a:t>6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57200" y="2304288"/>
            <a:ext cx="822960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001000" y="2532888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001000" y="25328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846320" y="2304288"/>
            <a:ext cx="3063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700" dirty="0">
                <a:solidFill>
                  <a:schemeClr val="tx1"/>
                </a:solidFill>
              </a:rPr>
              <a:t>ضع = أو ≠ مع التعليل:</a:t>
            </a:r>
            <a:endParaRPr lang="ar-SA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2304288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4F6C"/>
                </a:solidFill>
              </a:rPr>
              <a:t>2</a:t>
            </a:r>
            <a:pPr algn="ctr" indent="0" marL="0">
              <a:buNone/>
            </a:pPr>
            <a:r>
              <a:rPr lang="en-US" sz="2200" b="1" baseline="30000" dirty="0">
                <a:solidFill>
                  <a:srgbClr val="0B4F6C"/>
                </a:solidFill>
              </a:rPr>
              <a:t>3</a:t>
            </a:r>
            <a:pPr algn="ctr" indent="0" marL="0">
              <a:buNone/>
            </a:pPr>
            <a:r>
              <a:rPr lang="en-US" sz="2200" b="1" dirty="0">
                <a:solidFill>
                  <a:srgbClr val="0B4F6C"/>
                </a:solidFill>
              </a:rPr>
              <a:t> … 2×3   ;   3</a:t>
            </a:r>
            <a:pPr algn="ctr" indent="0" marL="0">
              <a:buNone/>
            </a:pPr>
            <a:r>
              <a:rPr lang="en-US" sz="2200" b="1" baseline="30000" dirty="0">
                <a:solidFill>
                  <a:srgbClr val="0B4F6C"/>
                </a:solidFill>
              </a:rPr>
              <a:t>2</a:t>
            </a:r>
            <a:pPr algn="ctr" indent="0" marL="0">
              <a:buNone/>
            </a:pPr>
            <a:r>
              <a:rPr lang="en-US" sz="2200" b="1" dirty="0">
                <a:solidFill>
                  <a:srgbClr val="0B4F6C"/>
                </a:solidFill>
              </a:rPr>
              <a:t> … 9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457200" y="3419856"/>
            <a:ext cx="822960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001000" y="3648456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001000" y="364845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4846320" y="3419856"/>
            <a:ext cx="3063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700" dirty="0">
                <a:solidFill>
                  <a:schemeClr val="tx1"/>
                </a:solidFill>
              </a:rPr>
              <a:t>اكتب على شكل قوة:</a:t>
            </a:r>
            <a:endParaRPr lang="ar-SA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41985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4F6C"/>
                </a:solidFill>
              </a:rPr>
              <a:t>32 = …   ;   81 = …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79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2926080" y="274320"/>
            <a:ext cx="5760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البطاقة الحمراء – مستوى الإثراء</a:t>
            </a:r>
            <a:endParaRPr lang="en-US" sz="3000" dirty="0"/>
          </a:p>
        </p:txBody>
      </p:sp>
      <p:sp>
        <p:nvSpPr>
          <p:cNvPr id="3" name="stage pill"/>
          <p:cNvSpPr/>
          <p:nvPr/>
        </p:nvSpPr>
        <p:spPr>
          <a:xfrm>
            <a:off x="457200" y="411480"/>
            <a:ext cx="2194560" cy="411480"/>
          </a:xfrm>
          <a:prstGeom prst="roundRect">
            <a:avLst>
              <a:gd name="adj" fmla="val 48889"/>
            </a:avLst>
          </a:prstGeom>
          <a:solidFill>
            <a:schemeClr val="accent6"/>
          </a:solidFill>
          <a:ln/>
        </p:spPr>
      </p:sp>
      <p:sp>
        <p:nvSpPr>
          <p:cNvPr id="4" name="stage label"/>
          <p:cNvSpPr txBox="1"/>
          <p:nvPr/>
        </p:nvSpPr>
        <p:spPr>
          <a:xfrm>
            <a:off x="457200" y="4114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" b="1" dirty="0">
                <a:solidFill>
                  <a:schemeClr val="bg1"/>
                </a:solidFill>
              </a:rPr>
              <a:t>تطبيق تمايزي · 15 د</a:t>
            </a:r>
            <a:endParaRPr lang="ar-SA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822960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001000" y="1417320"/>
            <a:ext cx="502920" cy="50292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00100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188720"/>
            <a:ext cx="3063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700" dirty="0">
                <a:solidFill>
                  <a:schemeClr val="tx1"/>
                </a:solidFill>
              </a:rPr>
              <a:t>خلية بكتيريا تنقسم إلى خليتين كل ساعة. كم خلية بعد 6 ساعات؟</a:t>
            </a:r>
            <a:endParaRPr lang="ar-SA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18872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4F6C"/>
                </a:solidFill>
              </a:rPr>
              <a:t>2</a:t>
            </a:r>
            <a:pPr algn="ctr" indent="0" marL="0">
              <a:buNone/>
            </a:pPr>
            <a:r>
              <a:rPr lang="en-US" sz="2200" b="1" baseline="30000" dirty="0">
                <a:solidFill>
                  <a:srgbClr val="0B4F6C"/>
                </a:solidFill>
              </a:rPr>
              <a:t>?</a:t>
            </a:r>
            <a:pPr algn="ctr" indent="0" marL="0">
              <a:buNone/>
            </a:pPr>
            <a:r>
              <a:rPr lang="en-US" sz="2200" b="1" dirty="0">
                <a:solidFill>
                  <a:srgbClr val="0B4F6C"/>
                </a:solidFill>
              </a:rPr>
              <a:t> = …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57200" y="2304288"/>
            <a:ext cx="822960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001000" y="2532888"/>
            <a:ext cx="502920" cy="50292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001000" y="25328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846320" y="2304288"/>
            <a:ext cx="3063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700" dirty="0">
                <a:solidFill>
                  <a:schemeClr val="tx1"/>
                </a:solidFill>
              </a:rPr>
              <a:t>اكتب 64 على شكل قوة بثلاث طرق مختلفة</a:t>
            </a:r>
            <a:endParaRPr lang="ar-SA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2304288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4F6C"/>
                </a:solidFill>
              </a:rPr>
              <a:t>64 = □</a:t>
            </a:r>
            <a:pPr algn="ctr" indent="0" marL="0">
              <a:buNone/>
            </a:pPr>
            <a:r>
              <a:rPr lang="en-US" sz="2200" b="1" baseline="30000" dirty="0">
                <a:solidFill>
                  <a:srgbClr val="0B4F6C"/>
                </a:solidFill>
              </a:rPr>
              <a:t>□</a:t>
            </a:r>
            <a:pPr algn="ctr" indent="0" marL="0">
              <a:buNone/>
            </a:pPr>
            <a:r>
              <a:rPr lang="en-US" sz="2200" b="1" dirty="0">
                <a:solidFill>
                  <a:srgbClr val="0B4F6C"/>
                </a:solidFill>
              </a:rPr>
              <a:t> = □</a:t>
            </a:r>
            <a:pPr algn="ctr" indent="0" marL="0">
              <a:buNone/>
            </a:pPr>
            <a:r>
              <a:rPr lang="en-US" sz="2200" b="1" baseline="30000" dirty="0">
                <a:solidFill>
                  <a:srgbClr val="0B4F6C"/>
                </a:solidFill>
              </a:rPr>
              <a:t>□</a:t>
            </a:r>
            <a:pPr algn="ctr" indent="0" marL="0">
              <a:buNone/>
            </a:pPr>
            <a:r>
              <a:rPr lang="en-US" sz="2200" b="1" dirty="0">
                <a:solidFill>
                  <a:srgbClr val="0B4F6C"/>
                </a:solidFill>
              </a:rPr>
              <a:t> = □</a:t>
            </a:r>
            <a:pPr algn="ctr" indent="0" marL="0">
              <a:buNone/>
            </a:pPr>
            <a:r>
              <a:rPr lang="en-US" sz="2200" b="1" baseline="30000" dirty="0">
                <a:solidFill>
                  <a:srgbClr val="0B4F6C"/>
                </a:solidFill>
              </a:rPr>
              <a:t>□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457200" y="3419856"/>
            <a:ext cx="822960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001000" y="3648456"/>
            <a:ext cx="502920" cy="50292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001000" y="364845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4846320" y="3419856"/>
            <a:ext cx="3063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700" dirty="0">
                <a:solidFill>
                  <a:schemeClr val="tx1"/>
                </a:solidFill>
              </a:rPr>
              <a:t>قارن دون آلة حاسبة، وعلّل:</a:t>
            </a:r>
            <a:endParaRPr lang="ar-SA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419856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4F6C"/>
                </a:solidFill>
              </a:rPr>
              <a:t>2</a:t>
            </a:r>
            <a:pPr algn="ctr" indent="0" marL="0">
              <a:buNone/>
            </a:pPr>
            <a:r>
              <a:rPr lang="en-US" sz="2200" b="1" baseline="30000" dirty="0">
                <a:solidFill>
                  <a:srgbClr val="0B4F6C"/>
                </a:solidFill>
              </a:rPr>
              <a:t>5</a:t>
            </a:r>
            <a:pPr algn="ctr" indent="0" marL="0">
              <a:buNone/>
            </a:pPr>
            <a:r>
              <a:rPr lang="en-US" sz="2200" b="1" dirty="0">
                <a:solidFill>
                  <a:srgbClr val="0B4F6C"/>
                </a:solidFill>
              </a:rPr>
              <a:t>   ?   5</a:t>
            </a:r>
            <a:pPr algn="ctr" indent="0" marL="0">
              <a:buNone/>
            </a:pPr>
            <a:r>
              <a:rPr lang="en-US" sz="2200" b="1" baseline="30000" dirty="0">
                <a:solidFill>
                  <a:srgbClr val="0B4F6C"/>
                </a:solidFill>
              </a:rPr>
              <a:t>2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79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2926080" y="274320"/>
            <a:ext cx="5760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بطاقة الخروج</a:t>
            </a:r>
            <a:endParaRPr lang="en-US" sz="3000" dirty="0"/>
          </a:p>
        </p:txBody>
      </p:sp>
      <p:sp>
        <p:nvSpPr>
          <p:cNvPr id="3" name="stage pill"/>
          <p:cNvSpPr/>
          <p:nvPr/>
        </p:nvSpPr>
        <p:spPr>
          <a:xfrm>
            <a:off x="457200" y="411480"/>
            <a:ext cx="2194560" cy="411480"/>
          </a:xfrm>
          <a:prstGeom prst="roundRect">
            <a:avLst>
              <a:gd name="adj" fmla="val 48889"/>
            </a:avLst>
          </a:prstGeom>
          <a:solidFill>
            <a:schemeClr val="accent4"/>
          </a:solidFill>
          <a:ln/>
        </p:spPr>
      </p:sp>
      <p:sp>
        <p:nvSpPr>
          <p:cNvPr id="4" name="stage label"/>
          <p:cNvSpPr txBox="1"/>
          <p:nvPr/>
        </p:nvSpPr>
        <p:spPr>
          <a:xfrm>
            <a:off x="457200" y="4114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" b="1" dirty="0">
                <a:solidFill>
                  <a:schemeClr val="bg1"/>
                </a:solidFill>
              </a:rPr>
              <a:t>التقييم · 10 د</a:t>
            </a:r>
            <a:endParaRPr lang="ar-SA" sz="1400" dirty="0"/>
          </a:p>
        </p:txBody>
      </p:sp>
      <p:sp>
        <p:nvSpPr>
          <p:cNvPr id="5" name="Shape 3"/>
          <p:cNvSpPr/>
          <p:nvPr/>
        </p:nvSpPr>
        <p:spPr>
          <a:xfrm>
            <a:off x="4663440" y="1188720"/>
            <a:ext cx="402336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046720" y="1325880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04672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800600" y="1298448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600" dirty="0">
                <a:solidFill>
                  <a:schemeClr val="tx1"/>
                </a:solidFill>
              </a:rPr>
              <a:t>اكتب على شكل قوة:</a:t>
            </a:r>
            <a:endParaRPr lang="ar-SA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800600" y="192024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4F6C"/>
                </a:solidFill>
              </a:rPr>
              <a:t>6×6×6×6×6 = …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57200" y="1188720"/>
            <a:ext cx="402336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840480" y="1325880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84048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" y="1298448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600" dirty="0">
                <a:solidFill>
                  <a:schemeClr val="tx1"/>
                </a:solidFill>
              </a:rPr>
              <a:t>في القوة ‪7⁴‬ :</a:t>
            </a:r>
            <a:endParaRPr lang="ar-SA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192024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ar-SA" altLang="en-US" sz="2000" b="1" dirty="0">
                <a:solidFill>
                  <a:schemeClr val="tx2"/>
                </a:solidFill>
              </a:rPr>
              <a:t>الأساس = …      الأس = …</a:t>
            </a:r>
            <a:endParaRPr lang="ar-SA" sz="2000" dirty="0"/>
          </a:p>
        </p:txBody>
      </p:sp>
      <p:sp>
        <p:nvSpPr>
          <p:cNvPr id="15" name="Shape 13"/>
          <p:cNvSpPr/>
          <p:nvPr/>
        </p:nvSpPr>
        <p:spPr>
          <a:xfrm>
            <a:off x="4663440" y="2880360"/>
            <a:ext cx="402336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046720" y="3017520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046720" y="3017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4800600" y="2990088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600" dirty="0">
                <a:solidFill>
                  <a:schemeClr val="tx1"/>
                </a:solidFill>
              </a:rPr>
              <a:t>احسب:</a:t>
            </a:r>
            <a:endParaRPr lang="ar-SA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4800600" y="36118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4F6C"/>
                </a:solidFill>
              </a:rPr>
              <a:t>5</a:t>
            </a:r>
            <a:pPr algn="ctr" indent="0" marL="0">
              <a:buNone/>
            </a:pPr>
            <a:r>
              <a:rPr lang="en-US" sz="2200" b="1" baseline="30000" dirty="0">
                <a:solidFill>
                  <a:srgbClr val="0B4F6C"/>
                </a:solidFill>
              </a:rPr>
              <a:t>2</a:t>
            </a:r>
            <a:pPr algn="ctr" indent="0" marL="0">
              <a:buNone/>
            </a:pPr>
            <a:r>
              <a:rPr lang="en-US" sz="2200" b="1" dirty="0">
                <a:solidFill>
                  <a:srgbClr val="0B4F6C"/>
                </a:solidFill>
              </a:rPr>
              <a:t> = …   ;   2</a:t>
            </a:r>
            <a:pPr algn="ctr" indent="0" marL="0">
              <a:buNone/>
            </a:pPr>
            <a:r>
              <a:rPr lang="en-US" sz="2200" b="1" baseline="30000" dirty="0">
                <a:solidFill>
                  <a:srgbClr val="0B4F6C"/>
                </a:solidFill>
              </a:rPr>
              <a:t>5</a:t>
            </a:r>
            <a:pPr algn="ctr" indent="0" marL="0">
              <a:buNone/>
            </a:pPr>
            <a:r>
              <a:rPr lang="en-US" sz="2200" b="1" dirty="0">
                <a:solidFill>
                  <a:srgbClr val="0B4F6C"/>
                </a:solidFill>
              </a:rPr>
              <a:t> = …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457200" y="2880360"/>
            <a:ext cx="402336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840480" y="3017520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3840480" y="3017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" y="2990088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600" dirty="0">
                <a:solidFill>
                  <a:schemeClr val="tx1"/>
                </a:solidFill>
              </a:rPr>
              <a:t>صح أم خطأ؟ صحّح الخطأ:</a:t>
            </a:r>
            <a:endParaRPr lang="ar-SA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36118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4F6C"/>
                </a:solidFill>
              </a:rPr>
              <a:t>4</a:t>
            </a:r>
            <a:pPr algn="ctr" indent="0" marL="0">
              <a:buNone/>
            </a:pPr>
            <a:r>
              <a:rPr lang="en-US" sz="2200" b="1" baseline="30000" dirty="0">
                <a:solidFill>
                  <a:srgbClr val="0B4F6C"/>
                </a:solidFill>
              </a:rPr>
              <a:t>3</a:t>
            </a:r>
            <a:pPr algn="ctr" indent="0" marL="0">
              <a:buNone/>
            </a:pPr>
            <a:r>
              <a:rPr lang="en-US" sz="2200" b="1" dirty="0">
                <a:solidFill>
                  <a:srgbClr val="0B4F6C"/>
                </a:solidFill>
              </a:rPr>
              <a:t> = 12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79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2926080" y="274320"/>
            <a:ext cx="5760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الواجب البيتي</a:t>
            </a:r>
            <a:endParaRPr lang="en-US" sz="3000" dirty="0"/>
          </a:p>
        </p:txBody>
      </p:sp>
      <p:sp>
        <p:nvSpPr>
          <p:cNvPr id="3" name="stage pill"/>
          <p:cNvSpPr/>
          <p:nvPr/>
        </p:nvSpPr>
        <p:spPr>
          <a:xfrm>
            <a:off x="457200" y="411480"/>
            <a:ext cx="2194560" cy="411480"/>
          </a:xfrm>
          <a:prstGeom prst="roundRect">
            <a:avLst>
              <a:gd name="adj" fmla="val 48889"/>
            </a:avLst>
          </a:prstGeom>
          <a:solidFill>
            <a:schemeClr val="accent4"/>
          </a:solidFill>
          <a:ln/>
        </p:spPr>
      </p:sp>
      <p:sp>
        <p:nvSpPr>
          <p:cNvPr id="4" name="stage label"/>
          <p:cNvSpPr txBox="1"/>
          <p:nvPr/>
        </p:nvSpPr>
        <p:spPr>
          <a:xfrm>
            <a:off x="457200" y="4114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" b="1" dirty="0">
                <a:solidFill>
                  <a:schemeClr val="bg1"/>
                </a:solidFill>
              </a:rPr>
              <a:t>التقييم · 10 د</a:t>
            </a:r>
            <a:endParaRPr lang="ar-SA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822960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909560" y="1371600"/>
            <a:ext cx="594360" cy="59436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0" y="1508760"/>
            <a:ext cx="320040" cy="3200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1188720"/>
            <a:ext cx="71323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ar-SA" altLang="en-US" sz="1800" b="1" dirty="0">
                <a:solidFill>
                  <a:schemeClr val="accent5"/>
                </a:solidFill>
              </a:rPr>
              <a:t>للجميع: </a:t>
            </a:r>
            <a:pPr algn="r" indent="0" marL="0">
              <a:buNone/>
            </a:pPr>
            <a:r>
              <a:rPr lang="ar-SA" altLang="en-US" sz="1800" dirty="0">
                <a:solidFill>
                  <a:schemeClr val="tx1"/>
                </a:solidFill>
              </a:rPr>
              <a:t>تمرين 1 و2 من بطاقة القوى: كتابة جداءات على شكل قوة وحساب قيمها</a:t>
            </a:r>
            <a:endParaRPr lang="ar-SA" sz="1800" dirty="0"/>
          </a:p>
        </p:txBody>
      </p:sp>
      <p:sp>
        <p:nvSpPr>
          <p:cNvPr id="9" name="Shape 6"/>
          <p:cNvSpPr/>
          <p:nvPr/>
        </p:nvSpPr>
        <p:spPr>
          <a:xfrm>
            <a:off x="457200" y="2304288"/>
            <a:ext cx="822960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909560" y="2487168"/>
            <a:ext cx="594360" cy="59436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2624328"/>
            <a:ext cx="320040" cy="32004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40080" y="2304288"/>
            <a:ext cx="71323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ar-SA" altLang="en-US" sz="1800" b="1" dirty="0">
                <a:solidFill>
                  <a:schemeClr val="accent2"/>
                </a:solidFill>
              </a:rPr>
              <a:t>بطاقة دعم: </a:t>
            </a:r>
            <a:pPr algn="r" indent="0" marL="0">
              <a:buNone/>
            </a:pPr>
            <a:r>
              <a:rPr lang="ar-SA" altLang="en-US" sz="1800" dirty="0">
                <a:solidFill>
                  <a:schemeClr val="tx1"/>
                </a:solidFill>
              </a:rPr>
              <a:t>5 تمارين موجّهة مع مثال محلول عبر منصة التلميذ</a:t>
            </a:r>
            <a:endParaRPr lang="ar-SA" sz="1800" dirty="0"/>
          </a:p>
        </p:txBody>
      </p:sp>
      <p:sp>
        <p:nvSpPr>
          <p:cNvPr id="13" name="Shape 9"/>
          <p:cNvSpPr/>
          <p:nvPr/>
        </p:nvSpPr>
        <p:spPr>
          <a:xfrm>
            <a:off x="457200" y="3419856"/>
            <a:ext cx="822960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7909560" y="3602736"/>
            <a:ext cx="594360" cy="59436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3739896"/>
            <a:ext cx="320040" cy="3200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40080" y="3419856"/>
            <a:ext cx="71323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ar-SA" altLang="en-US" sz="1800" b="1" dirty="0">
                <a:solidFill>
                  <a:schemeClr val="accent4"/>
                </a:solidFill>
              </a:rPr>
              <a:t>بطاقة إثراء: </a:t>
            </a:r>
            <a:pPr algn="r" indent="0" marL="0">
              <a:buNone/>
            </a:pPr>
            <a:r>
              <a:rPr lang="ar-SA" altLang="en-US" sz="1800" dirty="0">
                <a:solidFill>
                  <a:schemeClr val="tx1"/>
                </a:solidFill>
              </a:rPr>
              <a:t>كم حبّة قمح في المربع العاشر من رقعة الشطرنج؟ اكتب الجواب على شكل قوة</a:t>
            </a:r>
            <a:endParaRPr lang="ar-SA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79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2926080" y="274320"/>
            <a:ext cx="5760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حلول بطاقة الخروج</a:t>
            </a:r>
            <a:endParaRPr lang="en-US" sz="3000" dirty="0"/>
          </a:p>
        </p:txBody>
      </p:sp>
      <p:sp>
        <p:nvSpPr>
          <p:cNvPr id="3" name="stage pill"/>
          <p:cNvSpPr/>
          <p:nvPr/>
        </p:nvSpPr>
        <p:spPr>
          <a:xfrm>
            <a:off x="457200" y="411480"/>
            <a:ext cx="2194560" cy="411480"/>
          </a:xfrm>
          <a:prstGeom prst="roundRect">
            <a:avLst>
              <a:gd name="adj" fmla="val 48889"/>
            </a:avLst>
          </a:prstGeom>
          <a:solidFill>
            <a:schemeClr val="accent4"/>
          </a:solidFill>
          <a:ln/>
        </p:spPr>
      </p:sp>
      <p:sp>
        <p:nvSpPr>
          <p:cNvPr id="4" name="stage label"/>
          <p:cNvSpPr txBox="1"/>
          <p:nvPr/>
        </p:nvSpPr>
        <p:spPr>
          <a:xfrm>
            <a:off x="457200" y="41148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" b="1" dirty="0">
                <a:solidFill>
                  <a:schemeClr val="bg1"/>
                </a:solidFill>
              </a:rPr>
              <a:t>التقييم · 10 د</a:t>
            </a:r>
            <a:endParaRPr lang="ar-SA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8229600" cy="713232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092440" y="1298448"/>
            <a:ext cx="475488" cy="47548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092440" y="12984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1188720"/>
            <a:ext cx="45720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4F6C"/>
                </a:solidFill>
              </a:rPr>
              <a:t>6×6×6×6×6 = 6</a:t>
            </a:r>
            <a:pPr algn="ctr" indent="0" marL="0">
              <a:buNone/>
            </a:pPr>
            <a:r>
              <a:rPr lang="en-US" sz="2200" b="1" baseline="30000" dirty="0">
                <a:solidFill>
                  <a:srgbClr val="0B4F6C"/>
                </a:solidFill>
              </a:rPr>
              <a:t>5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457200" y="2029968"/>
            <a:ext cx="8229600" cy="713232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092440" y="2139696"/>
            <a:ext cx="475488" cy="47548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092440" y="213969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291840" y="2029968"/>
            <a:ext cx="45720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4F6C"/>
                </a:solidFill>
              </a:rPr>
              <a:t>7</a:t>
            </a:r>
            <a:pPr algn="ctr" indent="0" marL="0">
              <a:buNone/>
            </a:pPr>
            <a:r>
              <a:rPr lang="en-US" sz="2200" b="1" baseline="30000" dirty="0">
                <a:solidFill>
                  <a:srgbClr val="0B4F6C"/>
                </a:solidFill>
              </a:rPr>
              <a:t>4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2029968"/>
            <a:ext cx="27432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chemeClr val="accent4"/>
                </a:solidFill>
              </a:rPr>
              <a:t>الأساس 7 والأس 4</a:t>
            </a:r>
            <a:endParaRPr lang="ar-SA" sz="1600" dirty="0"/>
          </a:p>
        </p:txBody>
      </p:sp>
      <p:sp>
        <p:nvSpPr>
          <p:cNvPr id="14" name="Shape 12"/>
          <p:cNvSpPr/>
          <p:nvPr/>
        </p:nvSpPr>
        <p:spPr>
          <a:xfrm>
            <a:off x="457200" y="2871216"/>
            <a:ext cx="8229600" cy="713232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092440" y="2980944"/>
            <a:ext cx="475488" cy="47548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092440" y="29809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3291840" y="2871216"/>
            <a:ext cx="45720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4F6C"/>
                </a:solidFill>
              </a:rPr>
              <a:t>5</a:t>
            </a:r>
            <a:pPr algn="ctr" indent="0" marL="0">
              <a:buNone/>
            </a:pPr>
            <a:r>
              <a:rPr lang="en-US" sz="2200" b="1" baseline="30000" dirty="0">
                <a:solidFill>
                  <a:srgbClr val="0B4F6C"/>
                </a:solidFill>
              </a:rPr>
              <a:t>2</a:t>
            </a:r>
            <a:pPr algn="ctr" indent="0" marL="0">
              <a:buNone/>
            </a:pPr>
            <a:r>
              <a:rPr lang="en-US" sz="2200" b="1" dirty="0">
                <a:solidFill>
                  <a:srgbClr val="0B4F6C"/>
                </a:solidFill>
              </a:rPr>
              <a:t> = 25   ;   2</a:t>
            </a:r>
            <a:pPr algn="ctr" indent="0" marL="0">
              <a:buNone/>
            </a:pPr>
            <a:r>
              <a:rPr lang="en-US" sz="2200" b="1" baseline="30000" dirty="0">
                <a:solidFill>
                  <a:srgbClr val="0B4F6C"/>
                </a:solidFill>
              </a:rPr>
              <a:t>5</a:t>
            </a:r>
            <a:pPr algn="ctr" indent="0" marL="0">
              <a:buNone/>
            </a:pPr>
            <a:r>
              <a:rPr lang="en-US" sz="2200" b="1" dirty="0">
                <a:solidFill>
                  <a:srgbClr val="0B4F6C"/>
                </a:solidFill>
              </a:rPr>
              <a:t> = 32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457200" y="3712464"/>
            <a:ext cx="8229600" cy="713232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092440" y="3822192"/>
            <a:ext cx="475488" cy="475488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092440" y="382219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3291840" y="3712464"/>
            <a:ext cx="45720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4F6C"/>
                </a:solidFill>
              </a:rPr>
              <a:t>4</a:t>
            </a:r>
            <a:pPr algn="ctr" indent="0" marL="0">
              <a:buNone/>
            </a:pPr>
            <a:r>
              <a:rPr lang="en-US" sz="2200" b="1" baseline="30000" dirty="0">
                <a:solidFill>
                  <a:srgbClr val="0B4F6C"/>
                </a:solidFill>
              </a:rPr>
              <a:t>3</a:t>
            </a:r>
            <a:pPr algn="ctr" indent="0" marL="0">
              <a:buNone/>
            </a:pPr>
            <a:r>
              <a:rPr lang="en-US" sz="2200" b="1" dirty="0">
                <a:solidFill>
                  <a:srgbClr val="0B4F6C"/>
                </a:solidFill>
              </a:rPr>
              <a:t> = 4×4×4 = 64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3712464"/>
            <a:ext cx="27432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600" b="1" dirty="0">
                <a:solidFill>
                  <a:schemeClr val="accent4"/>
                </a:solidFill>
              </a:rPr>
              <a:t>خطأ: الصواب 64 وليس 12</a:t>
            </a:r>
            <a:endParaRPr lang="ar-SA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A879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3291840" y="1325880"/>
            <a:ext cx="53949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الخلاصة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3291840" y="2560320"/>
            <a:ext cx="53949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2400" dirty="0">
                <a:solidFill>
                  <a:schemeClr val="accent1"/>
                </a:solidFill>
              </a:rPr>
              <a:t>القوة اختصار للضرب المتكرر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3291840" y="329184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ar-SA" altLang="en-US" sz="1600" dirty="0">
                <a:solidFill>
                  <a:srgbClr val="CFE3EA"/>
                </a:solidFill>
              </a:rPr>
              <a:t>الأساس: العدد المكرَّر  ·  الأس: عدد مرات التكرار</a:t>
            </a:r>
            <a:endParaRPr lang="ar-SA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1097280"/>
            <a:ext cx="2377440" cy="23774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1097280"/>
            <a:ext cx="2377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0B4F6C"/>
                </a:solidFill>
              </a:rPr>
              <a:t>a</a:t>
            </a:r>
            <a:pPr algn="ctr" indent="0" marL="0">
              <a:buNone/>
            </a:pPr>
            <a:r>
              <a:rPr lang="en-US" sz="6600" b="1" baseline="30000" dirty="0">
                <a:solidFill>
                  <a:srgbClr val="0B4F6C"/>
                </a:solidFill>
              </a:rPr>
              <a:t>n</a:t>
            </a:r>
            <a:endParaRPr lang="en-US" sz="6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owers Lesson">
  <a:themeElements>
    <a:clrScheme name="Powers Lesson">
      <a:dk1>
        <a:srgbClr val="1B2433"/>
      </a:dk1>
      <a:lt1>
        <a:srgbClr val="FFFFFF"/>
      </a:lt1>
      <a:dk2>
        <a:srgbClr val="0B4F6C"/>
      </a:dk2>
      <a:lt2>
        <a:srgbClr val="EEF5F7"/>
      </a:lt2>
      <a:accent1>
        <a:srgbClr val="F4A259"/>
      </a:accent1>
      <a:accent2>
        <a:srgbClr val="2E9E6B"/>
      </a:accent2>
      <a:accent3>
        <a:srgbClr val="E8A916"/>
      </a:accent3>
      <a:accent4>
        <a:srgbClr val="E05A47"/>
      </a:accent4>
      <a:accent5>
        <a:srgbClr val="3A86A8"/>
      </a:accent5>
      <a:accent6>
        <a:srgbClr val="7B6CB0"/>
      </a:accent6>
      <a:hlink>
        <a:srgbClr val="3A86A8"/>
      </a:hlink>
      <a:folHlink>
        <a:srgbClr val="7B6CB0"/>
      </a:folHlink>
    </a:clrScheme>
    <a:fontScheme name="Powers Lesson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القوى – مفهوم القوة، الأساس والأس</dc:title>
  <dc:subject>PptxGenJS Presentation</dc:subject>
  <dc:creator>قسم الرياضيات</dc:creator>
  <cp:lastModifiedBy>قسم الرياضيات</cp:lastModifiedBy>
  <cp:revision>1</cp:revision>
  <dcterms:created xsi:type="dcterms:W3CDTF">2026-10-11T09:52:10Z</dcterms:created>
  <dcterms:modified xsi:type="dcterms:W3CDTF">2026-10-11T09:52:10Z</dcterms:modified>
</cp:coreProperties>
</file>