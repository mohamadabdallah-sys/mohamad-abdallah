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ffb1c5d5-bc88-dcff-6ab7-18e28199c838}">
          <p14:sldIdLst>
            <p14:sldId id="256"/>
            <p14:sldId id="257"/>
          </p14:sldIdLst>
        </p14:section>
        <p14:section name="التمهيد" id="{2edea5d0-0dce-ab3f-268e-86e1c9fc20f8}">
          <p14:sldIdLst>
            <p14:sldId id="258"/>
            <p14:sldId id="259"/>
          </p14:sldIdLst>
        </p14:section>
        <p14:section name="الاستكشاف" id="{1d406267-0c9d-1d1c-3e8c-58cb9561e771}">
          <p14:sldIdLst>
            <p14:sldId id="260"/>
            <p14:sldId id="261"/>
            <p14:sldId id="262"/>
            <p14:sldId id="263"/>
            <p14:sldId id="264"/>
          </p14:sldIdLst>
        </p14:section>
        <p14:section name="التطبيق التمايزي" id="{99b5ab6b-ce23-b05c-a85e-e3fc84a15212}">
          <p14:sldIdLst>
            <p14:sldId id="265"/>
            <p14:sldId id="266"/>
            <p14:sldId id="267"/>
            <p14:sldId id="268"/>
          </p14:sldIdLst>
        </p14:section>
        <p14:section name="التقييم" id="{613e26d8-a590-c43a-e833-47441852ee1f}">
          <p14:sldIdLst>
            <p14:sldId id="269"/>
            <p14:sldId id="270"/>
            <p14:sldId id="271"/>
          </p14:sldIdLst>
        </p14:section>
        <p14:section name="الخلاصة" id="{b599fbf2-f271-d8b3-235e-74b7bf259cb1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الحصة الأولى من درس القوى: الانتقال من الضرب المتكرر إلى الترميز aⁿ وتحديد الأساس والأس.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سرد القصة بإيجاز، ثم سؤال التلاميذ شفهياً عن عدد الحبات في المربعات 4 و5 و6 وكتابتها كجداء على اللوح.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فكّر – زاوج – شارك. الجواب المتوقع: 8 = 2×2×2 ، 16 = 2×2×2×2. بعد 10 طيّات: 1024 طبقة. للمتفوقين: 7 طيّات = 128 طبقة.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 محلول في رأس البطاقة: 6×6×6 = 6³ (الأساس 6، الأس 3). الأجوبة: 3⁴ ، 7² ، 10³ / الأساس 5 والأس 3، 5×5×5 = 125 / 8 ،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الأجوبة: 81 ، 100000 ، 1 ، 0 / 2³ = 8 ≠ 6 ، 3² = 9 / 32 = 2⁵ ، 81 = 3⁴ (أو 9²).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الأجوبة: 2⁶ = 64 خلية / 64 = 2⁶ = 4³ = 8² / 2⁵ = 32 &gt; 5² =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فردياً، 5 دقائق. ثم أسئلة شفهية: ما الفرق بين 3² و 3×2؟ ماذا يمثل الأس؟ تُصنَّف النتائج لتوجيه الحصة التالية.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91840" y="2560320"/>
            <a:ext cx="53949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400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029200" y="4754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94"/>
                </a:solidFill>
              </a:rPr>
              <a:t>رياضيات – الصف السابع · القوى (1/8)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القوى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91840" y="25603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مفهوم القوة · الأساس والأس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291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3EA"/>
                </a:solidFill>
              </a:rPr>
              <a:t>رياضيات – الصف السابع  |  الحصة 1 من 8</a:t>
            </a:r>
            <a:endParaRPr lang="ar-SA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B4F6C"/>
                </a:solidFill>
              </a:rPr>
              <a:t>2</a:t>
            </a:r>
            <a:pPr algn="ctr" indent="0" marL="0">
              <a:buNone/>
            </a:pPr>
            <a:r>
              <a:rPr lang="en-US" sz="6600" b="1" baseline="30000" dirty="0">
                <a:solidFill>
                  <a:srgbClr val="0B4F6C"/>
                </a:solidFill>
              </a:rPr>
              <a:t>n</a:t>
            </a:r>
            <a:endParaRPr lang="en-US"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أهداف الحصة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6809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66760" y="1444752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36676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tx1"/>
                </a:solidFill>
              </a:rPr>
              <a:t>أكتب جداء عوامل متساوية على شكل قوة</a:t>
            </a:r>
            <a:endParaRPr lang="ar-SA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76809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66760" y="2404872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6676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3172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tx1"/>
                </a:solidFill>
              </a:rPr>
              <a:t>أحدّد الأساس والأس في قوة معطاة</a:t>
            </a:r>
            <a:endParaRPr lang="ar-SA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76809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66760" y="3364992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9184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tx1"/>
                </a:solidFill>
              </a:rPr>
              <a:t>أحسب قيمة قوة بسيطة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قصة رقعة الشطرنج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التمهيد · 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143000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5024" y="1143000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28216" y="1143000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1143000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143000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07792" y="1143000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00984" y="1143000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536192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1536192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5024" y="1536192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28216" y="1536192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21408" y="1536192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536192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07792" y="1536192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00984" y="1536192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1929384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" y="1929384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35024" y="1929384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28216" y="1929384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21408" y="1929384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1929384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07792" y="1929384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00984" y="1929384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2322576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1832" y="2322576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35024" y="2322576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28216" y="2322576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1408" y="2322576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14600" y="2322576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07792" y="2322576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00984" y="2322576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2715768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1832" y="2715768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35024" y="2715768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28216" y="2715768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1408" y="2715768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14600" y="2715768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07792" y="2715768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00984" y="2715768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3108960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1832" y="3108960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35024" y="3108960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28216" y="3108960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21408" y="3108960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14600" y="3108960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07792" y="3108960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00984" y="3108960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3502152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1832" y="3502152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35024" y="3502152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28216" y="3502152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21408" y="3502152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14600" y="3502152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07792" y="3502152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00984" y="3502152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3895344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1832" y="3895344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35024" y="3895344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28216" y="3895344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21408" y="3895344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14600" y="3895344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07792" y="3895344"/>
            <a:ext cx="393192" cy="393192"/>
          </a:xfrm>
          <a:prstGeom prst="rect">
            <a:avLst/>
          </a:prstGeom>
          <a:solidFill>
            <a:schemeClr val="tx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00984" y="3895344"/>
            <a:ext cx="393192" cy="393192"/>
          </a:xfrm>
          <a:prstGeom prst="rect">
            <a:avLst/>
          </a:prstGeom>
          <a:solidFill>
            <a:schemeClr val="bg2"/>
          </a:solidFill>
          <a:ln w="6350">
            <a:solidFill>
              <a:srgbClr val="C9D6D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3922776"/>
            <a:ext cx="338328" cy="338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548640" y="38953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69264" y="3922776"/>
            <a:ext cx="338328" cy="338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41832" y="38953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362456" y="3922776"/>
            <a:ext cx="338328" cy="338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1335024" y="38953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1755648" y="3922776"/>
            <a:ext cx="338328" cy="338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728216" y="38953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8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148840" y="3922776"/>
            <a:ext cx="338328" cy="338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2121408" y="38953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16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542032" y="3922776"/>
            <a:ext cx="338328" cy="3383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2514600" y="38953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32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935224" y="3922776"/>
            <a:ext cx="338328" cy="3383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2907792" y="38953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?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4023360" y="11887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طلب مخترع الشطرنج من الملك مكافأة: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حبّة قمح في المربع الأول، حبّتان في الثاني، 4 في الثالث… ويتضاعف العدد في كل مربع.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800" dirty="0">
                <a:solidFill>
                  <a:schemeClr val="tx1"/>
                </a:solidFill>
              </a:rPr>
              <a:t> 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كم حبّة في المربع الرابع؟ والخامس؟</a:t>
            </a:r>
            <a:endParaRPr lang="ar-SA" sz="1800" dirty="0"/>
          </a:p>
        </p:txBody>
      </p:sp>
      <p:sp>
        <p:nvSpPr>
          <p:cNvPr id="84" name="Shape 82"/>
          <p:cNvSpPr/>
          <p:nvPr/>
        </p:nvSpPr>
        <p:spPr>
          <a:xfrm>
            <a:off x="4206240" y="3154680"/>
            <a:ext cx="44805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5" name="Text 83"/>
          <p:cNvSpPr txBox="1"/>
          <p:nvPr/>
        </p:nvSpPr>
        <p:spPr>
          <a:xfrm>
            <a:off x="4297680" y="3246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8 = 2 × 2 × 2</a:t>
            </a:r>
            <a:endParaRPr lang="en-US" sz="2200" dirty="0"/>
          </a:p>
        </p:txBody>
      </p:sp>
      <p:sp>
        <p:nvSpPr>
          <p:cNvPr id="86" name="Text 84"/>
          <p:cNvSpPr txBox="1"/>
          <p:nvPr/>
        </p:nvSpPr>
        <p:spPr>
          <a:xfrm>
            <a:off x="4297680" y="3794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16 = 2 × 2 × 2 × 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هل للضرب المتكرر اختصار؟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التمهيد · 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937760" y="14173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نعرف أن الضرب اختصار للجمع المتكرر</a:t>
            </a:r>
            <a:endParaRPr lang="ar-S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23774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433"/>
                </a:solidFill>
              </a:rPr>
              <a:t>3 + 3 + 3 + 3 = 4 × 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5B6B78"/>
                </a:solidFill>
              </a:rPr>
              <a:t>4 مرّات ← نكتب 4 × 3</a:t>
            </a:r>
            <a:endParaRPr lang="ar-SA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14173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1"/>
                </a:solidFill>
              </a:rPr>
              <a:t>وماذا عن الضرب المتكرر؟</a:t>
            </a:r>
            <a:endParaRPr lang="ar-SA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774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 × 2 × 2 × … × 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54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FFFFFF"/>
                </a:solidFill>
              </a:rPr>
              <a:t>المربع 64 فيه جداء 63 عاملاً! كيف نكتبه باختصار؟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نشاط استكشافي: نطوي الورقة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15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1887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خذ ورقة A4 مع زميلك</a:t>
            </a:r>
            <a:endParaRPr lang="ar-SA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965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اطوِ الورقة نصفين</a:t>
            </a:r>
            <a:endParaRPr lang="ar-SA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27432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743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عُدّ الطبقات بعد كل طيّة</a:t>
            </a:r>
            <a:endParaRPr lang="ar-SA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35204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520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دوّن النتيجة في الجدول</a:t>
            </a:r>
            <a:endParaRPr lang="ar-SA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</a:tblGrid>
              <a:tr h="43891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على شكل جداء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عدد الطبقات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عدد الطيّات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2 × 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…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؟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؟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ماذا تلاحظ؟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15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598932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50876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7099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26480" y="25146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ما العدد الذي يتكرّر في كل جداء؟</a:t>
            </a:r>
            <a:endParaRPr lang="ar-SA" sz="180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150876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7099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5146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كم مرة تكرّر؟ وما علاقة ذلك بعدد الطيّات؟</a:t>
            </a:r>
            <a:endParaRPr lang="ar-SA" sz="1800" dirty="0"/>
          </a:p>
        </p:txBody>
      </p:sp>
      <p:sp>
        <p:nvSpPr>
          <p:cNvPr id="13" name="Shape 9"/>
          <p:cNvSpPr/>
          <p:nvPr/>
        </p:nvSpPr>
        <p:spPr>
          <a:xfrm>
            <a:off x="502920" y="128016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371600" y="150876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70992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" y="25146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كيف نكتب ‪2×2×2×2‬ بشكل مختصر؟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القوة: الأساس والأس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15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4F6C"/>
                </a:solidFill>
              </a:rPr>
              <a:t>a</a:t>
            </a:r>
            <a:pPr algn="ctr" indent="0" marL="0">
              <a:buNone/>
            </a:pPr>
            <a:r>
              <a:rPr lang="en-US" sz="3600" b="1" baseline="30000" dirty="0">
                <a:solidFill>
                  <a:srgbClr val="0B4F6C"/>
                </a:solidFill>
              </a:rPr>
              <a:t>n</a:t>
            </a:r>
            <a:pPr algn="ctr" indent="0" marL="0">
              <a:buNone/>
            </a:pPr>
            <a:r>
              <a:rPr lang="en-US" sz="3600" b="1" dirty="0">
                <a:solidFill>
                  <a:srgbClr val="0B4F6C"/>
                </a:solidFill>
              </a:rPr>
              <a:t> = a × a × … × a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5B6B78"/>
                </a:solidFill>
              </a:rPr>
              <a:t>(n عاملاً كلٌّ منها يساوي a)</a:t>
            </a:r>
            <a:endParaRPr lang="ar-SA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5146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B2433"/>
                </a:solidFill>
              </a:rPr>
              <a:t>2</a:t>
            </a:r>
            <a:pPr algn="ctr" indent="0" marL="0">
              <a:buNone/>
            </a:pPr>
            <a:r>
              <a:rPr lang="en-US" sz="8800" b="1" baseline="30000" dirty="0">
                <a:solidFill>
                  <a:srgbClr val="1B2433"/>
                </a:solidFill>
              </a:rPr>
              <a:t>4</a:t>
            </a:r>
            <a:endParaRPr lang="en-US" sz="8800" dirty="0"/>
          </a:p>
        </p:txBody>
      </p:sp>
      <p:sp>
        <p:nvSpPr>
          <p:cNvPr id="9" name="Shape 7"/>
          <p:cNvSpPr/>
          <p:nvPr/>
        </p:nvSpPr>
        <p:spPr>
          <a:xfrm>
            <a:off x="6035040" y="265176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2651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الأس = 4</a:t>
            </a:r>
            <a:endParaRPr lang="ar-SA" sz="1800" dirty="0"/>
          </a:p>
          <a:p>
            <a:pPr algn="ctr" indent="0" marL="0">
              <a:buNone/>
            </a:pPr>
            <a:r>
              <a:rPr lang="ar-SA" altLang="en-US" sz="1300" dirty="0">
                <a:solidFill>
                  <a:schemeClr val="tx1"/>
                </a:solidFill>
              </a:rPr>
              <a:t>عدد مرات تكرار العامل</a:t>
            </a:r>
            <a:endParaRPr lang="ar-SA" sz="1800" dirty="0"/>
          </a:p>
        </p:txBody>
      </p:sp>
      <p:sp>
        <p:nvSpPr>
          <p:cNvPr id="11" name="Shape 9"/>
          <p:cNvSpPr/>
          <p:nvPr/>
        </p:nvSpPr>
        <p:spPr>
          <a:xfrm>
            <a:off x="5074920" y="2971800"/>
            <a:ext cx="960120" cy="0"/>
          </a:xfrm>
          <a:prstGeom prst="line">
            <a:avLst/>
          </a:prstGeom>
          <a:noFill/>
          <a:ln w="31750">
            <a:solidFill>
              <a:srgbClr val="F4A259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3832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الأساس = 2</a:t>
            </a:r>
            <a:endParaRPr lang="ar-SA" sz="1800" dirty="0"/>
          </a:p>
          <a:p>
            <a:pPr algn="ctr" indent="0" marL="0">
              <a:buNone/>
            </a:pPr>
            <a:r>
              <a:rPr lang="ar-SA" altLang="en-US" sz="1300" dirty="0">
                <a:solidFill>
                  <a:schemeClr val="bg1"/>
                </a:solidFill>
              </a:rPr>
              <a:t>العدد المكرَّر في الضرب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3108960" y="3840480"/>
            <a:ext cx="777240" cy="0"/>
          </a:xfrm>
          <a:prstGeom prst="line">
            <a:avLst/>
          </a:prstGeom>
          <a:noFill/>
          <a:ln w="31750">
            <a:solidFill>
              <a:srgbClr val="3A86A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108960" y="4251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B6B78"/>
                </a:solidFill>
              </a:rPr>
              <a:t>تُقرأ «2 أُس 4» أو «2 قوة 4»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أمثلة وحالات خاصة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15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0" y="1353312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0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القوة</a:t>
            </a:r>
            <a:endParaRPr lang="ar-SA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3"/>
                </a:solidFill>
              </a:rPr>
              <a:t>2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1B2433"/>
                </a:solidFill>
              </a:rPr>
              <a:t>4</a:t>
            </a:r>
            <a:pPr algn="ctr" indent="0" marL="0">
              <a:buNone/>
            </a:pPr>
            <a:r>
              <a:rPr lang="en-US" sz="2400" b="1" dirty="0">
                <a:solidFill>
                  <a:srgbClr val="1B2433"/>
                </a:solidFill>
              </a:rPr>
              <a:t> = 2×2×2×2 = 16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B6B78"/>
                </a:solidFill>
              </a:rPr>
              <a:t>«2 أُس 4»</a:t>
            </a:r>
            <a:endParaRPr lang="ar-SA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1353312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34640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مربّع العدد</a:t>
            </a:r>
            <a:endParaRPr lang="ar-S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3"/>
                </a:solidFill>
              </a:rPr>
              <a:t>5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1B2433"/>
                </a:solidFill>
              </a:rPr>
              <a:t>2</a:t>
            </a:r>
            <a:pPr algn="ctr" indent="0" marL="0">
              <a:buNone/>
            </a:pPr>
            <a:r>
              <a:rPr lang="en-US" sz="2400" b="1" dirty="0">
                <a:solidFill>
                  <a:srgbClr val="1B2433"/>
                </a:solidFill>
              </a:rPr>
              <a:t> = 5×5 = 25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B6B78"/>
                </a:solidFill>
              </a:rPr>
              <a:t>«5 مربّع» أو «5 أُس 2»</a:t>
            </a:r>
            <a:endParaRPr lang="ar-SA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3090672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مكعّب العدد</a:t>
            </a:r>
            <a:endParaRPr lang="ar-SA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520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3"/>
                </a:solidFill>
              </a:rPr>
              <a:t>4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1B2433"/>
                </a:solidFill>
              </a:rPr>
              <a:t>3</a:t>
            </a:r>
            <a:pPr algn="ctr" indent="0" marL="0">
              <a:buNone/>
            </a:pPr>
            <a:r>
              <a:rPr lang="en-US" sz="2400" b="1" dirty="0">
                <a:solidFill>
                  <a:srgbClr val="1B2433"/>
                </a:solidFill>
              </a:rPr>
              <a:t> = 4×4×4 = 64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B6B78"/>
                </a:solidFill>
              </a:rPr>
              <a:t>«4 مكعّب» أو «4 أُس 3»</a:t>
            </a:r>
            <a:endParaRPr lang="ar-SA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34640" y="3090672"/>
            <a:ext cx="146304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834640" y="3090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الأس 1</a:t>
            </a:r>
            <a:endParaRPr lang="ar-SA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520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3"/>
                </a:solidFill>
              </a:rPr>
              <a:t>7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1B2433"/>
                </a:solidFill>
              </a:rPr>
              <a:t>1</a:t>
            </a:r>
            <a:pPr algn="ctr" indent="0" marL="0">
              <a:buNone/>
            </a:pPr>
            <a:r>
              <a:rPr lang="en-US" sz="2400" b="1" dirty="0">
                <a:solidFill>
                  <a:srgbClr val="1B2433"/>
                </a:solidFill>
              </a:rPr>
              <a:t> = 7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rgbClr val="5B6B78"/>
                </a:solidFill>
              </a:rPr>
              <a:t>أي عدد أُس 1 يساوي نفسه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انتبه! خطأ شائع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15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46320" y="1325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القوة: نضرب العدد في نفسه</a:t>
            </a:r>
            <a:endParaRPr lang="ar-S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011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6B"/>
                </a:solidFill>
              </a:rPr>
              <a:t>2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2E9E6B"/>
                </a:solidFill>
              </a:rPr>
              <a:t>4</a:t>
            </a:r>
            <a:pPr algn="ctr" indent="0" marL="0">
              <a:buNone/>
            </a:pPr>
            <a:r>
              <a:rPr lang="en-US" sz="2600" b="1" dirty="0">
                <a:solidFill>
                  <a:srgbClr val="2E9E6B"/>
                </a:solidFill>
              </a:rPr>
              <a:t> = 2×2×2×2 = 16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8640" y="1325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الضرب العادي: 4 مرات العدد 2</a:t>
            </a:r>
            <a:endParaRPr lang="ar-SA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11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A47"/>
                </a:solidFill>
              </a:rPr>
              <a:t>2 × 4 = 2+2+2+2 = 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371600" y="3840480"/>
            <a:ext cx="6400800" cy="6858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3995928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63040" y="384048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إذن: </a:t>
            </a:r>
            <a:pPr algn="ctr" indent="0" marL="0">
              <a:buNone/>
            </a:pPr>
            <a:r>
              <a:rPr lang="ar-SA" altLang="en-US" sz="1800" b="1" dirty="0">
                <a:solidFill>
                  <a:schemeClr val="accent1"/>
                </a:solidFill>
              </a:rPr>
              <a:t>‪2⁴ ≠ 2×4‬</a:t>
            </a:r>
            <a:pPr algn="ct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 ولا نضرب الأساس في الأس أبداً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تطبيق تمايزي: اختر بطاقتك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6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تطبيق تمايزي · 15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5989320" y="118872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3716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5727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8076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البطاقة الخضراء</a:t>
            </a:r>
            <a:endParaRPr lang="ar-SA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5B6B78"/>
                </a:solidFill>
              </a:rPr>
              <a:t>مستوى الدعم</a:t>
            </a:r>
            <a:endParaRPr lang="ar-SA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كتابة جداء على شكل قوة وتحديد الأساس والأس</a:t>
            </a:r>
            <a:endParaRPr lang="ar-SA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0" y="13716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57276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3756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3"/>
                </a:solidFill>
              </a:rPr>
              <a:t>البطاقة الصفراء</a:t>
            </a:r>
            <a:endParaRPr lang="ar-SA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33756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5B6B78"/>
                </a:solidFill>
              </a:rPr>
              <a:t>المستوى الأساسي</a:t>
            </a:r>
            <a:endParaRPr lang="ar-SA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38328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حساب قيم القوى والتمييز بين القوة والضرب</a:t>
            </a:r>
            <a:endParaRPr lang="ar-SA" sz="1400" dirty="0"/>
          </a:p>
        </p:txBody>
      </p:sp>
      <p:sp>
        <p:nvSpPr>
          <p:cNvPr id="17" name="Shape 13"/>
          <p:cNvSpPr/>
          <p:nvPr/>
        </p:nvSpPr>
        <p:spPr>
          <a:xfrm>
            <a:off x="502920" y="118872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371600" y="13716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157276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9436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البطاقة الحمراء</a:t>
            </a:r>
            <a:endParaRPr lang="ar-SA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9436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5B6B78"/>
                </a:solidFill>
              </a:rPr>
              <a:t>مستوى الإثراء</a:t>
            </a:r>
            <a:endParaRPr lang="ar-SA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مسائل حياتية وتفكير أعلى</a:t>
            </a:r>
            <a:endParaRPr lang="ar-SA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6"/>
                </a:solidFill>
              </a:rPr>
              <a:t>أنهيتَ بطاقتك؟ انتقل إلى البطاقة التالية!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البطاقة الخضراء – مستوى الدعم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6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تطبيق تمايزي · 15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0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010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1887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اكتب على شكل قوة:</a:t>
            </a:r>
            <a:endParaRPr lang="ar-SA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1887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3×3×3×3 ;  7×7 ;  10×10×10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01000" y="253288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0100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0428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في القوة ‪5³‬ : الأساس … ، الأس … ، الجداء …</a:t>
            </a:r>
            <a:endParaRPr lang="ar-SA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304288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5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3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… × … × …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1000" y="364845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419856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احسب:</a:t>
            </a:r>
            <a:endParaRPr lang="ar-SA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1985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2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3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…   ;   4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2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…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البطاقة الصفراء – المستوى الأساسي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6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تطبيق تمايزي · 15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0" y="14173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010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1887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احسب:</a:t>
            </a:r>
            <a:endParaRPr lang="ar-SA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1887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3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4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;  10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5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;  1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9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;  0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6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01000" y="253288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0100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0428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ضع = أو ≠ مع التعليل:</a:t>
            </a:r>
            <a:endParaRPr lang="ar-SA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304288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2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3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… 2×3   ;   3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2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… 9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1000" y="3648456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419856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اكتب على شكل قوة:</a:t>
            </a:r>
            <a:endParaRPr lang="ar-SA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1985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32 = …   ;   81 = …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البطاقة الحمراء – مستوى الإثراء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6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تطبيق تمايزي · 15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0" y="14173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010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1887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خلية بكتيريا تنقسم إلى خليتين كل ساعة. كم خلية بعد 6 ساعات؟</a:t>
            </a:r>
            <a:endParaRPr lang="ar-SA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1887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2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?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…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01000" y="253288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0100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0428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اكتب 64 على شكل قوة بثلاث طرق مختلفة</a:t>
            </a:r>
            <a:endParaRPr lang="ar-SA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304288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64 = □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□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□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□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□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□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1000" y="364845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419856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قارن دون آلة حاسبة، وعلّل:</a:t>
            </a:r>
            <a:endParaRPr lang="ar-SA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1985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2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5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  ?   5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بطاقة التقييم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التقييم · 10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0" y="13258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29844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اكتب على شكل قوة: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920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6×6×6×6×6 = …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13258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40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129844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في القوة ‪7⁴‬ :</a:t>
            </a:r>
            <a:endParaRPr lang="ar-SA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920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الأساس = …      الأس = …</a:t>
            </a:r>
            <a:endParaRPr lang="ar-SA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30175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99008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احسب:</a:t>
            </a:r>
            <a:endParaRPr lang="ar-SA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611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5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2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…   ;   2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5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…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30175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404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299008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صح أم خطأ؟ صحّح الخطأ:</a:t>
            </a:r>
            <a:endParaRPr lang="ar-SA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611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4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3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12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الواجب البيتي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التقييم · 10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9560" y="13716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508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118872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5"/>
                </a:solidFill>
              </a:rPr>
              <a:t>للجميع: </a:t>
            </a:r>
            <a:pPr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تمرين 1 و2 من بطاقة القوى: كتابة جداءات على شكل قوة وحساب قيمها</a:t>
            </a:r>
            <a:endParaRPr lang="ar-SA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09560" y="2487168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62432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" y="230428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بطاقة دعم: </a:t>
            </a:r>
            <a:pPr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5 تمارين موجّهة مع مثال محلول عبر منصة التلميذ</a:t>
            </a:r>
            <a:endParaRPr lang="ar-SA" sz="1800" dirty="0"/>
          </a:p>
        </p:txBody>
      </p:sp>
      <p:sp>
        <p:nvSpPr>
          <p:cNvPr id="13" name="Shape 9"/>
          <p:cNvSpPr/>
          <p:nvPr/>
        </p:nvSpPr>
        <p:spPr>
          <a:xfrm>
            <a:off x="457200" y="3419856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09560" y="3602736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73989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" y="3419856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بطاقة إثراء: </a:t>
            </a:r>
            <a:pPr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كم حبّة قمح في المربع العاشر من رقعة الشطرنج؟ اكتب الجواب على شكل قوة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74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حلول بطاقة التقييم</a:t>
            </a:r>
            <a:endParaRPr lang="en-US" sz="3000" dirty="0"/>
          </a:p>
        </p:txBody>
      </p:sp>
      <p:sp>
        <p:nvSpPr>
          <p:cNvPr id="3" name="stage pill"/>
          <p:cNvSpPr/>
          <p:nvPr/>
        </p:nvSpPr>
        <p:spPr>
          <a:xfrm>
            <a:off x="457200" y="411480"/>
            <a:ext cx="219456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/>
        </p:spPr>
      </p:sp>
      <p:sp>
        <p:nvSpPr>
          <p:cNvPr id="4" name="stage label"/>
          <p:cNvSpPr txBox="1"/>
          <p:nvPr/>
        </p:nvSpPr>
        <p:spPr>
          <a:xfrm>
            <a:off x="457200" y="411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التقييم · 10 د</a:t>
            </a:r>
            <a:endParaRPr lang="ar-SA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92440" y="1298448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1887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6×6×6×6×6 = 6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92440" y="2139696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92440" y="2139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02996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7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02996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accent4"/>
                </a:solidFill>
              </a:rPr>
              <a:t>الأساس 7 والأس 4</a:t>
            </a:r>
            <a:endParaRPr lang="ar-SA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2980944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92440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87121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5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2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25   ;   2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5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32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382219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92440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7124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4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0B4F6C"/>
                </a:solidFill>
              </a:rPr>
              <a:t>3</a:t>
            </a:r>
            <a:pPr algn="ctr" indent="0" marL="0">
              <a:buNone/>
            </a:pPr>
            <a:r>
              <a:rPr lang="en-US" sz="2200" b="1" dirty="0">
                <a:solidFill>
                  <a:srgbClr val="0B4F6C"/>
                </a:solidFill>
              </a:rPr>
              <a:t> = 4×4×4 = 64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1246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accent4"/>
                </a:solidFill>
              </a:rPr>
              <a:t>خطأ: الصواب 64 وليس 12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الخلاصة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91840" y="25603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القوة اختصار للضرب المتكرر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291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3EA"/>
                </a:solidFill>
              </a:rPr>
              <a:t>الأساس: العدد المكرَّر  ·  الأس: عدد مرات التكرار</a:t>
            </a:r>
            <a:endParaRPr lang="ar-SA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B4F6C"/>
                </a:solidFill>
              </a:rPr>
              <a:t>a</a:t>
            </a:r>
            <a:pPr algn="ctr" indent="0" marL="0">
              <a:buNone/>
            </a:pPr>
            <a:r>
              <a:rPr lang="en-US" sz="6600" b="1" baseline="30000" dirty="0">
                <a:solidFill>
                  <a:srgbClr val="0B4F6C"/>
                </a:solidFill>
              </a:rPr>
              <a:t>n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s Lesson">
  <a:themeElements>
    <a:clrScheme name="Powers Lesson">
      <a:dk1>
        <a:srgbClr val="1B2433"/>
      </a:dk1>
      <a:lt1>
        <a:srgbClr val="FFFFFF"/>
      </a:lt1>
      <a:dk2>
        <a:srgbClr val="0B4F6C"/>
      </a:dk2>
      <a:lt2>
        <a:srgbClr val="EEF5F7"/>
      </a:lt2>
      <a:accent1>
        <a:srgbClr val="F4A259"/>
      </a:accent1>
      <a:accent2>
        <a:srgbClr val="2E9E6B"/>
      </a:accent2>
      <a:accent3>
        <a:srgbClr val="E8A916"/>
      </a:accent3>
      <a:accent4>
        <a:srgbClr val="E05A47"/>
      </a:accent4>
      <a:accent5>
        <a:srgbClr val="3A86A8"/>
      </a:accent5>
      <a:accent6>
        <a:srgbClr val="7B6CB0"/>
      </a:accent6>
      <a:hlink>
        <a:srgbClr val="3A86A8"/>
      </a:hlink>
      <a:folHlink>
        <a:srgbClr val="7B6CB0"/>
      </a:folHlink>
    </a:clrScheme>
    <a:fontScheme name="Powers Less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القوى – مفهوم القوة، الأساس والأس</dc:title>
  <dc:subject>PptxGenJS Presentation</dc:subject>
  <dc:creator>قسم الرياضيات</dc:creator>
  <cp:lastModifiedBy>قسم الرياضيات</cp:lastModifiedBy>
  <cp:revision>1</cp:revision>
  <dcterms:created xsi:type="dcterms:W3CDTF">2026-10-11T10:07:38Z</dcterms:created>
  <dcterms:modified xsi:type="dcterms:W3CDTF">2026-10-11T10:07:38Z</dcterms:modified>
</cp:coreProperties>
</file>