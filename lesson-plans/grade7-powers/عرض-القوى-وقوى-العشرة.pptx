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33e628ce-779f-c6ba-a8cc-d3c2a72aaa1e}">
          <p14:sldIdLst>
            <p14:sldId id="256"/>
            <p14:sldId id="257"/>
            <p14:sldId id="258"/>
          </p14:sldIdLst>
        </p14:section>
        <p14:section name="التمهيد" id="{a674a65c-59f2-72a0-9f09-0b3680a9590f}">
          <p14:sldIdLst>
            <p14:sldId id="259"/>
            <p14:sldId id="260"/>
          </p14:sldIdLst>
        </p14:section>
        <p14:section name="الاستكشاف" id="{7cbd7df2-2c01-c73f-f7e5-6876794832f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التفسير" id="{9b83e9f3-bdd9-acb2-7c0f-fce23ec86069}">
          <p14:sldIdLst>
            <p14:sldId id="269"/>
            <p14:sldId id="270"/>
            <p14:sldId id="271"/>
            <p14:sldId id="272"/>
          </p14:sldIdLst>
        </p14:section>
        <p14:section name="التطبيق" id="{b9770600-d5f7-ca33-964c-e6b3dd4b1c25}">
          <p14:sldIdLst>
            <p14:sldId id="273"/>
            <p14:sldId id="274"/>
            <p14:sldId id="275"/>
          </p14:sldIdLst>
        </p14:section>
        <p14:section name="التقييم" id="{284fe7b3-f5bf-a279-3737-6a6e5d736bdf}">
          <p14:sldIdLst>
            <p14:sldId id="276"/>
            <p14:sldId id="277"/>
          </p14:sldIdLst>
        </p14:section>
        <p14:section name="الختام" id="{23faf9c6-1b70-ee42-e4a7-410646cd1467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F5C6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F5C6E"/>
                </a:solidFill>
                <a:latin typeface="+mn-lt"/>
              </a:rPr>
              <a:t>عدد الطبقات حسب عدد الطيّات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الطبقات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2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22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C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l"/>
        <c:majorGridlines>
          <c:spPr>
            <a:ln w="9525" cap="flat">
              <a:solidFill>
                <a:srgbClr val="E2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F5C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8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ترحيب سريع بالتلاميذ، وتقسيمهم مسبقًا إلى مجموعات من 3 طلاب. نعرض عنوان الدرس ونترك العدد 1024 على الشاشة كسؤال مفتوح: كيف نحصل على 1024 من العدد 2؟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نقرأ الأهداف بسرعة مع التلاميذ. في نهاية الحصّة نعود إليها للتحقّق من تحقيقها. أنماط التعلّم المعتمدة: الرياضي-المنطقي (الاستنتاج والقواعد) والحركي-الجسدي (طيّ الورقة).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نقدّم المصطلحات الستّة بالعربيّة والإنكليزيّة. نشير على الرسم: الرقم الكبير في الأسفل هو الأساس، والرقم الصغير المرتفع هو الأُس.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التمهيد (5 د) – ربط بالمكتسبات السابقة: الضرب المتكرّر. نطرح السؤال ونسمع إجابات التلاميذ دون تصحيح. كثيرون سيقولون 2 × 5 = 10. نسأل: هل 2 × 5 تعني ضرب 2 في نفسه خمس مرّات؟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نقدّم القوّة كطريقة مختصرة لكتابة ضرب عدد في نفسه عدّة مرّات: 2 × 2 × 2 × 2 × 2 = 2^5 = 32. ونقارن مع 2 × 5 = 10 الذي هو جمع 2 خمس مرّات. ننتقل بعدها إلى نشاط الاستكشاف.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الاستكشاف (30 د) – الاستراتيجيّة: العمل الجماعي والتعلّم بالاكتشاف. نوزّع على كل مجموعة: ورقة A4، مسطرة، آلة حاسبة، وبطاقات الأنشطة. نقترح توزيع الأدوار: الطاوي يطوي الورقة، العادّ يعدّ الطبقات، المسجّل يكتب في الجدول، ويتبادلون الأدوار في كل نشاط.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يطوي كل فريق ورقة A4 من المنتصف مرّة بعد مرّة، ويعدّ الطبقات بعد كل طيّة ويسجّلها في الجدول. نلاحظ أن الطيّ يصبح صعبًا جدًّا بعد 6 أو 7 طيّات، لذلك نكمل الجدول للعمود 10 بالتفكير: كل طيّة تضاعف عدد الطبقات.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نجمع نتائج المجموعات ونتحقّق: 1، 2، 4، 8، 16، 32 أي 2^0، 2^1، 2^2، … . الأُس يساوي عدد الطيّات. وبعد 10 طيّات: 2^10 = 1024 طبقة (نتحقّق بالآلة الحاسبة).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تفكّك كل مجموعة كل قوّة إلى عوامل، وتعدّها، ثم تكتب النتيجة قوّة واحدة. المتعثّرون يعتمدون على الكتابة المفكّكة والآلة الحاسبة للتحقّق قبل استعمال أي قاعدة.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نصحّح مع المجموعات: نفكّك كل قوّة إلى عوامل، نعدّها، ثم نكتب النتيجة قوّة واحدة. في القسمة نختصر العوامل المشتركة. في قوّة القوّة لدينا 3 مجموعات في كل منها عاملان.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ننتقل من الأمثلة إلى القاعدة العامّة. نؤكّد أن القواعد صحيحة فقط عندما يكون الأساس نفسه. نسأل التلاميذ: ماذا نفعل بالأُسَّين في كل حالة؟ نجمع، نطرح، نضرب.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يكمل التلاميذ الجدول بملاحظة النمط: كلّما نقص الأُس بواحد نقسم على 3. نترك المجموعات تتوقّع قيمة 3^0 قبل الكشف.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كلّما نقص الأُس بواحد نقسم على 3، فنصل إلى 3^0 = 1. نتحقّق بقاعدة القسمة: 3^2 ÷ 3^2 = 3^{2−2} = 3^0، ومن جهة أخرى 9 ÷ 9 = 1، إذن 3^0 = 1. وهذا صحيح لكل عدد a غير معدوم.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التفسير (10 د): القوّة a^n هي جداء n عاملًا كلّ منها يساوي a (a الأساس، n الأُس). مثال: 2^5 = 2 × 2 × 2 × 2 × 2 = 32 وليس 2 × 5. نقرأ a^2 «مربّع a» لأنه مساحة مربّع طول ضلعه a، وa^3 «مكعّب a» لأنه حجم مكعّب طول حرفه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نعرض a^1 = a وa^0 = 1 (a ≠ 0)، مثل 7^1 = 7 و2026^0 = 1. ثم الإشارة: أساس سالب وأُس زوجي ← قوّة موجبة، أُس فردي ← قوّة سالبة. نفكّك (−2)^4 و(−2)^3 لنرى أن كل زوج من العوامل السالبة يعطي جداءً موجبًا.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10^n هو العدد 1 متبوعًا بـ n أصفار. نسأل: كم صفرًا في 10^6؟ (6). مثال من الحياة: المسافة إلى القمر نحو 384 400 km، والمسافة إلى الشمس نحو 150 000 000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نعرض القواعد الخمس (الأساس نفسه في القواعد الثلاث الأولى، والأُس نفسه في قاعدتَي قوّة الجداء وقوّة الحاصل) مع أمثلة بطاقة الشرح. يحسب التلاميذ كل مثال ويتحقّقون بالآلة الحاسبة.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التطبيق (5 د): نذكّر بأولويّات الحساب: الأقواس ثم القوى ثم الضرب والقسمة ثم الجمع والطرح. نحلّ المثال خطوة بخطوة ونسأل في كل خطوة: ما العمليّة ذات الأولويّة الآن؟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مراعاة الفروقات الفرديّة: المتعثّرون يعتمدون على الكتابة المفكّكة وعدّ العوامل (النشاط 2) قبل تطبيق القاعدة مباشرة، مع الآلة الحاسبة للتحقّق. المتميّزون يعملون على تحدّي القمر.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بعد 42 طيّة تصبح عدد الطبقات 2^42 ≈ 4.4 × 10^12. السماكة = 2^42 × 0.1 mm ≈ 439 804 651 110 mm ≈ 439 805 km، أي أكثر من المسافة إلى القمر (384 400 km). نربط ذلك بقوّة النموّ المضاعف.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النشاط التقييمي (مناقشة وحوار): تعرض كل مجموعة رأيها في كل عبارة: صحيحة أم خاطئة؟ ولماذا؟ ثم تكتب التصحيح.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نناقش كل خطأ ونطلب من تلميذ أن يشرح سبب الخطأ بكلماته قبل عرض التصحيح. نربط كل خطأ بالقاعدة المناسبة.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الواجب: إعادة جدول لغز الأُس صفر بالأساس 5 (5^4 = 625، 5^3 = 125، 5^2 = 25، 5^1 = 5، 5^0 = 1)، والتحقّق بقاعدة القسمة 5^2 ÷ 5^2 = 5^0 = 1: النتيجة لا تتغيّر. وإكمال جدول طيّ الورقة حتى 10 طيّات لمن لم يُنهِه في الصف.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خلاصة الحصّة: نعود إلى الأهداف ونسأل التلاميذ أيّها تحقّق. نذكّر بالواجب البيتي.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72591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153912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7"/>
                </a:solidFill>
              </a:rPr>
              <a:t>القوى وقوى العشرة · الصف السابع – شعبة نور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القوى وقوى العشرة</a:t>
            </a:r>
            <a:endParaRPr lang="ar-SA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3063240"/>
            <a:ext cx="688543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رياضيات · الصف السابع – شعبة نور · مدّة الحصّة 50 دقيقة</a:t>
            </a:r>
            <a:endParaRPr lang="ar-SA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20624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206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8000" b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4206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1024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897112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القيم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7982712" y="4846320"/>
            <a:ext cx="338328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50292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74152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الدقّة الرياضيّة</a:t>
            </a:r>
            <a:endParaRPr lang="ar-SA" sz="1700" dirty="0"/>
          </a:p>
        </p:txBody>
      </p:sp>
      <p:sp>
        <p:nvSpPr>
          <p:cNvPr id="11" name="Shape 8"/>
          <p:cNvSpPr/>
          <p:nvPr/>
        </p:nvSpPr>
        <p:spPr>
          <a:xfrm>
            <a:off x="4507992" y="4846320"/>
            <a:ext cx="338328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5029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التفكير المنطقي</a:t>
            </a:r>
            <a:endParaRPr lang="ar-SA" sz="1700" dirty="0"/>
          </a:p>
        </p:txBody>
      </p:sp>
      <p:sp>
        <p:nvSpPr>
          <p:cNvPr id="14" name="Shape 10"/>
          <p:cNvSpPr/>
          <p:nvPr/>
        </p:nvSpPr>
        <p:spPr>
          <a:xfrm>
            <a:off x="1033272" y="4846320"/>
            <a:ext cx="338328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12" y="50292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24712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التعاون والعمل الجماعي</a:t>
            </a:r>
            <a:endParaRPr lang="ar-SA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أهداف الحصّة</a:t>
            </a:r>
            <a:endParaRPr lang="ar-SA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206240" y="1234440"/>
            <a:ext cx="74340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4F5C6E"/>
                </a:solidFill>
              </a:rPr>
              <a:t>في نهاية الحصّة يتوقّع أن يصبح التلميذ قادرًا على أن:</a:t>
            </a:r>
            <a:endParaRPr lang="ar-SA" sz="1600" dirty="0"/>
          </a:p>
        </p:txBody>
      </p:sp>
      <p:sp>
        <p:nvSpPr>
          <p:cNvPr id="5" name="Shape 2"/>
          <p:cNvSpPr/>
          <p:nvPr/>
        </p:nvSpPr>
        <p:spPr>
          <a:xfrm>
            <a:off x="4206240" y="1737360"/>
            <a:ext cx="74340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0" y="18836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737360"/>
            <a:ext cx="64922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يكتب جداء عوامل متساوية على شكل قوّة a</a:t>
            </a:r>
            <a:pPr rtl="1" algn="r" indent="0" marL="0">
              <a:buNone/>
            </a:pPr>
            <a:r>
              <a:rPr lang="ar-SA" altLang="en-US" sz="1600" baseline="30000" dirty="0">
                <a:solidFill>
                  <a:schemeClr val="tx1"/>
                </a:solidFill>
              </a:rPr>
              <a:t>n</a:t>
            </a:r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، ويحدّد الأساس والأُس.</a:t>
            </a:r>
            <a:endParaRPr lang="ar-SA" sz="1600" dirty="0"/>
          </a:p>
        </p:txBody>
      </p:sp>
      <p:sp>
        <p:nvSpPr>
          <p:cNvPr id="9" name="Shape 6"/>
          <p:cNvSpPr/>
          <p:nvPr/>
        </p:nvSpPr>
        <p:spPr>
          <a:xfrm>
            <a:off x="4206240" y="2624328"/>
            <a:ext cx="74340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7706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2624328"/>
            <a:ext cx="64922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يحسب قيمة قوّة، ويحدّد إشارتها عندما يكون الأساس سالبًا.</a:t>
            </a:r>
            <a:endParaRPr lang="ar-SA" sz="1600" dirty="0"/>
          </a:p>
        </p:txBody>
      </p:sp>
      <p:sp>
        <p:nvSpPr>
          <p:cNvPr id="13" name="Shape 10"/>
          <p:cNvSpPr/>
          <p:nvPr/>
        </p:nvSpPr>
        <p:spPr>
          <a:xfrm>
            <a:off x="4206240" y="3511296"/>
            <a:ext cx="74340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3511296"/>
            <a:ext cx="64922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يستنتج قواعد الجداء والقسمة وقوّة القوّة لقوى لها الأساس نفسه، ويطبّقها.</a:t>
            </a:r>
            <a:endParaRPr lang="ar-SA" sz="1600" dirty="0"/>
          </a:p>
        </p:txBody>
      </p:sp>
      <p:sp>
        <p:nvSpPr>
          <p:cNvPr id="17" name="Shape 14"/>
          <p:cNvSpPr/>
          <p:nvPr/>
        </p:nvSpPr>
        <p:spPr>
          <a:xfrm>
            <a:off x="4206240" y="4398264"/>
            <a:ext cx="74340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72800" y="45445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97280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4398264"/>
            <a:ext cx="64922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يفسّر لماذا a</a:t>
            </a:r>
            <a:pPr rtl="1" algn="r" indent="0" marL="0">
              <a:buNone/>
            </a:pPr>
            <a:r>
              <a:rPr lang="ar-SA" altLang="en-US" sz="1600" baseline="30000" dirty="0">
                <a:solidFill>
                  <a:schemeClr val="tx1"/>
                </a:solidFill>
              </a:rPr>
              <a:t>0</a:t>
            </a:r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 = 1، ويكتب قوى العشرة.</a:t>
            </a:r>
            <a:endParaRPr lang="ar-SA" sz="1600" dirty="0"/>
          </a:p>
        </p:txBody>
      </p:sp>
      <p:sp>
        <p:nvSpPr>
          <p:cNvPr id="21" name="Shape 18"/>
          <p:cNvSpPr/>
          <p:nvPr/>
        </p:nvSpPr>
        <p:spPr>
          <a:xfrm>
            <a:off x="4206240" y="5285232"/>
            <a:ext cx="743407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72800" y="54315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97280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343400" y="5285232"/>
            <a:ext cx="64922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يطبّق أولويّات الحساب في عبارات تتضمّن قوى، ويتجنّب الأخطاء الشائعة.</a:t>
            </a:r>
            <a:endParaRPr lang="ar-SA" sz="1600" dirty="0"/>
          </a:p>
        </p:txBody>
      </p:sp>
      <p:sp>
        <p:nvSpPr>
          <p:cNvPr id="25" name="Shape 22"/>
          <p:cNvSpPr/>
          <p:nvPr/>
        </p:nvSpPr>
        <p:spPr>
          <a:xfrm>
            <a:off x="548640" y="1234440"/>
            <a:ext cx="3291840" cy="4910328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</a:rPr>
              <a:t>أنماط التعلّم</a:t>
            </a:r>
            <a:endParaRPr lang="ar-SA" sz="2000" dirty="0"/>
          </a:p>
        </p:txBody>
      </p:sp>
      <p:sp>
        <p:nvSpPr>
          <p:cNvPr id="27" name="Shape 24"/>
          <p:cNvSpPr/>
          <p:nvPr/>
        </p:nvSpPr>
        <p:spPr>
          <a:xfrm>
            <a:off x="1691640" y="214884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158" y="2410358"/>
            <a:ext cx="482803" cy="482803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3152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رياضي – منطقي</a:t>
            </a:r>
            <a:endParaRPr lang="ar-SA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73152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نستنتج القواعد من الملاحظة</a:t>
            </a:r>
            <a:endParaRPr lang="ar-SA" sz="1400" dirty="0"/>
          </a:p>
        </p:txBody>
      </p:sp>
      <p:sp>
        <p:nvSpPr>
          <p:cNvPr id="31" name="Shape 27"/>
          <p:cNvSpPr/>
          <p:nvPr/>
        </p:nvSpPr>
        <p:spPr>
          <a:xfrm>
            <a:off x="1691640" y="406908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58" y="4330598"/>
            <a:ext cx="482803" cy="48280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31520" y="5120640"/>
            <a:ext cx="2926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حركي – جسدي</a:t>
            </a:r>
            <a:endParaRPr lang="ar-SA" sz="1700" dirty="0"/>
          </a:p>
        </p:txBody>
      </p:sp>
      <p:sp>
        <p:nvSpPr>
          <p:cNvPr id="34" name="Text 29"/>
          <p:cNvSpPr txBox="1"/>
          <p:nvPr/>
        </p:nvSpPr>
        <p:spPr>
          <a:xfrm>
            <a:off x="7315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نطوي الورقة ونعدّ الطبقات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المصطلحات الجديدة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754880" cy="484632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463040" y="2377440"/>
            <a:ext cx="29260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120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337560" y="1965960"/>
            <a:ext cx="594360" cy="68580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19456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الأُس </a:t>
            </a:r>
            <a:pPr algn="ct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Exponent</a:t>
            </a:r>
            <a:endParaRPr lang="ar-SA" sz="1800" dirty="0"/>
          </a:p>
        </p:txBody>
      </p:sp>
      <p:sp>
        <p:nvSpPr>
          <p:cNvPr id="8" name="Shape 5"/>
          <p:cNvSpPr/>
          <p:nvPr/>
        </p:nvSpPr>
        <p:spPr>
          <a:xfrm flipV="1">
            <a:off x="2240280" y="4343400"/>
            <a:ext cx="320040" cy="68580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82296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3"/>
                </a:solidFill>
              </a:rPr>
              <a:t>الأساس </a:t>
            </a:r>
            <a:pPr algn="ctr" indent="0" marL="0">
              <a:buNone/>
            </a:pPr>
            <a:r>
              <a:rPr lang="ar-SA" altLang="en-US" sz="1800" dirty="0">
                <a:solidFill>
                  <a:schemeClr val="accent3"/>
                </a:solidFill>
              </a:rPr>
              <a:t>Base</a:t>
            </a:r>
            <a:endParaRPr lang="ar-SA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77840"/>
            <a:ext cx="4389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تُقرأ: a أُس n  ·  أو: a قوّة n</a:t>
            </a:r>
            <a:endParaRPr lang="ar-SA" sz="1400" dirty="0"/>
          </a:p>
        </p:txBody>
      </p:sp>
      <p:sp>
        <p:nvSpPr>
          <p:cNvPr id="11" name="Shape 8"/>
          <p:cNvSpPr/>
          <p:nvPr/>
        </p:nvSpPr>
        <p:spPr>
          <a:xfrm>
            <a:off x="8577072" y="1280160"/>
            <a:ext cx="30632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183112" y="14630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14232" y="1371600"/>
            <a:ext cx="2423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القوّة</a:t>
            </a:r>
            <a:endParaRPr lang="ar-SA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714232" y="1828800"/>
            <a:ext cx="2788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Power</a:t>
            </a:r>
            <a:endParaRPr lang="ar-SA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14232" y="217627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l" indent="0" marL="0">
              <a:buNone/>
            </a:pPr>
            <a:r>
              <a:rPr lang="en-US" sz="1800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285232" y="1280160"/>
            <a:ext cx="30632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91272" y="146304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22392" y="1371600"/>
            <a:ext cx="2423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الأساس</a:t>
            </a:r>
            <a:endParaRPr lang="ar-SA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22392" y="1828800"/>
            <a:ext cx="2788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Base</a:t>
            </a:r>
            <a:endParaRPr lang="ar-SA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22392" y="217627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l" indent="0" marL="0">
              <a:buNone/>
            </a:pPr>
            <a:r>
              <a:rPr lang="en-US" sz="1800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2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577072" y="2971800"/>
            <a:ext cx="30632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1183112" y="315468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14232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الأُس</a:t>
            </a:r>
            <a:endParaRPr lang="ar-SA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8714232" y="3520440"/>
            <a:ext cx="2788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Exponent</a:t>
            </a:r>
            <a:endParaRPr lang="ar-SA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714232" y="386791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l" indent="0" marL="0">
              <a:buNone/>
            </a:pPr>
            <a:r>
              <a:rPr lang="en-US" sz="1800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5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285232" y="2971800"/>
            <a:ext cx="30632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891272" y="315468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22392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المربّع</a:t>
            </a:r>
            <a:endParaRPr lang="ar-SA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5422392" y="3520440"/>
            <a:ext cx="2788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Square</a:t>
            </a:r>
            <a:endParaRPr lang="ar-SA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22392" y="386791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buNone/>
            </a:pPr>
            <a:r>
              <a:rPr lang="en-US" sz="1800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 × a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577072" y="4663440"/>
            <a:ext cx="30632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1183112" y="4846320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714232" y="4754880"/>
            <a:ext cx="2423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المكعّب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8714232" y="5212080"/>
            <a:ext cx="2788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Cube</a:t>
            </a:r>
            <a:endParaRPr lang="ar-SA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714232" y="555955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buNone/>
            </a:pPr>
            <a:r>
              <a:rPr lang="en-US" sz="1800" baseline="300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 × a × a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285232" y="4663440"/>
            <a:ext cx="30632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891272" y="484632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22392" y="4754880"/>
            <a:ext cx="2423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قوى العشرة</a:t>
            </a:r>
            <a:endParaRPr lang="ar-SA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5422392" y="5212080"/>
            <a:ext cx="2788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Powers of ten</a:t>
            </a:r>
            <a:endParaRPr lang="ar-SA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422392" y="555955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l" indent="0" marL="0">
              <a:buNone/>
            </a:pPr>
            <a:r>
              <a:rPr lang="en-US" sz="1800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كيف نكتبه بطريقة مختصرة؟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التمهيد · 5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1417320" y="160020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41732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2788920" y="1600200"/>
            <a:ext cx="6400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10" name="Shape 6"/>
          <p:cNvSpPr/>
          <p:nvPr/>
        </p:nvSpPr>
        <p:spPr>
          <a:xfrm>
            <a:off x="3429000" y="160020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342900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1600200"/>
            <a:ext cx="6400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13" name="Shape 9"/>
          <p:cNvSpPr/>
          <p:nvPr/>
        </p:nvSpPr>
        <p:spPr>
          <a:xfrm>
            <a:off x="5440680" y="160020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44068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1600200"/>
            <a:ext cx="6400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16" name="Shape 12"/>
          <p:cNvSpPr/>
          <p:nvPr/>
        </p:nvSpPr>
        <p:spPr>
          <a:xfrm>
            <a:off x="7452360" y="160020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45236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1600200"/>
            <a:ext cx="6400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9464040" y="160020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94640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21" name="Shape 17"/>
          <p:cNvSpPr/>
          <p:nvPr/>
        </p:nvSpPr>
        <p:spPr>
          <a:xfrm>
            <a:off x="1463040" y="3520440"/>
            <a:ext cx="92628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463040" y="3520440"/>
            <a:ext cx="9262872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2 × 2 × 2 × 2 = ?</a:t>
            </a:r>
            <a:endParaRPr lang="en-US" sz="4000" dirty="0"/>
          </a:p>
        </p:txBody>
      </p:sp>
      <p:sp>
        <p:nvSpPr>
          <p:cNvPr id="23" name="Shape 19"/>
          <p:cNvSpPr/>
          <p:nvPr/>
        </p:nvSpPr>
        <p:spPr>
          <a:xfrm>
            <a:off x="3355848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355848" y="498348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chemeClr val="accent4"/>
                </a:solidFill>
              </a:rPr>
              <a:t>وهل يساوي </a:t>
            </a:r>
            <a:pPr algn="ctr" indent="0" marL="0">
              <a:buNone/>
            </a:pPr>
            <a:r>
              <a:rPr lang="ar-SA" alt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5</a:t>
            </a:r>
            <a:pPr algn="ctr" indent="0" marL="0">
              <a:buNone/>
            </a:pPr>
            <a:r>
              <a:rPr lang="ar-SA" altLang="en-US" sz="2800" dirty="0">
                <a:solidFill>
                  <a:schemeClr val="accent4"/>
                </a:solidFill>
              </a:rPr>
              <a:t> ؟</a:t>
            </a:r>
            <a:endParaRPr lang="ar-SA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القوّة: ضرب عدد في نفسه عدّة مرّات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التمهيد · 5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6245352" y="137160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>
                <a:alpha val="7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0698480" y="160020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788" y="177850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5"/>
                </a:solidFill>
              </a:rPr>
              <a:t>خمسة عوامل كلّها 2</a:t>
            </a:r>
            <a:endParaRPr lang="ar-SA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6245352" y="2423160"/>
            <a:ext cx="5394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2 × 2 × 2 × 2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6245352" y="3200400"/>
            <a:ext cx="5394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</a:t>
            </a:r>
            <a:pPr algn="ctr" indent="0" marL="0">
              <a:buNone/>
            </a:pPr>
            <a:r>
              <a:rPr lang="en-US" sz="52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5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32</a:t>
            </a:r>
            <a:endParaRPr lang="en-US" sz="520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4480560"/>
            <a:ext cx="5166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نقرأ: 2 أُس 5</a:t>
            </a:r>
            <a:endParaRPr lang="ar-SA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accent4">
              <a:alpha val="10000"/>
            </a:schemeClr>
          </a:solidFill>
          <a:ln w="9525">
            <a:solidFill>
              <a:schemeClr val="accent4">
                <a:alpha val="7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983480" y="16002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88" y="17785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4"/>
                </a:solidFill>
              </a:rPr>
              <a:t>هذا جمع 2 خمس مرّات</a:t>
            </a:r>
            <a:endParaRPr lang="ar-SA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2423160"/>
            <a:ext cx="5394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+ 2 + 2 + 2 + 2</a:t>
            </a:r>
            <a:endParaRPr lang="en-US" sz="30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3200400"/>
            <a:ext cx="5394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 × 5 = 10</a:t>
            </a:r>
            <a:endParaRPr lang="en-US" sz="52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ليس هو الجداء المطلوب</a:t>
            </a:r>
            <a:endParaRPr lang="ar-SA" sz="1800" dirty="0"/>
          </a:p>
        </p:txBody>
      </p:sp>
      <p:sp>
        <p:nvSpPr>
          <p:cNvPr id="21" name="Shape 15"/>
          <p:cNvSpPr/>
          <p:nvPr/>
        </p:nvSpPr>
        <p:spPr>
          <a:xfrm>
            <a:off x="1984248" y="562356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984248" y="5623560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32  ≠  2 × 5 = 10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نعمل في مجموعات من 3 طلاب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30 د</a:t>
            </a:r>
            <a:endParaRPr lang="ar-SA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245352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الوسائل</a:t>
            </a:r>
            <a:endParaRPr lang="ar-SA" sz="2200" dirty="0"/>
          </a:p>
        </p:txBody>
      </p:sp>
      <p:sp>
        <p:nvSpPr>
          <p:cNvPr id="8" name="Shape 4"/>
          <p:cNvSpPr/>
          <p:nvPr/>
        </p:nvSpPr>
        <p:spPr>
          <a:xfrm>
            <a:off x="6245352" y="187452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881360" y="198424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271" y="2141159"/>
            <a:ext cx="289682" cy="28968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00800" y="1874520"/>
            <a:ext cx="4389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ورقة A4</a:t>
            </a:r>
            <a:endParaRPr lang="ar-SA" sz="1800" dirty="0"/>
          </a:p>
        </p:txBody>
      </p:sp>
      <p:sp>
        <p:nvSpPr>
          <p:cNvPr id="12" name="Shape 7"/>
          <p:cNvSpPr/>
          <p:nvPr/>
        </p:nvSpPr>
        <p:spPr>
          <a:xfrm>
            <a:off x="6245352" y="288036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881360" y="299008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271" y="3146999"/>
            <a:ext cx="289682" cy="28968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00800" y="2880360"/>
            <a:ext cx="4389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مسطرة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6245352" y="388620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0881360" y="399592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271" y="4152839"/>
            <a:ext cx="289682" cy="28968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0080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آلة حاسبة</a:t>
            </a:r>
            <a:endParaRPr lang="ar-SA" sz="1800" dirty="0"/>
          </a:p>
        </p:txBody>
      </p:sp>
      <p:sp>
        <p:nvSpPr>
          <p:cNvPr id="20" name="Shape 13"/>
          <p:cNvSpPr/>
          <p:nvPr/>
        </p:nvSpPr>
        <p:spPr>
          <a:xfrm>
            <a:off x="6245352" y="489204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881360" y="500176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8271" y="5158679"/>
            <a:ext cx="289682" cy="28968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400800" y="4892040"/>
            <a:ext cx="4389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بطاقة الشرح «القوى وقواعدها»</a:t>
            </a:r>
            <a:endParaRPr lang="ar-SA" sz="18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أدوار المجموعة</a:t>
            </a:r>
            <a:endParaRPr lang="ar-SA" sz="2200" dirty="0"/>
          </a:p>
        </p:txBody>
      </p:sp>
      <p:sp>
        <p:nvSpPr>
          <p:cNvPr id="25" name="Shape 17"/>
          <p:cNvSpPr/>
          <p:nvPr/>
        </p:nvSpPr>
        <p:spPr>
          <a:xfrm>
            <a:off x="548640" y="1874520"/>
            <a:ext cx="5303520" cy="1161288"/>
          </a:xfrm>
          <a:prstGeom prst="roundRect">
            <a:avLst>
              <a:gd name="adj" fmla="val 9449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50000"/>
              </a:scheme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074920" y="2139696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074920" y="2139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1</a:t>
            </a:r>
            <a:endParaRPr lang="en-US" sz="1820" dirty="0"/>
          </a:p>
        </p:txBody>
      </p:sp>
      <p:sp>
        <p:nvSpPr>
          <p:cNvPr id="28" name="Text 20"/>
          <p:cNvSpPr txBox="1"/>
          <p:nvPr/>
        </p:nvSpPr>
        <p:spPr>
          <a:xfrm>
            <a:off x="73152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3"/>
                </a:solidFill>
              </a:rPr>
              <a:t>الطاوي</a:t>
            </a:r>
            <a:endParaRPr lang="ar-SA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731520" y="2450592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يطوي الورقة من المنتصف</a:t>
            </a:r>
            <a:endParaRPr lang="ar-SA" sz="1600" dirty="0"/>
          </a:p>
        </p:txBody>
      </p:sp>
      <p:sp>
        <p:nvSpPr>
          <p:cNvPr id="30" name="Shape 22"/>
          <p:cNvSpPr/>
          <p:nvPr/>
        </p:nvSpPr>
        <p:spPr>
          <a:xfrm>
            <a:off x="548640" y="3218688"/>
            <a:ext cx="5303520" cy="1161288"/>
          </a:xfrm>
          <a:prstGeom prst="roundRect">
            <a:avLst>
              <a:gd name="adj" fmla="val 9449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074920" y="3483864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5074920" y="3483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2</a:t>
            </a:r>
            <a:endParaRPr lang="en-US" sz="1820" dirty="0"/>
          </a:p>
        </p:txBody>
      </p:sp>
      <p:sp>
        <p:nvSpPr>
          <p:cNvPr id="33" name="Text 25"/>
          <p:cNvSpPr txBox="1"/>
          <p:nvPr/>
        </p:nvSpPr>
        <p:spPr>
          <a:xfrm>
            <a:off x="731520" y="33375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6"/>
                </a:solidFill>
              </a:rPr>
              <a:t>العادّ</a:t>
            </a:r>
            <a:endParaRPr lang="ar-SA" sz="2000" dirty="0"/>
          </a:p>
        </p:txBody>
      </p:sp>
      <p:sp>
        <p:nvSpPr>
          <p:cNvPr id="34" name="Text 26"/>
          <p:cNvSpPr txBox="1"/>
          <p:nvPr/>
        </p:nvSpPr>
        <p:spPr>
          <a:xfrm>
            <a:off x="73152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يعدّ الطبقات بعد كل طيّة</a:t>
            </a:r>
            <a:endParaRPr lang="ar-SA" sz="1600" dirty="0"/>
          </a:p>
        </p:txBody>
      </p:sp>
      <p:sp>
        <p:nvSpPr>
          <p:cNvPr id="35" name="Shape 27"/>
          <p:cNvSpPr/>
          <p:nvPr/>
        </p:nvSpPr>
        <p:spPr>
          <a:xfrm>
            <a:off x="548640" y="4562856"/>
            <a:ext cx="5303520" cy="1161288"/>
          </a:xfrm>
          <a:prstGeom prst="roundRect">
            <a:avLst>
              <a:gd name="adj" fmla="val 9449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074920" y="482803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5074920" y="4828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3</a:t>
            </a:r>
            <a:endParaRPr lang="en-US" sz="1820" dirty="0"/>
          </a:p>
        </p:txBody>
      </p:sp>
      <p:sp>
        <p:nvSpPr>
          <p:cNvPr id="38" name="Text 30"/>
          <p:cNvSpPr txBox="1"/>
          <p:nvPr/>
        </p:nvSpPr>
        <p:spPr>
          <a:xfrm>
            <a:off x="731520" y="468172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4"/>
                </a:solidFill>
              </a:rPr>
              <a:t>المسجّل</a:t>
            </a:r>
            <a:endParaRPr lang="ar-SA" sz="2000" dirty="0"/>
          </a:p>
        </p:txBody>
      </p:sp>
      <p:sp>
        <p:nvSpPr>
          <p:cNvPr id="39" name="Text 31"/>
          <p:cNvSpPr txBox="1"/>
          <p:nvPr/>
        </p:nvSpPr>
        <p:spPr>
          <a:xfrm>
            <a:off x="731520" y="513892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يدوّن النتائج في الجدول</a:t>
            </a:r>
            <a:endParaRPr lang="ar-SA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5897880"/>
            <a:ext cx="5303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4F5C6E"/>
                </a:solidFill>
              </a:rPr>
              <a:t>نتبادل الأدوار في كل نشاط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النشاط 1 – طيّ الورقة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النشاط 1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8028432" y="1325880"/>
            <a:ext cx="3611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045952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0459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165592" y="1463040"/>
            <a:ext cx="2788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اطوِ ورقة A4 من المنتصف.</a:t>
            </a:r>
            <a:endParaRPr lang="ar-SA" sz="1700" dirty="0"/>
          </a:p>
        </p:txBody>
      </p:sp>
      <p:sp>
        <p:nvSpPr>
          <p:cNvPr id="11" name="Shape 7"/>
          <p:cNvSpPr/>
          <p:nvPr/>
        </p:nvSpPr>
        <p:spPr>
          <a:xfrm>
            <a:off x="4306824" y="1325880"/>
            <a:ext cx="3611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24344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243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443984" y="1463040"/>
            <a:ext cx="2788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عُدّ الطبقات بعد كل طيّة وسجّلها في الجدول.</a:t>
            </a:r>
            <a:endParaRPr lang="ar-SA" sz="1700" dirty="0"/>
          </a:p>
        </p:txBody>
      </p:sp>
      <p:sp>
        <p:nvSpPr>
          <p:cNvPr id="15" name="Shape 11"/>
          <p:cNvSpPr/>
          <p:nvPr/>
        </p:nvSpPr>
        <p:spPr>
          <a:xfrm>
            <a:off x="585216" y="1325880"/>
            <a:ext cx="3611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02736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0273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22376" y="1463040"/>
            <a:ext cx="2788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اكتب عدد الطبقات على شكل قوّة للعدد 2.</a:t>
            </a:r>
            <a:endParaRPr lang="ar-SA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1672" cy="914400"/>
        </p:xfrm>
        <a:graphic>
          <a:graphicData uri="http://schemas.openxmlformats.org/drawingml/2006/table">
            <a:tbl>
              <a:tblPr/>
              <a:tblGrid>
                <a:gridCol w="1205702"/>
                <a:gridCol w="1205702"/>
                <a:gridCol w="1205702"/>
                <a:gridCol w="1205702"/>
                <a:gridCol w="1205702"/>
                <a:gridCol w="1205702"/>
                <a:gridCol w="1205702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عدد الطيّات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عدد الطبقات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?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على شكل قوّة للعدد 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2441448" y="5349240"/>
            <a:ext cx="7315200" cy="777240"/>
          </a:xfrm>
          <a:prstGeom prst="roundRect">
            <a:avLst>
              <a:gd name="adj" fmla="val 14118"/>
            </a:avLst>
          </a:prstGeom>
          <a:solidFill>
            <a:schemeClr val="accent2">
              <a:alpha val="20000"/>
            </a:schemeClr>
          </a:solidFill>
          <a:ln w="9525">
            <a:solidFill>
              <a:schemeClr val="accent2">
                <a:alpha val="80000"/>
              </a:scheme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441448" y="5349240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ماذا يحدث لعدد الطبقات بعد كل طيّة؟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كل طيّة تضاعف عدد الطبقات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النشاط 1</a:t>
            </a:r>
            <a:endParaRPr lang="ar-SA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205702"/>
                <a:gridCol w="1205702"/>
                <a:gridCol w="1205702"/>
                <a:gridCol w="1205702"/>
                <a:gridCol w="1205702"/>
                <a:gridCol w="1205702"/>
                <a:gridCol w="1205702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عدد الطيّات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1024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عدد الطبقات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chemeClr val="accent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على شكل قوّة للعدد 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48640" y="3429000"/>
          <a:ext cx="65836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3"/>
          <p:cNvSpPr/>
          <p:nvPr/>
        </p:nvSpPr>
        <p:spPr>
          <a:xfrm>
            <a:off x="7498080" y="3520440"/>
            <a:ext cx="4142232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0" name="Text 4"/>
          <p:cNvSpPr txBox="1"/>
          <p:nvPr/>
        </p:nvSpPr>
        <p:spPr>
          <a:xfrm>
            <a:off x="7635240" y="3657600"/>
            <a:ext cx="386791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بعد 10 طيّات</a:t>
            </a:r>
            <a:endParaRPr lang="ar-SA" sz="1800" dirty="0"/>
          </a:p>
        </p:txBody>
      </p:sp>
      <p:sp>
        <p:nvSpPr>
          <p:cNvPr id="11" name="Text 5"/>
          <p:cNvSpPr txBox="1"/>
          <p:nvPr/>
        </p:nvSpPr>
        <p:spPr>
          <a:xfrm>
            <a:off x="7498080" y="4160520"/>
            <a:ext cx="414223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44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1024</a:t>
            </a:r>
            <a:endParaRPr lang="en-US" sz="4400" dirty="0"/>
          </a:p>
        </p:txBody>
      </p:sp>
      <p:sp>
        <p:nvSpPr>
          <p:cNvPr id="12" name="Text 6"/>
          <p:cNvSpPr txBox="1"/>
          <p:nvPr/>
        </p:nvSpPr>
        <p:spPr>
          <a:xfrm>
            <a:off x="7635240" y="5257800"/>
            <a:ext cx="386791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طبقة! الأُس = عدد الطيّات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النشاط 2 – من المفكّك إلى القاعدة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النشاط 2</a:t>
            </a:r>
            <a:endParaRPr lang="ar-SA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4F5C6E"/>
                </a:solidFill>
              </a:rPr>
              <a:t>فكّك كل قوّة إلى عوامل، عُدّها، ثم اكتب النتيجة قوّة واحدة.</a:t>
            </a:r>
            <a:endParaRPr lang="ar-SA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5256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…………………………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7C8797"/>
                </a:solidFill>
              </a:rPr>
              <a:t>عدد العوامل: ……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2907792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052560" y="2907792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3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8595360" y="2907792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4480560" y="2907792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…………………………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4023360" y="2907792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0" name="Text 16"/>
          <p:cNvSpPr txBox="1"/>
          <p:nvPr/>
        </p:nvSpPr>
        <p:spPr>
          <a:xfrm>
            <a:off x="2651760" y="2907792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731520" y="2907792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7C8797"/>
                </a:solidFill>
              </a:rPr>
              <a:t>عدد العوامل: ……</a:t>
            </a:r>
            <a:endParaRPr lang="ar-SA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3986784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52560" y="3986784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3986784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4480560" y="3986784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…………………………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4023360" y="3986784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7" name="Text 23"/>
          <p:cNvSpPr txBox="1"/>
          <p:nvPr/>
        </p:nvSpPr>
        <p:spPr>
          <a:xfrm>
            <a:off x="2651760" y="3986784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28" name="Text 24"/>
          <p:cNvSpPr txBox="1"/>
          <p:nvPr/>
        </p:nvSpPr>
        <p:spPr>
          <a:xfrm>
            <a:off x="731520" y="3986784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7C8797"/>
                </a:solidFill>
              </a:rPr>
              <a:t>عدد العوامل: ……</a:t>
            </a:r>
            <a:endParaRPr lang="ar-SA" sz="1500" dirty="0"/>
          </a:p>
        </p:txBody>
      </p:sp>
      <p:sp>
        <p:nvSpPr>
          <p:cNvPr id="29" name="Shape 25"/>
          <p:cNvSpPr/>
          <p:nvPr/>
        </p:nvSpPr>
        <p:spPr>
          <a:xfrm>
            <a:off x="548640" y="5065776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052560" y="5065776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1" name="Text 27"/>
          <p:cNvSpPr txBox="1"/>
          <p:nvPr/>
        </p:nvSpPr>
        <p:spPr>
          <a:xfrm>
            <a:off x="8595360" y="5065776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32" name="Text 28"/>
          <p:cNvSpPr txBox="1"/>
          <p:nvPr/>
        </p:nvSpPr>
        <p:spPr>
          <a:xfrm>
            <a:off x="4480560" y="5065776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…………………………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4023360" y="5065776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34" name="Text 30"/>
          <p:cNvSpPr txBox="1"/>
          <p:nvPr/>
        </p:nvSpPr>
        <p:spPr>
          <a:xfrm>
            <a:off x="2651760" y="5065776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35" name="Text 31"/>
          <p:cNvSpPr txBox="1"/>
          <p:nvPr/>
        </p:nvSpPr>
        <p:spPr>
          <a:xfrm>
            <a:off x="731520" y="5065776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7C8797"/>
                </a:solidFill>
              </a:rPr>
              <a:t>عدد العوامل: ……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النشاط 2 – نعدّ العوامل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النشاط 2</a:t>
            </a:r>
            <a:endParaRPr lang="ar-SA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4F5C6E"/>
                </a:solidFill>
              </a:rPr>
              <a:t>فكّك كل قوّة إلى عوامل، عُدّها، ثم اكتب النتيجة قوّة واحدة.</a:t>
            </a:r>
            <a:endParaRPr lang="ar-SA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5256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(2×2×2) × (2×2)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Shape 10"/>
          <p:cNvSpPr/>
          <p:nvPr/>
        </p:nvSpPr>
        <p:spPr>
          <a:xfrm>
            <a:off x="731520" y="2011680"/>
            <a:ext cx="1828800" cy="548640"/>
          </a:xfrm>
          <a:prstGeom prst="roundRect">
            <a:avLst>
              <a:gd name="adj" fmla="val 2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3"/>
                </a:solidFill>
              </a:rPr>
              <a:t>5 عوامل</a:t>
            </a:r>
            <a:endParaRPr lang="ar-SA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907792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52560" y="2907792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3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2907792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4480560" y="2907792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(3×3) × (3×3×3×3)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4023360" y="2907792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2651760" y="2907792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2" name="Shape 18"/>
          <p:cNvSpPr/>
          <p:nvPr/>
        </p:nvSpPr>
        <p:spPr>
          <a:xfrm>
            <a:off x="731520" y="3090672"/>
            <a:ext cx="1828800" cy="548640"/>
          </a:xfrm>
          <a:prstGeom prst="roundRect">
            <a:avLst>
              <a:gd name="adj" fmla="val 2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3090672"/>
            <a:ext cx="1828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3"/>
                </a:solidFill>
              </a:rPr>
              <a:t>6 عوامل</a:t>
            </a:r>
            <a:endParaRPr lang="ar-SA" sz="1400" dirty="0"/>
          </a:p>
        </p:txBody>
      </p:sp>
      <p:sp>
        <p:nvSpPr>
          <p:cNvPr id="24" name="Shape 20"/>
          <p:cNvSpPr/>
          <p:nvPr/>
        </p:nvSpPr>
        <p:spPr>
          <a:xfrm>
            <a:off x="548640" y="3986784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052560" y="3986784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3986784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7" name="Text 23"/>
          <p:cNvSpPr txBox="1"/>
          <p:nvPr/>
        </p:nvSpPr>
        <p:spPr>
          <a:xfrm>
            <a:off x="4480560" y="3986784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(2×2×2×2×2) ÷ (2×2)</a:t>
            </a:r>
            <a:endParaRPr lang="en-US" sz="2400" dirty="0"/>
          </a:p>
        </p:txBody>
      </p:sp>
      <p:sp>
        <p:nvSpPr>
          <p:cNvPr id="28" name="Text 24"/>
          <p:cNvSpPr txBox="1"/>
          <p:nvPr/>
        </p:nvSpPr>
        <p:spPr>
          <a:xfrm>
            <a:off x="4023360" y="3986784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9" name="Text 25"/>
          <p:cNvSpPr txBox="1"/>
          <p:nvPr/>
        </p:nvSpPr>
        <p:spPr>
          <a:xfrm>
            <a:off x="2651760" y="3986784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30" name="Shape 26"/>
          <p:cNvSpPr/>
          <p:nvPr/>
        </p:nvSpPr>
        <p:spPr>
          <a:xfrm>
            <a:off x="731520" y="4169664"/>
            <a:ext cx="1828800" cy="548640"/>
          </a:xfrm>
          <a:prstGeom prst="roundRect">
            <a:avLst>
              <a:gd name="adj" fmla="val 2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3"/>
                </a:solidFill>
              </a:rPr>
              <a:t>نختصر عاملين</a:t>
            </a:r>
            <a:endParaRPr lang="ar-SA" sz="1400" dirty="0"/>
          </a:p>
        </p:txBody>
      </p:sp>
      <p:sp>
        <p:nvSpPr>
          <p:cNvPr id="32" name="Shape 28"/>
          <p:cNvSpPr/>
          <p:nvPr/>
        </p:nvSpPr>
        <p:spPr>
          <a:xfrm>
            <a:off x="548640" y="5065776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052560" y="5065776"/>
            <a:ext cx="2468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4" name="Text 30"/>
          <p:cNvSpPr txBox="1"/>
          <p:nvPr/>
        </p:nvSpPr>
        <p:spPr>
          <a:xfrm>
            <a:off x="8595360" y="5065776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35" name="Text 31"/>
          <p:cNvSpPr txBox="1"/>
          <p:nvPr/>
        </p:nvSpPr>
        <p:spPr>
          <a:xfrm>
            <a:off x="4480560" y="5065776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(5×5)(5×5)(5×5)</a:t>
            </a:r>
            <a:endParaRPr lang="en-US" sz="2400" dirty="0"/>
          </a:p>
        </p:txBody>
      </p:sp>
      <p:sp>
        <p:nvSpPr>
          <p:cNvPr id="36" name="Text 32"/>
          <p:cNvSpPr txBox="1"/>
          <p:nvPr/>
        </p:nvSpPr>
        <p:spPr>
          <a:xfrm>
            <a:off x="4023360" y="5065776"/>
            <a:ext cx="457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37" name="Text 33"/>
          <p:cNvSpPr txBox="1"/>
          <p:nvPr/>
        </p:nvSpPr>
        <p:spPr>
          <a:xfrm>
            <a:off x="2651760" y="5065776"/>
            <a:ext cx="1371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38" name="Shape 34"/>
          <p:cNvSpPr/>
          <p:nvPr/>
        </p:nvSpPr>
        <p:spPr>
          <a:xfrm>
            <a:off x="731520" y="5248656"/>
            <a:ext cx="1828800" cy="548640"/>
          </a:xfrm>
          <a:prstGeom prst="roundRect">
            <a:avLst>
              <a:gd name="adj" fmla="val 2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31520" y="5248656"/>
            <a:ext cx="1828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3"/>
                </a:solidFill>
              </a:rPr>
              <a:t>3 مجموعات من عاملين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نستنتج القواعد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النشاط 2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8119872" y="1325880"/>
            <a:ext cx="3520440" cy="43434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119872" y="132588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19872" y="1325880"/>
            <a:ext cx="3520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جداء قوّتين</a:t>
            </a:r>
            <a:endParaRPr lang="ar-SA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11312" y="2331720"/>
            <a:ext cx="3337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m+n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302752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نجمع الأُسَّين</a:t>
            </a:r>
            <a:endParaRPr lang="ar-SA" sz="2000" dirty="0"/>
          </a:p>
        </p:txBody>
      </p:sp>
      <p:sp>
        <p:nvSpPr>
          <p:cNvPr id="12" name="Shape 8"/>
          <p:cNvSpPr/>
          <p:nvPr/>
        </p:nvSpPr>
        <p:spPr>
          <a:xfrm>
            <a:off x="8577072" y="4114800"/>
            <a:ext cx="2606040" cy="0"/>
          </a:xfrm>
          <a:prstGeom prst="line">
            <a:avLst/>
          </a:prstGeom>
          <a:noFill/>
          <a:ln w="12700">
            <a:solidFill>
              <a:srgbClr val="DCE2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02752" y="4251960"/>
            <a:ext cx="3154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7C8797"/>
                </a:solidFill>
              </a:rPr>
              <a:t>مثال</a:t>
            </a:r>
            <a:endParaRPr lang="ar-SA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11312" y="4663440"/>
            <a:ext cx="3337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2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4334256" y="1325880"/>
            <a:ext cx="3520440" cy="43434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34256" y="132588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334256" y="1325880"/>
            <a:ext cx="3520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قسمة قوّتين</a:t>
            </a:r>
            <a:endParaRPr lang="ar-SA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425696" y="2331720"/>
            <a:ext cx="3337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2800" b="1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2800" b="1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m−n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4517136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نطرح الأُسَّين</a:t>
            </a:r>
            <a:endParaRPr lang="ar-SA" sz="2000" dirty="0"/>
          </a:p>
        </p:txBody>
      </p:sp>
      <p:sp>
        <p:nvSpPr>
          <p:cNvPr id="20" name="Shape 16"/>
          <p:cNvSpPr/>
          <p:nvPr/>
        </p:nvSpPr>
        <p:spPr>
          <a:xfrm>
            <a:off x="4791456" y="4114800"/>
            <a:ext cx="2606040" cy="0"/>
          </a:xfrm>
          <a:prstGeom prst="line">
            <a:avLst/>
          </a:prstGeom>
          <a:noFill/>
          <a:ln w="12700">
            <a:solidFill>
              <a:srgbClr val="DCE2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17136" y="4251960"/>
            <a:ext cx="3154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7C8797"/>
                </a:solidFill>
              </a:rPr>
              <a:t>مثال</a:t>
            </a:r>
            <a:endParaRPr lang="ar-SA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425696" y="4663440"/>
            <a:ext cx="3337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2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548640" y="1325880"/>
            <a:ext cx="3520440" cy="43434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132588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8640" y="1325880"/>
            <a:ext cx="3520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قوّة القوّة</a:t>
            </a:r>
            <a:endParaRPr lang="ar-SA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2331720"/>
            <a:ext cx="3337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2800" b="1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2800" b="1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m×n</a:t>
            </a:r>
            <a:endParaRPr lang="en-US" sz="2800" dirty="0"/>
          </a:p>
        </p:txBody>
      </p:sp>
      <p:sp>
        <p:nvSpPr>
          <p:cNvPr id="27" name="Text 23"/>
          <p:cNvSpPr txBox="1"/>
          <p:nvPr/>
        </p:nvSpPr>
        <p:spPr>
          <a:xfrm>
            <a:off x="731520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نضرب الأُسَّين</a:t>
            </a:r>
            <a:endParaRPr lang="ar-SA" sz="2000" dirty="0"/>
          </a:p>
        </p:txBody>
      </p:sp>
      <p:sp>
        <p:nvSpPr>
          <p:cNvPr id="28" name="Shape 24"/>
          <p:cNvSpPr/>
          <p:nvPr/>
        </p:nvSpPr>
        <p:spPr>
          <a:xfrm>
            <a:off x="1005840" y="4114800"/>
            <a:ext cx="2606040" cy="0"/>
          </a:xfrm>
          <a:prstGeom prst="line">
            <a:avLst/>
          </a:prstGeom>
          <a:noFill/>
          <a:ln w="12700">
            <a:solidFill>
              <a:srgbClr val="DCE2E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31520" y="4251960"/>
            <a:ext cx="3154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7C8797"/>
                </a:solidFill>
              </a:rPr>
              <a:t>مثال</a:t>
            </a:r>
            <a:endParaRPr lang="ar-SA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40080" y="4663440"/>
            <a:ext cx="3337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5</a:t>
            </a:r>
            <a:pPr algn="ct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Shape 27"/>
          <p:cNvSpPr/>
          <p:nvPr/>
        </p:nvSpPr>
        <p:spPr>
          <a:xfrm>
            <a:off x="2441448" y="5806440"/>
            <a:ext cx="7315200" cy="457200"/>
          </a:xfrm>
          <a:prstGeom prst="roundRect">
            <a:avLst>
              <a:gd name="adj" fmla="val 24000"/>
            </a:avLst>
          </a:prstGeom>
          <a:solidFill>
            <a:schemeClr val="accent2">
              <a:alpha val="25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441448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tx2"/>
                </a:solidFill>
              </a:rPr>
              <a:t>شرط مهمّ: الأساس نفسه في كل قاعدة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النشاط 3 – لغز الأُس صفر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النشاط 3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9628632" y="128016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628632" y="135331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9628632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81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9354312" y="178308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25712" y="217627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388352" y="169164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388352" y="176479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7388352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27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7114032" y="219456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85432" y="258775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148072" y="210312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148072" y="217627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5"/>
          <p:cNvSpPr txBox="1"/>
          <p:nvPr/>
        </p:nvSpPr>
        <p:spPr>
          <a:xfrm>
            <a:off x="5148072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?</a:t>
            </a:r>
            <a:endParaRPr lang="en-US" sz="3200" dirty="0"/>
          </a:p>
        </p:txBody>
      </p:sp>
      <p:sp>
        <p:nvSpPr>
          <p:cNvPr id="20" name="Shape 16"/>
          <p:cNvSpPr/>
          <p:nvPr/>
        </p:nvSpPr>
        <p:spPr>
          <a:xfrm>
            <a:off x="4873752" y="260604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645152" y="299923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2907792" y="251460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2907792" y="258775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24" name="Text 20"/>
          <p:cNvSpPr txBox="1"/>
          <p:nvPr/>
        </p:nvSpPr>
        <p:spPr>
          <a:xfrm>
            <a:off x="2907792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?</a:t>
            </a:r>
            <a:endParaRPr lang="en-US" sz="3200" dirty="0"/>
          </a:p>
        </p:txBody>
      </p:sp>
      <p:sp>
        <p:nvSpPr>
          <p:cNvPr id="25" name="Shape 21"/>
          <p:cNvSpPr/>
          <p:nvPr/>
        </p:nvSpPr>
        <p:spPr>
          <a:xfrm>
            <a:off x="2633472" y="301752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404872" y="341071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67512" y="292608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667512" y="299923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9" name="Text 25"/>
          <p:cNvSpPr txBox="1"/>
          <p:nvPr/>
        </p:nvSpPr>
        <p:spPr>
          <a:xfrm>
            <a:off x="667512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?</a:t>
            </a:r>
            <a:endParaRPr lang="en-US" sz="3200" dirty="0"/>
          </a:p>
        </p:txBody>
      </p:sp>
      <p:sp>
        <p:nvSpPr>
          <p:cNvPr id="30" name="Shape 26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كلّما نقص الأُس بواحد نقسم على 3. أكمل الجدول:</a:t>
            </a:r>
            <a:endParaRPr lang="ar-SA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7315200" y="5349240"/>
            <a:ext cx="4114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1"/>
                </a:solidFill>
              </a:rPr>
              <a:t>ثم تحقّق بقاعدة القسمة:</a:t>
            </a:r>
            <a:endParaRPr lang="ar-SA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41148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26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3</a:t>
            </a:r>
            <a:pPr algn="r" indent="0" marL="0">
              <a:buNone/>
            </a:pPr>
            <a:r>
              <a:rPr lang="en-US" sz="26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لماذا a</a:t>
            </a:r>
            <a:pPr rtl="1" algn="r" indent="0" marL="0">
              <a:buNone/>
            </a:pPr>
            <a:r>
              <a:rPr lang="ar-SA" altLang="en-US" sz="3200" b="1" baseline="30000" dirty="0">
                <a:solidFill>
                  <a:schemeClr val="tx2"/>
                </a:solidFill>
              </a:rPr>
              <a:t>0</a:t>
            </a:r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 = 1 ؟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النشاط 3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9628632" y="128016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628632" y="135331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9628632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81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9354312" y="178308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25712" y="217627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388352" y="169164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388352" y="176479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7388352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27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7114032" y="219456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85432" y="258775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148072" y="210312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148072" y="217627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5"/>
          <p:cNvSpPr txBox="1"/>
          <p:nvPr/>
        </p:nvSpPr>
        <p:spPr>
          <a:xfrm>
            <a:off x="5148072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9</a:t>
            </a:r>
            <a:endParaRPr lang="en-US" sz="3200" dirty="0"/>
          </a:p>
        </p:txBody>
      </p:sp>
      <p:sp>
        <p:nvSpPr>
          <p:cNvPr id="20" name="Shape 16"/>
          <p:cNvSpPr/>
          <p:nvPr/>
        </p:nvSpPr>
        <p:spPr>
          <a:xfrm>
            <a:off x="4873752" y="260604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645152" y="299923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2907792" y="251460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2907792" y="258775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24" name="Text 20"/>
          <p:cNvSpPr txBox="1"/>
          <p:nvPr/>
        </p:nvSpPr>
        <p:spPr>
          <a:xfrm>
            <a:off x="2907792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</a:t>
            </a:r>
            <a:endParaRPr lang="en-US" sz="3200" dirty="0"/>
          </a:p>
        </p:txBody>
      </p:sp>
      <p:sp>
        <p:nvSpPr>
          <p:cNvPr id="25" name="Shape 21"/>
          <p:cNvSpPr/>
          <p:nvPr/>
        </p:nvSpPr>
        <p:spPr>
          <a:xfrm>
            <a:off x="2633472" y="3017520"/>
            <a:ext cx="502920" cy="365760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404872" y="3410712"/>
            <a:ext cx="914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67512" y="292608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667512" y="2999232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8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9" name="Text 25"/>
          <p:cNvSpPr txBox="1"/>
          <p:nvPr/>
        </p:nvSpPr>
        <p:spPr>
          <a:xfrm>
            <a:off x="667512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</a:t>
            </a:r>
            <a:endParaRPr lang="en-US" sz="3200" dirty="0"/>
          </a:p>
        </p:txBody>
      </p:sp>
      <p:sp>
        <p:nvSpPr>
          <p:cNvPr id="30" name="Shape 26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863840" y="4709160"/>
            <a:ext cx="3611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نتحقّق بقاعدة القسمة:</a:t>
            </a:r>
            <a:endParaRPr lang="ar-SA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4754880" y="5120640"/>
            <a:ext cx="5486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2800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3</a:t>
            </a:r>
            <a:pPr algn="ctr" indent="0" marL="0">
              <a:buNone/>
            </a:pPr>
            <a:r>
              <a:rPr lang="en-US" sz="2800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</a:t>
            </a:r>
            <a:pPr algn="ctr" indent="0" marL="0">
              <a:buNone/>
            </a:pPr>
            <a:r>
              <a:rPr lang="en-US" sz="2800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2−2</a:t>
            </a:r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</a:t>
            </a:r>
            <a:pPr algn="ctr" indent="0" marL="0">
              <a:buNone/>
            </a:pPr>
            <a:r>
              <a:rPr lang="en-US" sz="2800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33" name="Text 29"/>
          <p:cNvSpPr txBox="1"/>
          <p:nvPr/>
        </p:nvSpPr>
        <p:spPr>
          <a:xfrm>
            <a:off x="3200400" y="5120640"/>
            <a:ext cx="16459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ومن جهة أخرى</a:t>
            </a:r>
            <a:endParaRPr lang="ar-SA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731520" y="5120640"/>
            <a:ext cx="2468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÷ 9 = 1</a:t>
            </a:r>
            <a:endParaRPr lang="en-US" sz="2800" dirty="0"/>
          </a:p>
        </p:txBody>
      </p:sp>
      <p:sp>
        <p:nvSpPr>
          <p:cNvPr id="35" name="Text 31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2400" b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   (a ≠ 0)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ما هي القوّة؟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التفسير · 10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325880"/>
            <a:ext cx="1109167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445752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التعريف</a:t>
            </a:r>
            <a:endParaRPr lang="ar-SA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4000" b="1" i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4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 × a × … × a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جداء n عاملًا كلٌّ منها يساوي a</a:t>
            </a:r>
            <a:endParaRPr lang="ar-SA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1920240"/>
            <a:ext cx="2286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a الأساس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n الأُس</a:t>
            </a:r>
            <a:endParaRPr lang="ar-SA" sz="1800" dirty="0"/>
          </a:p>
        </p:txBody>
      </p:sp>
      <p:sp>
        <p:nvSpPr>
          <p:cNvPr id="12" name="Shape 8"/>
          <p:cNvSpPr/>
          <p:nvPr/>
        </p:nvSpPr>
        <p:spPr>
          <a:xfrm>
            <a:off x="6245352" y="3520440"/>
            <a:ext cx="53949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418320" y="384048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66960" y="384048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0" y="384048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18320" y="438912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966960" y="438912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515600" y="438912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418320" y="493776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966960" y="493776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515600" y="4937760"/>
            <a:ext cx="548640" cy="54864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5"/>
                </a:solidFill>
              </a:rPr>
              <a:t>المربّع</a:t>
            </a:r>
            <a:endParaRPr lang="ar-SA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0" y="4251960"/>
            <a:ext cx="2834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24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 × 3 = 9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نقرأ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r" indent="0" marL="0">
              <a:buNone/>
            </a:pPr>
            <a:r>
              <a:rPr lang="ar-SA" altLang="en-US" sz="17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 «مربّع a»</a:t>
            </a:r>
            <a:endParaRPr lang="ar-SA" sz="1700" dirty="0"/>
          </a:p>
        </p:txBody>
      </p:sp>
      <p:sp>
        <p:nvSpPr>
          <p:cNvPr id="25" name="Shape 21"/>
          <p:cNvSpPr/>
          <p:nvPr/>
        </p:nvSpPr>
        <p:spPr>
          <a:xfrm>
            <a:off x="548640" y="3520440"/>
            <a:ext cx="53949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794760" y="3886200"/>
            <a:ext cx="1645920" cy="1645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699" y="4314139"/>
            <a:ext cx="790042" cy="79004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8580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6"/>
                </a:solidFill>
              </a:rPr>
              <a:t>المكعّب</a:t>
            </a:r>
            <a:endParaRPr lang="ar-SA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68580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22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 × 2 × 2 = 8</a:t>
            </a:r>
            <a:endParaRPr lang="en-US" sz="2200" dirty="0"/>
          </a:p>
        </p:txBody>
      </p:sp>
      <p:sp>
        <p:nvSpPr>
          <p:cNvPr id="30" name="Text 25"/>
          <p:cNvSpPr txBox="1"/>
          <p:nvPr/>
        </p:nvSpPr>
        <p:spPr>
          <a:xfrm>
            <a:off x="68580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نقرأ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r" indent="0" marL="0">
              <a:buNone/>
            </a:pPr>
            <a:r>
              <a:rPr lang="ar-SA" altLang="en-US" sz="17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 «مكعّب a»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حالتان خاصّتان وإشارة القوّة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التفسير · 10 د</a:t>
            </a:r>
            <a:endParaRPr lang="ar-SA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245352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حالتان خاصّتان</a:t>
            </a:r>
            <a:endParaRPr lang="ar-SA" sz="2200" dirty="0"/>
          </a:p>
        </p:txBody>
      </p:sp>
      <p:sp>
        <p:nvSpPr>
          <p:cNvPr id="8" name="Shape 4"/>
          <p:cNvSpPr/>
          <p:nvPr/>
        </p:nvSpPr>
        <p:spPr>
          <a:xfrm>
            <a:off x="6245352" y="18288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309360" y="1965960"/>
            <a:ext cx="5266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3200" b="1" i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algn="ctr" indent="0" marL="0">
              <a:buNone/>
            </a:pPr>
            <a:r>
              <a:rPr lang="en-US" sz="32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651760"/>
            <a:ext cx="5266944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pPr algn="ctr" indent="0" marL="0">
              <a:buNone/>
            </a:pPr>
            <a:r>
              <a:rPr lang="en-US" sz="26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7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3246120"/>
            <a:ext cx="526694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4F5C6E"/>
                </a:solidFill>
              </a:rPr>
              <a:t>الأُس 1: العدد نفسه</a:t>
            </a:r>
            <a:endParaRPr lang="ar-SA" sz="1600" dirty="0"/>
          </a:p>
        </p:txBody>
      </p:sp>
      <p:sp>
        <p:nvSpPr>
          <p:cNvPr id="12" name="Shape 8"/>
          <p:cNvSpPr/>
          <p:nvPr/>
        </p:nvSpPr>
        <p:spPr>
          <a:xfrm>
            <a:off x="6245352" y="402336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309360" y="4160520"/>
            <a:ext cx="5266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3200" b="1" i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32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  (a ≠ 0)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4846320"/>
            <a:ext cx="5266944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pPr algn="ctr" indent="0" marL="0">
              <a:buNone/>
            </a:pPr>
            <a:r>
              <a:rPr lang="en-US" sz="26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6309360" y="5440680"/>
            <a:ext cx="526694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4F5C6E"/>
                </a:solidFill>
              </a:rPr>
              <a:t>الأُس 0: النتيجة دائمًا 1</a:t>
            </a:r>
            <a:endParaRPr lang="ar-SA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إشارة القوّة عندما يكون الأساس سالبًا</a:t>
            </a:r>
            <a:endParaRPr lang="ar-SA" sz="2200" dirty="0"/>
          </a:p>
        </p:txBody>
      </p:sp>
      <p:sp>
        <p:nvSpPr>
          <p:cNvPr id="17" name="Shape 13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40080" y="1965960"/>
            <a:ext cx="5212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(−2)</a:t>
            </a:r>
            <a:pPr algn="ctr" indent="0" marL="0">
              <a:buNone/>
            </a:pPr>
            <a:r>
              <a:rPr lang="en-US" sz="34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16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2651760"/>
            <a:ext cx="5212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5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(−2)(−2)(−2)(−2)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5"/>
                </a:solidFill>
              </a:rPr>
              <a:t>أُس زوجي ← موجبة</a:t>
            </a:r>
            <a:endParaRPr lang="ar-SA" sz="1800" dirty="0"/>
          </a:p>
        </p:txBody>
      </p:sp>
      <p:sp>
        <p:nvSpPr>
          <p:cNvPr id="21" name="Shape 17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4">
              <a:alpha val="10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640080" y="4160520"/>
            <a:ext cx="5212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(−2)</a:t>
            </a:r>
            <a:pPr algn="ctr" indent="0" marL="0">
              <a:buNone/>
            </a:pPr>
            <a:r>
              <a:rPr lang="en-US" sz="34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−8</a:t>
            </a:r>
            <a:endParaRPr lang="en-US" sz="34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4846320"/>
            <a:ext cx="5212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5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(−2)(−2)(−2)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أُس فردي ← سالبة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قوى العشرة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التفسير · 10 د</a:t>
            </a:r>
            <a:endParaRPr lang="ar-SA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9692640" y="1325880"/>
            <a:ext cx="19202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r" indent="0" marL="0">
              <a:buNone/>
            </a:pPr>
            <a:r>
              <a:rPr lang="en-US" sz="30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9144000" y="1325880"/>
            <a:ext cx="548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8046720" y="1380744"/>
            <a:ext cx="1005840" cy="512064"/>
          </a:xfrm>
          <a:prstGeom prst="roundRect">
            <a:avLst>
              <a:gd name="adj" fmla="val 21429"/>
            </a:avLst>
          </a:prstGeom>
          <a:solidFill>
            <a:schemeClr val="accent2">
              <a:alpha val="3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46720" y="1380744"/>
            <a:ext cx="100584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325880"/>
            <a:ext cx="16459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ar-SA" altLang="en-US" sz="1500" dirty="0">
                <a:solidFill>
                  <a:srgbClr val="4F5C6E"/>
                </a:solidFill>
              </a:rPr>
              <a:t>صفر واحد</a:t>
            </a:r>
            <a:endParaRPr lang="ar-SA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692640" y="2057400"/>
            <a:ext cx="19202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r" indent="0" marL="0">
              <a:buNone/>
            </a:pPr>
            <a:r>
              <a:rPr lang="en-US" sz="30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144000" y="2057400"/>
            <a:ext cx="548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6995160" y="2112264"/>
            <a:ext cx="2057400" cy="512064"/>
          </a:xfrm>
          <a:prstGeom prst="roundRect">
            <a:avLst>
              <a:gd name="adj" fmla="val 21429"/>
            </a:avLst>
          </a:prstGeom>
          <a:solidFill>
            <a:schemeClr val="accent2">
              <a:alpha val="38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95160" y="2112264"/>
            <a:ext cx="20574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2057400"/>
            <a:ext cx="16459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ar-SA" altLang="en-US" sz="1500" dirty="0">
                <a:solidFill>
                  <a:srgbClr val="4F5C6E"/>
                </a:solidFill>
              </a:rPr>
              <a:t>2 أصفار</a:t>
            </a:r>
            <a:endParaRPr lang="ar-SA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692640" y="2788920"/>
            <a:ext cx="19202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r" indent="0" marL="0">
              <a:buNone/>
            </a:pPr>
            <a:r>
              <a:rPr lang="en-US" sz="30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0" y="2788920"/>
            <a:ext cx="548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5943600" y="2843784"/>
            <a:ext cx="3108960" cy="512064"/>
          </a:xfrm>
          <a:prstGeom prst="roundRect">
            <a:avLst>
              <a:gd name="adj" fmla="val 21429"/>
            </a:avLst>
          </a:prstGeom>
          <a:solidFill>
            <a:schemeClr val="accent2">
              <a:alpha val="46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43600" y="2843784"/>
            <a:ext cx="31089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2788920"/>
            <a:ext cx="16459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ar-SA" altLang="en-US" sz="1500" dirty="0">
                <a:solidFill>
                  <a:srgbClr val="4F5C6E"/>
                </a:solidFill>
              </a:rPr>
              <a:t>3 أصفار</a:t>
            </a:r>
            <a:endParaRPr lang="ar-SA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692640" y="3520440"/>
            <a:ext cx="19202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r" indent="0" marL="0">
              <a:buNone/>
            </a:pPr>
            <a:r>
              <a:rPr lang="en-US" sz="30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9144000" y="3520440"/>
            <a:ext cx="548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4" name="Shape 20"/>
          <p:cNvSpPr/>
          <p:nvPr/>
        </p:nvSpPr>
        <p:spPr>
          <a:xfrm>
            <a:off x="4892040" y="3575304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accent2">
              <a:alpha val="54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3575304"/>
            <a:ext cx="416052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3520440"/>
            <a:ext cx="16459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ar-SA" altLang="en-US" sz="1500" dirty="0">
                <a:solidFill>
                  <a:srgbClr val="4F5C6E"/>
                </a:solidFill>
              </a:rPr>
              <a:t>4 أصفار</a:t>
            </a:r>
            <a:endParaRPr lang="ar-SA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9692640" y="4251960"/>
            <a:ext cx="19202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r" indent="0" marL="0">
              <a:buNone/>
            </a:pPr>
            <a:r>
              <a:rPr lang="en-US" sz="30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4"/>
          <p:cNvSpPr txBox="1"/>
          <p:nvPr/>
        </p:nvSpPr>
        <p:spPr>
          <a:xfrm>
            <a:off x="9144000" y="4251960"/>
            <a:ext cx="548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9" name="Shape 25"/>
          <p:cNvSpPr/>
          <p:nvPr/>
        </p:nvSpPr>
        <p:spPr>
          <a:xfrm>
            <a:off x="3840480" y="4306824"/>
            <a:ext cx="5212080" cy="512064"/>
          </a:xfrm>
          <a:prstGeom prst="roundRect">
            <a:avLst>
              <a:gd name="adj" fmla="val 21429"/>
            </a:avLst>
          </a:prstGeom>
          <a:solidFill>
            <a:schemeClr val="accent2">
              <a:alpha val="62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840480" y="4306824"/>
            <a:ext cx="521208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100 000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4251960"/>
            <a:ext cx="16459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ar-SA" altLang="en-US" sz="1500" dirty="0">
                <a:solidFill>
                  <a:srgbClr val="4F5C6E"/>
                </a:solidFill>
              </a:rPr>
              <a:t>5 أصفار</a:t>
            </a:r>
            <a:endParaRPr lang="ar-SA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9692640" y="4983480"/>
            <a:ext cx="19202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r" indent="0" marL="0">
              <a:buNone/>
            </a:pPr>
            <a:r>
              <a:rPr lang="en-US" sz="30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3" name="Text 29"/>
          <p:cNvSpPr txBox="1"/>
          <p:nvPr/>
        </p:nvSpPr>
        <p:spPr>
          <a:xfrm>
            <a:off x="9144000" y="4983480"/>
            <a:ext cx="548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34" name="Shape 30"/>
          <p:cNvSpPr/>
          <p:nvPr/>
        </p:nvSpPr>
        <p:spPr>
          <a:xfrm>
            <a:off x="2788920" y="5038344"/>
            <a:ext cx="6263640" cy="512064"/>
          </a:xfrm>
          <a:prstGeom prst="roundRect">
            <a:avLst>
              <a:gd name="adj" fmla="val 21429"/>
            </a:avLst>
          </a:prstGeom>
          <a:solidFill>
            <a:schemeClr val="accent2">
              <a:alpha val="70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788920" y="5038344"/>
            <a:ext cx="626364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</a:t>
            </a:r>
            <a:endParaRPr lang="en-US" sz="24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4983480"/>
            <a:ext cx="16459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ar-SA" altLang="en-US" sz="1500" dirty="0">
                <a:solidFill>
                  <a:srgbClr val="4F5C6E"/>
                </a:solidFill>
              </a:rPr>
              <a:t>6 أصفار</a:t>
            </a:r>
            <a:endParaRPr lang="ar-SA" sz="1500" dirty="0"/>
          </a:p>
        </p:txBody>
      </p:sp>
      <p:sp>
        <p:nvSpPr>
          <p:cNvPr id="37" name="Shape 33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31520" y="5806440"/>
            <a:ext cx="1072591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ar-SA" alt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ctr" indent="0" marL="0">
              <a:buNone/>
            </a:pPr>
            <a:r>
              <a:rPr lang="ar-SA" altLang="en-US" sz="1900" b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rtl="1" algn="ctr" indent="0" marL="0">
              <a:buNone/>
            </a:pPr>
            <a:r>
              <a:rPr lang="ar-SA" altLang="en-US" sz="1900" dirty="0">
                <a:solidFill>
                  <a:schemeClr val="bg1"/>
                </a:solidFill>
              </a:rPr>
              <a:t> هو العدد 1 متبوعًا بـ n أصفار  ·  عدد الأصفار = الأُس</a:t>
            </a:r>
            <a:endParaRPr lang="ar-SA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القواعد مع أمثلة البطاقة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التفسير · 10 د</a:t>
            </a:r>
            <a:endParaRPr lang="ar-SA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959352"/>
                <a:gridCol w="2560320"/>
              </a:tblGrid>
              <a:tr h="54864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مثال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القاعدة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الخاصّة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× 2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2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128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× 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m+n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جداء قوّتين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÷ 10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10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1000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÷ 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m−n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قسمة قوّتين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(3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3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729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m×n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قوّة القوّة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× 2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10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1000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× b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(a × b)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قوّة الجداء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(6 ÷ 3)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6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÷ 3</a:t>
                      </a:r>
                      <a:pPr algn="ctr" indent="0" marL="0">
                        <a:buNone/>
                      </a:pPr>
                      <a:r>
                        <a:rPr lang="en-US" sz="2200" baseline="300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16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(a ÷ b)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a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2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÷ b</a:t>
                      </a:r>
                      <a:pPr algn="ctr" indent="0" marL="0">
                        <a:buNone/>
                      </a:pPr>
                      <a:r>
                        <a:rPr lang="en-US" sz="2200" b="1" i="1" baseline="300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</a:rPr>
                        <a:t>قوّة الحاصل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أولويّات الحساب مع القوى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التطبيق · 5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9079992" y="13258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079992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)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9079992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الأقواس</a:t>
            </a:r>
            <a:endParaRPr lang="ar-SA" sz="1900" dirty="0"/>
          </a:p>
        </p:txBody>
      </p:sp>
      <p:sp>
        <p:nvSpPr>
          <p:cNvPr id="10" name="Shape 6"/>
          <p:cNvSpPr/>
          <p:nvPr/>
        </p:nvSpPr>
        <p:spPr>
          <a:xfrm>
            <a:off x="8805672" y="1874520"/>
            <a:ext cx="274320" cy="365760"/>
          </a:xfrm>
          <a:prstGeom prst="leftArrow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45352" y="13258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245352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6245352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القوى</a:t>
            </a:r>
            <a:endParaRPr lang="ar-SA" sz="1900" dirty="0"/>
          </a:p>
        </p:txBody>
      </p:sp>
      <p:sp>
        <p:nvSpPr>
          <p:cNvPr id="14" name="Shape 10"/>
          <p:cNvSpPr/>
          <p:nvPr/>
        </p:nvSpPr>
        <p:spPr>
          <a:xfrm>
            <a:off x="5971032" y="1874520"/>
            <a:ext cx="274320" cy="365760"/>
          </a:xfrm>
          <a:prstGeom prst="leftArrow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10712" y="13258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410712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÷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3410712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الضرب والقسمة</a:t>
            </a:r>
            <a:endParaRPr lang="ar-SA" sz="1900" dirty="0"/>
          </a:p>
        </p:txBody>
      </p:sp>
      <p:sp>
        <p:nvSpPr>
          <p:cNvPr id="18" name="Shape 14"/>
          <p:cNvSpPr/>
          <p:nvPr/>
        </p:nvSpPr>
        <p:spPr>
          <a:xfrm>
            <a:off x="3136392" y="1874520"/>
            <a:ext cx="274320" cy="365760"/>
          </a:xfrm>
          <a:prstGeom prst="leftArrow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6072" y="13258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76072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−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576072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الجمع والطرح</a:t>
            </a:r>
            <a:endParaRPr lang="ar-SA" sz="1900" dirty="0"/>
          </a:p>
        </p:txBody>
      </p:sp>
      <p:sp>
        <p:nvSpPr>
          <p:cNvPr id="22" name="Shape 18"/>
          <p:cNvSpPr/>
          <p:nvPr/>
        </p:nvSpPr>
        <p:spPr>
          <a:xfrm>
            <a:off x="548640" y="3108960"/>
            <a:ext cx="11091672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0120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5"/>
                </a:solidFill>
              </a:rPr>
              <a:t>مثال</a:t>
            </a:r>
            <a:endParaRPr lang="ar-SA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l" indent="0" marL="0">
              <a:buNone/>
            </a:pPr>
            <a:r>
              <a:rPr lang="en-US" sz="3000" b="1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− 4 × 3 + 2</a:t>
            </a:r>
            <a:pPr algn="l" indent="0" marL="0">
              <a:buNone/>
            </a:pPr>
            <a:r>
              <a:rPr lang="en-US" sz="3000" b="1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0" y="3977640"/>
            <a:ext cx="4114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25 − 4 × 3 + 8</a:t>
            </a:r>
            <a:endParaRPr lang="en-US" sz="3000" dirty="0"/>
          </a:p>
        </p:txBody>
      </p:sp>
      <p:sp>
        <p:nvSpPr>
          <p:cNvPr id="26" name="Text 22"/>
          <p:cNvSpPr txBox="1"/>
          <p:nvPr/>
        </p:nvSpPr>
        <p:spPr>
          <a:xfrm>
            <a:off x="731520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6"/>
                </a:solidFill>
              </a:rPr>
              <a:t>← القوى أوّلًا</a:t>
            </a:r>
            <a:endParaRPr lang="ar-SA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0" y="4663440"/>
            <a:ext cx="4114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25 − 12 + 8</a:t>
            </a:r>
            <a:endParaRPr lang="en-US" sz="3000" dirty="0"/>
          </a:p>
        </p:txBody>
      </p:sp>
      <p:sp>
        <p:nvSpPr>
          <p:cNvPr id="28" name="Text 24"/>
          <p:cNvSpPr txBox="1"/>
          <p:nvPr/>
        </p:nvSpPr>
        <p:spPr>
          <a:xfrm>
            <a:off x="731520" y="4663440"/>
            <a:ext cx="3749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3"/>
                </a:solidFill>
              </a:rPr>
              <a:t>← ثم الضرب</a:t>
            </a:r>
            <a:endParaRPr lang="ar-SA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0" y="5349240"/>
            <a:ext cx="4114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21</a:t>
            </a:r>
            <a:endParaRPr lang="en-US" sz="3000" dirty="0"/>
          </a:p>
        </p:txBody>
      </p:sp>
      <p:sp>
        <p:nvSpPr>
          <p:cNvPr id="30" name="Text 26"/>
          <p:cNvSpPr txBox="1"/>
          <p:nvPr/>
        </p:nvSpPr>
        <p:spPr>
          <a:xfrm>
            <a:off x="731520" y="5349240"/>
            <a:ext cx="3749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4"/>
                </a:solidFill>
              </a:rPr>
              <a:t>← ثم الجمع والطرح بالترتيب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لكلٍّ حسب حاجته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الفروقات الفرديّة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6245352" y="1325880"/>
            <a:ext cx="5394960" cy="4846320"/>
          </a:xfrm>
          <a:prstGeom prst="roundRect">
            <a:avLst>
              <a:gd name="adj" fmla="val 226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5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0607040" y="15544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122" y="1756562"/>
            <a:ext cx="373075" cy="37307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accent3"/>
                </a:solidFill>
              </a:rPr>
              <a:t>دعم المتعثّرين</a:t>
            </a:r>
            <a:endParaRPr lang="ar-SA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0" y="2514600"/>
            <a:ext cx="5074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نفكّك ثم نعدّ العوامل قبل القاعدة:</a:t>
            </a:r>
            <a:endParaRPr lang="ar-SA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6400800" y="3017520"/>
            <a:ext cx="5074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(2×2×2) × (2×2)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3657600"/>
            <a:ext cx="5074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</a:t>
            </a:r>
            <a:pPr algn="ctr" indent="0" marL="0">
              <a:buNone/>
            </a:pPr>
            <a:r>
              <a:rPr lang="en-US" sz="32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32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4754880"/>
            <a:ext cx="5074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ثم نتحقّق بالآلة الحاسبة</a:t>
            </a:r>
            <a:endParaRPr lang="ar-SA" sz="1700" dirty="0"/>
          </a:p>
        </p:txBody>
      </p:sp>
      <p:sp>
        <p:nvSpPr>
          <p:cNvPr id="15" name="Shape 10"/>
          <p:cNvSpPr/>
          <p:nvPr/>
        </p:nvSpPr>
        <p:spPr>
          <a:xfrm>
            <a:off x="8595360" y="52578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555" y="5447995"/>
            <a:ext cx="351130" cy="35113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226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937760" y="15544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842" y="1756562"/>
            <a:ext cx="373075" cy="37307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3152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تحدّي المتميّزين</a:t>
            </a:r>
            <a:endParaRPr lang="ar-SA" sz="2400" dirty="0"/>
          </a:p>
        </p:txBody>
      </p:sp>
      <p:sp>
        <p:nvSpPr>
          <p:cNvPr id="21" name="Text 14"/>
          <p:cNvSpPr txBox="1"/>
          <p:nvPr/>
        </p:nvSpPr>
        <p:spPr>
          <a:xfrm>
            <a:off x="731520" y="251460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1"/>
                </a:solidFill>
              </a:rPr>
              <a:t>سماكة الورقة نحو 0.1 ملم. لو استطعنا طيّها 42 مرّة، هل تصل سماكتها إلى القمر؟</a:t>
            </a:r>
            <a:endParaRPr lang="ar-SA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المسافة إلى القمر نحو 384 400 كلم</a:t>
            </a:r>
            <a:endParaRPr lang="ar-SA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3152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تلميح: كل طيّة تضاعف السماكة.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تحدّي القمر: الحلّ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تحدّي المتميّزين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325880"/>
            <a:ext cx="11091672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1463040"/>
            <a:ext cx="1072591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44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0.1 mm  ≈  439 805 km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606040"/>
            <a:ext cx="107259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عدد الطبقات بعد 42 طيّة مضروبًا في سماكة الطبقة الواحدة</a:t>
            </a:r>
            <a:endParaRPr lang="ar-SA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144000" y="3886200"/>
            <a:ext cx="249631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سماكة الورقة</a:t>
            </a:r>
            <a:endParaRPr lang="ar-SA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3959352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439 805 km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144000" y="4846320"/>
            <a:ext cx="249631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المسافة إلى القمر</a:t>
            </a:r>
            <a:endParaRPr lang="ar-SA" sz="1800" dirty="0"/>
          </a:p>
        </p:txBody>
      </p:sp>
      <p:sp>
        <p:nvSpPr>
          <p:cNvPr id="14" name="Shape 10"/>
          <p:cNvSpPr/>
          <p:nvPr/>
        </p:nvSpPr>
        <p:spPr>
          <a:xfrm>
            <a:off x="1768254" y="4919472"/>
            <a:ext cx="7192866" cy="548640"/>
          </a:xfrm>
          <a:prstGeom prst="roundRect">
            <a:avLst>
              <a:gd name="adj" fmla="val 16667"/>
            </a:avLst>
          </a:prstGeom>
          <a:solidFill>
            <a:srgbClr val="7C8797"/>
          </a:solidFill>
          <a:ln w="12700">
            <a:solidFill>
              <a:srgbClr val="7C879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859694" y="4919472"/>
            <a:ext cx="2743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384 400 km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accent5"/>
                </a:solidFill>
              </a:rPr>
              <a:t>نعم! تتجاوز المسافة إلى القمر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انتبه! اكتشف الخطأ وصحّحه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النشاط التقييمي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6245352" y="13258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1045952" y="15087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0459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28232" y="14630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6  ؟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428232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rgbClr val="4F5C6E"/>
                </a:solidFill>
              </a:rPr>
              <a:t>صحيحة أم خاطئة؟ لماذا؟</a:t>
            </a:r>
            <a:endParaRPr lang="ar-SA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28232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التصحيح: ……………………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13258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49240" y="15087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349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" y="14630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16  ؟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rgbClr val="4F5C6E"/>
                </a:solidFill>
              </a:rPr>
              <a:t>صحيحة أم خاطئة؟ لماذا؟</a:t>
            </a:r>
            <a:endParaRPr lang="ar-SA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التصحيح: ……………………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45352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1045952" y="40233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04595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428232" y="39776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+ 5)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+ 5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؟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6428232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rgbClr val="4F5C6E"/>
                </a:solidFill>
              </a:rPr>
              <a:t>صحيحة أم خاطئة؟ لماذا؟</a:t>
            </a:r>
            <a:endParaRPr lang="ar-SA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428232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التصحيح: ……………………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49240" y="40233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349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31520" y="39776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3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6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؟</a:t>
            </a:r>
            <a:endParaRPr lang="en-US" sz="3000" dirty="0"/>
          </a:p>
        </p:txBody>
      </p:sp>
      <p:sp>
        <p:nvSpPr>
          <p:cNvPr id="29" name="Text 25"/>
          <p:cNvSpPr txBox="1"/>
          <p:nvPr/>
        </p:nvSpPr>
        <p:spPr>
          <a:xfrm>
            <a:off x="73152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rgbClr val="4F5C6E"/>
                </a:solidFill>
              </a:rPr>
              <a:t>صحيحة أم خاطئة؟ لماذا؟</a:t>
            </a:r>
            <a:endParaRPr lang="ar-SA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731520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التصحيح: ……………………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اكتشف الخطأ: التصحيح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النشاط التقييمي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6245352" y="13258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1045952" y="15087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0459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28232" y="14630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6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428232" y="219456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 × 2 × 2 = 8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428232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4F5C6E"/>
                </a:solidFill>
              </a:rPr>
              <a:t>القوّة ليست ضرب الأساس في الأُس</a:t>
            </a:r>
            <a:endParaRPr lang="ar-SA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13258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49240" y="15087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349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" y="14630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16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219456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−16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4F5C6E"/>
                </a:solidFill>
              </a:rPr>
              <a:t>بلا أقواس الأُس يخصّ 2 وحده</a:t>
            </a:r>
            <a:endParaRPr lang="ar-SA" sz="1600" dirty="0"/>
          </a:p>
        </p:txBody>
      </p:sp>
      <p:sp>
        <p:nvSpPr>
          <p:cNvPr id="19" name="Shape 15"/>
          <p:cNvSpPr/>
          <p:nvPr/>
        </p:nvSpPr>
        <p:spPr>
          <a:xfrm>
            <a:off x="6245352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1045952" y="40233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04595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428232" y="39776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+ 5)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+ 5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6428232" y="470916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+ 5)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7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49</a:t>
            </a:r>
            <a:endParaRPr lang="en-US" sz="2600" dirty="0"/>
          </a:p>
        </p:txBody>
      </p:sp>
      <p:sp>
        <p:nvSpPr>
          <p:cNvPr id="24" name="Text 20"/>
          <p:cNvSpPr txBox="1"/>
          <p:nvPr/>
        </p:nvSpPr>
        <p:spPr>
          <a:xfrm>
            <a:off x="6428232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4F5C6E"/>
                </a:solidFill>
              </a:rPr>
              <a:t>وليس 29: الأُس لا يتوزّع على الجمع</a:t>
            </a:r>
            <a:endParaRPr lang="ar-SA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49240" y="40233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349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31520" y="397764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3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strike="sngStrike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6</a:t>
            </a:r>
            <a:pPr algn="ctr" indent="0" marL="0">
              <a:buNone/>
            </a:pPr>
            <a:r>
              <a:rPr lang="en-US" sz="3000" b="1" strike="sngStrike" baseline="300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5"/>
          <p:cNvSpPr txBox="1"/>
          <p:nvPr/>
        </p:nvSpPr>
        <p:spPr>
          <a:xfrm>
            <a:off x="731520" y="470916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3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8 × 9 = 72</a:t>
            </a:r>
            <a:endParaRPr lang="en-US" sz="2600" dirty="0"/>
          </a:p>
        </p:txBody>
      </p:sp>
      <p:sp>
        <p:nvSpPr>
          <p:cNvPr id="30" name="Text 26"/>
          <p:cNvSpPr txBox="1"/>
          <p:nvPr/>
        </p:nvSpPr>
        <p:spPr>
          <a:xfrm>
            <a:off x="73152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4F5C6E"/>
                </a:solidFill>
              </a:rPr>
              <a:t>الأساسان والأُسّان مختلفان: نحسب كلًّا وحده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الواجب البيتي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الواجب البيتي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325880"/>
            <a:ext cx="11091672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018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018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1463040"/>
            <a:ext cx="9052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</a:rPr>
              <a:t>أعد جدول «لغز الأُس صفر» بالأساس 5 بدلًا من 3:</a:t>
            </a:r>
            <a:endParaRPr lang="ar-SA" sz="1900" dirty="0"/>
          </a:p>
        </p:txBody>
      </p:sp>
      <p:sp>
        <p:nvSpPr>
          <p:cNvPr id="11" name="Shape 7"/>
          <p:cNvSpPr/>
          <p:nvPr/>
        </p:nvSpPr>
        <p:spPr>
          <a:xfrm>
            <a:off x="9464040" y="219456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2194560"/>
            <a:ext cx="18288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…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9162288" y="2423160"/>
            <a:ext cx="3291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÷5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60920" y="219456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60920" y="2194560"/>
            <a:ext cx="18288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…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7059168" y="2423160"/>
            <a:ext cx="3291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÷5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257800" y="219456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57800" y="2194560"/>
            <a:ext cx="18288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…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4956048" y="2423160"/>
            <a:ext cx="3291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÷5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154680" y="219456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154680" y="2194560"/>
            <a:ext cx="18288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…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2852928" y="2423160"/>
            <a:ext cx="3291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÷5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051560" y="219456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51560" y="2194560"/>
            <a:ext cx="18288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…</a:t>
            </a:r>
            <a:endParaRPr 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accent1"/>
                </a:solidFill>
              </a:rPr>
              <a:t>ثم تحقّق بقاعدة القسمة:</a:t>
            </a:r>
            <a:endParaRPr lang="ar-SA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585216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4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5</a:t>
            </a:r>
            <a:pPr algn="ctr" indent="0" marL="0">
              <a:buNone/>
            </a:pPr>
            <a:r>
              <a:rPr lang="en-US" sz="24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310896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accent1"/>
                </a:solidFill>
              </a:rPr>
              <a:t>هل تتغيّر النتيجة؟</a:t>
            </a:r>
            <a:endParaRPr lang="ar-SA" sz="2000" dirty="0"/>
          </a:p>
        </p:txBody>
      </p:sp>
      <p:sp>
        <p:nvSpPr>
          <p:cNvPr id="28" name="Shape 24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018520" y="4846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10185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2194560" y="4800600"/>
            <a:ext cx="8686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</a:rPr>
              <a:t>أكمل جدول طيّ الورقة حتى 10 طيّات (لمن لم يُنهِه في الصف).</a:t>
            </a:r>
            <a:endParaRPr lang="ar-SA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2194560" y="5349240"/>
            <a:ext cx="8686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4F5C6E"/>
                </a:solidFill>
              </a:rPr>
              <a:t>تذكّر: كل طيّة تضاعف عدد الطبقات.</a:t>
            </a:r>
            <a:endParaRPr lang="ar-SA" sz="1700" dirty="0"/>
          </a:p>
        </p:txBody>
      </p:sp>
      <p:sp>
        <p:nvSpPr>
          <p:cNvPr id="33" name="Shape 29"/>
          <p:cNvSpPr/>
          <p:nvPr/>
        </p:nvSpPr>
        <p:spPr>
          <a:xfrm>
            <a:off x="822960" y="484632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78" y="5107838"/>
            <a:ext cx="482803" cy="4828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502920"/>
            <a:ext cx="962863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ماذا تعلّمنا اليوم؟</a:t>
            </a:r>
            <a:endParaRPr lang="ar-SA" sz="4000" dirty="0"/>
          </a:p>
        </p:txBody>
      </p:sp>
      <p:sp>
        <p:nvSpPr>
          <p:cNvPr id="3" name="Shape 1"/>
          <p:cNvSpPr/>
          <p:nvPr/>
        </p:nvSpPr>
        <p:spPr>
          <a:xfrm>
            <a:off x="6245352" y="1691640"/>
            <a:ext cx="5212080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28232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accent2"/>
                </a:solidFill>
              </a:rPr>
              <a:t>القوّة اختصار للضرب المتكرّر</a:t>
            </a:r>
            <a:endParaRPr lang="ar-SA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28232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 × 2 × 2 × 2 × 2 = 32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5212080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accent2"/>
                </a:solidFill>
              </a:rPr>
              <a:t>الأساس نفسه: نجمع الأُسّين في الجداء</a:t>
            </a:r>
            <a:endParaRPr lang="ar-SA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a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m+n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45352" y="3931920"/>
            <a:ext cx="5212080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accent2"/>
                </a:solidFill>
              </a:rPr>
              <a:t>كل عدد غير معدوم أُس صفر يساوي 1</a:t>
            </a:r>
            <a:endParaRPr lang="ar-SA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212080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accent2"/>
                </a:solidFill>
              </a:rPr>
              <a:t>قوى العشرة: 1 متبوعًا بـ n أصفار</a:t>
            </a:r>
            <a:endParaRPr lang="ar-SA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1 000 000</a:t>
            </a:r>
            <a:endParaRPr lang="en-US" sz="3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548640" cy="548640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731520" y="182880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s G7">
  <a:themeElements>
    <a:clrScheme name="Powers G7">
      <a:dk1>
        <a:srgbClr val="172231"/>
      </a:dk1>
      <a:lt1>
        <a:srgbClr val="FFFFFF"/>
      </a:lt1>
      <a:dk2>
        <a:srgbClr val="0F2350"/>
      </a:dk2>
      <a:lt2>
        <a:srgbClr val="EEF2F8"/>
      </a:lt2>
      <a:accent1>
        <a:srgbClr val="1B3A7A"/>
      </a:accent1>
      <a:accent2>
        <a:srgbClr val="E9B44C"/>
      </a:accent2>
      <a:accent3>
        <a:srgbClr val="0E7C7B"/>
      </a:accent3>
      <a:accent4>
        <a:srgbClr val="C2452F"/>
      </a:accent4>
      <a:accent5>
        <a:srgbClr val="2F7D46"/>
      </a:accent5>
      <a:accent6>
        <a:srgbClr val="7A3E8E"/>
      </a:accent6>
      <a:hlink>
        <a:srgbClr val="2B5FB3"/>
      </a:hlink>
      <a:folHlink>
        <a:srgbClr val="7A3E8E"/>
      </a:folHlink>
    </a:clrScheme>
    <a:fontScheme name="Powers G7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القوى وقوى العشرة</dc:title>
  <dc:subject>رياضيات – الصف السابع</dc:subject>
  <dc:creator>Mohamad Abdallah</dc:creator>
  <cp:lastModifiedBy>Mohamad Abdallah</cp:lastModifiedBy>
  <cp:revision>1</cp:revision>
  <dcterms:created xsi:type="dcterms:W3CDTF">2026-10-11T17:26:22Z</dcterms:created>
  <dcterms:modified xsi:type="dcterms:W3CDTF">2026-10-11T17:26:22Z</dcterms:modified>
</cp:coreProperties>
</file>