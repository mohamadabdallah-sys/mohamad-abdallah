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07c621e3-3b89-0510-868c-eaf1908cba2b}">
          <p14:sldIdLst>
            <p14:sldId id="256"/>
            <p14:sldId id="257"/>
            <p14:sldId id="258"/>
            <p14:sldId id="259"/>
          </p14:sldIdLst>
        </p14:section>
        <p14:section name="التمهيد" id="{8dceac99-50ab-7083-c462-1ed415e95e6b}">
          <p14:sldIdLst>
            <p14:sldId id="260"/>
            <p14:sldId id="261"/>
          </p14:sldIdLst>
        </p14:section>
        <p14:section name="الاستكشاف" id="{8dbe61fd-cb22-91ff-6fe9-8c70ba61d801}">
          <p14:sldIdLst>
            <p14:sldId id="262"/>
            <p14:sldId id="263"/>
            <p14:sldId id="264"/>
          </p14:sldIdLst>
        </p14:section>
        <p14:section name="الشرح" id="{b9943c30-cc26-fe90-943e-d768248e0159}">
          <p14:sldIdLst>
            <p14:sldId id="265"/>
            <p14:sldId id="266"/>
            <p14:sldId id="267"/>
            <p14:sldId id="268"/>
            <p14:sldId id="269"/>
            <p14:sldId id="270"/>
            <p14:sldId id="271"/>
            <p14:sldId id="272"/>
            <p14:sldId id="273"/>
          </p14:sldIdLst>
        </p14:section>
        <p14:section name="التطبيق الفردي" id="{08e519cc-33e1-78c3-fa83-1cf43f5d053e}">
          <p14:sldIdLst>
            <p14:sldId id="274"/>
            <p14:sldId id="275"/>
            <p14:sldId id="276"/>
          </p14:sldIdLst>
        </p14:section>
        <p14:section name="التطبيق الجماعي" id="{23516b56-abbf-a239-08f9-9c7758661065}">
          <p14:sldIdLst>
            <p14:sldId id="277"/>
            <p14:sldId id="278"/>
            <p14:sldId id="279"/>
            <p14:sldId id="280"/>
          </p14:sldIdLst>
        </p14:section>
        <p14:section name="التقييم" id="{cc344a8e-a0a2-b874-7c37-ff545696f222}">
          <p14:sldIdLst>
            <p14:sldId id="281"/>
            <p14:sldId id="282"/>
            <p14:sldId id="283"/>
            <p14:sldId id="284"/>
          </p14:sldIdLst>
        </p14:section>
        <p14:section name="الختام" id="{33c90d83-00d2-b41b-0e99-a7eb61dd5091}">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للمعلم: «درسنا اليوم عن القوى وقوّة القوّة. سنستعمل آذاننا وأيدينا: سنطوي الورق، ونعدّ الخرز، ونبني بالمكعّبات».
كل معادلة في هذا العرض مكتوبة أيضًا بالكلمات كما تُقرأ؛ اقرأها للطلاب بصوت واضح وببطء، وكرّرها مرتين.
المدة: حصة واحدة (50 دقيقة) أو حصتان بوتيرة مريحة (يُنصح بحصتين لإتاحة وقت للعمل اللمسي وللقراءة بالبرايل).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الأهداف بصوتك، واطلب من طالب أن يعيد أحدها بكلماته.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الحصة: رتّب المقاعد على شكل ثابت، وعرّف كل طالب بجاره الأيمن والأيسر (للتناقل لاحقًا).
لا تعتمد على الألوان أو الإشارة باليد («هذا» و«هنا»)؛ صِف بالكلمات: «الخيط الأول عليه ثلاث خرزات».
لضعاف البصر: اعرض الشرائح على شاشة قريبة أو كبّرها؛ الخطوط كبيرة والتباين عالٍ.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حضّر لكل زوج من الطلاب: 3 خيوط و12 خرزة، و20 مكعّبًا، و4 أكواب و20 حبة.
اختبر الأدوات قبل الحصة: الخرز يجب أن يكون كبيرًا يسهل عدّه باللمس، والخيوط معقودة الطرف حتى لا يسقط الخرز.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للمعلم: «اسمعوا العرضين جيدًا…» ثم اقرأ كل عرض ببطء.
النشاط اللمسي: يعمل كل زوج بالخرز أربع خطوات فقط ويشعر بالفرق.
أخبرهم بعدها: بعد 10 خطوات، العرض (أ) = 20 نقطة، والعرض (ب) = 1024 نقطة.
سؤال الربط: «هل يوجد اختصار لكتابة الضرب المتكرر كما اختصرنا الجمع المتكرر بالضرب؟».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يعمل كل طالب بورقته. بعد 4 طيّات يصبح العدّ باللمس صعبًا: اطلب منهم التوقّع لا العدّ (توقّع النمط).
الحل: 1 ← 2، 2 ← 4، 3 ← 8، 4 ← 16، 5 ← 32.
اقرأ الجدول بصوتك سطرًا سطرًا: «طيّة واحدة: جزءان، طيّتان: أربعة أجزاء…».
دعم: ساعد يد الطالب على إيجاد خط الطيّ. إثراء: «كم جزءًا بعد 10 طيّات؟» (1024).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للمعلم: «بعد خمس طيّات حصلنا على 32 جزءًا، وليس 10. لأننا في كل طيّة نضاعف، أي نضرب في 2. نكتب ذلك باختصار: 2 أُس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سلّم كل طالب خيطًا عليه 5 خرزات. «تحسّسوا الخرزات وعدّوها. كل خرزة تعني ضرب 2. كم مرة ضربنا؟ 5. إذن الأُس 5».
القراءة: نقول «2 أُس 5» أو «2 للقوّة 5». القوّة 2 تُسمّى «مربّعًا» والقوّة 3 «مكعّبًا».
سؤال تحقّق شفهي: «في 7 أُس 3، ما الأساس؟ (7) ما الأُس؟ (3) كم خرزة نضع على الخيط؟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النشاط: يعمل الطالب بالأكواب (الضرب) ثم بالخيط (القوّة) ويقارن.
للقوّة 3 أُس 4: خيط عليه 4 خرزات، كل خرزة تعني «ضرب 3»: 3، 9، 27، 81 (عدّ بصوت عالٍ مع الطلاب وهم يلمسون كل خرزة).
سؤال سريع شفهي: «2 ضرب 3؟» (6) «2 أُس 3؟»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طالب كتابة «7 أُس 3» بالبرايل على آلته، ثم يقرأ زميله ما كتبه بأصابعه ويتحقّق.
في المثال الأخير: عاملان مختلفان (2 و5) فلا نجمعهما في قوّة واحدة.
قاعدة 10: 10 أُس 4 تعني 1 وبعده 4 أصفار.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يبني كل زوج المربّع (9 مكعّبات) والمكعّب (8 مكعّبات) ويتحسّسهما: المربّع مسطّح له طول وعرض متساويان، والمكعّب له طول وعرض وارتفاع متساوية.
أمثلة أخرى شفهيًا: مساحة غرفة مربّعة طول ضلعها 6 أمتار = 6 أُس 2 = 36 مترًا مربّعًا. 1 كيلومتر = 10 أُس 3 أمتار.
البكتيريا: 1 ← 2 ← 4 ← 8 ← 16 ← 32 ← 64 (عدّوا الساعات على الأصابع).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الطلاب يربطون الخيوط ويعدّون. السؤال الأخير يقودهم للقاعدة: عدد الخرزات = عدد الخرزات في الخيط × عدد الخيوط = 3 × 2 = 6.
مثال ثالث شفهي: (a أُس 4) الكلّ أُس 2: خيطان على كلٍّ 4 خرزات = 8، إذن a أُس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الطلاب صياغة القاعدة بكلماتهم قبل أن تقولها.
تحقّق: 2 أُس 3 = 8، و8 أُس 2 = 8 × 8 = 64 = 2 أُس 6.
بالخيوط: الجمع (3 + 2 = 5) يعطي 5 خرزات فقط، لكننا عددنا 6 خرزات.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حلّ المثال الأول بصوت عالٍ خطوة بخطوة (نمذجة)، ثم دع الطلاب يحلّون الثاني شفهيًا أو بالبرايل قبل أن تقول الجواب.
تحقّق المثال 1: 3 أُس 2 = 9، و9 × 9 = 81.
المثال 3: 2 أُس 5 = 32، و32 × 32 = 1024.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يبني كل زوج البلاطة 4 × 4 (16 مكعّبًا) ويتحسّس أنها مربّع.
سؤال: لو كان الضلع 2 أُس 3 = 8 مكعّبات، كم مكعّبًا نحتاج؟ (2 أُس 6 =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الكل يبدأ بالمستوى الأساسي ويتقدّم حسب قدرته. الطالب يستعمل الخيوط والخرز متى احتاج.
إن لم يتقن الطالب البرايل بعد: يجيب شفهيًا ويسجّل المعلم أو يسجّل الطالب صوته.
الحلول: 1) 9 أُس 4  2) 64 و12، مختلفان  3) 3 أُس 2 = 9 أكبر من 2 أُس 3 = 8  4) 7 أُس 10  5) 2 أُس 6 = 64  6) 4  7) (2 أُس 3) الكلّ أُس 4، (2 أُس 4) الكلّ أُس 3، (2 أُس 2) الكلّ أُس 6، (2 أُس 6) الكلّ أُس 2.
سجّل من تعثّر في الأساسي لتوجيهه إلى مجموعة الدائرة.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الحلول بصوتك واحدًا واحدًا؛ يتحقّق كل طالب بأصابعه من بطاقته ويضع نقطة برايل بجانب الإجابة الصحيحة.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ضع على طاولة كل مجموعة شارتها البارزة (دائرة، مربّع، مثلث) ليعرف الطلاب مجموعتهم باللمس.
التوزيع حسب نتائج التطبيق الفردي، ويمكن للطالب أن يطلب «تحدَّ نفسك» فينتقل لمجموعة أعلى.
لا تذكر «ضعيف» أو «متفوّق»؛ استعمل أسماء الأشكال فقط.
البطاقات الكاملة والحلول في ملف Word للطلاب.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للمعلم. التمايز في: المحتوى (مستويات البطاقات)، العملية (أدوات لمسية أو ذهنية)، الناتج (برايل، شفهي، تسجيل صوتي)، والبيئة (مقاعد ثابتة وشارات بارزة).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تفصيل الحلول:
الدائرة: المطابقة: 3×3×3×3 ↔ 3 أُس 4 ↔ 81؛ 5×5×5 ↔ 5 أُس 3 ↔ 125؛ 2×2×2×2×2×2 ↔ 2 أُس 6 ↔ 64؛ 10×10 ↔ 10 أُس 2 ↔ 100؛ 3+3+3+3 ↔ 4×3 ↔ 12 (هذا ضرب لا قوّة).
المربّع: (2 أُس 4) أُس 2 = 2 أُس 8 = 256؛ (10 أُس 2) أُس 4 = 10 أُس 8 = 100000000؛ (3 أُس 3) أُس 2 = 3 أُس 6 = 729. صح أم خطأ: (4 أُس 2) أُس 3 = 4 أُس 5 خطأ والصحيح 4 أُس 6؛ 5 أُس 2 = 10 خطأ والصحيح 25؛ (a أُس 5) أُس 2 = a أُس 10 صح. المزرعة: (10 أُس 2) أُس 2 = 10 أُس 4 = 10000 متر مربّع.
المثلث: (2 أُس 5) أُس 3 = 2 أُس 15؛ (3 أُس 2) أُس 2 = 81؛ x أُس 12 بأربع طرق؛ (2 أُس 3) أُس 4 = 2 أُس 12 و(4 أُس 2) أُس 3 = 4 أُس 6 = 2 أُس 12؛ خطأ سامي: جمع الأُسّين، والصحيح 3 أُس 6 = 729؛ مكعّب حرفه 2 أُس 2 = 4: (2 أُس 2) أُس 3 = 2 أُس 6 = 64 مكعّبًا.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بما أن الطلاب لا يرون من يحتاج المساعدة: يقول الطالب «أحتاج خبيرًا» بصوت منخفض، ويذهب إليه الخبير الأقرب (المقاعد ثابتة ومعروفة).
يكتب المدقّق اسمه بالبرايل في آخر بطاقة زميله.
المعلم يتجوّل ويستمع للحوارات ويسجّل الأخطاء الشائعة.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سؤال مرتبط بهدف ليعرف المعلم الهدف الذي لم يتحقّق عند كل طالب.
بديل شفهي: يجيب الطالب الذي لم يتقن البرايل شفهيًا لزميله ثم للمعلم.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تحقّق السؤال 5: 10 أُس 2 = 100 سم، والحجم 100 × 100 × 100 = 1000000 سم³ (أي متر مكعّب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الخلاصة بصوتك واطلب من الطلاب ترديدها.
المعلم يرى الإبهام ويسجّل لكل طالب؛ من أشار إلى أسفل في هدف يحصل على دعم إضافي باللمس في الحصة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005840"/>
          </a:xfrm>
          <a:prstGeom prst="rect">
            <a:avLst/>
          </a:prstGeom>
          <a:noFill/>
          <a:ln/>
        </p:spPr>
        <p:txBody>
          <a:bodyPr wrap="square" rtlCol="0"/>
          <a:lstStyle>
            <a:lvl1pPr rtl="1" algn="r" indent="0" marL="0">
              <a:buNone/>
              <a:defRPr lang="en-US" sz="4400" b="1" dirty="0">
                <a:solidFill>
                  <a:srgbClr val="FFFFFF"/>
                </a:solidFill>
              </a:defRPr>
            </a:lvl1pPr>
          </a:lstStyle>
          <a:p>
            <a:pPr algn="r" indent="0" marL="0">
              <a:buNone/>
            </a:pPr>
            <a:endParaRPr lang="en-US" sz="4400" dirty="0"/>
          </a:p>
        </p:txBody>
      </p:sp>
      <p:sp>
        <p:nvSpPr>
          <p:cNvPr id="3" name="Text 0"/>
          <p:cNvSpPr/>
          <p:nvPr>
            <p:ph idx="101" type="body" hasCustomPrompt="1"/>
          </p:nvPr>
        </p:nvSpPr>
        <p:spPr>
          <a:xfrm>
            <a:off x="548640" y="2331720"/>
            <a:ext cx="8046720" cy="822960"/>
          </a:xfrm>
          <a:prstGeom prst="rect">
            <a:avLst/>
          </a:prstGeom>
          <a:noFill/>
          <a:ln/>
        </p:spPr>
        <p:txBody>
          <a:bodyPr wrap="square" rtlCol="0"/>
          <a:lstStyle>
            <a:lvl1pPr rtl="1" algn="r" indent="0" marL="0">
              <a:buNone/>
              <a:defRPr lang="en-US" sz="2200" dirty="0">
                <a:solidFill>
                  <a:srgbClr val="FFFFFF"/>
                </a:solidFill>
              </a:defRPr>
            </a:lvl1pPr>
          </a:lstStyle>
          <a:p>
            <a:pPr algn="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6035040" cy="82296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endParaRPr lang="en-US" sz="4000" dirty="0"/>
          </a:p>
        </p:txBody>
      </p:sp>
      <p:sp>
        <p:nvSpPr>
          <p:cNvPr id="3" name="Text 0"/>
          <p:cNvSpPr/>
          <p:nvPr>
            <p:ph idx="101" type="body" hasCustomPrompt="1"/>
          </p:nvPr>
        </p:nvSpPr>
        <p:spPr>
          <a:xfrm>
            <a:off x="548640" y="2697480"/>
            <a:ext cx="6035040" cy="1097280"/>
          </a:xfrm>
          <a:prstGeom prst="rect">
            <a:avLst/>
          </a:prstGeom>
          <a:noFill/>
          <a:ln/>
        </p:spPr>
        <p:txBody>
          <a:bodyPr wrap="square" rtlCol="0"/>
          <a:lstStyle>
            <a:lvl1pPr rtl="1" algn="r" indent="0" marL="0">
              <a:buNone/>
              <a:defRPr lang="en-US" sz="2000" dirty="0">
                <a:solidFill>
                  <a:srgbClr val="FFFFFF"/>
                </a:solidFill>
              </a:defRPr>
            </a:lvl1pPr>
          </a:lstStyle>
          <a:p>
            <a:pPr algn="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lstStyle>
            <a:lvl1pPr rtl="1" algn="r" indent="0" marL="0">
              <a:buNone/>
              <a:defRPr lang="en-US" sz="3200" b="1" dirty="0">
                <a:solidFill>
                  <a:srgbClr val="0F4C5C"/>
                </a:solidFill>
              </a:defRPr>
            </a:lvl1pPr>
          </a:lstStyle>
          <a:p>
            <a:pPr algn="r" indent="0" marL="0">
              <a:buNone/>
            </a:pPr>
            <a:endParaRPr lang="en-US" sz="32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8046720" cy="1005840"/>
          </a:xfrm>
          <a:prstGeom prst="rect">
            <a:avLst/>
          </a:prstGeom>
          <a:noFill/>
          <a:ln/>
        </p:spPr>
        <p:txBody>
          <a:bodyPr wrap="square" rtlCol="0"/>
          <a:lstStyle/>
          <a:p>
            <a:pPr rtl="1" algn="r" indent="0" marL="0">
              <a:buNone/>
            </a:pPr>
            <a:r>
              <a:rPr lang="en-US" sz="4400" b="1" dirty="0">
                <a:solidFill>
                  <a:srgbClr val="FFFFFF"/>
                </a:solidFill>
              </a:rPr>
              <a:t>القوى وقوّة القوّة</a:t>
            </a:r>
            <a:endParaRPr lang="en-US" sz="4400" dirty="0"/>
          </a:p>
        </p:txBody>
      </p:sp>
      <p:sp>
        <p:nvSpPr>
          <p:cNvPr id="3" name="Text 0"/>
          <p:cNvSpPr/>
          <p:nvPr>
            <p:ph idx="101" type="body" hasCustomPrompt="1"/>
          </p:nvPr>
        </p:nvSpPr>
        <p:spPr>
          <a:xfrm>
            <a:off x="548640" y="2331720"/>
            <a:ext cx="8046720" cy="822960"/>
          </a:xfrm>
          <a:prstGeom prst="rect">
            <a:avLst/>
          </a:prstGeom>
          <a:noFill/>
          <a:ln/>
        </p:spPr>
        <p:txBody>
          <a:bodyPr wrap="square" rtlCol="0"/>
          <a:lstStyle/>
          <a:p>
            <a:pPr rtl="1" algn="r" indent="0" marL="0">
              <a:buNone/>
            </a:pPr>
            <a:r>
              <a:rPr lang="en-US" sz="2200" dirty="0">
                <a:solidFill>
                  <a:srgbClr val="FFFFFF"/>
                </a:solidFill>
              </a:rPr>
              <a:t>نسخة مكيّفة للطلاب المكفوفين وضعاف البصر: تعلّم سمعي ولمسي وبرايل</a:t>
            </a:r>
            <a:endParaRPr lang="en-US" sz="2200" dirty="0"/>
          </a:p>
        </p:txBody>
      </p:sp>
      <p:sp>
        <p:nvSpPr>
          <p:cNvPr id="4" name="Text 2"/>
          <p:cNvSpPr txBox="1"/>
          <p:nvPr/>
        </p:nvSpPr>
        <p:spPr>
          <a:xfrm>
            <a:off x="548640" y="3383280"/>
            <a:ext cx="8046720" cy="1005840"/>
          </a:xfrm>
          <a:prstGeom prst="rect">
            <a:avLst/>
          </a:prstGeom>
          <a:noFill/>
          <a:ln/>
        </p:spPr>
        <p:txBody>
          <a:bodyPr wrap="square" lIns="0" tIns="0" rIns="0" bIns="0" rtlCol="0" anchor="ctr"/>
          <a:lstStyle/>
          <a:p>
            <a:pPr rtl="0" algn="r" indent="0" marL="0">
              <a:buNone/>
            </a:pPr>
            <a:r>
              <a:rPr lang="en-US" sz="4800" b="1" dirty="0">
                <a:solidFill>
                  <a:srgbClr val="F2C46D"/>
                </a:solidFill>
                <a:latin typeface="Arial" pitchFamily="34" charset="0"/>
                <a:ea typeface="Arial" pitchFamily="34" charset="-122"/>
                <a:cs typeface="Arial" pitchFamily="34" charset="-120"/>
              </a:rPr>
              <a:t>2</a:t>
            </a:r>
            <a:r>
              <a:rPr lang="en-US" sz="4800" b="1" baseline="30000" dirty="0">
                <a:solidFill>
                  <a:srgbClr val="F2C46D"/>
                </a:solidFill>
                <a:latin typeface="Arial" pitchFamily="34" charset="0"/>
                <a:ea typeface="Arial" pitchFamily="34" charset="-122"/>
                <a:cs typeface="Arial" pitchFamily="34" charset="-120"/>
              </a:rPr>
              <a:t>5</a:t>
            </a:r>
            <a:r>
              <a:rPr lang="en-US" sz="4800" b="1" dirty="0">
                <a:solidFill>
                  <a:srgbClr val="F2C46D"/>
                </a:solidFill>
                <a:latin typeface="Arial" pitchFamily="34" charset="0"/>
                <a:ea typeface="Arial" pitchFamily="34" charset="-122"/>
                <a:cs typeface="Arial" pitchFamily="34" charset="-120"/>
              </a:rPr>
              <a:t>        (a</a:t>
            </a:r>
            <a:r>
              <a:rPr lang="en-US" sz="4800" b="1" baseline="30000" dirty="0">
                <a:solidFill>
                  <a:srgbClr val="F2C46D"/>
                </a:solidFill>
                <a:latin typeface="Arial" pitchFamily="34" charset="0"/>
                <a:ea typeface="Arial" pitchFamily="34" charset="-122"/>
                <a:cs typeface="Arial" pitchFamily="34" charset="-120"/>
              </a:rPr>
              <a:t>m</a:t>
            </a:r>
            <a:r>
              <a:rPr lang="en-US" sz="4800" b="1" dirty="0">
                <a:solidFill>
                  <a:srgbClr val="F2C46D"/>
                </a:solidFill>
                <a:latin typeface="Arial" pitchFamily="34" charset="0"/>
                <a:ea typeface="Arial" pitchFamily="34" charset="-122"/>
                <a:cs typeface="Arial" pitchFamily="34" charset="-120"/>
              </a:rPr>
              <a:t>)</a:t>
            </a:r>
            <a:r>
              <a:rPr lang="en-US" sz="4800" b="1" baseline="30000" dirty="0">
                <a:solidFill>
                  <a:srgbClr val="F2C46D"/>
                </a:solidFill>
                <a:latin typeface="Arial" pitchFamily="34" charset="0"/>
                <a:ea typeface="Arial" pitchFamily="34" charset="-122"/>
                <a:cs typeface="Arial" pitchFamily="34" charset="-120"/>
              </a:rPr>
              <a:t>n</a:t>
            </a:r>
            <a:r>
              <a:rPr lang="en-US" sz="4800" b="1" dirty="0">
                <a:solidFill>
                  <a:srgbClr val="F2C46D"/>
                </a:solidFill>
                <a:latin typeface="Arial" pitchFamily="34" charset="0"/>
                <a:ea typeface="Arial" pitchFamily="34" charset="-122"/>
                <a:cs typeface="Arial" pitchFamily="34" charset="-120"/>
              </a:rPr>
              <a:t>        10</a:t>
            </a:r>
            <a:r>
              <a:rPr lang="en-US" sz="4800" b="1" baseline="30000" dirty="0">
                <a:solidFill>
                  <a:srgbClr val="F2C46D"/>
                </a:solidFill>
                <a:latin typeface="Arial" pitchFamily="34" charset="0"/>
                <a:ea typeface="Arial" pitchFamily="34" charset="-122"/>
                <a:cs typeface="Arial" pitchFamily="34" charset="-120"/>
              </a:rPr>
              <a:t>3</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أهداف الدرس</a:t>
            </a:r>
            <a:endParaRPr lang="en-US" sz="3200" dirty="0"/>
          </a:p>
        </p:txBody>
      </p:sp>
      <p:sp>
        <p:nvSpPr>
          <p:cNvPr id="3" name="Shape 1"/>
          <p:cNvSpPr/>
          <p:nvPr/>
        </p:nvSpPr>
        <p:spPr>
          <a:xfrm>
            <a:off x="457200" y="1005840"/>
            <a:ext cx="8229600" cy="777240"/>
          </a:xfrm>
          <a:prstGeom prst="roundRect">
            <a:avLst>
              <a:gd name="adj" fmla="val 11765"/>
            </a:avLst>
          </a:prstGeom>
          <a:solidFill>
            <a:srgbClr val="0B6E70">
              <a:alpha val="10000"/>
            </a:srgbClr>
          </a:solidFill>
          <a:ln w="19050">
            <a:solidFill>
              <a:srgbClr val="0B6E70"/>
            </a:solidFill>
            <a:prstDash val="solid"/>
          </a:ln>
        </p:spPr>
      </p:sp>
      <p:sp>
        <p:nvSpPr>
          <p:cNvPr id="4" name="Shape 2"/>
          <p:cNvSpPr/>
          <p:nvPr/>
        </p:nvSpPr>
        <p:spPr>
          <a:xfrm>
            <a:off x="8092440" y="1161288"/>
            <a:ext cx="457200" cy="457200"/>
          </a:xfrm>
          <a:prstGeom prst="ellipse">
            <a:avLst/>
          </a:prstGeom>
          <a:solidFill>
            <a:srgbClr val="0B6E70"/>
          </a:solidFill>
          <a:ln w="12700">
            <a:solidFill>
              <a:srgbClr val="0B6E70"/>
            </a:solidFill>
            <a:prstDash val="solid"/>
          </a:ln>
        </p:spPr>
      </p:sp>
      <p:sp>
        <p:nvSpPr>
          <p:cNvPr id="5" name="Text 3"/>
          <p:cNvSpPr txBox="1"/>
          <p:nvPr/>
        </p:nvSpPr>
        <p:spPr>
          <a:xfrm>
            <a:off x="8092440" y="1161288"/>
            <a:ext cx="457200" cy="457200"/>
          </a:xfrm>
          <a:prstGeom prst="rect">
            <a:avLst/>
          </a:prstGeom>
          <a:noFill/>
          <a:ln/>
        </p:spPr>
        <p:txBody>
          <a:bodyPr wrap="square" lIns="0" tIns="0" rIns="0" bIns="0" rtlCol="0" anchor="ctr"/>
          <a:lstStyle/>
          <a:p>
            <a:pPr rtl="1" algn="ctr" indent="0" marL="0">
              <a:buNone/>
            </a:pPr>
            <a:r>
              <a:rPr lang="ar-LB" altLang="en-US" sz="2000" b="1" dirty="0">
                <a:solidFill>
                  <a:srgbClr val="FFFFFF"/>
                </a:solidFill>
              </a:rPr>
              <a:t>1</a:t>
            </a:r>
            <a:endParaRPr lang="ar-LB" sz="2000" dirty="0"/>
          </a:p>
        </p:txBody>
      </p:sp>
      <p:sp>
        <p:nvSpPr>
          <p:cNvPr id="6" name="Text 4"/>
          <p:cNvSpPr txBox="1"/>
          <p:nvPr/>
        </p:nvSpPr>
        <p:spPr>
          <a:xfrm>
            <a:off x="640080" y="1005840"/>
            <a:ext cx="7315200" cy="777240"/>
          </a:xfrm>
          <a:prstGeom prst="rect">
            <a:avLst/>
          </a:prstGeom>
          <a:noFill/>
          <a:ln/>
        </p:spPr>
        <p:txBody>
          <a:bodyPr wrap="square" lIns="0" tIns="0" rIns="0" bIns="0" rtlCol="0" anchor="ctr"/>
          <a:lstStyle/>
          <a:p>
            <a:pPr rtl="1" algn="r" indent="0" marL="0">
              <a:buNone/>
            </a:pPr>
            <a:r>
              <a:rPr lang="ar-LB" altLang="en-US" sz="2200" dirty="0">
                <a:solidFill>
                  <a:srgbClr val="1B262C"/>
                </a:solidFill>
              </a:rPr>
              <a:t>أن يفرّق بين القوّة (ضرب متكرر) والضرب (جمع متكرر).</a:t>
            </a:r>
            <a:endParaRPr lang="ar-LB" sz="2200" dirty="0"/>
          </a:p>
        </p:txBody>
      </p:sp>
      <p:sp>
        <p:nvSpPr>
          <p:cNvPr id="7" name="Shape 5"/>
          <p:cNvSpPr/>
          <p:nvPr/>
        </p:nvSpPr>
        <p:spPr>
          <a:xfrm>
            <a:off x="457200" y="1965960"/>
            <a:ext cx="8229600" cy="777240"/>
          </a:xfrm>
          <a:prstGeom prst="roundRect">
            <a:avLst>
              <a:gd name="adj" fmla="val 11765"/>
            </a:avLst>
          </a:prstGeom>
          <a:solidFill>
            <a:srgbClr val="1F5C99">
              <a:alpha val="10000"/>
            </a:srgbClr>
          </a:solidFill>
          <a:ln w="19050">
            <a:solidFill>
              <a:srgbClr val="1F5C99"/>
            </a:solidFill>
            <a:prstDash val="solid"/>
          </a:ln>
        </p:spPr>
      </p:sp>
      <p:sp>
        <p:nvSpPr>
          <p:cNvPr id="8" name="Shape 6"/>
          <p:cNvSpPr/>
          <p:nvPr/>
        </p:nvSpPr>
        <p:spPr>
          <a:xfrm>
            <a:off x="8092440" y="2121408"/>
            <a:ext cx="457200" cy="457200"/>
          </a:xfrm>
          <a:prstGeom prst="ellipse">
            <a:avLst/>
          </a:prstGeom>
          <a:solidFill>
            <a:srgbClr val="1F5C99"/>
          </a:solidFill>
          <a:ln w="12700">
            <a:solidFill>
              <a:srgbClr val="1F5C99"/>
            </a:solidFill>
            <a:prstDash val="solid"/>
          </a:ln>
        </p:spPr>
      </p:sp>
      <p:sp>
        <p:nvSpPr>
          <p:cNvPr id="9" name="Text 7"/>
          <p:cNvSpPr txBox="1"/>
          <p:nvPr/>
        </p:nvSpPr>
        <p:spPr>
          <a:xfrm>
            <a:off x="8092440" y="2121408"/>
            <a:ext cx="457200" cy="457200"/>
          </a:xfrm>
          <a:prstGeom prst="rect">
            <a:avLst/>
          </a:prstGeom>
          <a:noFill/>
          <a:ln/>
        </p:spPr>
        <p:txBody>
          <a:bodyPr wrap="square" lIns="0" tIns="0" rIns="0" bIns="0" rtlCol="0" anchor="ctr"/>
          <a:lstStyle/>
          <a:p>
            <a:pPr rtl="1" algn="ctr" indent="0" marL="0">
              <a:buNone/>
            </a:pPr>
            <a:r>
              <a:rPr lang="ar-LB" altLang="en-US" sz="2000" b="1" dirty="0">
                <a:solidFill>
                  <a:srgbClr val="FFFFFF"/>
                </a:solidFill>
              </a:rPr>
              <a:t>2</a:t>
            </a:r>
            <a:endParaRPr lang="ar-LB" sz="2000" dirty="0"/>
          </a:p>
        </p:txBody>
      </p:sp>
      <p:sp>
        <p:nvSpPr>
          <p:cNvPr id="10" name="Text 8"/>
          <p:cNvSpPr txBox="1"/>
          <p:nvPr/>
        </p:nvSpPr>
        <p:spPr>
          <a:xfrm>
            <a:off x="640080" y="1965960"/>
            <a:ext cx="7315200" cy="777240"/>
          </a:xfrm>
          <a:prstGeom prst="rect">
            <a:avLst/>
          </a:prstGeom>
          <a:noFill/>
          <a:ln/>
        </p:spPr>
        <p:txBody>
          <a:bodyPr wrap="square" lIns="0" tIns="0" rIns="0" bIns="0" rtlCol="0" anchor="ctr"/>
          <a:lstStyle/>
          <a:p>
            <a:pPr rtl="1" algn="r" indent="0" marL="0">
              <a:buNone/>
            </a:pPr>
            <a:r>
              <a:rPr lang="ar-LB" altLang="en-US" sz="2200" dirty="0">
                <a:solidFill>
                  <a:srgbClr val="1B262C"/>
                </a:solidFill>
              </a:rPr>
              <a:t>أن يستخدم الترميز الأسّي: يقرأ القوّة ويكتبها بالبرايل أو بالكلمات.</a:t>
            </a:r>
            <a:endParaRPr lang="ar-LB" sz="2200" dirty="0"/>
          </a:p>
        </p:txBody>
      </p:sp>
      <p:sp>
        <p:nvSpPr>
          <p:cNvPr id="11" name="Shape 9"/>
          <p:cNvSpPr/>
          <p:nvPr/>
        </p:nvSpPr>
        <p:spPr>
          <a:xfrm>
            <a:off x="457200" y="2926080"/>
            <a:ext cx="8229600" cy="777240"/>
          </a:xfrm>
          <a:prstGeom prst="roundRect">
            <a:avLst>
              <a:gd name="adj" fmla="val 11765"/>
            </a:avLst>
          </a:prstGeom>
          <a:solidFill>
            <a:srgbClr val="C2500C">
              <a:alpha val="10000"/>
            </a:srgbClr>
          </a:solidFill>
          <a:ln w="19050">
            <a:solidFill>
              <a:srgbClr val="C2500C"/>
            </a:solidFill>
            <a:prstDash val="solid"/>
          </a:ln>
        </p:spPr>
      </p:sp>
      <p:sp>
        <p:nvSpPr>
          <p:cNvPr id="12" name="Shape 10"/>
          <p:cNvSpPr/>
          <p:nvPr/>
        </p:nvSpPr>
        <p:spPr>
          <a:xfrm>
            <a:off x="8092440" y="3081528"/>
            <a:ext cx="457200" cy="457200"/>
          </a:xfrm>
          <a:prstGeom prst="ellipse">
            <a:avLst/>
          </a:prstGeom>
          <a:solidFill>
            <a:srgbClr val="C2500C"/>
          </a:solidFill>
          <a:ln w="12700">
            <a:solidFill>
              <a:srgbClr val="C2500C"/>
            </a:solidFill>
            <a:prstDash val="solid"/>
          </a:ln>
        </p:spPr>
      </p:sp>
      <p:sp>
        <p:nvSpPr>
          <p:cNvPr id="13" name="Text 11"/>
          <p:cNvSpPr txBox="1"/>
          <p:nvPr/>
        </p:nvSpPr>
        <p:spPr>
          <a:xfrm>
            <a:off x="8092440" y="3081528"/>
            <a:ext cx="457200" cy="457200"/>
          </a:xfrm>
          <a:prstGeom prst="rect">
            <a:avLst/>
          </a:prstGeom>
          <a:noFill/>
          <a:ln/>
        </p:spPr>
        <p:txBody>
          <a:bodyPr wrap="square" lIns="0" tIns="0" rIns="0" bIns="0" rtlCol="0" anchor="ctr"/>
          <a:lstStyle/>
          <a:p>
            <a:pPr rtl="1" algn="ctr" indent="0" marL="0">
              <a:buNone/>
            </a:pPr>
            <a:r>
              <a:rPr lang="ar-LB" altLang="en-US" sz="2000" b="1" dirty="0">
                <a:solidFill>
                  <a:srgbClr val="FFFFFF"/>
                </a:solidFill>
              </a:rPr>
              <a:t>3</a:t>
            </a:r>
            <a:endParaRPr lang="ar-LB" sz="2000" dirty="0"/>
          </a:p>
        </p:txBody>
      </p:sp>
      <p:sp>
        <p:nvSpPr>
          <p:cNvPr id="14" name="Text 12"/>
          <p:cNvSpPr txBox="1"/>
          <p:nvPr/>
        </p:nvSpPr>
        <p:spPr>
          <a:xfrm>
            <a:off x="640080" y="2926080"/>
            <a:ext cx="7315200" cy="777240"/>
          </a:xfrm>
          <a:prstGeom prst="rect">
            <a:avLst/>
          </a:prstGeom>
          <a:noFill/>
          <a:ln/>
        </p:spPr>
        <p:txBody>
          <a:bodyPr wrap="square" lIns="0" tIns="0" rIns="0" bIns="0" rtlCol="0" anchor="ctr"/>
          <a:lstStyle/>
          <a:p>
            <a:pPr rtl="1" algn="r" indent="0" marL="0">
              <a:buNone/>
            </a:pPr>
            <a:r>
              <a:rPr lang="ar-LB" altLang="en-US" sz="2200" dirty="0">
                <a:solidFill>
                  <a:srgbClr val="1B262C"/>
                </a:solidFill>
              </a:rPr>
              <a:t>أن يحسب قوّة القوّة لعدد مستخدمًا القاعدة.</a:t>
            </a:r>
            <a:endParaRPr lang="ar-LB" sz="2200" dirty="0"/>
          </a:p>
        </p:txBody>
      </p:sp>
      <p:sp>
        <p:nvSpPr>
          <p:cNvPr id="15" name="Text 13"/>
          <p:cNvSpPr txBox="1"/>
          <p:nvPr/>
        </p:nvSpPr>
        <p:spPr>
          <a:xfrm>
            <a:off x="457200" y="4023360"/>
            <a:ext cx="8229600" cy="457200"/>
          </a:xfrm>
          <a:prstGeom prst="rect">
            <a:avLst/>
          </a:prstGeom>
          <a:noFill/>
          <a:ln/>
        </p:spPr>
        <p:txBody>
          <a:bodyPr wrap="square" lIns="0" tIns="0" rIns="0" bIns="0" rtlCol="0" anchor="t"/>
          <a:lstStyle/>
          <a:p>
            <a:pPr rtl="1" algn="r" indent="0" marL="0">
              <a:buNone/>
            </a:pPr>
            <a:r>
              <a:rPr lang="ar-LB" altLang="en-US" sz="1600" dirty="0">
                <a:solidFill>
                  <a:srgbClr val="3E4A52"/>
                </a:solidFill>
              </a:rPr>
              <a:t>الهدف الثاني مكيّف: الكتابة بطريقة برايل أو بالكلمات بدل الكتابة الرمزية المرئية.</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كيف كُيّف الدرس؟</a:t>
            </a:r>
            <a:endParaRPr lang="en-US" sz="3200" dirty="0"/>
          </a:p>
        </p:txBody>
      </p:sp>
      <p:sp>
        <p:nvSpPr>
          <p:cNvPr id="3" name="Shape 1"/>
          <p:cNvSpPr/>
          <p:nvPr/>
        </p:nvSpPr>
        <p:spPr>
          <a:xfrm>
            <a:off x="4709160" y="960120"/>
            <a:ext cx="3977640" cy="1737360"/>
          </a:xfrm>
          <a:prstGeom prst="roundRect">
            <a:avLst>
              <a:gd name="adj" fmla="val 5263"/>
            </a:avLst>
          </a:prstGeom>
          <a:solidFill>
            <a:srgbClr val="0B6E70">
              <a:alpha val="10000"/>
            </a:srgbClr>
          </a:solidFill>
          <a:ln w="19050">
            <a:solidFill>
              <a:srgbClr val="0B6E70"/>
            </a:solidFill>
            <a:prstDash val="solid"/>
          </a:ln>
        </p:spPr>
      </p:sp>
      <p:sp>
        <p:nvSpPr>
          <p:cNvPr id="4" name="Shape 2"/>
          <p:cNvSpPr/>
          <p:nvPr/>
        </p:nvSpPr>
        <p:spPr>
          <a:xfrm>
            <a:off x="8119872" y="1069848"/>
            <a:ext cx="457200" cy="457200"/>
          </a:xfrm>
          <a:prstGeom prst="ellipse">
            <a:avLst/>
          </a:prstGeom>
          <a:solidFill>
            <a:srgbClr val="0B6E70"/>
          </a:solidFill>
          <a:ln w="12700">
            <a:solidFill>
              <a:srgbClr val="0B6E70"/>
            </a:solidFill>
            <a:prstDash val="solid"/>
          </a:ln>
        </p:spPr>
      </p:sp>
      <p:pic>
        <p:nvPicPr>
          <p:cNvPr id="5" name="Image 0" descr="أيقونة أذن: نشاط سمعي">    </p:cNvPr>
          <p:cNvPicPr>
            <a:picLocks noChangeAspect="1"/>
          </p:cNvPicPr>
          <p:nvPr/>
        </p:nvPicPr>
        <p:blipFill>
          <a:blip r:embed="rId1"/>
          <a:stretch>
            <a:fillRect/>
          </a:stretch>
        </p:blipFill>
        <p:spPr>
          <a:xfrm>
            <a:off x="8229600" y="1179576"/>
            <a:ext cx="237744" cy="237744"/>
          </a:xfrm>
          <a:prstGeom prst="rect">
            <a:avLst/>
          </a:prstGeom>
        </p:spPr>
      </p:pic>
      <p:sp>
        <p:nvSpPr>
          <p:cNvPr id="6" name="Text 3"/>
          <p:cNvSpPr txBox="1"/>
          <p:nvPr/>
        </p:nvSpPr>
        <p:spPr>
          <a:xfrm>
            <a:off x="4846320" y="106984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0B6E70"/>
                </a:solidFill>
              </a:rPr>
              <a:t>سمعي</a:t>
            </a:r>
            <a:endParaRPr lang="ar-LB" sz="1800" dirty="0"/>
          </a:p>
        </p:txBody>
      </p:sp>
      <p:sp>
        <p:nvSpPr>
          <p:cNvPr id="7" name="Text 4"/>
          <p:cNvSpPr txBox="1"/>
          <p:nvPr/>
        </p:nvSpPr>
        <p:spPr>
          <a:xfrm>
            <a:off x="4846320" y="155448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كل معادلة تُقال بالكلمات: «2 أُس 5». المعلم يصف كل شيء بصوت واضح.</a:t>
            </a:r>
            <a:endParaRPr lang="ar-LB" sz="1600" dirty="0"/>
          </a:p>
        </p:txBody>
      </p:sp>
      <p:sp>
        <p:nvSpPr>
          <p:cNvPr id="8" name="Shape 5"/>
          <p:cNvSpPr/>
          <p:nvPr/>
        </p:nvSpPr>
        <p:spPr>
          <a:xfrm>
            <a:off x="457200" y="960120"/>
            <a:ext cx="3977640" cy="1737360"/>
          </a:xfrm>
          <a:prstGeom prst="roundRect">
            <a:avLst>
              <a:gd name="adj" fmla="val 5263"/>
            </a:avLst>
          </a:prstGeom>
          <a:solidFill>
            <a:srgbClr val="1F7A45">
              <a:alpha val="10000"/>
            </a:srgbClr>
          </a:solidFill>
          <a:ln w="19050">
            <a:solidFill>
              <a:srgbClr val="1F7A45"/>
            </a:solidFill>
            <a:prstDash val="solid"/>
          </a:ln>
        </p:spPr>
      </p:sp>
      <p:sp>
        <p:nvSpPr>
          <p:cNvPr id="9" name="Shape 6"/>
          <p:cNvSpPr/>
          <p:nvPr/>
        </p:nvSpPr>
        <p:spPr>
          <a:xfrm>
            <a:off x="3867912" y="1069848"/>
            <a:ext cx="457200" cy="457200"/>
          </a:xfrm>
          <a:prstGeom prst="ellipse">
            <a:avLst/>
          </a:prstGeom>
          <a:solidFill>
            <a:srgbClr val="1F7A45"/>
          </a:solidFill>
          <a:ln w="12700">
            <a:solidFill>
              <a:srgbClr val="1F7A45"/>
            </a:solidFill>
            <a:prstDash val="solid"/>
          </a:ln>
        </p:spPr>
      </p:sp>
      <p:pic>
        <p:nvPicPr>
          <p:cNvPr id="10" name="Image 1" descr="أيقونة يد: نشاط لمسي">    </p:cNvPr>
          <p:cNvPicPr>
            <a:picLocks noChangeAspect="1"/>
          </p:cNvPicPr>
          <p:nvPr/>
        </p:nvPicPr>
        <p:blipFill>
          <a:blip r:embed="rId2"/>
          <a:stretch>
            <a:fillRect/>
          </a:stretch>
        </p:blipFill>
        <p:spPr>
          <a:xfrm>
            <a:off x="3977640" y="1179576"/>
            <a:ext cx="237744" cy="237744"/>
          </a:xfrm>
          <a:prstGeom prst="rect">
            <a:avLst/>
          </a:prstGeom>
        </p:spPr>
      </p:pic>
      <p:sp>
        <p:nvSpPr>
          <p:cNvPr id="11" name="Text 7"/>
          <p:cNvSpPr txBox="1"/>
          <p:nvPr/>
        </p:nvSpPr>
        <p:spPr>
          <a:xfrm>
            <a:off x="594360" y="106984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لمسي</a:t>
            </a:r>
            <a:endParaRPr lang="ar-LB" sz="1800" dirty="0"/>
          </a:p>
        </p:txBody>
      </p:sp>
      <p:sp>
        <p:nvSpPr>
          <p:cNvPr id="12" name="Text 8"/>
          <p:cNvSpPr txBox="1"/>
          <p:nvPr/>
        </p:nvSpPr>
        <p:spPr>
          <a:xfrm>
            <a:off x="594360" y="155448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طيّ الورق، والخرز على الخيوط، والمكعّبات، والأكواب بدل الرسوم.</a:t>
            </a:r>
            <a:endParaRPr lang="ar-LB" sz="1600" dirty="0"/>
          </a:p>
        </p:txBody>
      </p:sp>
      <p:sp>
        <p:nvSpPr>
          <p:cNvPr id="13" name="Shape 9"/>
          <p:cNvSpPr/>
          <p:nvPr/>
        </p:nvSpPr>
        <p:spPr>
          <a:xfrm>
            <a:off x="4709160" y="2834640"/>
            <a:ext cx="3977640" cy="1737360"/>
          </a:xfrm>
          <a:prstGeom prst="roundRect">
            <a:avLst>
              <a:gd name="adj" fmla="val 5263"/>
            </a:avLst>
          </a:prstGeom>
          <a:solidFill>
            <a:srgbClr val="1F5C99">
              <a:alpha val="10000"/>
            </a:srgbClr>
          </a:solidFill>
          <a:ln w="19050">
            <a:solidFill>
              <a:srgbClr val="1F5C99"/>
            </a:solidFill>
            <a:prstDash val="solid"/>
          </a:ln>
        </p:spPr>
      </p:sp>
      <p:sp>
        <p:nvSpPr>
          <p:cNvPr id="14" name="Shape 10"/>
          <p:cNvSpPr/>
          <p:nvPr/>
        </p:nvSpPr>
        <p:spPr>
          <a:xfrm>
            <a:off x="8119872" y="2944368"/>
            <a:ext cx="457200" cy="457200"/>
          </a:xfrm>
          <a:prstGeom prst="ellipse">
            <a:avLst/>
          </a:prstGeom>
          <a:solidFill>
            <a:srgbClr val="1F5C99"/>
          </a:solidFill>
          <a:ln w="12700">
            <a:solidFill>
              <a:srgbClr val="1F5C99"/>
            </a:solidFill>
            <a:prstDash val="solid"/>
          </a:ln>
        </p:spPr>
      </p:sp>
      <p:pic>
        <p:nvPicPr>
          <p:cNvPr id="15" name="Image 2" descr="أيقونة برايل">    </p:cNvPr>
          <p:cNvPicPr>
            <a:picLocks noChangeAspect="1"/>
          </p:cNvPicPr>
          <p:nvPr/>
        </p:nvPicPr>
        <p:blipFill>
          <a:blip r:embed="rId3"/>
          <a:stretch>
            <a:fillRect/>
          </a:stretch>
        </p:blipFill>
        <p:spPr>
          <a:xfrm>
            <a:off x="8229600" y="3054096"/>
            <a:ext cx="237744" cy="237744"/>
          </a:xfrm>
          <a:prstGeom prst="rect">
            <a:avLst/>
          </a:prstGeom>
        </p:spPr>
      </p:pic>
      <p:sp>
        <p:nvSpPr>
          <p:cNvPr id="16" name="Text 11"/>
          <p:cNvSpPr txBox="1"/>
          <p:nvPr/>
        </p:nvSpPr>
        <p:spPr>
          <a:xfrm>
            <a:off x="4846320" y="294436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5C99"/>
                </a:solidFill>
              </a:rPr>
              <a:t>برايل</a:t>
            </a:r>
            <a:endParaRPr lang="ar-LB" sz="1800" dirty="0"/>
          </a:p>
        </p:txBody>
      </p:sp>
      <p:sp>
        <p:nvSpPr>
          <p:cNvPr id="17" name="Text 12"/>
          <p:cNvSpPr txBox="1"/>
          <p:nvPr/>
        </p:nvSpPr>
        <p:spPr>
          <a:xfrm>
            <a:off x="4846320" y="342900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بطاقات الطلاب في ملف Word جاهز للتحويل إلى برايل أو للقراءة بقارئ الشاشة.</a:t>
            </a:r>
            <a:endParaRPr lang="ar-LB" sz="1600" dirty="0"/>
          </a:p>
        </p:txBody>
      </p:sp>
      <p:sp>
        <p:nvSpPr>
          <p:cNvPr id="18" name="Shape 13"/>
          <p:cNvSpPr/>
          <p:nvPr/>
        </p:nvSpPr>
        <p:spPr>
          <a:xfrm>
            <a:off x="457200" y="2834640"/>
            <a:ext cx="3977640" cy="1737360"/>
          </a:xfrm>
          <a:prstGeom prst="roundRect">
            <a:avLst>
              <a:gd name="adj" fmla="val 5263"/>
            </a:avLst>
          </a:prstGeom>
          <a:solidFill>
            <a:srgbClr val="6A2F8F">
              <a:alpha val="10000"/>
            </a:srgbClr>
          </a:solidFill>
          <a:ln w="19050">
            <a:solidFill>
              <a:srgbClr val="6A2F8F"/>
            </a:solidFill>
            <a:prstDash val="solid"/>
          </a:ln>
        </p:spPr>
      </p:sp>
      <p:sp>
        <p:nvSpPr>
          <p:cNvPr id="19" name="Shape 14"/>
          <p:cNvSpPr/>
          <p:nvPr/>
        </p:nvSpPr>
        <p:spPr>
          <a:xfrm>
            <a:off x="3867912" y="2944368"/>
            <a:ext cx="457200" cy="457200"/>
          </a:xfrm>
          <a:prstGeom prst="ellipse">
            <a:avLst/>
          </a:prstGeom>
          <a:solidFill>
            <a:srgbClr val="6A2F8F"/>
          </a:solidFill>
          <a:ln w="12700">
            <a:solidFill>
              <a:srgbClr val="6A2F8F"/>
            </a:solidFill>
            <a:prstDash val="solid"/>
          </a:ln>
        </p:spPr>
      </p:sp>
      <p:pic>
        <p:nvPicPr>
          <p:cNvPr id="20" name="Image 3" descr="أيقونة مجموعة">    </p:cNvPr>
          <p:cNvPicPr>
            <a:picLocks noChangeAspect="1"/>
          </p:cNvPicPr>
          <p:nvPr/>
        </p:nvPicPr>
        <p:blipFill>
          <a:blip r:embed="rId4"/>
          <a:stretch>
            <a:fillRect/>
          </a:stretch>
        </p:blipFill>
        <p:spPr>
          <a:xfrm>
            <a:off x="3977640" y="3054096"/>
            <a:ext cx="237744" cy="237744"/>
          </a:xfrm>
          <a:prstGeom prst="rect">
            <a:avLst/>
          </a:prstGeom>
        </p:spPr>
      </p:pic>
      <p:sp>
        <p:nvSpPr>
          <p:cNvPr id="21" name="Text 15"/>
          <p:cNvSpPr txBox="1"/>
          <p:nvPr/>
        </p:nvSpPr>
        <p:spPr>
          <a:xfrm>
            <a:off x="594360" y="294436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6A2F8F"/>
                </a:solidFill>
              </a:rPr>
              <a:t>تعاوني</a:t>
            </a:r>
            <a:endParaRPr lang="ar-LB" sz="1800" dirty="0"/>
          </a:p>
        </p:txBody>
      </p:sp>
      <p:sp>
        <p:nvSpPr>
          <p:cNvPr id="22" name="Text 16"/>
          <p:cNvSpPr txBox="1"/>
          <p:nvPr/>
        </p:nvSpPr>
        <p:spPr>
          <a:xfrm>
            <a:off x="594360" y="342900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أزواج ومجموعات ثابتة المقاعد، وكل طالب يعرف أسماء جيرانه.</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الأدوات اللمسية التي يحضّرها المعلم</a:t>
            </a:r>
            <a:endParaRPr lang="en-US" sz="3200" dirty="0"/>
          </a:p>
        </p:txBody>
      </p:sp>
      <p:sp>
        <p:nvSpPr>
          <p:cNvPr id="3" name="Text 1"/>
          <p:cNvSpPr txBox="1"/>
          <p:nvPr/>
        </p:nvSpPr>
        <p:spPr>
          <a:xfrm>
            <a:off x="457200" y="960120"/>
            <a:ext cx="6949440" cy="3657600"/>
          </a:xfrm>
          <a:prstGeom prst="rect">
            <a:avLst/>
          </a:prstGeom>
          <a:noFill/>
          <a:ln/>
        </p:spPr>
        <p:txBody>
          <a:bodyPr wrap="square" lIns="0" tIns="0" rIns="0" bIns="0" rtlCol="0" anchor="t"/>
          <a:lstStyle/>
          <a:p>
            <a:pPr rtl="1" algn="r" indent="0" marL="0">
              <a:spcAft>
                <a:spcPts val="600"/>
              </a:spcAft>
              <a:buNone/>
            </a:pPr>
            <a:r>
              <a:rPr lang="ar-LB" altLang="en-US" sz="1800" b="1" dirty="0">
                <a:solidFill>
                  <a:srgbClr val="1B262C"/>
                </a:solidFill>
              </a:rPr>
              <a:t>خيوط وخرز كبير</a:t>
            </a:r>
            <a:r>
              <a:rPr lang="ar-LB" altLang="en-US" sz="1800" dirty="0">
                <a:solidFill>
                  <a:srgbClr val="1B262C"/>
                </a:solidFill>
              </a:rPr>
              <a:t>: كل خرزة على الخيط تمثّل عاملًا واحدًا (لنمذجة القوّة).</a:t>
            </a:r>
            <a:endParaRPr lang="ar-LB" sz="1800" dirty="0"/>
          </a:p>
          <a:p>
            <a:pPr rtl="1" algn="r" indent="0" marL="0">
              <a:spcAft>
                <a:spcPts val="600"/>
              </a:spcAft>
              <a:buNone/>
            </a:pPr>
            <a:r>
              <a:rPr lang="ar-LB" altLang="en-US" sz="1800" b="1" dirty="0">
                <a:solidFill>
                  <a:srgbClr val="1B262C"/>
                </a:solidFill>
              </a:rPr>
              <a:t>مكعّبات تركيب متداخلة</a:t>
            </a:r>
            <a:r>
              <a:rPr lang="ar-LB" altLang="en-US" sz="1800" dirty="0">
                <a:solidFill>
                  <a:srgbClr val="1B262C"/>
                </a:solidFill>
              </a:rPr>
              <a:t>: لبناء مربّع ومكعّب.</a:t>
            </a:r>
            <a:endParaRPr lang="ar-LB" sz="1800" dirty="0"/>
          </a:p>
          <a:p>
            <a:pPr rtl="1" algn="r" indent="0" marL="0">
              <a:spcAft>
                <a:spcPts val="600"/>
              </a:spcAft>
              <a:buNone/>
            </a:pPr>
            <a:r>
              <a:rPr lang="ar-LB" altLang="en-US" sz="1800" b="1" dirty="0">
                <a:solidFill>
                  <a:srgbClr val="1B262C"/>
                </a:solidFill>
              </a:rPr>
              <a:t>أكواب صغيرة وحبوب أو خرز للعدّ</a:t>
            </a:r>
            <a:r>
              <a:rPr lang="ar-LB" altLang="en-US" sz="1800" dirty="0">
                <a:solidFill>
                  <a:srgbClr val="1B262C"/>
                </a:solidFill>
              </a:rPr>
              <a:t>: للضرب كجمع متكرر.</a:t>
            </a:r>
            <a:endParaRPr lang="ar-LB" sz="1800" dirty="0"/>
          </a:p>
          <a:p>
            <a:pPr rtl="1" algn="r" indent="0" marL="0">
              <a:spcAft>
                <a:spcPts val="600"/>
              </a:spcAft>
              <a:buNone/>
            </a:pPr>
            <a:r>
              <a:rPr lang="ar-LB" altLang="en-US" sz="1800" b="1" dirty="0">
                <a:solidFill>
                  <a:srgbClr val="1B262C"/>
                </a:solidFill>
              </a:rPr>
              <a:t>أوراق A4 للطيّ</a:t>
            </a:r>
            <a:r>
              <a:rPr lang="ar-LB" altLang="en-US" sz="1800" dirty="0">
                <a:solidFill>
                  <a:srgbClr val="1B262C"/>
                </a:solidFill>
              </a:rPr>
              <a:t> (ورقة لكل طالب).</a:t>
            </a:r>
            <a:endParaRPr lang="ar-LB" sz="1800" dirty="0"/>
          </a:p>
          <a:p>
            <a:pPr rtl="1" algn="r" indent="0" marL="0">
              <a:spcAft>
                <a:spcPts val="600"/>
              </a:spcAft>
              <a:buNone/>
            </a:pPr>
            <a:r>
              <a:rPr lang="ar-LB" altLang="en-US" sz="1800" b="1" dirty="0">
                <a:solidFill>
                  <a:srgbClr val="1B262C"/>
                </a:solidFill>
              </a:rPr>
              <a:t>بطاقات الطلاب بالبرايل</a:t>
            </a:r>
            <a:r>
              <a:rPr lang="ar-LB" altLang="en-US" sz="1800" dirty="0">
                <a:solidFill>
                  <a:srgbClr val="1B262C"/>
                </a:solidFill>
              </a:rPr>
              <a:t> (من ملف Word المرفق) أو حاسوب بقارئ شاشة.</a:t>
            </a:r>
            <a:endParaRPr lang="ar-LB" sz="1800" dirty="0"/>
          </a:p>
          <a:p>
            <a:pPr rtl="1" algn="r" indent="0" marL="0">
              <a:spcAft>
                <a:spcPts val="600"/>
              </a:spcAft>
              <a:buNone/>
            </a:pPr>
            <a:r>
              <a:rPr lang="ar-LB" altLang="en-US" sz="1800" b="1" dirty="0">
                <a:solidFill>
                  <a:srgbClr val="1B262C"/>
                </a:solidFill>
              </a:rPr>
              <a:t>آلة برايل أو لوح ومخرز</a:t>
            </a:r>
            <a:r>
              <a:rPr lang="ar-LB" altLang="en-US" sz="1800" dirty="0">
                <a:solidFill>
                  <a:srgbClr val="1B262C"/>
                </a:solidFill>
              </a:rPr>
              <a:t> للكتابة.</a:t>
            </a:r>
            <a:endParaRPr lang="ar-LB" sz="1800" dirty="0"/>
          </a:p>
          <a:p>
            <a:pPr rtl="1" algn="r" indent="0" marL="0">
              <a:spcAft>
                <a:spcPts val="600"/>
              </a:spcAft>
              <a:buNone/>
            </a:pPr>
            <a:r>
              <a:rPr lang="ar-LB" altLang="en-US" sz="1800" b="1" dirty="0">
                <a:solidFill>
                  <a:srgbClr val="1B262C"/>
                </a:solidFill>
              </a:rPr>
              <a:t>ثلاث شارات بأشكال بارزة</a:t>
            </a:r>
            <a:r>
              <a:rPr lang="ar-LB" altLang="en-US" sz="1800" dirty="0">
                <a:solidFill>
                  <a:srgbClr val="1B262C"/>
                </a:solidFill>
              </a:rPr>
              <a:t> (دائرة، مربّع، مثلث) لتمييز المجموعات بدل الألوان.</a:t>
            </a:r>
            <a:endParaRPr lang="ar-LB" sz="1800" dirty="0"/>
          </a:p>
        </p:txBody>
      </p:sp>
      <p:sp>
        <p:nvSpPr>
          <p:cNvPr id="4" name="Shape 2"/>
          <p:cNvSpPr/>
          <p:nvPr/>
        </p:nvSpPr>
        <p:spPr>
          <a:xfrm>
            <a:off x="7635240" y="1097280"/>
            <a:ext cx="1005840" cy="1005840"/>
          </a:xfrm>
          <a:prstGeom prst="ellipse">
            <a:avLst/>
          </a:prstGeom>
          <a:solidFill>
            <a:srgbClr val="1F7A45"/>
          </a:solidFill>
          <a:ln w="12700">
            <a:solidFill>
              <a:srgbClr val="1F7A45"/>
            </a:solidFill>
            <a:prstDash val="solid"/>
          </a:ln>
        </p:spPr>
      </p:sp>
      <p:pic>
        <p:nvPicPr>
          <p:cNvPr id="5" name="Image 0" descr="أيقونة صندوق أدوات">    </p:cNvPr>
          <p:cNvPicPr>
            <a:picLocks noChangeAspect="1"/>
          </p:cNvPicPr>
          <p:nvPr/>
        </p:nvPicPr>
        <p:blipFill>
          <a:blip r:embed="rId1"/>
          <a:stretch>
            <a:fillRect/>
          </a:stretch>
        </p:blipFill>
        <p:spPr>
          <a:xfrm>
            <a:off x="7876642" y="1338682"/>
            <a:ext cx="523037" cy="523037"/>
          </a:xfrm>
          <a:prstGeom prst="rect">
            <a:avLst/>
          </a:prstGeom>
        </p:spPr>
      </p:pic>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مصباح">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1</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التمهيد</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فكّر – زاوج – شارك (شفهيًا)  •  5 دقائق</a:t>
            </a:r>
            <a:endParaRPr lang="en-US" sz="2000" dirty="0"/>
          </a:p>
          <a:p>
            <a:pPr rtl="1" algn="r" indent="0" marL="0">
              <a:buNone/>
            </a:pPr>
            <a:r>
              <a:rPr lang="en-US" sz="2000" dirty="0">
                <a:solidFill>
                  <a:srgbClr val="FFFFFF"/>
                </a:solidFill>
              </a:rPr>
              <a:t>أداة: كومة من الخرز لكل زوج</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أيّ المكافأتين تختار؟</a:t>
            </a:r>
            <a:endParaRPr lang="en-US" sz="3200" dirty="0"/>
          </a:p>
        </p:txBody>
      </p:sp>
      <p:sp>
        <p:nvSpPr>
          <p:cNvPr id="3" name="Text 1"/>
          <p:cNvSpPr txBox="1"/>
          <p:nvPr/>
        </p:nvSpPr>
        <p:spPr>
          <a:xfrm>
            <a:off x="457200" y="868680"/>
            <a:ext cx="8229600" cy="411480"/>
          </a:xfrm>
          <a:prstGeom prst="rect">
            <a:avLst/>
          </a:prstGeom>
          <a:noFill/>
          <a:ln/>
        </p:spPr>
        <p:txBody>
          <a:bodyPr wrap="square" lIns="0" tIns="0" rIns="0" bIns="0" rtlCol="0" anchor="t"/>
          <a:lstStyle/>
          <a:p>
            <a:pPr rtl="1" algn="r" indent="0" marL="0">
              <a:buNone/>
            </a:pPr>
            <a:r>
              <a:rPr lang="ar-LB" altLang="en-US" sz="1900" dirty="0">
                <a:solidFill>
                  <a:srgbClr val="1B262C"/>
                </a:solidFill>
              </a:rPr>
              <a:t>قرّر المدير مكافأة طالب متفوّق بالنقاط، وخيّره بين عرضين:</a:t>
            </a:r>
            <a:endParaRPr lang="ar-LB" sz="1900" dirty="0"/>
          </a:p>
        </p:txBody>
      </p:sp>
      <p:sp>
        <p:nvSpPr>
          <p:cNvPr id="4" name="Shape 2"/>
          <p:cNvSpPr/>
          <p:nvPr/>
        </p:nvSpPr>
        <p:spPr>
          <a:xfrm>
            <a:off x="4709160" y="1325880"/>
            <a:ext cx="3977640" cy="914400"/>
          </a:xfrm>
          <a:prstGeom prst="roundRect">
            <a:avLst>
              <a:gd name="adj" fmla="val 10000"/>
            </a:avLst>
          </a:prstGeom>
          <a:solidFill>
            <a:srgbClr val="0B6E70">
              <a:alpha val="8000"/>
            </a:srgbClr>
          </a:solidFill>
          <a:ln w="19050">
            <a:solidFill>
              <a:srgbClr val="0B6E70"/>
            </a:solidFill>
            <a:prstDash val="solid"/>
          </a:ln>
        </p:spPr>
      </p:sp>
      <p:sp>
        <p:nvSpPr>
          <p:cNvPr id="5" name="Text 3"/>
          <p:cNvSpPr txBox="1"/>
          <p:nvPr/>
        </p:nvSpPr>
        <p:spPr>
          <a:xfrm>
            <a:off x="4800600" y="1371600"/>
            <a:ext cx="3794760" cy="475488"/>
          </a:xfrm>
          <a:prstGeom prst="rect">
            <a:avLst/>
          </a:prstGeom>
          <a:noFill/>
          <a:ln/>
        </p:spPr>
        <p:txBody>
          <a:bodyPr wrap="square" lIns="0" tIns="0" rIns="0" bIns="0" rtlCol="0" anchor="ctr"/>
          <a:lstStyle/>
          <a:p>
            <a:pPr rtl="0" algn="ctr" indent="0" marL="0">
              <a:buNone/>
            </a:pPr>
            <a:r>
              <a:rPr lang="en-US" sz="2400" b="1" dirty="0">
                <a:solidFill>
                  <a:srgbClr val="0B6E70"/>
                </a:solidFill>
                <a:latin typeface="Arial" pitchFamily="34" charset="0"/>
                <a:ea typeface="Arial" pitchFamily="34" charset="-122"/>
                <a:cs typeface="Arial" pitchFamily="34" charset="-120"/>
              </a:rPr>
              <a:t>2 + 2 + ... + 2</a:t>
            </a:r>
            <a:endParaRPr lang="en-US" sz="2400" dirty="0"/>
          </a:p>
        </p:txBody>
      </p:sp>
      <p:sp>
        <p:nvSpPr>
          <p:cNvPr id="6" name="Text 4"/>
          <p:cNvSpPr txBox="1"/>
          <p:nvPr/>
        </p:nvSpPr>
        <p:spPr>
          <a:xfrm>
            <a:off x="4818888" y="1828800"/>
            <a:ext cx="3758184" cy="38404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العرض (أ): نجمع 2 عشر مرات</a:t>
            </a:r>
            <a:endParaRPr lang="ar-LB" sz="1500" dirty="0"/>
          </a:p>
        </p:txBody>
      </p:sp>
      <p:sp>
        <p:nvSpPr>
          <p:cNvPr id="7" name="Shape 5"/>
          <p:cNvSpPr/>
          <p:nvPr/>
        </p:nvSpPr>
        <p:spPr>
          <a:xfrm>
            <a:off x="457200" y="1325880"/>
            <a:ext cx="3977640" cy="914400"/>
          </a:xfrm>
          <a:prstGeom prst="roundRect">
            <a:avLst>
              <a:gd name="adj" fmla="val 10000"/>
            </a:avLst>
          </a:prstGeom>
          <a:solidFill>
            <a:srgbClr val="C2500C">
              <a:alpha val="8000"/>
            </a:srgbClr>
          </a:solidFill>
          <a:ln w="19050">
            <a:solidFill>
              <a:srgbClr val="C2500C"/>
            </a:solidFill>
            <a:prstDash val="solid"/>
          </a:ln>
        </p:spPr>
      </p:sp>
      <p:sp>
        <p:nvSpPr>
          <p:cNvPr id="8" name="Text 6"/>
          <p:cNvSpPr txBox="1"/>
          <p:nvPr/>
        </p:nvSpPr>
        <p:spPr>
          <a:xfrm>
            <a:off x="548640" y="1371600"/>
            <a:ext cx="3794760" cy="475488"/>
          </a:xfrm>
          <a:prstGeom prst="rect">
            <a:avLst/>
          </a:prstGeom>
          <a:noFill/>
          <a:ln/>
        </p:spPr>
        <p:txBody>
          <a:bodyPr wrap="square" lIns="0" tIns="0" rIns="0" bIns="0" rtlCol="0" anchor="ctr"/>
          <a:lstStyle/>
          <a:p>
            <a:pPr rtl="0" algn="ctr" indent="0" marL="0">
              <a:buNone/>
            </a:pPr>
            <a:r>
              <a:rPr lang="en-US" sz="2400" b="1" dirty="0">
                <a:solidFill>
                  <a:srgbClr val="C2500C"/>
                </a:solidFill>
                <a:latin typeface="Arial" pitchFamily="34" charset="0"/>
                <a:ea typeface="Arial" pitchFamily="34" charset="-122"/>
                <a:cs typeface="Arial" pitchFamily="34" charset="-120"/>
              </a:rPr>
              <a:t>2 × 2 × ... × 2</a:t>
            </a:r>
            <a:endParaRPr lang="en-US" sz="2400" dirty="0"/>
          </a:p>
        </p:txBody>
      </p:sp>
      <p:sp>
        <p:nvSpPr>
          <p:cNvPr id="9" name="Text 7"/>
          <p:cNvSpPr txBox="1"/>
          <p:nvPr/>
        </p:nvSpPr>
        <p:spPr>
          <a:xfrm>
            <a:off x="566928" y="1828800"/>
            <a:ext cx="3758184" cy="38404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العرض (ب): نضرب 2 في نفسه عشر مرات</a:t>
            </a:r>
            <a:endParaRPr lang="ar-LB" sz="1500" dirty="0"/>
          </a:p>
        </p:txBody>
      </p:sp>
      <p:sp>
        <p:nvSpPr>
          <p:cNvPr id="10" name="Shape 8"/>
          <p:cNvSpPr/>
          <p:nvPr/>
        </p:nvSpPr>
        <p:spPr>
          <a:xfrm>
            <a:off x="457200" y="2423160"/>
            <a:ext cx="8229600" cy="2194560"/>
          </a:xfrm>
          <a:prstGeom prst="roundRect">
            <a:avLst>
              <a:gd name="adj" fmla="val 4167"/>
            </a:avLst>
          </a:prstGeom>
          <a:solidFill>
            <a:srgbClr val="1F7A45">
              <a:alpha val="10000"/>
            </a:srgbClr>
          </a:solidFill>
          <a:ln w="19050">
            <a:solidFill>
              <a:srgbClr val="1F7A45"/>
            </a:solidFill>
            <a:prstDash val="solid"/>
          </a:ln>
        </p:spPr>
      </p:sp>
      <p:sp>
        <p:nvSpPr>
          <p:cNvPr id="11" name="Shape 9"/>
          <p:cNvSpPr/>
          <p:nvPr/>
        </p:nvSpPr>
        <p:spPr>
          <a:xfrm>
            <a:off x="8119872" y="2532888"/>
            <a:ext cx="457200" cy="457200"/>
          </a:xfrm>
          <a:prstGeom prst="ellipse">
            <a:avLst/>
          </a:prstGeom>
          <a:solidFill>
            <a:srgbClr val="1F7A45"/>
          </a:solidFill>
          <a:ln w="12700">
            <a:solidFill>
              <a:srgbClr val="1F7A45"/>
            </a:solidFill>
            <a:prstDash val="solid"/>
          </a:ln>
        </p:spPr>
      </p:sp>
      <p:pic>
        <p:nvPicPr>
          <p:cNvPr id="12" name="Image 0" descr="أيقونة يد: نشاط لمسي">    </p:cNvPr>
          <p:cNvPicPr>
            <a:picLocks noChangeAspect="1"/>
          </p:cNvPicPr>
          <p:nvPr/>
        </p:nvPicPr>
        <p:blipFill>
          <a:blip r:embed="rId1"/>
          <a:stretch>
            <a:fillRect/>
          </a:stretch>
        </p:blipFill>
        <p:spPr>
          <a:xfrm>
            <a:off x="8229600" y="2642616"/>
            <a:ext cx="237744" cy="237744"/>
          </a:xfrm>
          <a:prstGeom prst="rect">
            <a:avLst/>
          </a:prstGeom>
        </p:spPr>
      </p:pic>
      <p:sp>
        <p:nvSpPr>
          <p:cNvPr id="13" name="Text 10"/>
          <p:cNvSpPr txBox="1"/>
          <p:nvPr/>
        </p:nvSpPr>
        <p:spPr>
          <a:xfrm>
            <a:off x="594360" y="2532888"/>
            <a:ext cx="745236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نشاط لمسي: ضاعِف الكومة</a:t>
            </a:r>
            <a:endParaRPr lang="ar-LB" sz="1800" dirty="0"/>
          </a:p>
        </p:txBody>
      </p:sp>
      <p:sp>
        <p:nvSpPr>
          <p:cNvPr id="14" name="Text 11"/>
          <p:cNvSpPr txBox="1"/>
          <p:nvPr/>
        </p:nvSpPr>
        <p:spPr>
          <a:xfrm>
            <a:off x="594360" y="3017520"/>
            <a:ext cx="7955280" cy="150876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العرض (أ): أضف خرزتين في كل خطوة، وعُدّ: 2، 4، 6، 8.</a:t>
            </a:r>
            <a:endParaRPr lang="ar-LB" sz="1700" dirty="0"/>
          </a:p>
          <a:p>
            <a:pPr rtl="1" algn="r" indent="0" marL="0">
              <a:spcAft>
                <a:spcPts val="400"/>
              </a:spcAft>
              <a:buNone/>
            </a:pPr>
            <a:r>
              <a:rPr lang="ar-LB" altLang="en-US" sz="1700" dirty="0">
                <a:solidFill>
                  <a:srgbClr val="1B262C"/>
                </a:solidFill>
              </a:rPr>
              <a:t>العرض (ب): ضاعِف الكومة في كل خطوة، وعُدّ: 2، 4، 8، 16.</a:t>
            </a:r>
            <a:endParaRPr lang="ar-LB" sz="1700" dirty="0"/>
          </a:p>
          <a:p>
            <a:pPr rtl="1" algn="r" indent="0" marL="0">
              <a:spcAft>
                <a:spcPts val="400"/>
              </a:spcAft>
              <a:buNone/>
            </a:pPr>
            <a:r>
              <a:rPr lang="ar-LB" altLang="en-US" sz="1700" dirty="0">
                <a:solidFill>
                  <a:srgbClr val="1B262C"/>
                </a:solidFill>
              </a:rPr>
              <a:t>بعد 4 خطوات فقط: أيّ الكومتين أكبر؟ فكّر وحدك، ثم همس لزميلك، ثم شارك.</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عدسة: استكشاف">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2</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النشاط الاستكشافي</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الاكتشاف باللمس في مجموعات  •  8 دقائق</a:t>
            </a:r>
            <a:endParaRPr lang="en-US" sz="2000" dirty="0"/>
          </a:p>
          <a:p>
            <a:pPr rtl="1" algn="r" indent="0" marL="0">
              <a:buNone/>
            </a:pPr>
            <a:r>
              <a:rPr lang="en-US" sz="2000" dirty="0">
                <a:solidFill>
                  <a:srgbClr val="FFFFFF"/>
                </a:solidFill>
              </a:rPr>
              <a:t>أداة: ورقة A4 لكل طالب</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طيّ الورقة وعدّ الأجزاء باللمس</a:t>
            </a:r>
            <a:endParaRPr lang="en-US" sz="3200" dirty="0"/>
          </a:p>
        </p:txBody>
      </p:sp>
      <p:sp>
        <p:nvSpPr>
          <p:cNvPr id="3" name="Text 1"/>
          <p:cNvSpPr txBox="1"/>
          <p:nvPr/>
        </p:nvSpPr>
        <p:spPr>
          <a:xfrm>
            <a:off x="3657600" y="914400"/>
            <a:ext cx="5029200" cy="2103120"/>
          </a:xfrm>
          <a:prstGeom prst="rect">
            <a:avLst/>
          </a:prstGeom>
          <a:noFill/>
          <a:ln/>
        </p:spPr>
        <p:txBody>
          <a:bodyPr wrap="square" lIns="0" tIns="0" rIns="0" bIns="0" rtlCol="0" anchor="t"/>
          <a:lstStyle/>
          <a:p>
            <a:pPr rtl="1" algn="r" indent="0" marL="0">
              <a:spcAft>
                <a:spcPts val="600"/>
              </a:spcAft>
              <a:buNone/>
            </a:pPr>
            <a:r>
              <a:rPr lang="ar-LB" altLang="en-US" sz="1800" dirty="0">
                <a:solidFill>
                  <a:srgbClr val="1B262C"/>
                </a:solidFill>
              </a:rPr>
              <a:t>1. اطوِ الورقة إلى نصفين، واضغط على خط الطيّ بإصبعك جيدًا.</a:t>
            </a:r>
            <a:endParaRPr lang="ar-LB" sz="1800" dirty="0"/>
          </a:p>
          <a:p>
            <a:pPr rtl="1" algn="r" indent="0" marL="0">
              <a:spcAft>
                <a:spcPts val="600"/>
              </a:spcAft>
              <a:buNone/>
            </a:pPr>
            <a:r>
              <a:rPr lang="ar-LB" altLang="en-US" sz="1800" dirty="0">
                <a:solidFill>
                  <a:srgbClr val="1B262C"/>
                </a:solidFill>
              </a:rPr>
              <a:t>2. افتح الورقة، وتحسّس خطوط الطيّ، وعُدّ الأجزاء.</a:t>
            </a:r>
            <a:endParaRPr lang="ar-LB" sz="1800" dirty="0"/>
          </a:p>
          <a:p>
            <a:pPr rtl="1" algn="r" indent="0" marL="0">
              <a:spcAft>
                <a:spcPts val="600"/>
              </a:spcAft>
              <a:buNone/>
            </a:pPr>
            <a:r>
              <a:rPr lang="ar-LB" altLang="en-US" sz="1800" dirty="0">
                <a:solidFill>
                  <a:srgbClr val="1B262C"/>
                </a:solidFill>
              </a:rPr>
              <a:t>3. أعد الطيّ وزِد طيّة جديدة في كل مرة، ثم عُدّ.</a:t>
            </a:r>
            <a:endParaRPr lang="ar-LB" sz="1800" dirty="0"/>
          </a:p>
          <a:p>
            <a:pPr rtl="1" algn="r" indent="0" marL="0">
              <a:spcAft>
                <a:spcPts val="600"/>
              </a:spcAft>
              <a:buNone/>
            </a:pPr>
            <a:r>
              <a:rPr lang="ar-LB" altLang="en-US" sz="1800" dirty="0">
                <a:solidFill>
                  <a:srgbClr val="1B262C"/>
                </a:solidFill>
              </a:rPr>
              <a:t>4. المتحدّث يقول العدد، والكاتب يسجّله بالبرايل.</a:t>
            </a:r>
            <a:endParaRPr lang="ar-LB" sz="1800" dirty="0"/>
          </a:p>
        </p:txBody>
      </p:sp>
      <p:sp>
        <p:nvSpPr>
          <p:cNvPr id="4" name="Shape 2"/>
          <p:cNvSpPr/>
          <p:nvPr/>
        </p:nvSpPr>
        <p:spPr>
          <a:xfrm>
            <a:off x="2834640" y="960120"/>
            <a:ext cx="914400" cy="365760"/>
          </a:xfrm>
          <a:prstGeom prst="rect">
            <a:avLst/>
          </a:prstGeom>
          <a:solidFill>
            <a:srgbClr val="0F4C5C"/>
          </a:solidFill>
          <a:ln w="12700">
            <a:solidFill>
              <a:srgbClr val="FFFFFF"/>
            </a:solidFill>
            <a:prstDash val="solid"/>
          </a:ln>
        </p:spPr>
      </p:sp>
      <p:sp>
        <p:nvSpPr>
          <p:cNvPr id="5" name="Text 3"/>
          <p:cNvSpPr txBox="1"/>
          <p:nvPr/>
        </p:nvSpPr>
        <p:spPr>
          <a:xfrm>
            <a:off x="2834640" y="960120"/>
            <a:ext cx="914400" cy="365760"/>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عدد الطيّات</a:t>
            </a:r>
            <a:endParaRPr lang="ar-LB" sz="1300" dirty="0"/>
          </a:p>
        </p:txBody>
      </p:sp>
      <p:sp>
        <p:nvSpPr>
          <p:cNvPr id="6" name="Shape 4"/>
          <p:cNvSpPr/>
          <p:nvPr/>
        </p:nvSpPr>
        <p:spPr>
          <a:xfrm>
            <a:off x="2834640" y="1325880"/>
            <a:ext cx="914400" cy="365760"/>
          </a:xfrm>
          <a:prstGeom prst="rect">
            <a:avLst/>
          </a:prstGeom>
          <a:solidFill>
            <a:srgbClr val="FFFFFF"/>
          </a:solidFill>
          <a:ln w="12700">
            <a:solidFill>
              <a:srgbClr val="7A8A93"/>
            </a:solidFill>
            <a:prstDash val="solid"/>
          </a:ln>
        </p:spPr>
      </p:sp>
      <p:sp>
        <p:nvSpPr>
          <p:cNvPr id="7" name="Text 5"/>
          <p:cNvSpPr txBox="1"/>
          <p:nvPr/>
        </p:nvSpPr>
        <p:spPr>
          <a:xfrm>
            <a:off x="2834640" y="132588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1</a:t>
            </a:r>
            <a:endParaRPr lang="en-US" sz="1500" dirty="0"/>
          </a:p>
        </p:txBody>
      </p:sp>
      <p:sp>
        <p:nvSpPr>
          <p:cNvPr id="8" name="Shape 6"/>
          <p:cNvSpPr/>
          <p:nvPr/>
        </p:nvSpPr>
        <p:spPr>
          <a:xfrm>
            <a:off x="2834640" y="1691640"/>
            <a:ext cx="914400" cy="365760"/>
          </a:xfrm>
          <a:prstGeom prst="rect">
            <a:avLst/>
          </a:prstGeom>
          <a:solidFill>
            <a:srgbClr val="FFFFFF"/>
          </a:solidFill>
          <a:ln w="12700">
            <a:solidFill>
              <a:srgbClr val="7A8A93"/>
            </a:solidFill>
            <a:prstDash val="solid"/>
          </a:ln>
        </p:spPr>
      </p:sp>
      <p:sp>
        <p:nvSpPr>
          <p:cNvPr id="9" name="Text 7"/>
          <p:cNvSpPr txBox="1"/>
          <p:nvPr/>
        </p:nvSpPr>
        <p:spPr>
          <a:xfrm>
            <a:off x="2834640" y="169164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10" name="Shape 8"/>
          <p:cNvSpPr/>
          <p:nvPr/>
        </p:nvSpPr>
        <p:spPr>
          <a:xfrm>
            <a:off x="2834640" y="2057400"/>
            <a:ext cx="914400" cy="365760"/>
          </a:xfrm>
          <a:prstGeom prst="rect">
            <a:avLst/>
          </a:prstGeom>
          <a:solidFill>
            <a:srgbClr val="FFFFFF"/>
          </a:solidFill>
          <a:ln w="12700">
            <a:solidFill>
              <a:srgbClr val="7A8A93"/>
            </a:solidFill>
            <a:prstDash val="solid"/>
          </a:ln>
        </p:spPr>
      </p:sp>
      <p:sp>
        <p:nvSpPr>
          <p:cNvPr id="11" name="Text 9"/>
          <p:cNvSpPr txBox="1"/>
          <p:nvPr/>
        </p:nvSpPr>
        <p:spPr>
          <a:xfrm>
            <a:off x="2834640" y="205740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3</a:t>
            </a:r>
            <a:endParaRPr lang="en-US" sz="1500" dirty="0"/>
          </a:p>
        </p:txBody>
      </p:sp>
      <p:sp>
        <p:nvSpPr>
          <p:cNvPr id="12" name="Shape 10"/>
          <p:cNvSpPr/>
          <p:nvPr/>
        </p:nvSpPr>
        <p:spPr>
          <a:xfrm>
            <a:off x="2834640" y="2423160"/>
            <a:ext cx="914400" cy="365760"/>
          </a:xfrm>
          <a:prstGeom prst="rect">
            <a:avLst/>
          </a:prstGeom>
          <a:solidFill>
            <a:srgbClr val="FFFFFF"/>
          </a:solidFill>
          <a:ln w="12700">
            <a:solidFill>
              <a:srgbClr val="7A8A93"/>
            </a:solidFill>
            <a:prstDash val="solid"/>
          </a:ln>
        </p:spPr>
      </p:sp>
      <p:sp>
        <p:nvSpPr>
          <p:cNvPr id="13" name="Text 11"/>
          <p:cNvSpPr txBox="1"/>
          <p:nvPr/>
        </p:nvSpPr>
        <p:spPr>
          <a:xfrm>
            <a:off x="2834640" y="242316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4</a:t>
            </a:r>
            <a:endParaRPr lang="en-US" sz="1500" dirty="0"/>
          </a:p>
        </p:txBody>
      </p:sp>
      <p:sp>
        <p:nvSpPr>
          <p:cNvPr id="14" name="Shape 12"/>
          <p:cNvSpPr/>
          <p:nvPr/>
        </p:nvSpPr>
        <p:spPr>
          <a:xfrm>
            <a:off x="2834640" y="2788920"/>
            <a:ext cx="914400" cy="365760"/>
          </a:xfrm>
          <a:prstGeom prst="rect">
            <a:avLst/>
          </a:prstGeom>
          <a:solidFill>
            <a:srgbClr val="FFFFFF"/>
          </a:solidFill>
          <a:ln w="12700">
            <a:solidFill>
              <a:srgbClr val="7A8A93"/>
            </a:solidFill>
            <a:prstDash val="solid"/>
          </a:ln>
        </p:spPr>
      </p:sp>
      <p:sp>
        <p:nvSpPr>
          <p:cNvPr id="15" name="Text 13"/>
          <p:cNvSpPr txBox="1"/>
          <p:nvPr/>
        </p:nvSpPr>
        <p:spPr>
          <a:xfrm>
            <a:off x="2834640" y="278892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5</a:t>
            </a:r>
            <a:endParaRPr lang="en-US" sz="1500" dirty="0"/>
          </a:p>
        </p:txBody>
      </p:sp>
      <p:sp>
        <p:nvSpPr>
          <p:cNvPr id="16" name="Shape 14"/>
          <p:cNvSpPr/>
          <p:nvPr/>
        </p:nvSpPr>
        <p:spPr>
          <a:xfrm>
            <a:off x="1920240" y="960120"/>
            <a:ext cx="914400" cy="365760"/>
          </a:xfrm>
          <a:prstGeom prst="rect">
            <a:avLst/>
          </a:prstGeom>
          <a:solidFill>
            <a:srgbClr val="0F4C5C"/>
          </a:solidFill>
          <a:ln w="12700">
            <a:solidFill>
              <a:srgbClr val="FFFFFF"/>
            </a:solidFill>
            <a:prstDash val="solid"/>
          </a:ln>
        </p:spPr>
      </p:sp>
      <p:sp>
        <p:nvSpPr>
          <p:cNvPr id="17" name="Text 15"/>
          <p:cNvSpPr txBox="1"/>
          <p:nvPr/>
        </p:nvSpPr>
        <p:spPr>
          <a:xfrm>
            <a:off x="1920240" y="960120"/>
            <a:ext cx="914400" cy="365760"/>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عدد الأجزاء</a:t>
            </a:r>
            <a:endParaRPr lang="ar-LB" sz="1300" dirty="0"/>
          </a:p>
        </p:txBody>
      </p:sp>
      <p:sp>
        <p:nvSpPr>
          <p:cNvPr id="18" name="Shape 16"/>
          <p:cNvSpPr/>
          <p:nvPr/>
        </p:nvSpPr>
        <p:spPr>
          <a:xfrm>
            <a:off x="1920240" y="1325880"/>
            <a:ext cx="914400" cy="365760"/>
          </a:xfrm>
          <a:prstGeom prst="rect">
            <a:avLst/>
          </a:prstGeom>
          <a:solidFill>
            <a:srgbClr val="FFFFFF"/>
          </a:solidFill>
          <a:ln w="12700">
            <a:solidFill>
              <a:srgbClr val="7A8A93"/>
            </a:solidFill>
            <a:prstDash val="solid"/>
          </a:ln>
        </p:spPr>
      </p:sp>
      <p:sp>
        <p:nvSpPr>
          <p:cNvPr id="19" name="Text 17"/>
          <p:cNvSpPr txBox="1"/>
          <p:nvPr/>
        </p:nvSpPr>
        <p:spPr>
          <a:xfrm>
            <a:off x="1920240" y="132588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20" name="Shape 18"/>
          <p:cNvSpPr/>
          <p:nvPr/>
        </p:nvSpPr>
        <p:spPr>
          <a:xfrm>
            <a:off x="1920240" y="1691640"/>
            <a:ext cx="914400" cy="365760"/>
          </a:xfrm>
          <a:prstGeom prst="rect">
            <a:avLst/>
          </a:prstGeom>
          <a:solidFill>
            <a:srgbClr val="FFFFFF"/>
          </a:solidFill>
          <a:ln w="12700">
            <a:solidFill>
              <a:srgbClr val="7A8A93"/>
            </a:solidFill>
            <a:prstDash val="solid"/>
          </a:ln>
        </p:spPr>
      </p:sp>
      <p:sp>
        <p:nvSpPr>
          <p:cNvPr id="21" name="Text 19"/>
          <p:cNvSpPr txBox="1"/>
          <p:nvPr/>
        </p:nvSpPr>
        <p:spPr>
          <a:xfrm>
            <a:off x="1920240" y="169164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4</a:t>
            </a:r>
            <a:endParaRPr lang="en-US" sz="1500" dirty="0"/>
          </a:p>
        </p:txBody>
      </p:sp>
      <p:sp>
        <p:nvSpPr>
          <p:cNvPr id="22" name="Shape 20"/>
          <p:cNvSpPr/>
          <p:nvPr/>
        </p:nvSpPr>
        <p:spPr>
          <a:xfrm>
            <a:off x="1920240" y="2057400"/>
            <a:ext cx="914400" cy="365760"/>
          </a:xfrm>
          <a:prstGeom prst="rect">
            <a:avLst/>
          </a:prstGeom>
          <a:solidFill>
            <a:srgbClr val="FFFFFF"/>
          </a:solidFill>
          <a:ln w="12700">
            <a:solidFill>
              <a:srgbClr val="7A8A93"/>
            </a:solidFill>
            <a:prstDash val="solid"/>
          </a:ln>
        </p:spPr>
      </p:sp>
      <p:sp>
        <p:nvSpPr>
          <p:cNvPr id="23" name="Text 21"/>
          <p:cNvSpPr txBox="1"/>
          <p:nvPr/>
        </p:nvSpPr>
        <p:spPr>
          <a:xfrm>
            <a:off x="1920240" y="205740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8</a:t>
            </a:r>
            <a:endParaRPr lang="en-US" sz="1500" dirty="0"/>
          </a:p>
        </p:txBody>
      </p:sp>
      <p:sp>
        <p:nvSpPr>
          <p:cNvPr id="24" name="Shape 22"/>
          <p:cNvSpPr/>
          <p:nvPr/>
        </p:nvSpPr>
        <p:spPr>
          <a:xfrm>
            <a:off x="1920240" y="2423160"/>
            <a:ext cx="914400" cy="365760"/>
          </a:xfrm>
          <a:prstGeom prst="rect">
            <a:avLst/>
          </a:prstGeom>
          <a:solidFill>
            <a:srgbClr val="FFFFFF"/>
          </a:solidFill>
          <a:ln w="12700">
            <a:solidFill>
              <a:srgbClr val="7A8A93"/>
            </a:solidFill>
            <a:prstDash val="solid"/>
          </a:ln>
        </p:spPr>
      </p:sp>
      <p:sp>
        <p:nvSpPr>
          <p:cNvPr id="25" name="Text 23"/>
          <p:cNvSpPr txBox="1"/>
          <p:nvPr/>
        </p:nvSpPr>
        <p:spPr>
          <a:xfrm>
            <a:off x="1920240" y="2423160"/>
            <a:ext cx="91440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16</a:t>
            </a:r>
            <a:endParaRPr lang="en-US" sz="1500" dirty="0"/>
          </a:p>
        </p:txBody>
      </p:sp>
      <p:sp>
        <p:nvSpPr>
          <p:cNvPr id="26" name="Shape 24"/>
          <p:cNvSpPr/>
          <p:nvPr/>
        </p:nvSpPr>
        <p:spPr>
          <a:xfrm>
            <a:off x="1920240" y="2788920"/>
            <a:ext cx="914400" cy="365760"/>
          </a:xfrm>
          <a:prstGeom prst="rect">
            <a:avLst/>
          </a:prstGeom>
          <a:solidFill>
            <a:srgbClr val="FFFFFF"/>
          </a:solidFill>
          <a:ln w="12700">
            <a:solidFill>
              <a:srgbClr val="7A8A93"/>
            </a:solidFill>
            <a:prstDash val="solid"/>
          </a:ln>
        </p:spPr>
      </p:sp>
      <p:sp>
        <p:nvSpPr>
          <p:cNvPr id="27" name="Text 25"/>
          <p:cNvSpPr txBox="1"/>
          <p:nvPr/>
        </p:nvSpPr>
        <p:spPr>
          <a:xfrm>
            <a:off x="1920240" y="2788920"/>
            <a:ext cx="914400" cy="365760"/>
          </a:xfrm>
          <a:prstGeom prst="rect">
            <a:avLst/>
          </a:prstGeom>
          <a:noFill/>
          <a:ln/>
        </p:spPr>
        <p:txBody>
          <a:bodyPr wrap="square" lIns="0" tIns="0" rIns="0" bIns="0" rtlCol="0" anchor="ctr"/>
          <a:lstStyle/>
          <a:p>
            <a:pPr rtl="1" algn="ctr" indent="0" marL="0">
              <a:buNone/>
            </a:pPr>
            <a:r>
              <a:rPr lang="ar-LB" altLang="en-US" sz="1600" b="1" dirty="0">
                <a:solidFill>
                  <a:srgbClr val="C2500C"/>
                </a:solidFill>
              </a:rPr>
              <a:t>؟</a:t>
            </a:r>
            <a:endParaRPr lang="ar-LB" sz="1600" dirty="0"/>
          </a:p>
        </p:txBody>
      </p:sp>
      <p:sp>
        <p:nvSpPr>
          <p:cNvPr id="28" name="Shape 26"/>
          <p:cNvSpPr/>
          <p:nvPr/>
        </p:nvSpPr>
        <p:spPr>
          <a:xfrm>
            <a:off x="457200" y="960120"/>
            <a:ext cx="1463040" cy="365760"/>
          </a:xfrm>
          <a:prstGeom prst="rect">
            <a:avLst/>
          </a:prstGeom>
          <a:solidFill>
            <a:srgbClr val="0F4C5C"/>
          </a:solidFill>
          <a:ln w="12700">
            <a:solidFill>
              <a:srgbClr val="FFFFFF"/>
            </a:solidFill>
            <a:prstDash val="solid"/>
          </a:ln>
        </p:spPr>
      </p:sp>
      <p:sp>
        <p:nvSpPr>
          <p:cNvPr id="29" name="Text 27"/>
          <p:cNvSpPr txBox="1"/>
          <p:nvPr/>
        </p:nvSpPr>
        <p:spPr>
          <a:xfrm>
            <a:off x="457200" y="960120"/>
            <a:ext cx="1463040" cy="365760"/>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ضرب متكرر</a:t>
            </a:r>
            <a:endParaRPr lang="ar-LB" sz="1300" dirty="0"/>
          </a:p>
        </p:txBody>
      </p:sp>
      <p:sp>
        <p:nvSpPr>
          <p:cNvPr id="30" name="Shape 28"/>
          <p:cNvSpPr/>
          <p:nvPr/>
        </p:nvSpPr>
        <p:spPr>
          <a:xfrm>
            <a:off x="457200" y="1325880"/>
            <a:ext cx="1463040" cy="365760"/>
          </a:xfrm>
          <a:prstGeom prst="rect">
            <a:avLst/>
          </a:prstGeom>
          <a:solidFill>
            <a:srgbClr val="FFFFFF"/>
          </a:solidFill>
          <a:ln w="12700">
            <a:solidFill>
              <a:srgbClr val="7A8A93"/>
            </a:solidFill>
            <a:prstDash val="solid"/>
          </a:ln>
        </p:spPr>
      </p:sp>
      <p:sp>
        <p:nvSpPr>
          <p:cNvPr id="31" name="Text 29"/>
          <p:cNvSpPr txBox="1"/>
          <p:nvPr/>
        </p:nvSpPr>
        <p:spPr>
          <a:xfrm>
            <a:off x="457200" y="1325880"/>
            <a:ext cx="146304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32" name="Shape 30"/>
          <p:cNvSpPr/>
          <p:nvPr/>
        </p:nvSpPr>
        <p:spPr>
          <a:xfrm>
            <a:off x="457200" y="1691640"/>
            <a:ext cx="1463040" cy="365760"/>
          </a:xfrm>
          <a:prstGeom prst="rect">
            <a:avLst/>
          </a:prstGeom>
          <a:solidFill>
            <a:srgbClr val="FFFFFF"/>
          </a:solidFill>
          <a:ln w="12700">
            <a:solidFill>
              <a:srgbClr val="7A8A93"/>
            </a:solidFill>
            <a:prstDash val="solid"/>
          </a:ln>
        </p:spPr>
      </p:sp>
      <p:sp>
        <p:nvSpPr>
          <p:cNvPr id="33" name="Text 31"/>
          <p:cNvSpPr txBox="1"/>
          <p:nvPr/>
        </p:nvSpPr>
        <p:spPr>
          <a:xfrm>
            <a:off x="457200" y="1691640"/>
            <a:ext cx="146304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 × 2</a:t>
            </a:r>
            <a:endParaRPr lang="en-US" sz="1500" dirty="0"/>
          </a:p>
        </p:txBody>
      </p:sp>
      <p:sp>
        <p:nvSpPr>
          <p:cNvPr id="34" name="Shape 32"/>
          <p:cNvSpPr/>
          <p:nvPr/>
        </p:nvSpPr>
        <p:spPr>
          <a:xfrm>
            <a:off x="457200" y="2057400"/>
            <a:ext cx="1463040" cy="365760"/>
          </a:xfrm>
          <a:prstGeom prst="rect">
            <a:avLst/>
          </a:prstGeom>
          <a:solidFill>
            <a:srgbClr val="FFFFFF"/>
          </a:solidFill>
          <a:ln w="12700">
            <a:solidFill>
              <a:srgbClr val="7A8A93"/>
            </a:solidFill>
            <a:prstDash val="solid"/>
          </a:ln>
        </p:spPr>
      </p:sp>
      <p:sp>
        <p:nvSpPr>
          <p:cNvPr id="35" name="Text 33"/>
          <p:cNvSpPr txBox="1"/>
          <p:nvPr/>
        </p:nvSpPr>
        <p:spPr>
          <a:xfrm>
            <a:off x="457200" y="2057400"/>
            <a:ext cx="146304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 × 2 × 2</a:t>
            </a:r>
            <a:endParaRPr lang="en-US" sz="1500" dirty="0"/>
          </a:p>
        </p:txBody>
      </p:sp>
      <p:sp>
        <p:nvSpPr>
          <p:cNvPr id="36" name="Shape 34"/>
          <p:cNvSpPr/>
          <p:nvPr/>
        </p:nvSpPr>
        <p:spPr>
          <a:xfrm>
            <a:off x="457200" y="2423160"/>
            <a:ext cx="1463040" cy="365760"/>
          </a:xfrm>
          <a:prstGeom prst="rect">
            <a:avLst/>
          </a:prstGeom>
          <a:solidFill>
            <a:srgbClr val="FFFFFF"/>
          </a:solidFill>
          <a:ln w="12700">
            <a:solidFill>
              <a:srgbClr val="7A8A93"/>
            </a:solidFill>
            <a:prstDash val="solid"/>
          </a:ln>
        </p:spPr>
      </p:sp>
      <p:sp>
        <p:nvSpPr>
          <p:cNvPr id="37" name="Text 35"/>
          <p:cNvSpPr txBox="1"/>
          <p:nvPr/>
        </p:nvSpPr>
        <p:spPr>
          <a:xfrm>
            <a:off x="457200" y="2423160"/>
            <a:ext cx="1463040" cy="365760"/>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 × 2 × 2 × 2</a:t>
            </a:r>
            <a:endParaRPr lang="en-US" sz="1500" dirty="0"/>
          </a:p>
        </p:txBody>
      </p:sp>
      <p:sp>
        <p:nvSpPr>
          <p:cNvPr id="38" name="Shape 36"/>
          <p:cNvSpPr/>
          <p:nvPr/>
        </p:nvSpPr>
        <p:spPr>
          <a:xfrm>
            <a:off x="457200" y="2788920"/>
            <a:ext cx="1463040" cy="365760"/>
          </a:xfrm>
          <a:prstGeom prst="rect">
            <a:avLst/>
          </a:prstGeom>
          <a:solidFill>
            <a:srgbClr val="FFFFFF"/>
          </a:solidFill>
          <a:ln w="12700">
            <a:solidFill>
              <a:srgbClr val="7A8A93"/>
            </a:solidFill>
            <a:prstDash val="solid"/>
          </a:ln>
        </p:spPr>
      </p:sp>
      <p:sp>
        <p:nvSpPr>
          <p:cNvPr id="39" name="Text 37"/>
          <p:cNvSpPr txBox="1"/>
          <p:nvPr/>
        </p:nvSpPr>
        <p:spPr>
          <a:xfrm>
            <a:off x="457200" y="2788920"/>
            <a:ext cx="1463040" cy="365760"/>
          </a:xfrm>
          <a:prstGeom prst="rect">
            <a:avLst/>
          </a:prstGeom>
          <a:noFill/>
          <a:ln/>
        </p:spPr>
        <p:txBody>
          <a:bodyPr wrap="square" lIns="0" tIns="0" rIns="0" bIns="0" rtlCol="0" anchor="ctr"/>
          <a:lstStyle/>
          <a:p>
            <a:pPr rtl="1" algn="ctr" indent="0" marL="0">
              <a:buNone/>
            </a:pPr>
            <a:r>
              <a:rPr lang="ar-LB" altLang="en-US" sz="1600" b="1" dirty="0">
                <a:solidFill>
                  <a:srgbClr val="C2500C"/>
                </a:solidFill>
              </a:rPr>
              <a:t>؟</a:t>
            </a:r>
            <a:endParaRPr lang="ar-LB" sz="1600" dirty="0"/>
          </a:p>
        </p:txBody>
      </p:sp>
      <p:sp>
        <p:nvSpPr>
          <p:cNvPr id="40" name="Shape 38"/>
          <p:cNvSpPr/>
          <p:nvPr/>
        </p:nvSpPr>
        <p:spPr>
          <a:xfrm>
            <a:off x="457200" y="3291840"/>
            <a:ext cx="8229600" cy="1325880"/>
          </a:xfrm>
          <a:prstGeom prst="roundRect">
            <a:avLst>
              <a:gd name="adj" fmla="val 6897"/>
            </a:avLst>
          </a:prstGeom>
          <a:solidFill>
            <a:srgbClr val="C2500C">
              <a:alpha val="10000"/>
            </a:srgbClr>
          </a:solidFill>
          <a:ln w="19050">
            <a:solidFill>
              <a:srgbClr val="C2500C"/>
            </a:solidFill>
            <a:prstDash val="solid"/>
          </a:ln>
        </p:spPr>
      </p:sp>
      <p:sp>
        <p:nvSpPr>
          <p:cNvPr id="41" name="Shape 39"/>
          <p:cNvSpPr/>
          <p:nvPr/>
        </p:nvSpPr>
        <p:spPr>
          <a:xfrm>
            <a:off x="8119872" y="3401568"/>
            <a:ext cx="457200" cy="457200"/>
          </a:xfrm>
          <a:prstGeom prst="ellipse">
            <a:avLst/>
          </a:prstGeom>
          <a:solidFill>
            <a:srgbClr val="C2500C"/>
          </a:solidFill>
          <a:ln w="12700">
            <a:solidFill>
              <a:srgbClr val="C2500C"/>
            </a:solidFill>
            <a:prstDash val="solid"/>
          </a:ln>
        </p:spPr>
      </p:sp>
      <p:pic>
        <p:nvPicPr>
          <p:cNvPr id="42" name="Image 0" descr="أيقونة أذن: نشاط سمعي">    </p:cNvPr>
          <p:cNvPicPr>
            <a:picLocks noChangeAspect="1"/>
          </p:cNvPicPr>
          <p:nvPr/>
        </p:nvPicPr>
        <p:blipFill>
          <a:blip r:embed="rId1"/>
          <a:stretch>
            <a:fillRect/>
          </a:stretch>
        </p:blipFill>
        <p:spPr>
          <a:xfrm>
            <a:off x="8229600" y="3511296"/>
            <a:ext cx="237744" cy="237744"/>
          </a:xfrm>
          <a:prstGeom prst="rect">
            <a:avLst/>
          </a:prstGeom>
        </p:spPr>
      </p:pic>
      <p:sp>
        <p:nvSpPr>
          <p:cNvPr id="43" name="Text 40"/>
          <p:cNvSpPr txBox="1"/>
          <p:nvPr/>
        </p:nvSpPr>
        <p:spPr>
          <a:xfrm>
            <a:off x="594360" y="3401568"/>
            <a:ext cx="7452360" cy="457200"/>
          </a:xfrm>
          <a:prstGeom prst="rect">
            <a:avLst/>
          </a:prstGeom>
          <a:noFill/>
          <a:ln/>
        </p:spPr>
        <p:txBody>
          <a:bodyPr wrap="square" lIns="0" tIns="0" rIns="0" bIns="0" rtlCol="0" anchor="ctr"/>
          <a:lstStyle/>
          <a:p>
            <a:pPr rtl="1" algn="r" indent="0" marL="0">
              <a:buNone/>
            </a:pPr>
            <a:r>
              <a:rPr lang="ar-LB" altLang="en-US" sz="1800" b="1" dirty="0">
                <a:solidFill>
                  <a:srgbClr val="C2500C"/>
                </a:solidFill>
              </a:rPr>
              <a:t>أسئلة شفهية للمجموعة</a:t>
            </a:r>
            <a:endParaRPr lang="ar-LB" sz="1800" dirty="0"/>
          </a:p>
        </p:txBody>
      </p:sp>
      <p:sp>
        <p:nvSpPr>
          <p:cNvPr id="44" name="Text 41"/>
          <p:cNvSpPr txBox="1"/>
          <p:nvPr/>
        </p:nvSpPr>
        <p:spPr>
          <a:xfrm>
            <a:off x="594360" y="3886200"/>
            <a:ext cx="7955280" cy="64008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بعد 5 طيّات: كم جزءًا تتوقّعون؟ هل هو 2 × 5 أي 10؟ لماذا؟</a:t>
            </a:r>
            <a:endParaRPr lang="ar-LB" sz="1700" dirty="0"/>
          </a:p>
          <a:p>
            <a:pPr rtl="1" algn="r" indent="0" marL="0">
              <a:spcAft>
                <a:spcPts val="400"/>
              </a:spcAft>
              <a:buNone/>
            </a:pPr>
            <a:r>
              <a:rPr lang="ar-LB" altLang="en-US" sz="1700" dirty="0">
                <a:solidFill>
                  <a:srgbClr val="1B262C"/>
                </a:solidFill>
              </a:rPr>
              <a:t>كيف نختصر قول «2 ضرب 2 ضرب 2 ضرب 2 ضرب 2»؟</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ماذا اكتشفنا؟</a:t>
            </a:r>
            <a:endParaRPr lang="en-US" sz="3200" dirty="0"/>
          </a:p>
        </p:txBody>
      </p:sp>
      <p:sp>
        <p:nvSpPr>
          <p:cNvPr id="3" name="Shape 1"/>
          <p:cNvSpPr/>
          <p:nvPr/>
        </p:nvSpPr>
        <p:spPr>
          <a:xfrm>
            <a:off x="4709160" y="960120"/>
            <a:ext cx="3977640" cy="1097280"/>
          </a:xfrm>
          <a:prstGeom prst="roundRect">
            <a:avLst>
              <a:gd name="adj" fmla="val 8333"/>
            </a:avLst>
          </a:prstGeom>
          <a:solidFill>
            <a:srgbClr val="C2500C">
              <a:alpha val="8000"/>
            </a:srgbClr>
          </a:solidFill>
          <a:ln w="19050">
            <a:solidFill>
              <a:srgbClr val="C2500C"/>
            </a:solidFill>
            <a:prstDash val="solid"/>
          </a:ln>
        </p:spPr>
      </p:sp>
      <p:sp>
        <p:nvSpPr>
          <p:cNvPr id="4" name="Text 2"/>
          <p:cNvSpPr txBox="1"/>
          <p:nvPr/>
        </p:nvSpPr>
        <p:spPr>
          <a:xfrm>
            <a:off x="4800600" y="1005840"/>
            <a:ext cx="3794760" cy="570586"/>
          </a:xfrm>
          <a:prstGeom prst="rect">
            <a:avLst/>
          </a:prstGeom>
          <a:noFill/>
          <a:ln/>
        </p:spPr>
        <p:txBody>
          <a:bodyPr wrap="square" lIns="0" tIns="0" rIns="0" bIns="0" rtlCol="0" anchor="ctr"/>
          <a:lstStyle/>
          <a:p>
            <a:pPr rtl="0" algn="ctr" indent="0" marL="0">
              <a:buNone/>
            </a:pPr>
            <a:r>
              <a:rPr lang="en-US" sz="2400" b="1" dirty="0">
                <a:solidFill>
                  <a:srgbClr val="C2500C"/>
                </a:solidFill>
                <a:latin typeface="Arial" pitchFamily="34" charset="0"/>
                <a:ea typeface="Arial" pitchFamily="34" charset="-122"/>
                <a:cs typeface="Arial" pitchFamily="34" charset="-120"/>
              </a:rPr>
              <a:t>2 × 5 = 10</a:t>
            </a:r>
            <a:endParaRPr lang="en-US" sz="2400" dirty="0"/>
          </a:p>
        </p:txBody>
      </p:sp>
      <p:sp>
        <p:nvSpPr>
          <p:cNvPr id="5" name="Text 3"/>
          <p:cNvSpPr txBox="1"/>
          <p:nvPr/>
        </p:nvSpPr>
        <p:spPr>
          <a:xfrm>
            <a:off x="4818888" y="1563624"/>
            <a:ext cx="3758184" cy="46085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خطأ: 2 ضرب 5 جمع متكرر</a:t>
            </a:r>
            <a:endParaRPr lang="ar-LB" sz="1500" dirty="0"/>
          </a:p>
        </p:txBody>
      </p:sp>
      <p:sp>
        <p:nvSpPr>
          <p:cNvPr id="6" name="Shape 4"/>
          <p:cNvSpPr/>
          <p:nvPr/>
        </p:nvSpPr>
        <p:spPr>
          <a:xfrm>
            <a:off x="457200" y="960120"/>
            <a:ext cx="3977640" cy="1097280"/>
          </a:xfrm>
          <a:prstGeom prst="roundRect">
            <a:avLst>
              <a:gd name="adj" fmla="val 8333"/>
            </a:avLst>
          </a:prstGeom>
          <a:solidFill>
            <a:srgbClr val="1F7A45">
              <a:alpha val="8000"/>
            </a:srgbClr>
          </a:solidFill>
          <a:ln w="19050">
            <a:solidFill>
              <a:srgbClr val="1F7A45"/>
            </a:solidFill>
            <a:prstDash val="solid"/>
          </a:ln>
        </p:spPr>
      </p:sp>
      <p:sp>
        <p:nvSpPr>
          <p:cNvPr id="7" name="Text 5"/>
          <p:cNvSpPr txBox="1"/>
          <p:nvPr/>
        </p:nvSpPr>
        <p:spPr>
          <a:xfrm>
            <a:off x="548640" y="1005840"/>
            <a:ext cx="3794760" cy="570586"/>
          </a:xfrm>
          <a:prstGeom prst="rect">
            <a:avLst/>
          </a:prstGeom>
          <a:noFill/>
          <a:ln/>
        </p:spPr>
        <p:txBody>
          <a:bodyPr wrap="square" lIns="0" tIns="0" rIns="0" bIns="0" rtlCol="0" anchor="ctr"/>
          <a:lstStyle/>
          <a:p>
            <a:pPr rtl="0" algn="ctr" indent="0" marL="0">
              <a:buNone/>
            </a:pPr>
            <a:r>
              <a:rPr lang="en-US" sz="2200" b="1" dirty="0">
                <a:solidFill>
                  <a:srgbClr val="1F7A45"/>
                </a:solidFill>
                <a:latin typeface="Arial" pitchFamily="34" charset="0"/>
                <a:ea typeface="Arial" pitchFamily="34" charset="-122"/>
                <a:cs typeface="Arial" pitchFamily="34" charset="-120"/>
              </a:rPr>
              <a:t>2 × 2 × 2 × 2 × 2 = 32</a:t>
            </a:r>
            <a:endParaRPr lang="en-US" sz="2200" dirty="0"/>
          </a:p>
        </p:txBody>
      </p:sp>
      <p:sp>
        <p:nvSpPr>
          <p:cNvPr id="8" name="Text 6"/>
          <p:cNvSpPr txBox="1"/>
          <p:nvPr/>
        </p:nvSpPr>
        <p:spPr>
          <a:xfrm>
            <a:off x="566928" y="1563624"/>
            <a:ext cx="3758184" cy="46085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صحيح: نضرب 2 في نفسه 5 مرات</a:t>
            </a:r>
            <a:endParaRPr lang="ar-LB" sz="1500" dirty="0"/>
          </a:p>
        </p:txBody>
      </p:sp>
      <p:sp>
        <p:nvSpPr>
          <p:cNvPr id="9" name="Shape 7"/>
          <p:cNvSpPr/>
          <p:nvPr/>
        </p:nvSpPr>
        <p:spPr>
          <a:xfrm>
            <a:off x="2286000" y="2286000"/>
            <a:ext cx="4572000" cy="1097280"/>
          </a:xfrm>
          <a:prstGeom prst="roundRect">
            <a:avLst>
              <a:gd name="adj" fmla="val 8333"/>
            </a:avLst>
          </a:prstGeom>
          <a:solidFill>
            <a:srgbClr val="0F4C5C">
              <a:alpha val="8000"/>
            </a:srgbClr>
          </a:solidFill>
          <a:ln w="19050">
            <a:solidFill>
              <a:srgbClr val="0F4C5C"/>
            </a:solidFill>
            <a:prstDash val="solid"/>
          </a:ln>
        </p:spPr>
      </p:sp>
      <p:sp>
        <p:nvSpPr>
          <p:cNvPr id="10" name="Text 8"/>
          <p:cNvSpPr txBox="1"/>
          <p:nvPr/>
        </p:nvSpPr>
        <p:spPr>
          <a:xfrm>
            <a:off x="2377440" y="2331720"/>
            <a:ext cx="4389120" cy="570586"/>
          </a:xfrm>
          <a:prstGeom prst="rect">
            <a:avLst/>
          </a:prstGeom>
          <a:noFill/>
          <a:ln/>
        </p:spPr>
        <p:txBody>
          <a:bodyPr wrap="square" lIns="0" tIns="0" rIns="0" bIns="0" rtlCol="0" anchor="ctr"/>
          <a:lstStyle/>
          <a:p>
            <a:pPr rtl="0" algn="ctr" indent="0" marL="0">
              <a:buNone/>
            </a:pPr>
            <a:r>
              <a:rPr lang="en-US" sz="3000" b="1" dirty="0">
                <a:solidFill>
                  <a:srgbClr val="0F4C5C"/>
                </a:solidFill>
                <a:latin typeface="Arial" pitchFamily="34" charset="0"/>
                <a:ea typeface="Arial" pitchFamily="34" charset="-122"/>
                <a:cs typeface="Arial" pitchFamily="34" charset="-120"/>
              </a:rPr>
              <a:t>2</a:t>
            </a:r>
            <a:r>
              <a:rPr lang="en-US" sz="3000" b="1" baseline="30000" dirty="0">
                <a:solidFill>
                  <a:srgbClr val="0F4C5C"/>
                </a:solidFill>
                <a:latin typeface="Arial" pitchFamily="34" charset="0"/>
                <a:ea typeface="Arial" pitchFamily="34" charset="-122"/>
                <a:cs typeface="Arial" pitchFamily="34" charset="-120"/>
              </a:rPr>
              <a:t>5</a:t>
            </a:r>
            <a:r>
              <a:rPr lang="en-US" sz="3000" b="1" dirty="0">
                <a:solidFill>
                  <a:srgbClr val="0F4C5C"/>
                </a:solidFill>
                <a:latin typeface="Arial" pitchFamily="34" charset="0"/>
                <a:ea typeface="Arial" pitchFamily="34" charset="-122"/>
                <a:cs typeface="Arial" pitchFamily="34" charset="-120"/>
              </a:rPr>
              <a:t> = 32</a:t>
            </a:r>
            <a:endParaRPr lang="en-US" sz="3000" dirty="0"/>
          </a:p>
        </p:txBody>
      </p:sp>
      <p:sp>
        <p:nvSpPr>
          <p:cNvPr id="11" name="Text 9"/>
          <p:cNvSpPr txBox="1"/>
          <p:nvPr/>
        </p:nvSpPr>
        <p:spPr>
          <a:xfrm>
            <a:off x="2395728" y="2889504"/>
            <a:ext cx="4352544" cy="46085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2 أُس 5 يساوي 32</a:t>
            </a:r>
            <a:endParaRPr lang="ar-LB" sz="1500" dirty="0"/>
          </a:p>
        </p:txBody>
      </p:sp>
      <p:sp>
        <p:nvSpPr>
          <p:cNvPr id="12" name="Text 10"/>
          <p:cNvSpPr txBox="1"/>
          <p:nvPr/>
        </p:nvSpPr>
        <p:spPr>
          <a:xfrm>
            <a:off x="457200" y="3657600"/>
            <a:ext cx="8229600" cy="457200"/>
          </a:xfrm>
          <a:prstGeom prst="rect">
            <a:avLst/>
          </a:prstGeom>
          <a:noFill/>
          <a:ln/>
        </p:spPr>
        <p:txBody>
          <a:bodyPr wrap="square" lIns="0" tIns="0" rIns="0" bIns="0" rtlCol="0" anchor="t"/>
          <a:lstStyle/>
          <a:p>
            <a:pPr rtl="1" algn="ctr" indent="0" marL="0">
              <a:buNone/>
            </a:pPr>
            <a:r>
              <a:rPr lang="ar-LB" altLang="en-US" sz="1900" b="1" dirty="0">
                <a:solidFill>
                  <a:srgbClr val="0F4C5C"/>
                </a:solidFill>
              </a:rPr>
              <a:t>عودة إلى المكافأة: العرض (أ) = 20 نقطة، والعرض (ب) = 1024 نقطة.</a:t>
            </a:r>
            <a:endParaRPr lang="ar-LB" sz="19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كتاب">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3</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الشرح والأمثلة</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التعليم المباشر بالنمذجة اللمسية والأسئلة الموجّهة  •  12 دقيقة</a:t>
            </a:r>
            <a:endParaRPr lang="en-US" sz="2000" dirty="0"/>
          </a:p>
          <a:p>
            <a:pPr rtl="1" algn="r" indent="0" marL="0">
              <a:buNone/>
            </a:pPr>
            <a:r>
              <a:rPr lang="en-US" sz="2000" dirty="0">
                <a:solidFill>
                  <a:srgbClr val="FFFFFF"/>
                </a:solidFill>
              </a:rPr>
              <a:t>أداة: خيوط وخرز، أكواب، مكعّبات</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تعريف القوّة: خيط القوّة</a:t>
            </a:r>
            <a:endParaRPr lang="en-US" sz="3200" dirty="0"/>
          </a:p>
        </p:txBody>
      </p:sp>
      <p:sp>
        <p:nvSpPr>
          <p:cNvPr id="3" name="Text 1"/>
          <p:cNvSpPr txBox="1"/>
          <p:nvPr/>
        </p:nvSpPr>
        <p:spPr>
          <a:xfrm>
            <a:off x="4480560" y="914400"/>
            <a:ext cx="4206240" cy="1463040"/>
          </a:xfrm>
          <a:prstGeom prst="rect">
            <a:avLst/>
          </a:prstGeom>
          <a:noFill/>
          <a:ln/>
        </p:spPr>
        <p:txBody>
          <a:bodyPr wrap="square" lIns="0" tIns="0" rIns="0" bIns="0" rtlCol="0" anchor="t"/>
          <a:lstStyle/>
          <a:p>
            <a:pPr rtl="1" algn="r" indent="0" marL="0">
              <a:spcAft>
                <a:spcPts val="600"/>
              </a:spcAft>
              <a:buNone/>
            </a:pPr>
            <a:r>
              <a:rPr lang="ar-LB" altLang="en-US" sz="2000" b="1" dirty="0">
                <a:solidFill>
                  <a:srgbClr val="C2500C"/>
                </a:solidFill>
              </a:rPr>
              <a:t>القوّة</a:t>
            </a:r>
            <a:r>
              <a:rPr lang="ar-LB" altLang="en-US" sz="2000" dirty="0">
                <a:solidFill>
                  <a:srgbClr val="1B262C"/>
                </a:solidFill>
              </a:rPr>
              <a:t> ضرب متكرر لعامل واحد في نفسه.</a:t>
            </a:r>
            <a:endParaRPr lang="ar-LB" sz="2000" dirty="0"/>
          </a:p>
          <a:p>
            <a:pPr rtl="1" algn="r" indent="0" marL="0">
              <a:spcAft>
                <a:spcPts val="600"/>
              </a:spcAft>
              <a:buNone/>
            </a:pPr>
            <a:r>
              <a:rPr lang="ar-LB" altLang="en-US" sz="2000" b="1" dirty="0">
                <a:solidFill>
                  <a:srgbClr val="0F4C5C"/>
                </a:solidFill>
              </a:rPr>
              <a:t>الأساس</a:t>
            </a:r>
            <a:r>
              <a:rPr lang="ar-LB" altLang="en-US" sz="2000" dirty="0">
                <a:solidFill>
                  <a:srgbClr val="1B262C"/>
                </a:solidFill>
              </a:rPr>
              <a:t>: العامل الذي يتكرّر.</a:t>
            </a:r>
            <a:endParaRPr lang="ar-LB" sz="2000" dirty="0"/>
          </a:p>
          <a:p>
            <a:pPr rtl="1" algn="r" indent="0" marL="0">
              <a:spcAft>
                <a:spcPts val="600"/>
              </a:spcAft>
              <a:buNone/>
            </a:pPr>
            <a:r>
              <a:rPr lang="ar-LB" altLang="en-US" sz="2000" b="1" dirty="0">
                <a:solidFill>
                  <a:srgbClr val="C2500C"/>
                </a:solidFill>
              </a:rPr>
              <a:t>الأُس</a:t>
            </a:r>
            <a:r>
              <a:rPr lang="ar-LB" altLang="en-US" sz="2000" dirty="0">
                <a:solidFill>
                  <a:srgbClr val="1B262C"/>
                </a:solidFill>
              </a:rPr>
              <a:t>: عدد مرات تكرار العامل.</a:t>
            </a:r>
            <a:endParaRPr lang="ar-LB" sz="2000" dirty="0"/>
          </a:p>
        </p:txBody>
      </p:sp>
      <p:sp>
        <p:nvSpPr>
          <p:cNvPr id="4" name="Shape 2"/>
          <p:cNvSpPr/>
          <p:nvPr/>
        </p:nvSpPr>
        <p:spPr>
          <a:xfrm>
            <a:off x="457200" y="914400"/>
            <a:ext cx="3840480" cy="1280160"/>
          </a:xfrm>
          <a:prstGeom prst="roundRect">
            <a:avLst>
              <a:gd name="adj" fmla="val 7143"/>
            </a:avLst>
          </a:prstGeom>
          <a:solidFill>
            <a:srgbClr val="1B262C">
              <a:alpha val="8000"/>
            </a:srgbClr>
          </a:solidFill>
          <a:ln w="19050">
            <a:solidFill>
              <a:srgbClr val="1B262C"/>
            </a:solidFill>
            <a:prstDash val="solid"/>
          </a:ln>
        </p:spPr>
      </p:sp>
      <p:sp>
        <p:nvSpPr>
          <p:cNvPr id="5" name="Text 3"/>
          <p:cNvSpPr txBox="1"/>
          <p:nvPr/>
        </p:nvSpPr>
        <p:spPr>
          <a:xfrm>
            <a:off x="548640" y="960120"/>
            <a:ext cx="3657600" cy="665683"/>
          </a:xfrm>
          <a:prstGeom prst="rect">
            <a:avLst/>
          </a:prstGeom>
          <a:noFill/>
          <a:ln/>
        </p:spPr>
        <p:txBody>
          <a:bodyPr wrap="square" lIns="0" tIns="0" rIns="0" bIns="0" rtlCol="0" anchor="ctr"/>
          <a:lstStyle/>
          <a:p>
            <a:pPr rtl="0" algn="ctr" indent="0" marL="0">
              <a:buNone/>
            </a:pPr>
            <a:r>
              <a:rPr lang="en-US" sz="2200" b="1" dirty="0">
                <a:solidFill>
                  <a:srgbClr val="1B262C"/>
                </a:solidFill>
                <a:latin typeface="Arial" pitchFamily="34" charset="0"/>
                <a:ea typeface="Arial" pitchFamily="34" charset="-122"/>
                <a:cs typeface="Arial" pitchFamily="34" charset="-120"/>
              </a:rPr>
              <a:t>2</a:t>
            </a:r>
            <a:r>
              <a:rPr lang="en-US" sz="2200" b="1" baseline="30000" dirty="0">
                <a:solidFill>
                  <a:srgbClr val="1B262C"/>
                </a:solidFill>
                <a:latin typeface="Arial" pitchFamily="34" charset="0"/>
                <a:ea typeface="Arial" pitchFamily="34" charset="-122"/>
                <a:cs typeface="Arial" pitchFamily="34" charset="-120"/>
              </a:rPr>
              <a:t>5</a:t>
            </a:r>
            <a:r>
              <a:rPr lang="en-US" sz="2200" b="1" dirty="0">
                <a:solidFill>
                  <a:srgbClr val="1B262C"/>
                </a:solidFill>
                <a:latin typeface="Arial" pitchFamily="34" charset="0"/>
                <a:ea typeface="Arial" pitchFamily="34" charset="-122"/>
                <a:cs typeface="Arial" pitchFamily="34" charset="-120"/>
              </a:rPr>
              <a:t> = 2 × 2 × 2 × 2 × 2</a:t>
            </a:r>
            <a:endParaRPr lang="en-US" sz="2200" dirty="0"/>
          </a:p>
        </p:txBody>
      </p:sp>
      <p:sp>
        <p:nvSpPr>
          <p:cNvPr id="6" name="Text 4"/>
          <p:cNvSpPr txBox="1"/>
          <p:nvPr/>
        </p:nvSpPr>
        <p:spPr>
          <a:xfrm>
            <a:off x="566928" y="1618488"/>
            <a:ext cx="3621024" cy="53766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2 أُس 5 = 2 ضرب 2 ضرب 2 ضرب 2 ضرب 2</a:t>
            </a:r>
            <a:endParaRPr lang="ar-LB" sz="1500" dirty="0"/>
          </a:p>
        </p:txBody>
      </p:sp>
      <p:sp>
        <p:nvSpPr>
          <p:cNvPr id="7" name="Shape 5"/>
          <p:cNvSpPr/>
          <p:nvPr/>
        </p:nvSpPr>
        <p:spPr>
          <a:xfrm>
            <a:off x="457200" y="2286000"/>
            <a:ext cx="3840480" cy="1280160"/>
          </a:xfrm>
          <a:prstGeom prst="roundRect">
            <a:avLst>
              <a:gd name="adj" fmla="val 7143"/>
            </a:avLst>
          </a:prstGeom>
          <a:solidFill>
            <a:srgbClr val="1B262C">
              <a:alpha val="8000"/>
            </a:srgbClr>
          </a:solidFill>
          <a:ln w="19050">
            <a:solidFill>
              <a:srgbClr val="1B262C"/>
            </a:solidFill>
            <a:prstDash val="solid"/>
          </a:ln>
        </p:spPr>
      </p:sp>
      <p:sp>
        <p:nvSpPr>
          <p:cNvPr id="8" name="Text 6"/>
          <p:cNvSpPr txBox="1"/>
          <p:nvPr/>
        </p:nvSpPr>
        <p:spPr>
          <a:xfrm>
            <a:off x="548640" y="2331720"/>
            <a:ext cx="3657600" cy="665683"/>
          </a:xfrm>
          <a:prstGeom prst="rect">
            <a:avLst/>
          </a:prstGeom>
          <a:noFill/>
          <a:ln/>
        </p:spPr>
        <p:txBody>
          <a:bodyPr wrap="square" lIns="0" tIns="0" rIns="0" bIns="0" rtlCol="0" anchor="ctr"/>
          <a:lstStyle/>
          <a:p>
            <a:pPr rtl="0" algn="ctr" indent="0" marL="0">
              <a:buNone/>
            </a:pPr>
            <a:r>
              <a:rPr lang="en-US" sz="2200" b="1" dirty="0">
                <a:solidFill>
                  <a:srgbClr val="1B262C"/>
                </a:solidFill>
                <a:latin typeface="Arial" pitchFamily="34" charset="0"/>
                <a:ea typeface="Arial" pitchFamily="34" charset="-122"/>
                <a:cs typeface="Arial" pitchFamily="34" charset="-120"/>
              </a:rPr>
              <a:t>a</a:t>
            </a:r>
            <a:r>
              <a:rPr lang="en-US" sz="2200" b="1" baseline="30000" dirty="0">
                <a:solidFill>
                  <a:srgbClr val="1B262C"/>
                </a:solidFill>
                <a:latin typeface="Arial" pitchFamily="34" charset="0"/>
                <a:ea typeface="Arial" pitchFamily="34" charset="-122"/>
                <a:cs typeface="Arial" pitchFamily="34" charset="-120"/>
              </a:rPr>
              <a:t>n</a:t>
            </a:r>
            <a:r>
              <a:rPr lang="en-US" sz="2200" b="1" dirty="0">
                <a:solidFill>
                  <a:srgbClr val="1B262C"/>
                </a:solidFill>
                <a:latin typeface="Arial" pitchFamily="34" charset="0"/>
                <a:ea typeface="Arial" pitchFamily="34" charset="-122"/>
                <a:cs typeface="Arial" pitchFamily="34" charset="-120"/>
              </a:rPr>
              <a:t> = a × a × ... × a</a:t>
            </a:r>
            <a:endParaRPr lang="en-US" sz="2200" dirty="0"/>
          </a:p>
        </p:txBody>
      </p:sp>
      <p:sp>
        <p:nvSpPr>
          <p:cNvPr id="9" name="Text 7"/>
          <p:cNvSpPr txBox="1"/>
          <p:nvPr/>
        </p:nvSpPr>
        <p:spPr>
          <a:xfrm>
            <a:off x="566928" y="2990088"/>
            <a:ext cx="3621024" cy="53766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a أُس n: نضرب a في نفسه n مرة</a:t>
            </a:r>
            <a:endParaRPr lang="ar-LB" sz="1500" dirty="0"/>
          </a:p>
        </p:txBody>
      </p:sp>
      <p:sp>
        <p:nvSpPr>
          <p:cNvPr id="10" name="Shape 8"/>
          <p:cNvSpPr/>
          <p:nvPr/>
        </p:nvSpPr>
        <p:spPr>
          <a:xfrm>
            <a:off x="4480560" y="2514600"/>
            <a:ext cx="4206240" cy="2103120"/>
          </a:xfrm>
          <a:prstGeom prst="roundRect">
            <a:avLst>
              <a:gd name="adj" fmla="val 4348"/>
            </a:avLst>
          </a:prstGeom>
          <a:solidFill>
            <a:srgbClr val="1F7A45">
              <a:alpha val="10000"/>
            </a:srgbClr>
          </a:solidFill>
          <a:ln w="19050">
            <a:solidFill>
              <a:srgbClr val="1F7A45"/>
            </a:solidFill>
            <a:prstDash val="solid"/>
          </a:ln>
        </p:spPr>
      </p:sp>
      <p:sp>
        <p:nvSpPr>
          <p:cNvPr id="11" name="Shape 9"/>
          <p:cNvSpPr/>
          <p:nvPr/>
        </p:nvSpPr>
        <p:spPr>
          <a:xfrm>
            <a:off x="8119872" y="2624328"/>
            <a:ext cx="457200" cy="457200"/>
          </a:xfrm>
          <a:prstGeom prst="ellipse">
            <a:avLst/>
          </a:prstGeom>
          <a:solidFill>
            <a:srgbClr val="1F7A45"/>
          </a:solidFill>
          <a:ln w="12700">
            <a:solidFill>
              <a:srgbClr val="1F7A45"/>
            </a:solidFill>
            <a:prstDash val="solid"/>
          </a:ln>
        </p:spPr>
      </p:sp>
      <p:pic>
        <p:nvPicPr>
          <p:cNvPr id="12" name="Image 0" descr="أيقونة يد: نشاط لمسي">    </p:cNvPr>
          <p:cNvPicPr>
            <a:picLocks noChangeAspect="1"/>
          </p:cNvPicPr>
          <p:nvPr/>
        </p:nvPicPr>
        <p:blipFill>
          <a:blip r:embed="rId1"/>
          <a:stretch>
            <a:fillRect/>
          </a:stretch>
        </p:blipFill>
        <p:spPr>
          <a:xfrm>
            <a:off x="8229600" y="2734056"/>
            <a:ext cx="237744" cy="237744"/>
          </a:xfrm>
          <a:prstGeom prst="rect">
            <a:avLst/>
          </a:prstGeom>
        </p:spPr>
      </p:pic>
      <p:sp>
        <p:nvSpPr>
          <p:cNvPr id="13" name="Text 10"/>
          <p:cNvSpPr txBox="1"/>
          <p:nvPr/>
        </p:nvSpPr>
        <p:spPr>
          <a:xfrm>
            <a:off x="4617720" y="2624328"/>
            <a:ext cx="342900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نموذج لمسي: خيط القوّة</a:t>
            </a:r>
            <a:endParaRPr lang="ar-LB" sz="1800" dirty="0"/>
          </a:p>
        </p:txBody>
      </p:sp>
      <p:sp>
        <p:nvSpPr>
          <p:cNvPr id="14" name="Text 11"/>
          <p:cNvSpPr txBox="1"/>
          <p:nvPr/>
        </p:nvSpPr>
        <p:spPr>
          <a:xfrm>
            <a:off x="4617720" y="3108960"/>
            <a:ext cx="3931920" cy="141732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خيط عليه 5 خرزات.</a:t>
            </a:r>
            <a:endParaRPr lang="ar-LB" sz="1700" dirty="0"/>
          </a:p>
          <a:p>
            <a:pPr rtl="1" algn="r" indent="0" marL="0">
              <a:spcAft>
                <a:spcPts val="400"/>
              </a:spcAft>
              <a:buNone/>
            </a:pPr>
            <a:r>
              <a:rPr lang="ar-LB" altLang="en-US" sz="1700" dirty="0">
                <a:solidFill>
                  <a:srgbClr val="1B262C"/>
                </a:solidFill>
              </a:rPr>
              <a:t>كل خرزة تعني «ضرب 2».</a:t>
            </a:r>
            <a:endParaRPr lang="ar-LB" sz="1700" dirty="0"/>
          </a:p>
          <a:p>
            <a:pPr rtl="1" algn="r" indent="0" marL="0">
              <a:spcAft>
                <a:spcPts val="400"/>
              </a:spcAft>
              <a:buNone/>
            </a:pPr>
            <a:r>
              <a:rPr lang="ar-LB" altLang="en-US" sz="1700" dirty="0">
                <a:solidFill>
                  <a:srgbClr val="1B262C"/>
                </a:solidFill>
              </a:rPr>
              <a:t>عدد الخرزات = الأُس = 5.</a:t>
            </a:r>
            <a:endParaRPr lang="ar-LB" sz="1700" dirty="0"/>
          </a:p>
        </p:txBody>
      </p:sp>
      <p:sp>
        <p:nvSpPr>
          <p:cNvPr id="15" name="Text 12"/>
          <p:cNvSpPr txBox="1"/>
          <p:nvPr/>
        </p:nvSpPr>
        <p:spPr>
          <a:xfrm>
            <a:off x="457200" y="3703320"/>
            <a:ext cx="3840480" cy="731520"/>
          </a:xfrm>
          <a:prstGeom prst="rect">
            <a:avLst/>
          </a:prstGeom>
          <a:noFill/>
          <a:ln/>
        </p:spPr>
        <p:txBody>
          <a:bodyPr wrap="square" lIns="0" tIns="0" rIns="0" bIns="0" rtlCol="0" anchor="t"/>
          <a:lstStyle/>
          <a:p>
            <a:pPr rtl="1" algn="r" indent="0" marL="0">
              <a:buNone/>
            </a:pPr>
            <a:r>
              <a:rPr lang="ar-LB" altLang="en-US" sz="1600" dirty="0">
                <a:solidFill>
                  <a:srgbClr val="3E4A52"/>
                </a:solidFill>
              </a:rPr>
              <a:t>حالة خاصة: الأُس 1 يعني عاملًا واحدًا، مثل 3 أُس 1 = 3.</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الفرق بين الضرب والقوّة</a:t>
            </a:r>
            <a:endParaRPr lang="en-US" sz="3200" dirty="0"/>
          </a:p>
        </p:txBody>
      </p:sp>
      <p:sp>
        <p:nvSpPr>
          <p:cNvPr id="3" name="Shape 1"/>
          <p:cNvSpPr/>
          <p:nvPr/>
        </p:nvSpPr>
        <p:spPr>
          <a:xfrm>
            <a:off x="4709160" y="914400"/>
            <a:ext cx="3977640" cy="1280160"/>
          </a:xfrm>
          <a:prstGeom prst="roundRect">
            <a:avLst>
              <a:gd name="adj" fmla="val 7143"/>
            </a:avLst>
          </a:prstGeom>
          <a:solidFill>
            <a:srgbClr val="0B6E70">
              <a:alpha val="8000"/>
            </a:srgbClr>
          </a:solidFill>
          <a:ln w="19050">
            <a:solidFill>
              <a:srgbClr val="0B6E70"/>
            </a:solidFill>
            <a:prstDash val="solid"/>
          </a:ln>
        </p:spPr>
      </p:sp>
      <p:sp>
        <p:nvSpPr>
          <p:cNvPr id="4" name="Text 2"/>
          <p:cNvSpPr txBox="1"/>
          <p:nvPr/>
        </p:nvSpPr>
        <p:spPr>
          <a:xfrm>
            <a:off x="4800600" y="960120"/>
            <a:ext cx="3794760" cy="665683"/>
          </a:xfrm>
          <a:prstGeom prst="rect">
            <a:avLst/>
          </a:prstGeom>
          <a:noFill/>
          <a:ln/>
        </p:spPr>
        <p:txBody>
          <a:bodyPr wrap="square" lIns="0" tIns="0" rIns="0" bIns="0" rtlCol="0" anchor="ctr"/>
          <a:lstStyle/>
          <a:p>
            <a:pPr rtl="0" algn="ctr" indent="0" marL="0">
              <a:buNone/>
            </a:pPr>
            <a:r>
              <a:rPr lang="en-US" sz="2000" b="1" dirty="0">
                <a:solidFill>
                  <a:srgbClr val="0B6E70"/>
                </a:solidFill>
                <a:latin typeface="Arial" pitchFamily="34" charset="0"/>
                <a:ea typeface="Arial" pitchFamily="34" charset="-122"/>
                <a:cs typeface="Arial" pitchFamily="34" charset="-120"/>
              </a:rPr>
              <a:t>4 × 3 = 3 + 3 + 3 + 3 = 12</a:t>
            </a:r>
            <a:endParaRPr lang="en-US" sz="2000" dirty="0"/>
          </a:p>
        </p:txBody>
      </p:sp>
      <p:sp>
        <p:nvSpPr>
          <p:cNvPr id="5" name="Text 3"/>
          <p:cNvSpPr txBox="1"/>
          <p:nvPr/>
        </p:nvSpPr>
        <p:spPr>
          <a:xfrm>
            <a:off x="4818888" y="1618488"/>
            <a:ext cx="3758184" cy="53766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4 ضرب 3: نجمع 3 أربع مرات = 12</a:t>
            </a:r>
            <a:endParaRPr lang="ar-LB" sz="1500" dirty="0"/>
          </a:p>
        </p:txBody>
      </p:sp>
      <p:sp>
        <p:nvSpPr>
          <p:cNvPr id="6" name="Shape 4"/>
          <p:cNvSpPr/>
          <p:nvPr/>
        </p:nvSpPr>
        <p:spPr>
          <a:xfrm>
            <a:off x="457200" y="914400"/>
            <a:ext cx="3977640" cy="1280160"/>
          </a:xfrm>
          <a:prstGeom prst="roundRect">
            <a:avLst>
              <a:gd name="adj" fmla="val 7143"/>
            </a:avLst>
          </a:prstGeom>
          <a:solidFill>
            <a:srgbClr val="C2500C">
              <a:alpha val="8000"/>
            </a:srgbClr>
          </a:solidFill>
          <a:ln w="19050">
            <a:solidFill>
              <a:srgbClr val="C2500C"/>
            </a:solidFill>
            <a:prstDash val="solid"/>
          </a:ln>
        </p:spPr>
      </p:sp>
      <p:sp>
        <p:nvSpPr>
          <p:cNvPr id="7" name="Text 5"/>
          <p:cNvSpPr txBox="1"/>
          <p:nvPr/>
        </p:nvSpPr>
        <p:spPr>
          <a:xfrm>
            <a:off x="548640" y="960120"/>
            <a:ext cx="3794760" cy="665683"/>
          </a:xfrm>
          <a:prstGeom prst="rect">
            <a:avLst/>
          </a:prstGeom>
          <a:noFill/>
          <a:ln/>
        </p:spPr>
        <p:txBody>
          <a:bodyPr wrap="square" lIns="0" tIns="0" rIns="0" bIns="0" rtlCol="0" anchor="ctr"/>
          <a:lstStyle/>
          <a:p>
            <a:pPr rtl="0" algn="ctr" indent="0" marL="0">
              <a:buNone/>
            </a:pPr>
            <a:r>
              <a:rPr lang="en-US" sz="2000" b="1" dirty="0">
                <a:solidFill>
                  <a:srgbClr val="C2500C"/>
                </a:solidFill>
                <a:latin typeface="Arial" pitchFamily="34" charset="0"/>
                <a:ea typeface="Arial" pitchFamily="34" charset="-122"/>
                <a:cs typeface="Arial" pitchFamily="34" charset="-120"/>
              </a:rPr>
              <a:t>3</a:t>
            </a:r>
            <a:r>
              <a:rPr lang="en-US" sz="2000" b="1" baseline="30000" dirty="0">
                <a:solidFill>
                  <a:srgbClr val="C2500C"/>
                </a:solidFill>
                <a:latin typeface="Arial" pitchFamily="34" charset="0"/>
                <a:ea typeface="Arial" pitchFamily="34" charset="-122"/>
                <a:cs typeface="Arial" pitchFamily="34" charset="-120"/>
              </a:rPr>
              <a:t>4</a:t>
            </a:r>
            <a:r>
              <a:rPr lang="en-US" sz="2000" b="1" dirty="0">
                <a:solidFill>
                  <a:srgbClr val="C2500C"/>
                </a:solidFill>
                <a:latin typeface="Arial" pitchFamily="34" charset="0"/>
                <a:ea typeface="Arial" pitchFamily="34" charset="-122"/>
                <a:cs typeface="Arial" pitchFamily="34" charset="-120"/>
              </a:rPr>
              <a:t> = 3 × 3 × 3 × 3 = 81</a:t>
            </a:r>
            <a:endParaRPr lang="en-US" sz="2000" dirty="0"/>
          </a:p>
        </p:txBody>
      </p:sp>
      <p:sp>
        <p:nvSpPr>
          <p:cNvPr id="8" name="Text 6"/>
          <p:cNvSpPr txBox="1"/>
          <p:nvPr/>
        </p:nvSpPr>
        <p:spPr>
          <a:xfrm>
            <a:off x="566928" y="1618488"/>
            <a:ext cx="3758184" cy="53766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3 أُس 4: نضرب 3 في نفسه أربع مرات = 81</a:t>
            </a:r>
            <a:endParaRPr lang="ar-LB" sz="1500" dirty="0"/>
          </a:p>
        </p:txBody>
      </p:sp>
      <p:sp>
        <p:nvSpPr>
          <p:cNvPr id="9" name="Shape 7"/>
          <p:cNvSpPr/>
          <p:nvPr/>
        </p:nvSpPr>
        <p:spPr>
          <a:xfrm>
            <a:off x="4709160" y="2331720"/>
            <a:ext cx="3977640" cy="2286000"/>
          </a:xfrm>
          <a:prstGeom prst="roundRect">
            <a:avLst>
              <a:gd name="adj" fmla="val 4000"/>
            </a:avLst>
          </a:prstGeom>
          <a:solidFill>
            <a:srgbClr val="0B6E70">
              <a:alpha val="10000"/>
            </a:srgbClr>
          </a:solidFill>
          <a:ln w="19050">
            <a:solidFill>
              <a:srgbClr val="0B6E70"/>
            </a:solidFill>
            <a:prstDash val="solid"/>
          </a:ln>
        </p:spPr>
      </p:sp>
      <p:sp>
        <p:nvSpPr>
          <p:cNvPr id="10" name="Shape 8"/>
          <p:cNvSpPr/>
          <p:nvPr/>
        </p:nvSpPr>
        <p:spPr>
          <a:xfrm>
            <a:off x="8119872" y="2441448"/>
            <a:ext cx="457200" cy="457200"/>
          </a:xfrm>
          <a:prstGeom prst="ellipse">
            <a:avLst/>
          </a:prstGeom>
          <a:solidFill>
            <a:srgbClr val="0B6E70"/>
          </a:solidFill>
          <a:ln w="12700">
            <a:solidFill>
              <a:srgbClr val="0B6E70"/>
            </a:solidFill>
            <a:prstDash val="solid"/>
          </a:ln>
        </p:spPr>
      </p:sp>
      <p:pic>
        <p:nvPicPr>
          <p:cNvPr id="11" name="Image 0" descr="أيقونة يد: نشاط لمسي">    </p:cNvPr>
          <p:cNvPicPr>
            <a:picLocks noChangeAspect="1"/>
          </p:cNvPicPr>
          <p:nvPr/>
        </p:nvPicPr>
        <p:blipFill>
          <a:blip r:embed="rId1"/>
          <a:stretch>
            <a:fillRect/>
          </a:stretch>
        </p:blipFill>
        <p:spPr>
          <a:xfrm>
            <a:off x="8229600" y="2551176"/>
            <a:ext cx="237744" cy="237744"/>
          </a:xfrm>
          <a:prstGeom prst="rect">
            <a:avLst/>
          </a:prstGeom>
        </p:spPr>
      </p:pic>
      <p:sp>
        <p:nvSpPr>
          <p:cNvPr id="12" name="Text 9"/>
          <p:cNvSpPr txBox="1"/>
          <p:nvPr/>
        </p:nvSpPr>
        <p:spPr>
          <a:xfrm>
            <a:off x="4846320" y="244144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0B6E70"/>
                </a:solidFill>
              </a:rPr>
              <a:t>باللمس: الأكواب</a:t>
            </a:r>
            <a:endParaRPr lang="ar-LB" sz="1800" dirty="0"/>
          </a:p>
        </p:txBody>
      </p:sp>
      <p:sp>
        <p:nvSpPr>
          <p:cNvPr id="13" name="Text 10"/>
          <p:cNvSpPr txBox="1"/>
          <p:nvPr/>
        </p:nvSpPr>
        <p:spPr>
          <a:xfrm>
            <a:off x="4846320" y="2926080"/>
            <a:ext cx="3703320" cy="160020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4 أكواب، في كل كوب 3 حبات.</a:t>
            </a:r>
            <a:endParaRPr lang="ar-LB" sz="1700" dirty="0"/>
          </a:p>
          <a:p>
            <a:pPr rtl="1" algn="r" indent="0" marL="0">
              <a:spcAft>
                <a:spcPts val="400"/>
              </a:spcAft>
              <a:buNone/>
            </a:pPr>
            <a:r>
              <a:rPr lang="ar-LB" altLang="en-US" sz="1700" dirty="0">
                <a:solidFill>
                  <a:srgbClr val="1B262C"/>
                </a:solidFill>
              </a:rPr>
              <a:t>نعدّ الحبات كلها: 12.</a:t>
            </a:r>
            <a:endParaRPr lang="ar-LB" sz="1700" dirty="0"/>
          </a:p>
          <a:p>
            <a:pPr rtl="1" algn="r" indent="0" marL="0">
              <a:spcAft>
                <a:spcPts val="400"/>
              </a:spcAft>
              <a:buNone/>
            </a:pPr>
            <a:r>
              <a:rPr lang="ar-LB" altLang="en-US" sz="1700" dirty="0">
                <a:solidFill>
                  <a:srgbClr val="1B262C"/>
                </a:solidFill>
              </a:rPr>
              <a:t>الضرب = جمع متكرر.</a:t>
            </a:r>
            <a:endParaRPr lang="ar-LB" sz="1700" dirty="0"/>
          </a:p>
        </p:txBody>
      </p:sp>
      <p:sp>
        <p:nvSpPr>
          <p:cNvPr id="14" name="Shape 11"/>
          <p:cNvSpPr/>
          <p:nvPr/>
        </p:nvSpPr>
        <p:spPr>
          <a:xfrm>
            <a:off x="457200" y="2331720"/>
            <a:ext cx="3977640" cy="2286000"/>
          </a:xfrm>
          <a:prstGeom prst="roundRect">
            <a:avLst>
              <a:gd name="adj" fmla="val 4000"/>
            </a:avLst>
          </a:prstGeom>
          <a:solidFill>
            <a:srgbClr val="C2500C">
              <a:alpha val="10000"/>
            </a:srgbClr>
          </a:solidFill>
          <a:ln w="19050">
            <a:solidFill>
              <a:srgbClr val="C2500C"/>
            </a:solidFill>
            <a:prstDash val="solid"/>
          </a:ln>
        </p:spPr>
      </p:sp>
      <p:sp>
        <p:nvSpPr>
          <p:cNvPr id="15" name="Shape 12"/>
          <p:cNvSpPr/>
          <p:nvPr/>
        </p:nvSpPr>
        <p:spPr>
          <a:xfrm>
            <a:off x="3867912" y="2441448"/>
            <a:ext cx="457200" cy="457200"/>
          </a:xfrm>
          <a:prstGeom prst="ellipse">
            <a:avLst/>
          </a:prstGeom>
          <a:solidFill>
            <a:srgbClr val="C2500C"/>
          </a:solidFill>
          <a:ln w="12700">
            <a:solidFill>
              <a:srgbClr val="C2500C"/>
            </a:solidFill>
            <a:prstDash val="solid"/>
          </a:ln>
        </p:spPr>
      </p:sp>
      <p:pic>
        <p:nvPicPr>
          <p:cNvPr id="16" name="Image 1" descr="أيقونة تنبيه">    </p:cNvPr>
          <p:cNvPicPr>
            <a:picLocks noChangeAspect="1"/>
          </p:cNvPicPr>
          <p:nvPr/>
        </p:nvPicPr>
        <p:blipFill>
          <a:blip r:embed="rId2"/>
          <a:stretch>
            <a:fillRect/>
          </a:stretch>
        </p:blipFill>
        <p:spPr>
          <a:xfrm>
            <a:off x="3977640" y="2551176"/>
            <a:ext cx="237744" cy="237744"/>
          </a:xfrm>
          <a:prstGeom prst="rect">
            <a:avLst/>
          </a:prstGeom>
        </p:spPr>
      </p:pic>
      <p:sp>
        <p:nvSpPr>
          <p:cNvPr id="17" name="Text 13"/>
          <p:cNvSpPr txBox="1"/>
          <p:nvPr/>
        </p:nvSpPr>
        <p:spPr>
          <a:xfrm>
            <a:off x="594360" y="244144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C2500C"/>
                </a:solidFill>
              </a:rPr>
              <a:t>انتبه!</a:t>
            </a:r>
            <a:endParaRPr lang="ar-LB" sz="1800" dirty="0"/>
          </a:p>
        </p:txBody>
      </p:sp>
      <p:sp>
        <p:nvSpPr>
          <p:cNvPr id="18" name="Text 14"/>
          <p:cNvSpPr txBox="1"/>
          <p:nvPr/>
        </p:nvSpPr>
        <p:spPr>
          <a:xfrm>
            <a:off x="594360" y="2926080"/>
            <a:ext cx="3703320" cy="160020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5 أُس 2 ليس 5 ضرب 2.</a:t>
            </a:r>
            <a:endParaRPr lang="ar-LB" sz="1700" dirty="0"/>
          </a:p>
          <a:p>
            <a:pPr rtl="1" algn="r" indent="0" marL="0">
              <a:spcAft>
                <a:spcPts val="400"/>
              </a:spcAft>
              <a:buNone/>
            </a:pPr>
            <a:r>
              <a:rPr lang="ar-LB" altLang="en-US" sz="1700" dirty="0">
                <a:solidFill>
                  <a:srgbClr val="1B262C"/>
                </a:solidFill>
              </a:rPr>
              <a:t>5 أُس 2 = 5 × 5 = 25، وليس 10.</a:t>
            </a:r>
            <a:endParaRPr lang="ar-LB" sz="1700" dirty="0"/>
          </a:p>
          <a:p>
            <a:pPr rtl="1" algn="r" indent="0" marL="0">
              <a:spcAft>
                <a:spcPts val="400"/>
              </a:spcAft>
              <a:buNone/>
            </a:pPr>
            <a:r>
              <a:rPr lang="ar-LB" altLang="en-US" sz="1700" dirty="0">
                <a:solidFill>
                  <a:srgbClr val="1B262C"/>
                </a:solidFill>
              </a:rPr>
              <a:t>والترتيب مهم: 3 أُس 4 = 81 أما 4 أُس 3 = 64.</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الترميز: كيف نقرأ القوّة ونكتبها</a:t>
            </a:r>
            <a:endParaRPr lang="en-US" sz="3200" dirty="0"/>
          </a:p>
        </p:txBody>
      </p:sp>
      <p:sp>
        <p:nvSpPr>
          <p:cNvPr id="3" name="Shape 1"/>
          <p:cNvSpPr/>
          <p:nvPr/>
        </p:nvSpPr>
        <p:spPr>
          <a:xfrm>
            <a:off x="3383280" y="914400"/>
            <a:ext cx="5303520" cy="566928"/>
          </a:xfrm>
          <a:prstGeom prst="roundRect">
            <a:avLst>
              <a:gd name="adj" fmla="val 16129"/>
            </a:avLst>
          </a:prstGeom>
          <a:solidFill>
            <a:srgbClr val="0B6E70">
              <a:alpha val="8000"/>
            </a:srgbClr>
          </a:solidFill>
          <a:ln w="19050">
            <a:solidFill>
              <a:srgbClr val="0B6E70"/>
            </a:solidFill>
            <a:prstDash val="solid"/>
          </a:ln>
        </p:spPr>
      </p:sp>
      <p:sp>
        <p:nvSpPr>
          <p:cNvPr id="4" name="Text 2"/>
          <p:cNvSpPr txBox="1"/>
          <p:nvPr/>
        </p:nvSpPr>
        <p:spPr>
          <a:xfrm>
            <a:off x="3474720" y="914400"/>
            <a:ext cx="3108960" cy="566928"/>
          </a:xfrm>
          <a:prstGeom prst="rect">
            <a:avLst/>
          </a:prstGeom>
          <a:noFill/>
          <a:ln/>
        </p:spPr>
        <p:txBody>
          <a:bodyPr wrap="square" lIns="0" tIns="0" rIns="0" bIns="0" rtlCol="0" anchor="ctr"/>
          <a:lstStyle/>
          <a:p>
            <a:pPr rtl="0" algn="l" indent="0" marL="0">
              <a:buNone/>
            </a:pPr>
            <a:r>
              <a:rPr lang="en-US" sz="1800" b="1" dirty="0">
                <a:solidFill>
                  <a:srgbClr val="1B262C"/>
                </a:solidFill>
                <a:latin typeface="Arial" pitchFamily="34" charset="0"/>
                <a:ea typeface="Arial" pitchFamily="34" charset="-122"/>
                <a:cs typeface="Arial" pitchFamily="34" charset="-120"/>
              </a:rPr>
              <a:t>7 × 7 × 7 = 7</a:t>
            </a:r>
            <a:r>
              <a:rPr lang="en-US" sz="1800" b="1" baseline="30000" dirty="0">
                <a:solidFill>
                  <a:srgbClr val="1B262C"/>
                </a:solidFill>
                <a:latin typeface="Arial" pitchFamily="34" charset="0"/>
                <a:ea typeface="Arial" pitchFamily="34" charset="-122"/>
                <a:cs typeface="Arial" pitchFamily="34" charset="-120"/>
              </a:rPr>
              <a:t>3</a:t>
            </a:r>
            <a:endParaRPr lang="en-US" sz="1800" dirty="0"/>
          </a:p>
        </p:txBody>
      </p:sp>
      <p:sp>
        <p:nvSpPr>
          <p:cNvPr id="5" name="Text 3"/>
          <p:cNvSpPr txBox="1"/>
          <p:nvPr/>
        </p:nvSpPr>
        <p:spPr>
          <a:xfrm>
            <a:off x="6492240" y="914400"/>
            <a:ext cx="2103120" cy="566928"/>
          </a:xfrm>
          <a:prstGeom prst="rect">
            <a:avLst/>
          </a:prstGeom>
          <a:noFill/>
          <a:ln/>
        </p:spPr>
        <p:txBody>
          <a:bodyPr wrap="square" lIns="0" tIns="0" rIns="0" bIns="0" rtlCol="0" anchor="ctr"/>
          <a:lstStyle/>
          <a:p>
            <a:pPr rtl="1" algn="r" indent="0" marL="0">
              <a:buNone/>
            </a:pPr>
            <a:r>
              <a:rPr lang="ar-LB" altLang="en-US" sz="1400" dirty="0">
                <a:solidFill>
                  <a:srgbClr val="3E4A52"/>
                </a:solidFill>
              </a:rPr>
              <a:t>7 أُس 3، أو مكعّب 7</a:t>
            </a:r>
            <a:endParaRPr lang="ar-LB" sz="1400" dirty="0"/>
          </a:p>
        </p:txBody>
      </p:sp>
      <p:sp>
        <p:nvSpPr>
          <p:cNvPr id="6" name="Shape 4"/>
          <p:cNvSpPr/>
          <p:nvPr/>
        </p:nvSpPr>
        <p:spPr>
          <a:xfrm>
            <a:off x="3383280" y="1572768"/>
            <a:ext cx="5303520" cy="566928"/>
          </a:xfrm>
          <a:prstGeom prst="roundRect">
            <a:avLst>
              <a:gd name="adj" fmla="val 16129"/>
            </a:avLst>
          </a:prstGeom>
          <a:solidFill>
            <a:srgbClr val="1F5C99">
              <a:alpha val="8000"/>
            </a:srgbClr>
          </a:solidFill>
          <a:ln w="19050">
            <a:solidFill>
              <a:srgbClr val="1F5C99"/>
            </a:solidFill>
            <a:prstDash val="solid"/>
          </a:ln>
        </p:spPr>
      </p:sp>
      <p:sp>
        <p:nvSpPr>
          <p:cNvPr id="7" name="Text 5"/>
          <p:cNvSpPr txBox="1"/>
          <p:nvPr/>
        </p:nvSpPr>
        <p:spPr>
          <a:xfrm>
            <a:off x="3474720" y="1572768"/>
            <a:ext cx="3108960" cy="566928"/>
          </a:xfrm>
          <a:prstGeom prst="rect">
            <a:avLst/>
          </a:prstGeom>
          <a:noFill/>
          <a:ln/>
        </p:spPr>
        <p:txBody>
          <a:bodyPr wrap="square" lIns="0" tIns="0" rIns="0" bIns="0" rtlCol="0" anchor="ctr"/>
          <a:lstStyle/>
          <a:p>
            <a:pPr rtl="0" algn="l" indent="0" marL="0">
              <a:buNone/>
            </a:pPr>
            <a:r>
              <a:rPr lang="en-US" sz="1800" b="1" dirty="0">
                <a:solidFill>
                  <a:srgbClr val="1B262C"/>
                </a:solidFill>
                <a:latin typeface="Arial" pitchFamily="34" charset="0"/>
                <a:ea typeface="Arial" pitchFamily="34" charset="-122"/>
                <a:cs typeface="Arial" pitchFamily="34" charset="-120"/>
              </a:rPr>
              <a:t>6 × 6 = 6</a:t>
            </a:r>
            <a:r>
              <a:rPr lang="en-US" sz="1800" b="1" baseline="30000" dirty="0">
                <a:solidFill>
                  <a:srgbClr val="1B262C"/>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6492240" y="1572768"/>
            <a:ext cx="2103120" cy="566928"/>
          </a:xfrm>
          <a:prstGeom prst="rect">
            <a:avLst/>
          </a:prstGeom>
          <a:noFill/>
          <a:ln/>
        </p:spPr>
        <p:txBody>
          <a:bodyPr wrap="square" lIns="0" tIns="0" rIns="0" bIns="0" rtlCol="0" anchor="ctr"/>
          <a:lstStyle/>
          <a:p>
            <a:pPr rtl="1" algn="r" indent="0" marL="0">
              <a:buNone/>
            </a:pPr>
            <a:r>
              <a:rPr lang="ar-LB" altLang="en-US" sz="1400" dirty="0">
                <a:solidFill>
                  <a:srgbClr val="3E4A52"/>
                </a:solidFill>
              </a:rPr>
              <a:t>6 أُس 2، أو مربّع 6</a:t>
            </a:r>
            <a:endParaRPr lang="ar-LB" sz="1400" dirty="0"/>
          </a:p>
        </p:txBody>
      </p:sp>
      <p:sp>
        <p:nvSpPr>
          <p:cNvPr id="9" name="Shape 7"/>
          <p:cNvSpPr/>
          <p:nvPr/>
        </p:nvSpPr>
        <p:spPr>
          <a:xfrm>
            <a:off x="3383280" y="2231136"/>
            <a:ext cx="5303520" cy="566928"/>
          </a:xfrm>
          <a:prstGeom prst="roundRect">
            <a:avLst>
              <a:gd name="adj" fmla="val 16129"/>
            </a:avLst>
          </a:prstGeom>
          <a:solidFill>
            <a:srgbClr val="0B6E70">
              <a:alpha val="8000"/>
            </a:srgbClr>
          </a:solidFill>
          <a:ln w="19050">
            <a:solidFill>
              <a:srgbClr val="0B6E70"/>
            </a:solidFill>
            <a:prstDash val="solid"/>
          </a:ln>
        </p:spPr>
      </p:sp>
      <p:sp>
        <p:nvSpPr>
          <p:cNvPr id="10" name="Text 8"/>
          <p:cNvSpPr txBox="1"/>
          <p:nvPr/>
        </p:nvSpPr>
        <p:spPr>
          <a:xfrm>
            <a:off x="3474720" y="2231136"/>
            <a:ext cx="3108960" cy="566928"/>
          </a:xfrm>
          <a:prstGeom prst="rect">
            <a:avLst/>
          </a:prstGeom>
          <a:noFill/>
          <a:ln/>
        </p:spPr>
        <p:txBody>
          <a:bodyPr wrap="square" lIns="0" tIns="0" rIns="0" bIns="0" rtlCol="0" anchor="ctr"/>
          <a:lstStyle/>
          <a:p>
            <a:pPr rtl="0" algn="l" indent="0" marL="0">
              <a:buNone/>
            </a:pPr>
            <a:r>
              <a:rPr lang="en-US" sz="1800" b="1" dirty="0">
                <a:solidFill>
                  <a:srgbClr val="1B262C"/>
                </a:solidFill>
                <a:latin typeface="Arial" pitchFamily="34" charset="0"/>
                <a:ea typeface="Arial" pitchFamily="34" charset="-122"/>
                <a:cs typeface="Arial" pitchFamily="34" charset="-120"/>
              </a:rPr>
              <a:t>10 × 10 × 10 × 10 = 10</a:t>
            </a:r>
            <a:r>
              <a:rPr lang="en-US" sz="1800" b="1" baseline="30000" dirty="0">
                <a:solidFill>
                  <a:srgbClr val="1B262C"/>
                </a:solidFill>
                <a:latin typeface="Arial" pitchFamily="34" charset="0"/>
                <a:ea typeface="Arial" pitchFamily="34" charset="-122"/>
                <a:cs typeface="Arial" pitchFamily="34" charset="-120"/>
              </a:rPr>
              <a:t>4</a:t>
            </a:r>
            <a:endParaRPr lang="en-US" sz="1800" dirty="0"/>
          </a:p>
        </p:txBody>
      </p:sp>
      <p:sp>
        <p:nvSpPr>
          <p:cNvPr id="11" name="Text 9"/>
          <p:cNvSpPr txBox="1"/>
          <p:nvPr/>
        </p:nvSpPr>
        <p:spPr>
          <a:xfrm>
            <a:off x="6492240" y="2231136"/>
            <a:ext cx="2103120" cy="566928"/>
          </a:xfrm>
          <a:prstGeom prst="rect">
            <a:avLst/>
          </a:prstGeom>
          <a:noFill/>
          <a:ln/>
        </p:spPr>
        <p:txBody>
          <a:bodyPr wrap="square" lIns="0" tIns="0" rIns="0" bIns="0" rtlCol="0" anchor="ctr"/>
          <a:lstStyle/>
          <a:p>
            <a:pPr rtl="1" algn="r" indent="0" marL="0">
              <a:buNone/>
            </a:pPr>
            <a:r>
              <a:rPr lang="ar-LB" altLang="en-US" sz="1400" dirty="0">
                <a:solidFill>
                  <a:srgbClr val="3E4A52"/>
                </a:solidFill>
              </a:rPr>
              <a:t>10 أُس 4 = 10000</a:t>
            </a:r>
            <a:endParaRPr lang="ar-LB" sz="1400" dirty="0"/>
          </a:p>
        </p:txBody>
      </p:sp>
      <p:sp>
        <p:nvSpPr>
          <p:cNvPr id="12" name="Shape 10"/>
          <p:cNvSpPr/>
          <p:nvPr/>
        </p:nvSpPr>
        <p:spPr>
          <a:xfrm>
            <a:off x="3383280" y="2889504"/>
            <a:ext cx="5303520" cy="566928"/>
          </a:xfrm>
          <a:prstGeom prst="roundRect">
            <a:avLst>
              <a:gd name="adj" fmla="val 16129"/>
            </a:avLst>
          </a:prstGeom>
          <a:solidFill>
            <a:srgbClr val="1F5C99">
              <a:alpha val="8000"/>
            </a:srgbClr>
          </a:solidFill>
          <a:ln w="19050">
            <a:solidFill>
              <a:srgbClr val="1F5C99"/>
            </a:solidFill>
            <a:prstDash val="solid"/>
          </a:ln>
        </p:spPr>
      </p:sp>
      <p:sp>
        <p:nvSpPr>
          <p:cNvPr id="13" name="Text 11"/>
          <p:cNvSpPr txBox="1"/>
          <p:nvPr/>
        </p:nvSpPr>
        <p:spPr>
          <a:xfrm>
            <a:off x="3474720" y="2889504"/>
            <a:ext cx="3108960" cy="566928"/>
          </a:xfrm>
          <a:prstGeom prst="rect">
            <a:avLst/>
          </a:prstGeom>
          <a:noFill/>
          <a:ln/>
        </p:spPr>
        <p:txBody>
          <a:bodyPr wrap="square" lIns="0" tIns="0" rIns="0" bIns="0" rtlCol="0" anchor="ctr"/>
          <a:lstStyle/>
          <a:p>
            <a:pPr rtl="0" algn="l" indent="0" marL="0">
              <a:buNone/>
            </a:pPr>
            <a:r>
              <a:rPr lang="en-US" sz="1800" b="1" dirty="0">
                <a:solidFill>
                  <a:srgbClr val="1B262C"/>
                </a:solidFill>
                <a:latin typeface="Arial" pitchFamily="34" charset="0"/>
                <a:ea typeface="Arial" pitchFamily="34" charset="-122"/>
                <a:cs typeface="Arial" pitchFamily="34" charset="-120"/>
              </a:rPr>
              <a:t>2 × 2 × 2 × 5 × 5 = 2</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6492240" y="2889504"/>
            <a:ext cx="2103120" cy="566928"/>
          </a:xfrm>
          <a:prstGeom prst="rect">
            <a:avLst/>
          </a:prstGeom>
          <a:noFill/>
          <a:ln/>
        </p:spPr>
        <p:txBody>
          <a:bodyPr wrap="square" lIns="0" tIns="0" rIns="0" bIns="0" rtlCol="0" anchor="ctr"/>
          <a:lstStyle/>
          <a:p>
            <a:pPr rtl="1" algn="r" indent="0" marL="0">
              <a:buNone/>
            </a:pPr>
            <a:r>
              <a:rPr lang="ar-LB" altLang="en-US" sz="1400" dirty="0">
                <a:solidFill>
                  <a:srgbClr val="3E4A52"/>
                </a:solidFill>
              </a:rPr>
              <a:t>2 أُس 3 ضرب 5 أُس 2</a:t>
            </a:r>
            <a:endParaRPr lang="ar-LB" sz="1400" dirty="0"/>
          </a:p>
        </p:txBody>
      </p:sp>
      <p:sp>
        <p:nvSpPr>
          <p:cNvPr id="15" name="Shape 13"/>
          <p:cNvSpPr/>
          <p:nvPr/>
        </p:nvSpPr>
        <p:spPr>
          <a:xfrm>
            <a:off x="457200" y="914400"/>
            <a:ext cx="2743200" cy="2560320"/>
          </a:xfrm>
          <a:prstGeom prst="roundRect">
            <a:avLst>
              <a:gd name="adj" fmla="val 3571"/>
            </a:avLst>
          </a:prstGeom>
          <a:solidFill>
            <a:srgbClr val="1F5C99">
              <a:alpha val="10000"/>
            </a:srgbClr>
          </a:solidFill>
          <a:ln w="19050">
            <a:solidFill>
              <a:srgbClr val="1F5C99"/>
            </a:solidFill>
            <a:prstDash val="solid"/>
          </a:ln>
        </p:spPr>
      </p:sp>
      <p:sp>
        <p:nvSpPr>
          <p:cNvPr id="16" name="Shape 14"/>
          <p:cNvSpPr/>
          <p:nvPr/>
        </p:nvSpPr>
        <p:spPr>
          <a:xfrm>
            <a:off x="2633472" y="1024128"/>
            <a:ext cx="457200" cy="457200"/>
          </a:xfrm>
          <a:prstGeom prst="ellipse">
            <a:avLst/>
          </a:prstGeom>
          <a:solidFill>
            <a:srgbClr val="1F5C99"/>
          </a:solidFill>
          <a:ln w="12700">
            <a:solidFill>
              <a:srgbClr val="1F5C99"/>
            </a:solidFill>
            <a:prstDash val="solid"/>
          </a:ln>
        </p:spPr>
      </p:sp>
      <p:pic>
        <p:nvPicPr>
          <p:cNvPr id="17" name="Image 0" descr="أيقونة برايل">    </p:cNvPr>
          <p:cNvPicPr>
            <a:picLocks noChangeAspect="1"/>
          </p:cNvPicPr>
          <p:nvPr/>
        </p:nvPicPr>
        <p:blipFill>
          <a:blip r:embed="rId1"/>
          <a:stretch>
            <a:fillRect/>
          </a:stretch>
        </p:blipFill>
        <p:spPr>
          <a:xfrm>
            <a:off x="2743200" y="1133856"/>
            <a:ext cx="237744" cy="237744"/>
          </a:xfrm>
          <a:prstGeom prst="rect">
            <a:avLst/>
          </a:prstGeom>
        </p:spPr>
      </p:pic>
      <p:sp>
        <p:nvSpPr>
          <p:cNvPr id="18" name="Text 15"/>
          <p:cNvSpPr txBox="1"/>
          <p:nvPr/>
        </p:nvSpPr>
        <p:spPr>
          <a:xfrm>
            <a:off x="594360" y="1024128"/>
            <a:ext cx="1965960" cy="457200"/>
          </a:xfrm>
          <a:prstGeom prst="rect">
            <a:avLst/>
          </a:prstGeom>
          <a:noFill/>
          <a:ln/>
        </p:spPr>
        <p:txBody>
          <a:bodyPr wrap="square" lIns="0" tIns="0" rIns="0" bIns="0" rtlCol="0" anchor="ctr"/>
          <a:lstStyle/>
          <a:p>
            <a:pPr rtl="1" algn="r" indent="0" marL="0">
              <a:buNone/>
            </a:pPr>
            <a:r>
              <a:rPr lang="ar-LB" altLang="en-US" sz="1800" b="1" dirty="0">
                <a:solidFill>
                  <a:srgbClr val="1F5C99"/>
                </a:solidFill>
              </a:rPr>
              <a:t>بالبرايل</a:t>
            </a:r>
            <a:endParaRPr lang="ar-LB" sz="1800" dirty="0"/>
          </a:p>
        </p:txBody>
      </p:sp>
      <p:sp>
        <p:nvSpPr>
          <p:cNvPr id="19" name="Text 16"/>
          <p:cNvSpPr txBox="1"/>
          <p:nvPr/>
        </p:nvSpPr>
        <p:spPr>
          <a:xfrm>
            <a:off x="594360" y="1508760"/>
            <a:ext cx="2468880" cy="187452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نكتب الأساس، ثم مؤشّر الأُس المعتمد في رموز الرياضيات بطريقة برايل في مدرستنا، ثم الأُس.</a:t>
            </a:r>
            <a:endParaRPr lang="ar-LB" sz="1600" dirty="0"/>
          </a:p>
        </p:txBody>
      </p:sp>
      <p:sp>
        <p:nvSpPr>
          <p:cNvPr id="20" name="Text 17"/>
          <p:cNvSpPr txBox="1"/>
          <p:nvPr/>
        </p:nvSpPr>
        <p:spPr>
          <a:xfrm>
            <a:off x="457200" y="3657600"/>
            <a:ext cx="8229600" cy="457200"/>
          </a:xfrm>
          <a:prstGeom prst="rect">
            <a:avLst/>
          </a:prstGeom>
          <a:noFill/>
          <a:ln/>
        </p:spPr>
        <p:txBody>
          <a:bodyPr wrap="square" lIns="0" tIns="0" rIns="0" bIns="0" rtlCol="0" anchor="t"/>
          <a:lstStyle/>
          <a:p>
            <a:pPr rtl="1" algn="r" indent="0" marL="0">
              <a:buNone/>
            </a:pPr>
            <a:r>
              <a:rPr lang="ar-LB" altLang="en-US" sz="1700" b="1" dirty="0">
                <a:solidFill>
                  <a:srgbClr val="0F4C5C"/>
                </a:solidFill>
              </a:rPr>
              <a:t>في البطاقات النصية نكتب أحيانًا 2^5 والرمز ^ يعني «أُس».</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القوى في حياتنا: نبنيها بأيدينا</a:t>
            </a:r>
            <a:endParaRPr lang="en-US" sz="3200" dirty="0"/>
          </a:p>
        </p:txBody>
      </p:sp>
      <p:sp>
        <p:nvSpPr>
          <p:cNvPr id="3" name="Shape 1"/>
          <p:cNvSpPr/>
          <p:nvPr/>
        </p:nvSpPr>
        <p:spPr>
          <a:xfrm>
            <a:off x="4709160" y="914400"/>
            <a:ext cx="3977640" cy="1828800"/>
          </a:xfrm>
          <a:prstGeom prst="roundRect">
            <a:avLst>
              <a:gd name="adj" fmla="val 5000"/>
            </a:avLst>
          </a:prstGeom>
          <a:solidFill>
            <a:srgbClr val="0B6E70">
              <a:alpha val="10000"/>
            </a:srgbClr>
          </a:solidFill>
          <a:ln w="19050">
            <a:solidFill>
              <a:srgbClr val="0B6E70"/>
            </a:solidFill>
            <a:prstDash val="solid"/>
          </a:ln>
        </p:spPr>
      </p:sp>
      <p:sp>
        <p:nvSpPr>
          <p:cNvPr id="4" name="Shape 2"/>
          <p:cNvSpPr/>
          <p:nvPr/>
        </p:nvSpPr>
        <p:spPr>
          <a:xfrm>
            <a:off x="8119872" y="1024128"/>
            <a:ext cx="457200" cy="457200"/>
          </a:xfrm>
          <a:prstGeom prst="ellipse">
            <a:avLst/>
          </a:prstGeom>
          <a:solidFill>
            <a:srgbClr val="0B6E70"/>
          </a:solidFill>
          <a:ln w="12700">
            <a:solidFill>
              <a:srgbClr val="0B6E70"/>
            </a:solidFill>
            <a:prstDash val="solid"/>
          </a:ln>
        </p:spPr>
      </p:sp>
      <p:pic>
        <p:nvPicPr>
          <p:cNvPr id="5" name="Image 0" descr="أيقونة مكعبات">    </p:cNvPr>
          <p:cNvPicPr>
            <a:picLocks noChangeAspect="1"/>
          </p:cNvPicPr>
          <p:nvPr/>
        </p:nvPicPr>
        <p:blipFill>
          <a:blip r:embed="rId1"/>
          <a:stretch>
            <a:fillRect/>
          </a:stretch>
        </p:blipFill>
        <p:spPr>
          <a:xfrm>
            <a:off x="8229600" y="1133856"/>
            <a:ext cx="237744" cy="237744"/>
          </a:xfrm>
          <a:prstGeom prst="rect">
            <a:avLst/>
          </a:prstGeom>
        </p:spPr>
      </p:pic>
      <p:sp>
        <p:nvSpPr>
          <p:cNvPr id="6" name="Text 3"/>
          <p:cNvSpPr txBox="1"/>
          <p:nvPr/>
        </p:nvSpPr>
        <p:spPr>
          <a:xfrm>
            <a:off x="4846320" y="10241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0B6E70"/>
                </a:solidFill>
              </a:rPr>
              <a:t>مربّع من 9 مكعّبات</a:t>
            </a:r>
            <a:endParaRPr lang="ar-LB" sz="1800" dirty="0"/>
          </a:p>
        </p:txBody>
      </p:sp>
      <p:sp>
        <p:nvSpPr>
          <p:cNvPr id="7" name="Text 4"/>
          <p:cNvSpPr txBox="1"/>
          <p:nvPr/>
        </p:nvSpPr>
        <p:spPr>
          <a:xfrm>
            <a:off x="4846320" y="1508760"/>
            <a:ext cx="3703320" cy="114300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نبني صفًّا من 3 مكعّبات، ثلاث مرات.</a:t>
            </a:r>
            <a:endParaRPr lang="ar-LB" sz="1600" dirty="0"/>
          </a:p>
          <a:p>
            <a:pPr rtl="1" algn="r" indent="0" marL="0">
              <a:spcAft>
                <a:spcPts val="400"/>
              </a:spcAft>
              <a:buNone/>
            </a:pPr>
            <a:r>
              <a:rPr lang="ar-LB" altLang="en-US" sz="1600" dirty="0">
                <a:solidFill>
                  <a:srgbClr val="1B262C"/>
                </a:solidFill>
              </a:rPr>
              <a:t>3 أُس 2 = 9، لهذا نسمّيها «مربّعًا».</a:t>
            </a:r>
            <a:endParaRPr lang="ar-LB" sz="1600" dirty="0"/>
          </a:p>
        </p:txBody>
      </p:sp>
      <p:sp>
        <p:nvSpPr>
          <p:cNvPr id="8" name="Shape 5"/>
          <p:cNvSpPr/>
          <p:nvPr/>
        </p:nvSpPr>
        <p:spPr>
          <a:xfrm>
            <a:off x="457200" y="914400"/>
            <a:ext cx="3977640" cy="1828800"/>
          </a:xfrm>
          <a:prstGeom prst="roundRect">
            <a:avLst>
              <a:gd name="adj" fmla="val 5000"/>
            </a:avLst>
          </a:prstGeom>
          <a:solidFill>
            <a:srgbClr val="1F5C99">
              <a:alpha val="10000"/>
            </a:srgbClr>
          </a:solidFill>
          <a:ln w="19050">
            <a:solidFill>
              <a:srgbClr val="1F5C99"/>
            </a:solidFill>
            <a:prstDash val="solid"/>
          </a:ln>
        </p:spPr>
      </p:sp>
      <p:sp>
        <p:nvSpPr>
          <p:cNvPr id="9" name="Shape 6"/>
          <p:cNvSpPr/>
          <p:nvPr/>
        </p:nvSpPr>
        <p:spPr>
          <a:xfrm>
            <a:off x="3867912" y="1024128"/>
            <a:ext cx="457200" cy="457200"/>
          </a:xfrm>
          <a:prstGeom prst="ellipse">
            <a:avLst/>
          </a:prstGeom>
          <a:solidFill>
            <a:srgbClr val="1F5C99"/>
          </a:solidFill>
          <a:ln w="12700">
            <a:solidFill>
              <a:srgbClr val="1F5C99"/>
            </a:solidFill>
            <a:prstDash val="solid"/>
          </a:ln>
        </p:spPr>
      </p:sp>
      <p:pic>
        <p:nvPicPr>
          <p:cNvPr id="10" name="Image 1" descr="أيقونة مكعبات">    </p:cNvPr>
          <p:cNvPicPr>
            <a:picLocks noChangeAspect="1"/>
          </p:cNvPicPr>
          <p:nvPr/>
        </p:nvPicPr>
        <p:blipFill>
          <a:blip r:embed="rId2"/>
          <a:stretch>
            <a:fillRect/>
          </a:stretch>
        </p:blipFill>
        <p:spPr>
          <a:xfrm>
            <a:off x="3977640" y="1133856"/>
            <a:ext cx="237744" cy="237744"/>
          </a:xfrm>
          <a:prstGeom prst="rect">
            <a:avLst/>
          </a:prstGeom>
        </p:spPr>
      </p:pic>
      <p:sp>
        <p:nvSpPr>
          <p:cNvPr id="11" name="Text 7"/>
          <p:cNvSpPr txBox="1"/>
          <p:nvPr/>
        </p:nvSpPr>
        <p:spPr>
          <a:xfrm>
            <a:off x="594360" y="10241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5C99"/>
                </a:solidFill>
              </a:rPr>
              <a:t>مكعّب من 8 مكعّبات</a:t>
            </a:r>
            <a:endParaRPr lang="ar-LB" sz="1800" dirty="0"/>
          </a:p>
        </p:txBody>
      </p:sp>
      <p:sp>
        <p:nvSpPr>
          <p:cNvPr id="12" name="Text 8"/>
          <p:cNvSpPr txBox="1"/>
          <p:nvPr/>
        </p:nvSpPr>
        <p:spPr>
          <a:xfrm>
            <a:off x="594360" y="1508760"/>
            <a:ext cx="3703320" cy="114300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طبقتان، في كل طبقة 2 × 2.</a:t>
            </a:r>
            <a:endParaRPr lang="ar-LB" sz="1600" dirty="0"/>
          </a:p>
          <a:p>
            <a:pPr rtl="1" algn="r" indent="0" marL="0">
              <a:spcAft>
                <a:spcPts val="400"/>
              </a:spcAft>
              <a:buNone/>
            </a:pPr>
            <a:r>
              <a:rPr lang="ar-LB" altLang="en-US" sz="1600" dirty="0">
                <a:solidFill>
                  <a:srgbClr val="1B262C"/>
                </a:solidFill>
              </a:rPr>
              <a:t>2 أُس 3 = 8، لهذا نسمّيها «مكعّبًا».</a:t>
            </a:r>
            <a:endParaRPr lang="ar-LB" sz="1600" dirty="0"/>
          </a:p>
        </p:txBody>
      </p:sp>
      <p:sp>
        <p:nvSpPr>
          <p:cNvPr id="13" name="Shape 9"/>
          <p:cNvSpPr/>
          <p:nvPr/>
        </p:nvSpPr>
        <p:spPr>
          <a:xfrm>
            <a:off x="4709160" y="2880360"/>
            <a:ext cx="3977640" cy="1737360"/>
          </a:xfrm>
          <a:prstGeom prst="roundRect">
            <a:avLst>
              <a:gd name="adj" fmla="val 5263"/>
            </a:avLst>
          </a:prstGeom>
          <a:solidFill>
            <a:srgbClr val="1F7A45">
              <a:alpha val="10000"/>
            </a:srgbClr>
          </a:solidFill>
          <a:ln w="19050">
            <a:solidFill>
              <a:srgbClr val="1F7A45"/>
            </a:solidFill>
            <a:prstDash val="solid"/>
          </a:ln>
        </p:spPr>
      </p:sp>
      <p:sp>
        <p:nvSpPr>
          <p:cNvPr id="14" name="Shape 10"/>
          <p:cNvSpPr/>
          <p:nvPr/>
        </p:nvSpPr>
        <p:spPr>
          <a:xfrm>
            <a:off x="8119872" y="2990088"/>
            <a:ext cx="457200" cy="457200"/>
          </a:xfrm>
          <a:prstGeom prst="ellipse">
            <a:avLst/>
          </a:prstGeom>
          <a:solidFill>
            <a:srgbClr val="1F7A45"/>
          </a:solidFill>
          <a:ln w="12700">
            <a:solidFill>
              <a:srgbClr val="1F7A45"/>
            </a:solidFill>
            <a:prstDash val="solid"/>
          </a:ln>
        </p:spPr>
      </p:sp>
      <p:pic>
        <p:nvPicPr>
          <p:cNvPr id="15" name="Image 2" descr="أيقونة أذن: نشاط سمعي">    </p:cNvPr>
          <p:cNvPicPr>
            <a:picLocks noChangeAspect="1"/>
          </p:cNvPicPr>
          <p:nvPr/>
        </p:nvPicPr>
        <p:blipFill>
          <a:blip r:embed="rId3"/>
          <a:stretch>
            <a:fillRect/>
          </a:stretch>
        </p:blipFill>
        <p:spPr>
          <a:xfrm>
            <a:off x="8229600" y="3099816"/>
            <a:ext cx="237744" cy="237744"/>
          </a:xfrm>
          <a:prstGeom prst="rect">
            <a:avLst/>
          </a:prstGeom>
        </p:spPr>
      </p:pic>
      <p:sp>
        <p:nvSpPr>
          <p:cNvPr id="16" name="Text 11"/>
          <p:cNvSpPr txBox="1"/>
          <p:nvPr/>
        </p:nvSpPr>
        <p:spPr>
          <a:xfrm>
            <a:off x="4846320" y="299008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قصة: البكتيريا</a:t>
            </a:r>
            <a:endParaRPr lang="ar-LB" sz="1800" dirty="0"/>
          </a:p>
        </p:txBody>
      </p:sp>
      <p:sp>
        <p:nvSpPr>
          <p:cNvPr id="17" name="Text 12"/>
          <p:cNvSpPr txBox="1"/>
          <p:nvPr/>
        </p:nvSpPr>
        <p:spPr>
          <a:xfrm>
            <a:off x="4846320" y="347472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تنقسم كل ساعة إلى اثنتين.</a:t>
            </a:r>
            <a:endParaRPr lang="ar-LB" sz="1600" dirty="0"/>
          </a:p>
          <a:p>
            <a:pPr rtl="1" algn="r" indent="0" marL="0">
              <a:spcAft>
                <a:spcPts val="400"/>
              </a:spcAft>
              <a:buNone/>
            </a:pPr>
            <a:r>
              <a:rPr lang="ar-LB" altLang="en-US" sz="1600" dirty="0">
                <a:solidFill>
                  <a:srgbClr val="1B262C"/>
                </a:solidFill>
              </a:rPr>
              <a:t>بعد 6 ساعات: 2 أُس 6 = 64.</a:t>
            </a:r>
            <a:endParaRPr lang="ar-LB" sz="1600" dirty="0"/>
          </a:p>
        </p:txBody>
      </p:sp>
      <p:sp>
        <p:nvSpPr>
          <p:cNvPr id="18" name="Shape 13"/>
          <p:cNvSpPr/>
          <p:nvPr/>
        </p:nvSpPr>
        <p:spPr>
          <a:xfrm>
            <a:off x="457200" y="2880360"/>
            <a:ext cx="3977640" cy="1737360"/>
          </a:xfrm>
          <a:prstGeom prst="roundRect">
            <a:avLst>
              <a:gd name="adj" fmla="val 5263"/>
            </a:avLst>
          </a:prstGeom>
          <a:solidFill>
            <a:srgbClr val="6A2F8F">
              <a:alpha val="10000"/>
            </a:srgbClr>
          </a:solidFill>
          <a:ln w="19050">
            <a:solidFill>
              <a:srgbClr val="6A2F8F"/>
            </a:solidFill>
            <a:prstDash val="solid"/>
          </a:ln>
        </p:spPr>
      </p:sp>
      <p:sp>
        <p:nvSpPr>
          <p:cNvPr id="19" name="Shape 14"/>
          <p:cNvSpPr/>
          <p:nvPr/>
        </p:nvSpPr>
        <p:spPr>
          <a:xfrm>
            <a:off x="3867912" y="2990088"/>
            <a:ext cx="457200" cy="457200"/>
          </a:xfrm>
          <a:prstGeom prst="ellipse">
            <a:avLst/>
          </a:prstGeom>
          <a:solidFill>
            <a:srgbClr val="6A2F8F"/>
          </a:solidFill>
          <a:ln w="12700">
            <a:solidFill>
              <a:srgbClr val="6A2F8F"/>
            </a:solidFill>
            <a:prstDash val="solid"/>
          </a:ln>
        </p:spPr>
      </p:sp>
      <p:pic>
        <p:nvPicPr>
          <p:cNvPr id="20" name="Image 3" descr="أيقونة أذن: نشاط سمعي">    </p:cNvPr>
          <p:cNvPicPr>
            <a:picLocks noChangeAspect="1"/>
          </p:cNvPicPr>
          <p:nvPr/>
        </p:nvPicPr>
        <p:blipFill>
          <a:blip r:embed="rId4"/>
          <a:stretch>
            <a:fillRect/>
          </a:stretch>
        </p:blipFill>
        <p:spPr>
          <a:xfrm>
            <a:off x="3977640" y="3099816"/>
            <a:ext cx="237744" cy="237744"/>
          </a:xfrm>
          <a:prstGeom prst="rect">
            <a:avLst/>
          </a:prstGeom>
        </p:spPr>
      </p:pic>
      <p:sp>
        <p:nvSpPr>
          <p:cNvPr id="21" name="Text 15"/>
          <p:cNvSpPr txBox="1"/>
          <p:nvPr/>
        </p:nvSpPr>
        <p:spPr>
          <a:xfrm>
            <a:off x="594360" y="299008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6A2F8F"/>
                </a:solidFill>
              </a:rPr>
              <a:t>قصة: الرسالة</a:t>
            </a:r>
            <a:endParaRPr lang="ar-LB" sz="1800" dirty="0"/>
          </a:p>
        </p:txBody>
      </p:sp>
      <p:sp>
        <p:nvSpPr>
          <p:cNvPr id="22" name="Text 16"/>
          <p:cNvSpPr txBox="1"/>
          <p:nvPr/>
        </p:nvSpPr>
        <p:spPr>
          <a:xfrm>
            <a:off x="594360" y="3474720"/>
            <a:ext cx="3703320" cy="105156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كل شخص يرسلها إلى 3 أشخاص جدد.</a:t>
            </a:r>
            <a:endParaRPr lang="ar-LB" sz="1600" dirty="0"/>
          </a:p>
          <a:p>
            <a:pPr rtl="1" algn="r" indent="0" marL="0">
              <a:spcAft>
                <a:spcPts val="400"/>
              </a:spcAft>
              <a:buNone/>
            </a:pPr>
            <a:r>
              <a:rPr lang="ar-LB" altLang="en-US" sz="1600" dirty="0">
                <a:solidFill>
                  <a:srgbClr val="1B262C"/>
                </a:solidFill>
              </a:rPr>
              <a:t>في المرحلة 4: 3 أُس 4 = 81 شخصًا.</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استكشاف قوّة القوّة بالخيوط</a:t>
            </a:r>
            <a:endParaRPr lang="en-US" sz="3200" dirty="0"/>
          </a:p>
        </p:txBody>
      </p:sp>
      <p:sp>
        <p:nvSpPr>
          <p:cNvPr id="3" name="Shape 1"/>
          <p:cNvSpPr/>
          <p:nvPr/>
        </p:nvSpPr>
        <p:spPr>
          <a:xfrm>
            <a:off x="4709160" y="914400"/>
            <a:ext cx="3977640" cy="1097280"/>
          </a:xfrm>
          <a:prstGeom prst="roundRect">
            <a:avLst>
              <a:gd name="adj" fmla="val 8333"/>
            </a:avLst>
          </a:prstGeom>
          <a:solidFill>
            <a:srgbClr val="1B262C">
              <a:alpha val="8000"/>
            </a:srgbClr>
          </a:solidFill>
          <a:ln w="19050">
            <a:solidFill>
              <a:srgbClr val="1B262C"/>
            </a:solidFill>
            <a:prstDash val="solid"/>
          </a:ln>
        </p:spPr>
      </p:sp>
      <p:sp>
        <p:nvSpPr>
          <p:cNvPr id="4" name="Text 2"/>
          <p:cNvSpPr txBox="1"/>
          <p:nvPr/>
        </p:nvSpPr>
        <p:spPr>
          <a:xfrm>
            <a:off x="4800600" y="960120"/>
            <a:ext cx="3794760" cy="570586"/>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(2</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a:t>
            </a:r>
            <a:r>
              <a:rPr lang="en-US" sz="2000" b="1" baseline="30000" dirty="0">
                <a:solidFill>
                  <a:srgbClr val="1B262C"/>
                </a:solidFill>
                <a:latin typeface="Arial" pitchFamily="34" charset="0"/>
                <a:ea typeface="Arial" pitchFamily="34" charset="-122"/>
                <a:cs typeface="Arial" pitchFamily="34" charset="-120"/>
              </a:rPr>
              <a:t>2</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6</a:t>
            </a:r>
            <a:endParaRPr lang="en-US" sz="2000" dirty="0"/>
          </a:p>
        </p:txBody>
      </p:sp>
      <p:sp>
        <p:nvSpPr>
          <p:cNvPr id="5" name="Text 3"/>
          <p:cNvSpPr txBox="1"/>
          <p:nvPr/>
        </p:nvSpPr>
        <p:spPr>
          <a:xfrm>
            <a:off x="4818888" y="1517904"/>
            <a:ext cx="3758184" cy="46085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(2 أُس 3) الكلّ أُس 2 = 2 أُس 6</a:t>
            </a:r>
            <a:endParaRPr lang="ar-LB" sz="1500" dirty="0"/>
          </a:p>
        </p:txBody>
      </p:sp>
      <p:sp>
        <p:nvSpPr>
          <p:cNvPr id="6" name="Shape 4"/>
          <p:cNvSpPr/>
          <p:nvPr/>
        </p:nvSpPr>
        <p:spPr>
          <a:xfrm>
            <a:off x="457200" y="914400"/>
            <a:ext cx="3977640" cy="1097280"/>
          </a:xfrm>
          <a:prstGeom prst="roundRect">
            <a:avLst>
              <a:gd name="adj" fmla="val 8333"/>
            </a:avLst>
          </a:prstGeom>
          <a:solidFill>
            <a:srgbClr val="1B262C">
              <a:alpha val="8000"/>
            </a:srgbClr>
          </a:solidFill>
          <a:ln w="19050">
            <a:solidFill>
              <a:srgbClr val="1B262C"/>
            </a:solidFill>
            <a:prstDash val="solid"/>
          </a:ln>
        </p:spPr>
      </p:sp>
      <p:sp>
        <p:nvSpPr>
          <p:cNvPr id="7" name="Text 5"/>
          <p:cNvSpPr txBox="1"/>
          <p:nvPr/>
        </p:nvSpPr>
        <p:spPr>
          <a:xfrm>
            <a:off x="548640" y="960120"/>
            <a:ext cx="3794760" cy="570586"/>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6</a:t>
            </a:r>
            <a:endParaRPr lang="en-US" sz="1800" dirty="0"/>
          </a:p>
        </p:txBody>
      </p:sp>
      <p:sp>
        <p:nvSpPr>
          <p:cNvPr id="8" name="Text 6"/>
          <p:cNvSpPr txBox="1"/>
          <p:nvPr/>
        </p:nvSpPr>
        <p:spPr>
          <a:xfrm>
            <a:off x="566928" y="1517904"/>
            <a:ext cx="3758184" cy="460858"/>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(5 أُس 2) الكلّ أُس 3 = 5 أُس 6</a:t>
            </a:r>
            <a:endParaRPr lang="ar-LB" sz="1500" dirty="0"/>
          </a:p>
        </p:txBody>
      </p:sp>
      <p:sp>
        <p:nvSpPr>
          <p:cNvPr id="9" name="Shape 7"/>
          <p:cNvSpPr/>
          <p:nvPr/>
        </p:nvSpPr>
        <p:spPr>
          <a:xfrm>
            <a:off x="457200" y="2194560"/>
            <a:ext cx="8229600" cy="2423160"/>
          </a:xfrm>
          <a:prstGeom prst="roundRect">
            <a:avLst>
              <a:gd name="adj" fmla="val 3774"/>
            </a:avLst>
          </a:prstGeom>
          <a:solidFill>
            <a:srgbClr val="1F7A45">
              <a:alpha val="10000"/>
            </a:srgbClr>
          </a:solidFill>
          <a:ln w="19050">
            <a:solidFill>
              <a:srgbClr val="1F7A45"/>
            </a:solidFill>
            <a:prstDash val="solid"/>
          </a:ln>
        </p:spPr>
      </p:sp>
      <p:sp>
        <p:nvSpPr>
          <p:cNvPr id="10" name="Shape 8"/>
          <p:cNvSpPr/>
          <p:nvPr/>
        </p:nvSpPr>
        <p:spPr>
          <a:xfrm>
            <a:off x="8119872" y="2304288"/>
            <a:ext cx="457200" cy="457200"/>
          </a:xfrm>
          <a:prstGeom prst="ellipse">
            <a:avLst/>
          </a:prstGeom>
          <a:solidFill>
            <a:srgbClr val="1F7A45"/>
          </a:solidFill>
          <a:ln w="12700">
            <a:solidFill>
              <a:srgbClr val="1F7A45"/>
            </a:solidFill>
            <a:prstDash val="solid"/>
          </a:ln>
        </p:spPr>
      </p:sp>
      <p:pic>
        <p:nvPicPr>
          <p:cNvPr id="11" name="Image 0" descr="أيقونة يد: نشاط لمسي">    </p:cNvPr>
          <p:cNvPicPr>
            <a:picLocks noChangeAspect="1"/>
          </p:cNvPicPr>
          <p:nvPr/>
        </p:nvPicPr>
        <p:blipFill>
          <a:blip r:embed="rId1"/>
          <a:stretch>
            <a:fillRect/>
          </a:stretch>
        </p:blipFill>
        <p:spPr>
          <a:xfrm>
            <a:off x="8229600" y="2414016"/>
            <a:ext cx="237744" cy="237744"/>
          </a:xfrm>
          <a:prstGeom prst="rect">
            <a:avLst/>
          </a:prstGeom>
        </p:spPr>
      </p:pic>
      <p:sp>
        <p:nvSpPr>
          <p:cNvPr id="12" name="Text 9"/>
          <p:cNvSpPr txBox="1"/>
          <p:nvPr/>
        </p:nvSpPr>
        <p:spPr>
          <a:xfrm>
            <a:off x="594360" y="2304288"/>
            <a:ext cx="745236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باللمس: خيطان، على كلٍّ منهما 3 خرزات</a:t>
            </a:r>
            <a:endParaRPr lang="ar-LB" sz="1800" dirty="0"/>
          </a:p>
        </p:txBody>
      </p:sp>
      <p:sp>
        <p:nvSpPr>
          <p:cNvPr id="13" name="Text 10"/>
          <p:cNvSpPr txBox="1"/>
          <p:nvPr/>
        </p:nvSpPr>
        <p:spPr>
          <a:xfrm>
            <a:off x="594360" y="2788920"/>
            <a:ext cx="7955280" cy="173736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2 أُس 3 = خيط عليه 3 خرزات. «الكلّ أُس 2» يعني: نأخذ هذا الخيط مرتين.</a:t>
            </a:r>
            <a:endParaRPr lang="ar-LB" sz="1700" dirty="0"/>
          </a:p>
          <a:p>
            <a:pPr rtl="1" algn="r" indent="0" marL="0">
              <a:spcAft>
                <a:spcPts val="400"/>
              </a:spcAft>
              <a:buNone/>
            </a:pPr>
            <a:r>
              <a:rPr lang="ar-LB" altLang="en-US" sz="1700" dirty="0">
                <a:solidFill>
                  <a:srgbClr val="1B262C"/>
                </a:solidFill>
              </a:rPr>
              <a:t>نربط الخيطين ونعدّ الخرزات كلها: 6 خرزات، إذن الناتج 2 أُس 6.</a:t>
            </a:r>
            <a:endParaRPr lang="ar-LB" sz="1700" dirty="0"/>
          </a:p>
          <a:p>
            <a:pPr rtl="1" algn="r" indent="0" marL="0">
              <a:spcAft>
                <a:spcPts val="400"/>
              </a:spcAft>
              <a:buNone/>
            </a:pPr>
            <a:r>
              <a:rPr lang="ar-LB" altLang="en-US" sz="1700" dirty="0">
                <a:solidFill>
                  <a:srgbClr val="1B262C"/>
                </a:solidFill>
              </a:rPr>
              <a:t>ثلاثة خيوط على كلٍّ منها خرزتان = 6 خرزات: (5 أُس 2) الكلّ أُس 3 = 5 أُس 6.</a:t>
            </a:r>
            <a:endParaRPr lang="ar-LB" sz="1700" dirty="0"/>
          </a:p>
          <a:p>
            <a:pPr rtl="1" algn="r" indent="0" marL="0">
              <a:spcAft>
                <a:spcPts val="400"/>
              </a:spcAft>
              <a:buNone/>
            </a:pPr>
            <a:r>
              <a:rPr lang="ar-LB" altLang="en-US" sz="1700" dirty="0">
                <a:solidFill>
                  <a:srgbClr val="1B262C"/>
                </a:solidFill>
              </a:rPr>
              <a:t>سؤال: كيف نعرف عدد الخرزات دون عدّها؟</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قاعدة قوّة القوّة</a:t>
            </a:r>
            <a:endParaRPr lang="en-US" sz="3200" dirty="0"/>
          </a:p>
        </p:txBody>
      </p:sp>
      <p:sp>
        <p:nvSpPr>
          <p:cNvPr id="3" name="Shape 1"/>
          <p:cNvSpPr/>
          <p:nvPr/>
        </p:nvSpPr>
        <p:spPr>
          <a:xfrm>
            <a:off x="1371600" y="914400"/>
            <a:ext cx="6400800" cy="1371600"/>
          </a:xfrm>
          <a:prstGeom prst="roundRect">
            <a:avLst>
              <a:gd name="adj" fmla="val 8000"/>
            </a:avLst>
          </a:prstGeom>
          <a:solidFill>
            <a:srgbClr val="0F4C5C"/>
          </a:solidFill>
          <a:ln w="12700">
            <a:solidFill>
              <a:srgbClr val="0F4C5C"/>
            </a:solidFill>
            <a:prstDash val="solid"/>
          </a:ln>
        </p:spPr>
      </p:sp>
      <p:sp>
        <p:nvSpPr>
          <p:cNvPr id="4" name="Text 2"/>
          <p:cNvSpPr txBox="1"/>
          <p:nvPr/>
        </p:nvSpPr>
        <p:spPr>
          <a:xfrm>
            <a:off x="1371600" y="914400"/>
            <a:ext cx="6400800" cy="914400"/>
          </a:xfrm>
          <a:prstGeom prst="rect">
            <a:avLst/>
          </a:prstGeom>
          <a:noFill/>
          <a:ln/>
        </p:spPr>
        <p:txBody>
          <a:bodyPr wrap="square" lIns="0" tIns="0" rIns="0" bIns="0" rtlCol="0" anchor="ctr"/>
          <a:lstStyle/>
          <a:p>
            <a:pPr rtl="0" algn="ctr" indent="0" marL="0">
              <a:buNone/>
            </a:pPr>
            <a:r>
              <a:rPr lang="en-US" sz="4400" b="1" dirty="0">
                <a:solidFill>
                  <a:srgbClr val="FFFFFF"/>
                </a:solidFill>
                <a:latin typeface="Arial" pitchFamily="34" charset="0"/>
                <a:ea typeface="Arial" pitchFamily="34" charset="-122"/>
                <a:cs typeface="Arial" pitchFamily="34" charset="-120"/>
              </a:rPr>
              <a:t>(a</a:t>
            </a:r>
            <a:r>
              <a:rPr lang="en-US" sz="4400" b="1" baseline="30000" dirty="0">
                <a:solidFill>
                  <a:srgbClr val="FFFFFF"/>
                </a:solidFill>
                <a:latin typeface="Arial" pitchFamily="34" charset="0"/>
                <a:ea typeface="Arial" pitchFamily="34" charset="-122"/>
                <a:cs typeface="Arial" pitchFamily="34" charset="-120"/>
              </a:rPr>
              <a:t>m</a:t>
            </a:r>
            <a:r>
              <a:rPr lang="en-US" sz="4400" b="1" dirty="0">
                <a:solidFill>
                  <a:srgbClr val="FFFFFF"/>
                </a:solidFill>
                <a:latin typeface="Arial" pitchFamily="34" charset="0"/>
                <a:ea typeface="Arial" pitchFamily="34" charset="-122"/>
                <a:cs typeface="Arial" pitchFamily="34" charset="-120"/>
              </a:rPr>
              <a:t>)</a:t>
            </a:r>
            <a:r>
              <a:rPr lang="en-US" sz="4400" b="1" baseline="30000" dirty="0">
                <a:solidFill>
                  <a:srgbClr val="FFFFFF"/>
                </a:solidFill>
                <a:latin typeface="Arial" pitchFamily="34" charset="0"/>
                <a:ea typeface="Arial" pitchFamily="34" charset="-122"/>
                <a:cs typeface="Arial" pitchFamily="34" charset="-120"/>
              </a:rPr>
              <a:t>n</a:t>
            </a:r>
            <a:r>
              <a:rPr lang="en-US" sz="4400" b="1" dirty="0">
                <a:solidFill>
                  <a:srgbClr val="FFFFFF"/>
                </a:solidFill>
                <a:latin typeface="Arial" pitchFamily="34" charset="0"/>
                <a:ea typeface="Arial" pitchFamily="34" charset="-122"/>
                <a:cs typeface="Arial" pitchFamily="34" charset="-120"/>
              </a:rPr>
              <a:t> = a</a:t>
            </a:r>
            <a:r>
              <a:rPr lang="en-US" sz="4400" b="1" baseline="30000" dirty="0">
                <a:solidFill>
                  <a:srgbClr val="FFFFFF"/>
                </a:solidFill>
                <a:latin typeface="Arial" pitchFamily="34" charset="0"/>
                <a:ea typeface="Arial" pitchFamily="34" charset="-122"/>
                <a:cs typeface="Arial" pitchFamily="34" charset="-120"/>
              </a:rPr>
              <a:t>m × n</a:t>
            </a:r>
            <a:endParaRPr lang="en-US" sz="4400" dirty="0"/>
          </a:p>
        </p:txBody>
      </p:sp>
      <p:sp>
        <p:nvSpPr>
          <p:cNvPr id="5" name="Text 3"/>
          <p:cNvSpPr txBox="1"/>
          <p:nvPr/>
        </p:nvSpPr>
        <p:spPr>
          <a:xfrm>
            <a:off x="1463040" y="1783080"/>
            <a:ext cx="6217920" cy="457200"/>
          </a:xfrm>
          <a:prstGeom prst="rect">
            <a:avLst/>
          </a:prstGeom>
          <a:noFill/>
          <a:ln/>
        </p:spPr>
        <p:txBody>
          <a:bodyPr wrap="square" lIns="0" tIns="0" rIns="0" bIns="0" rtlCol="0" anchor="t"/>
          <a:lstStyle/>
          <a:p>
            <a:pPr rtl="1" algn="ctr" indent="0" marL="0">
              <a:buNone/>
            </a:pPr>
            <a:r>
              <a:rPr lang="ar-LB" altLang="en-US" sz="1700" dirty="0">
                <a:solidFill>
                  <a:srgbClr val="FFFFFF"/>
                </a:solidFill>
              </a:rPr>
              <a:t>تُقرأ: (a أُس m) الكلّ أُس n = a أُس (m ضرب n)</a:t>
            </a:r>
            <a:endParaRPr lang="ar-LB" sz="1700" dirty="0"/>
          </a:p>
        </p:txBody>
      </p:sp>
      <p:sp>
        <p:nvSpPr>
          <p:cNvPr id="6" name="Text 4"/>
          <p:cNvSpPr txBox="1"/>
          <p:nvPr/>
        </p:nvSpPr>
        <p:spPr>
          <a:xfrm>
            <a:off x="457200" y="2423160"/>
            <a:ext cx="8229600" cy="457200"/>
          </a:xfrm>
          <a:prstGeom prst="rect">
            <a:avLst/>
          </a:prstGeom>
          <a:noFill/>
          <a:ln/>
        </p:spPr>
        <p:txBody>
          <a:bodyPr wrap="square" lIns="0" tIns="0" rIns="0" bIns="0" rtlCol="0" anchor="t"/>
          <a:lstStyle/>
          <a:p>
            <a:pPr rtl="1" algn="ctr" indent="0" marL="0">
              <a:buNone/>
            </a:pPr>
            <a:r>
              <a:rPr lang="ar-LB" altLang="en-US" sz="2200" b="1" dirty="0">
                <a:solidFill>
                  <a:srgbClr val="0F4C5C"/>
                </a:solidFill>
              </a:rPr>
              <a:t>نُبقي الأساس كما هو، ونضرب الأُسّين.</a:t>
            </a:r>
            <a:endParaRPr lang="ar-LB" sz="2200" dirty="0"/>
          </a:p>
        </p:txBody>
      </p:sp>
      <p:sp>
        <p:nvSpPr>
          <p:cNvPr id="7" name="Shape 5"/>
          <p:cNvSpPr/>
          <p:nvPr/>
        </p:nvSpPr>
        <p:spPr>
          <a:xfrm>
            <a:off x="4709160" y="3017520"/>
            <a:ext cx="3977640" cy="1463040"/>
          </a:xfrm>
          <a:prstGeom prst="roundRect">
            <a:avLst>
              <a:gd name="adj" fmla="val 6250"/>
            </a:avLst>
          </a:prstGeom>
          <a:solidFill>
            <a:srgbClr val="1F7A45">
              <a:alpha val="8000"/>
            </a:srgbClr>
          </a:solidFill>
          <a:ln w="19050">
            <a:solidFill>
              <a:srgbClr val="1F7A45"/>
            </a:solidFill>
            <a:prstDash val="solid"/>
          </a:ln>
        </p:spPr>
      </p:sp>
      <p:sp>
        <p:nvSpPr>
          <p:cNvPr id="8" name="Text 6"/>
          <p:cNvSpPr txBox="1"/>
          <p:nvPr/>
        </p:nvSpPr>
        <p:spPr>
          <a:xfrm>
            <a:off x="4800600" y="3063240"/>
            <a:ext cx="3794760" cy="760781"/>
          </a:xfrm>
          <a:prstGeom prst="rect">
            <a:avLst/>
          </a:prstGeom>
          <a:noFill/>
          <a:ln/>
        </p:spPr>
        <p:txBody>
          <a:bodyPr wrap="square" lIns="0" tIns="0" rIns="0" bIns="0" rtlCol="0" anchor="ctr"/>
          <a:lstStyle/>
          <a:p>
            <a:pPr rtl="0" algn="ctr" indent="0" marL="0">
              <a:buNone/>
            </a:pPr>
            <a:r>
              <a:rPr lang="en-US" sz="2400" b="1" dirty="0">
                <a:solidFill>
                  <a:srgbClr val="1F7A45"/>
                </a:solidFill>
                <a:latin typeface="Arial" pitchFamily="34" charset="0"/>
                <a:ea typeface="Arial" pitchFamily="34" charset="-122"/>
                <a:cs typeface="Arial" pitchFamily="34" charset="-120"/>
              </a:rPr>
              <a:t>(2</a:t>
            </a:r>
            <a:r>
              <a:rPr lang="en-US" sz="2400" b="1" baseline="30000" dirty="0">
                <a:solidFill>
                  <a:srgbClr val="1F7A45"/>
                </a:solidFill>
                <a:latin typeface="Arial" pitchFamily="34" charset="0"/>
                <a:ea typeface="Arial" pitchFamily="34" charset="-122"/>
                <a:cs typeface="Arial" pitchFamily="34" charset="-120"/>
              </a:rPr>
              <a:t>3</a:t>
            </a:r>
            <a:r>
              <a:rPr lang="en-US" sz="2400" b="1" dirty="0">
                <a:solidFill>
                  <a:srgbClr val="1F7A45"/>
                </a:solidFill>
                <a:latin typeface="Arial" pitchFamily="34" charset="0"/>
                <a:ea typeface="Arial" pitchFamily="34" charset="-122"/>
                <a:cs typeface="Arial" pitchFamily="34" charset="-120"/>
              </a:rPr>
              <a:t>)</a:t>
            </a:r>
            <a:r>
              <a:rPr lang="en-US" sz="2400" b="1" baseline="30000" dirty="0">
                <a:solidFill>
                  <a:srgbClr val="1F7A45"/>
                </a:solidFill>
                <a:latin typeface="Arial" pitchFamily="34" charset="0"/>
                <a:ea typeface="Arial" pitchFamily="34" charset="-122"/>
                <a:cs typeface="Arial" pitchFamily="34" charset="-120"/>
              </a:rPr>
              <a:t>2</a:t>
            </a:r>
            <a:r>
              <a:rPr lang="en-US" sz="2400" b="1" dirty="0">
                <a:solidFill>
                  <a:srgbClr val="1F7A45"/>
                </a:solidFill>
                <a:latin typeface="Arial" pitchFamily="34" charset="0"/>
                <a:ea typeface="Arial" pitchFamily="34" charset="-122"/>
                <a:cs typeface="Arial" pitchFamily="34" charset="-120"/>
              </a:rPr>
              <a:t> = 2</a:t>
            </a:r>
            <a:r>
              <a:rPr lang="en-US" sz="2400" b="1" baseline="30000" dirty="0">
                <a:solidFill>
                  <a:srgbClr val="1F7A45"/>
                </a:solidFill>
                <a:latin typeface="Arial" pitchFamily="34" charset="0"/>
                <a:ea typeface="Arial" pitchFamily="34" charset="-122"/>
                <a:cs typeface="Arial" pitchFamily="34" charset="-120"/>
              </a:rPr>
              <a:t>6</a:t>
            </a:r>
            <a:r>
              <a:rPr lang="en-US" sz="2400" b="1" dirty="0">
                <a:solidFill>
                  <a:srgbClr val="1F7A45"/>
                </a:solidFill>
                <a:latin typeface="Arial" pitchFamily="34" charset="0"/>
                <a:ea typeface="Arial" pitchFamily="34" charset="-122"/>
                <a:cs typeface="Arial" pitchFamily="34" charset="-120"/>
              </a:rPr>
              <a:t> = 64</a:t>
            </a:r>
            <a:endParaRPr lang="en-US" sz="2400" dirty="0"/>
          </a:p>
        </p:txBody>
      </p:sp>
      <p:sp>
        <p:nvSpPr>
          <p:cNvPr id="9" name="Text 7"/>
          <p:cNvSpPr txBox="1"/>
          <p:nvPr/>
        </p:nvSpPr>
        <p:spPr>
          <a:xfrm>
            <a:off x="4818888" y="3822192"/>
            <a:ext cx="3758184" cy="61447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صحيح: 2 أُس 6 = 64</a:t>
            </a:r>
            <a:endParaRPr lang="ar-LB" sz="1500" dirty="0"/>
          </a:p>
        </p:txBody>
      </p:sp>
      <p:sp>
        <p:nvSpPr>
          <p:cNvPr id="10" name="Shape 8"/>
          <p:cNvSpPr/>
          <p:nvPr/>
        </p:nvSpPr>
        <p:spPr>
          <a:xfrm>
            <a:off x="457200" y="3017520"/>
            <a:ext cx="3977640" cy="1463040"/>
          </a:xfrm>
          <a:prstGeom prst="roundRect">
            <a:avLst>
              <a:gd name="adj" fmla="val 6250"/>
            </a:avLst>
          </a:prstGeom>
          <a:solidFill>
            <a:srgbClr val="C2500C">
              <a:alpha val="8000"/>
            </a:srgbClr>
          </a:solidFill>
          <a:ln w="19050">
            <a:solidFill>
              <a:srgbClr val="C2500C"/>
            </a:solidFill>
            <a:prstDash val="solid"/>
          </a:ln>
        </p:spPr>
      </p:sp>
      <p:sp>
        <p:nvSpPr>
          <p:cNvPr id="11" name="Text 9"/>
          <p:cNvSpPr txBox="1"/>
          <p:nvPr/>
        </p:nvSpPr>
        <p:spPr>
          <a:xfrm>
            <a:off x="548640" y="3063240"/>
            <a:ext cx="3794760" cy="760781"/>
          </a:xfrm>
          <a:prstGeom prst="rect">
            <a:avLst/>
          </a:prstGeom>
          <a:noFill/>
          <a:ln/>
        </p:spPr>
        <p:txBody>
          <a:bodyPr wrap="square" lIns="0" tIns="0" rIns="0" bIns="0" rtlCol="0" anchor="ctr"/>
          <a:lstStyle/>
          <a:p>
            <a:pPr rtl="0" algn="ctr" indent="0" marL="0">
              <a:buNone/>
            </a:pPr>
            <a:r>
              <a:rPr lang="en-US" sz="2400" b="1" dirty="0">
                <a:solidFill>
                  <a:srgbClr val="C2500C"/>
                </a:solidFill>
                <a:latin typeface="Arial" pitchFamily="34" charset="0"/>
                <a:ea typeface="Arial" pitchFamily="34" charset="-122"/>
                <a:cs typeface="Arial" pitchFamily="34" charset="-120"/>
              </a:rPr>
              <a:t>(2</a:t>
            </a:r>
            <a:r>
              <a:rPr lang="en-US" sz="2400" b="1" baseline="30000" dirty="0">
                <a:solidFill>
                  <a:srgbClr val="C2500C"/>
                </a:solidFill>
                <a:latin typeface="Arial" pitchFamily="34" charset="0"/>
                <a:ea typeface="Arial" pitchFamily="34" charset="-122"/>
                <a:cs typeface="Arial" pitchFamily="34" charset="-120"/>
              </a:rPr>
              <a:t>3</a:t>
            </a:r>
            <a:r>
              <a:rPr lang="en-US" sz="2400" b="1" dirty="0">
                <a:solidFill>
                  <a:srgbClr val="C2500C"/>
                </a:solidFill>
                <a:latin typeface="Arial" pitchFamily="34" charset="0"/>
                <a:ea typeface="Arial" pitchFamily="34" charset="-122"/>
                <a:cs typeface="Arial" pitchFamily="34" charset="-120"/>
              </a:rPr>
              <a:t>)</a:t>
            </a:r>
            <a:r>
              <a:rPr lang="en-US" sz="2400" b="1" baseline="30000" dirty="0">
                <a:solidFill>
                  <a:srgbClr val="C2500C"/>
                </a:solidFill>
                <a:latin typeface="Arial" pitchFamily="34" charset="0"/>
                <a:ea typeface="Arial" pitchFamily="34" charset="-122"/>
                <a:cs typeface="Arial" pitchFamily="34" charset="-120"/>
              </a:rPr>
              <a:t>2</a:t>
            </a:r>
            <a:r>
              <a:rPr lang="en-US" sz="2400" b="1" dirty="0">
                <a:solidFill>
                  <a:srgbClr val="C2500C"/>
                </a:solidFill>
                <a:latin typeface="Arial" pitchFamily="34" charset="0"/>
                <a:ea typeface="Arial" pitchFamily="34" charset="-122"/>
                <a:cs typeface="Arial" pitchFamily="34" charset="-120"/>
              </a:rPr>
              <a:t> ≠ 2</a:t>
            </a:r>
            <a:r>
              <a:rPr lang="en-US" sz="2400" b="1" baseline="30000" dirty="0">
                <a:solidFill>
                  <a:srgbClr val="C2500C"/>
                </a:solidFill>
                <a:latin typeface="Arial" pitchFamily="34" charset="0"/>
                <a:ea typeface="Arial" pitchFamily="34" charset="-122"/>
                <a:cs typeface="Arial" pitchFamily="34" charset="-120"/>
              </a:rPr>
              <a:t>5</a:t>
            </a:r>
            <a:endParaRPr lang="en-US" sz="2400" dirty="0"/>
          </a:p>
        </p:txBody>
      </p:sp>
      <p:sp>
        <p:nvSpPr>
          <p:cNvPr id="12" name="Text 10"/>
          <p:cNvSpPr txBox="1"/>
          <p:nvPr/>
        </p:nvSpPr>
        <p:spPr>
          <a:xfrm>
            <a:off x="566928" y="3822192"/>
            <a:ext cx="3758184" cy="614477"/>
          </a:xfrm>
          <a:prstGeom prst="rect">
            <a:avLst/>
          </a:prstGeom>
          <a:noFill/>
          <a:ln/>
        </p:spPr>
        <p:txBody>
          <a:bodyPr wrap="square" lIns="0" tIns="0" rIns="0" bIns="0" rtlCol="0" anchor="ctr"/>
          <a:lstStyle/>
          <a:p>
            <a:pPr rtl="1" algn="ctr" indent="0" marL="0">
              <a:buNone/>
            </a:pPr>
            <a:r>
              <a:rPr lang="ar-LB" altLang="en-US" sz="1500" dirty="0">
                <a:solidFill>
                  <a:srgbClr val="3E4A52"/>
                </a:solidFill>
              </a:rPr>
              <a:t>تُقرأ: خطأ شائع: لا نجمع الأُسّين؛ 2 أُس 5 = 32</a:t>
            </a:r>
            <a:endParaRPr lang="ar-LB" sz="15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أمثلة محلولة</a:t>
            </a:r>
            <a:endParaRPr lang="en-US" sz="3200" dirty="0"/>
          </a:p>
        </p:txBody>
      </p:sp>
      <p:sp>
        <p:nvSpPr>
          <p:cNvPr id="3" name="Shape 1"/>
          <p:cNvSpPr/>
          <p:nvPr/>
        </p:nvSpPr>
        <p:spPr>
          <a:xfrm>
            <a:off x="457200" y="914400"/>
            <a:ext cx="8229600" cy="822960"/>
          </a:xfrm>
          <a:prstGeom prst="roundRect">
            <a:avLst>
              <a:gd name="adj" fmla="val 11111"/>
            </a:avLst>
          </a:prstGeom>
          <a:solidFill>
            <a:srgbClr val="1F5C99">
              <a:alpha val="8000"/>
            </a:srgbClr>
          </a:solidFill>
          <a:ln w="19050">
            <a:solidFill>
              <a:srgbClr val="1F5C99"/>
            </a:solidFill>
            <a:prstDash val="solid"/>
          </a:ln>
        </p:spPr>
      </p:sp>
      <p:sp>
        <p:nvSpPr>
          <p:cNvPr id="4" name="Text 2"/>
          <p:cNvSpPr txBox="1"/>
          <p:nvPr/>
        </p:nvSpPr>
        <p:spPr>
          <a:xfrm>
            <a:off x="594360" y="914400"/>
            <a:ext cx="3931920" cy="822960"/>
          </a:xfrm>
          <a:prstGeom prst="rect">
            <a:avLst/>
          </a:prstGeom>
          <a:noFill/>
          <a:ln/>
        </p:spPr>
        <p:txBody>
          <a:bodyPr wrap="square" lIns="0" tIns="0" rIns="0" bIns="0" rtlCol="0" anchor="ctr"/>
          <a:lstStyle/>
          <a:p>
            <a:pPr rtl="0" algn="l" indent="0" marL="0">
              <a:buNone/>
            </a:pPr>
            <a:r>
              <a:rPr lang="en-US" sz="2200" b="1" dirty="0">
                <a:solidFill>
                  <a:srgbClr val="1B262C"/>
                </a:solidFill>
                <a:latin typeface="Arial" pitchFamily="34" charset="0"/>
                <a:ea typeface="Arial" pitchFamily="34" charset="-122"/>
                <a:cs typeface="Arial" pitchFamily="34" charset="-120"/>
              </a:rPr>
              <a:t>(3</a:t>
            </a:r>
            <a:r>
              <a:rPr lang="en-US" sz="2200" b="1" baseline="30000" dirty="0">
                <a:solidFill>
                  <a:srgbClr val="1B262C"/>
                </a:solidFill>
                <a:latin typeface="Arial" pitchFamily="34" charset="0"/>
                <a:ea typeface="Arial" pitchFamily="34" charset="-122"/>
                <a:cs typeface="Arial" pitchFamily="34" charset="-120"/>
              </a:rPr>
              <a:t>2</a:t>
            </a:r>
            <a:r>
              <a:rPr lang="en-US" sz="2200" b="1" dirty="0">
                <a:solidFill>
                  <a:srgbClr val="1B262C"/>
                </a:solidFill>
                <a:latin typeface="Arial" pitchFamily="34" charset="0"/>
                <a:ea typeface="Arial" pitchFamily="34" charset="-122"/>
                <a:cs typeface="Arial" pitchFamily="34" charset="-120"/>
              </a:rPr>
              <a:t>)</a:t>
            </a:r>
            <a:r>
              <a:rPr lang="en-US" sz="2200" b="1" baseline="30000" dirty="0">
                <a:solidFill>
                  <a:srgbClr val="1B262C"/>
                </a:solidFill>
                <a:latin typeface="Arial" pitchFamily="34" charset="0"/>
                <a:ea typeface="Arial" pitchFamily="34" charset="-122"/>
                <a:cs typeface="Arial" pitchFamily="34" charset="-120"/>
              </a:rPr>
              <a:t>2</a:t>
            </a:r>
            <a:r>
              <a:rPr lang="en-US" sz="2200" b="1" dirty="0">
                <a:solidFill>
                  <a:srgbClr val="1B262C"/>
                </a:solidFill>
                <a:latin typeface="Arial" pitchFamily="34" charset="0"/>
                <a:ea typeface="Arial" pitchFamily="34" charset="-122"/>
                <a:cs typeface="Arial" pitchFamily="34" charset="-120"/>
              </a:rPr>
              <a:t> = 3</a:t>
            </a:r>
            <a:r>
              <a:rPr lang="en-US" sz="2200" b="1" baseline="30000" dirty="0">
                <a:solidFill>
                  <a:srgbClr val="1B262C"/>
                </a:solidFill>
                <a:latin typeface="Arial" pitchFamily="34" charset="0"/>
                <a:ea typeface="Arial" pitchFamily="34" charset="-122"/>
                <a:cs typeface="Arial" pitchFamily="34" charset="-120"/>
              </a:rPr>
              <a:t>4</a:t>
            </a:r>
            <a:r>
              <a:rPr lang="en-US" sz="2200" b="1" dirty="0">
                <a:solidFill>
                  <a:srgbClr val="1B262C"/>
                </a:solidFill>
                <a:latin typeface="Arial" pitchFamily="34" charset="0"/>
                <a:ea typeface="Arial" pitchFamily="34" charset="-122"/>
                <a:cs typeface="Arial" pitchFamily="34" charset="-120"/>
              </a:rPr>
              <a:t> = 81</a:t>
            </a:r>
            <a:endParaRPr lang="en-US" sz="2200" dirty="0"/>
          </a:p>
        </p:txBody>
      </p:sp>
      <p:sp>
        <p:nvSpPr>
          <p:cNvPr id="5" name="Text 3"/>
          <p:cNvSpPr txBox="1"/>
          <p:nvPr/>
        </p:nvSpPr>
        <p:spPr>
          <a:xfrm>
            <a:off x="4572000" y="914400"/>
            <a:ext cx="3977640" cy="822960"/>
          </a:xfrm>
          <a:prstGeom prst="rect">
            <a:avLst/>
          </a:prstGeom>
          <a:noFill/>
          <a:ln/>
        </p:spPr>
        <p:txBody>
          <a:bodyPr wrap="square" lIns="0" tIns="0" rIns="0" bIns="0" rtlCol="0" anchor="ctr"/>
          <a:lstStyle/>
          <a:p>
            <a:pPr rtl="1" algn="r" indent="0" marL="0">
              <a:buNone/>
            </a:pPr>
            <a:r>
              <a:rPr lang="ar-LB" altLang="en-US" sz="1600" dirty="0">
                <a:solidFill>
                  <a:srgbClr val="1B262C"/>
                </a:solidFill>
              </a:rPr>
              <a:t>(3 أُس 2) الكلّ أُس 2 = 3 أُس 4 = 81</a:t>
            </a:r>
            <a:endParaRPr lang="ar-LB" sz="1600" dirty="0"/>
          </a:p>
        </p:txBody>
      </p:sp>
      <p:sp>
        <p:nvSpPr>
          <p:cNvPr id="6" name="Shape 4"/>
          <p:cNvSpPr/>
          <p:nvPr/>
        </p:nvSpPr>
        <p:spPr>
          <a:xfrm>
            <a:off x="457200" y="1847088"/>
            <a:ext cx="8229600" cy="822960"/>
          </a:xfrm>
          <a:prstGeom prst="roundRect">
            <a:avLst>
              <a:gd name="adj" fmla="val 11111"/>
            </a:avLst>
          </a:prstGeom>
          <a:solidFill>
            <a:srgbClr val="0B6E70">
              <a:alpha val="8000"/>
            </a:srgbClr>
          </a:solidFill>
          <a:ln w="19050">
            <a:solidFill>
              <a:srgbClr val="0B6E70"/>
            </a:solidFill>
            <a:prstDash val="solid"/>
          </a:ln>
        </p:spPr>
      </p:sp>
      <p:sp>
        <p:nvSpPr>
          <p:cNvPr id="7" name="Text 5"/>
          <p:cNvSpPr txBox="1"/>
          <p:nvPr/>
        </p:nvSpPr>
        <p:spPr>
          <a:xfrm>
            <a:off x="594360" y="1847088"/>
            <a:ext cx="3931920" cy="822960"/>
          </a:xfrm>
          <a:prstGeom prst="rect">
            <a:avLst/>
          </a:prstGeom>
          <a:noFill/>
          <a:ln/>
        </p:spPr>
        <p:txBody>
          <a:bodyPr wrap="square" lIns="0" tIns="0" rIns="0" bIns="0" rtlCol="0" anchor="ctr"/>
          <a:lstStyle/>
          <a:p>
            <a:pPr rtl="0" algn="l" indent="0" marL="0">
              <a:buNone/>
            </a:pPr>
            <a:r>
              <a:rPr lang="en-US" sz="2200" b="1" dirty="0">
                <a:solidFill>
                  <a:srgbClr val="1B262C"/>
                </a:solidFill>
                <a:latin typeface="Arial" pitchFamily="34" charset="0"/>
                <a:ea typeface="Arial" pitchFamily="34" charset="-122"/>
                <a:cs typeface="Arial" pitchFamily="34" charset="-120"/>
              </a:rPr>
              <a:t>(10</a:t>
            </a:r>
            <a:r>
              <a:rPr lang="en-US" sz="2200" b="1" baseline="30000" dirty="0">
                <a:solidFill>
                  <a:srgbClr val="1B262C"/>
                </a:solidFill>
                <a:latin typeface="Arial" pitchFamily="34" charset="0"/>
                <a:ea typeface="Arial" pitchFamily="34" charset="-122"/>
                <a:cs typeface="Arial" pitchFamily="34" charset="-120"/>
              </a:rPr>
              <a:t>2</a:t>
            </a:r>
            <a:r>
              <a:rPr lang="en-US" sz="2200" b="1" dirty="0">
                <a:solidFill>
                  <a:srgbClr val="1B262C"/>
                </a:solidFill>
                <a:latin typeface="Arial" pitchFamily="34" charset="0"/>
                <a:ea typeface="Arial" pitchFamily="34" charset="-122"/>
                <a:cs typeface="Arial" pitchFamily="34" charset="-120"/>
              </a:rPr>
              <a:t>)</a:t>
            </a:r>
            <a:r>
              <a:rPr lang="en-US" sz="2200" b="1" baseline="30000" dirty="0">
                <a:solidFill>
                  <a:srgbClr val="1B262C"/>
                </a:solidFill>
                <a:latin typeface="Arial" pitchFamily="34" charset="0"/>
                <a:ea typeface="Arial" pitchFamily="34" charset="-122"/>
                <a:cs typeface="Arial" pitchFamily="34" charset="-120"/>
              </a:rPr>
              <a:t>3</a:t>
            </a:r>
            <a:r>
              <a:rPr lang="en-US" sz="2200" b="1" dirty="0">
                <a:solidFill>
                  <a:srgbClr val="1B262C"/>
                </a:solidFill>
                <a:latin typeface="Arial" pitchFamily="34" charset="0"/>
                <a:ea typeface="Arial" pitchFamily="34" charset="-122"/>
                <a:cs typeface="Arial" pitchFamily="34" charset="-120"/>
              </a:rPr>
              <a:t> = 10</a:t>
            </a:r>
            <a:r>
              <a:rPr lang="en-US" sz="2200" b="1" baseline="30000" dirty="0">
                <a:solidFill>
                  <a:srgbClr val="1B262C"/>
                </a:solidFill>
                <a:latin typeface="Arial" pitchFamily="34" charset="0"/>
                <a:ea typeface="Arial" pitchFamily="34" charset="-122"/>
                <a:cs typeface="Arial" pitchFamily="34" charset="-120"/>
              </a:rPr>
              <a:t>6</a:t>
            </a:r>
            <a:r>
              <a:rPr lang="en-US" sz="2200" b="1" dirty="0">
                <a:solidFill>
                  <a:srgbClr val="1B262C"/>
                </a:solidFill>
                <a:latin typeface="Arial" pitchFamily="34" charset="0"/>
                <a:ea typeface="Arial" pitchFamily="34" charset="-122"/>
                <a:cs typeface="Arial" pitchFamily="34" charset="-120"/>
              </a:rPr>
              <a:t> = 1 000 000</a:t>
            </a:r>
            <a:endParaRPr lang="en-US" sz="2200" dirty="0"/>
          </a:p>
        </p:txBody>
      </p:sp>
      <p:sp>
        <p:nvSpPr>
          <p:cNvPr id="8" name="Text 6"/>
          <p:cNvSpPr txBox="1"/>
          <p:nvPr/>
        </p:nvSpPr>
        <p:spPr>
          <a:xfrm>
            <a:off x="4572000" y="1847088"/>
            <a:ext cx="3977640" cy="822960"/>
          </a:xfrm>
          <a:prstGeom prst="rect">
            <a:avLst/>
          </a:prstGeom>
          <a:noFill/>
          <a:ln/>
        </p:spPr>
        <p:txBody>
          <a:bodyPr wrap="square" lIns="0" tIns="0" rIns="0" bIns="0" rtlCol="0" anchor="ctr"/>
          <a:lstStyle/>
          <a:p>
            <a:pPr rtl="1" algn="r" indent="0" marL="0">
              <a:buNone/>
            </a:pPr>
            <a:r>
              <a:rPr lang="ar-LB" altLang="en-US" sz="1600" dirty="0">
                <a:solidFill>
                  <a:srgbClr val="1B262C"/>
                </a:solidFill>
              </a:rPr>
              <a:t>(10 أُس 2) الكلّ أُس 3 = 10 أُس 6 = مليون</a:t>
            </a:r>
            <a:endParaRPr lang="ar-LB" sz="1600" dirty="0"/>
          </a:p>
        </p:txBody>
      </p:sp>
      <p:sp>
        <p:nvSpPr>
          <p:cNvPr id="9" name="Shape 7"/>
          <p:cNvSpPr/>
          <p:nvPr/>
        </p:nvSpPr>
        <p:spPr>
          <a:xfrm>
            <a:off x="457200" y="2779776"/>
            <a:ext cx="8229600" cy="822960"/>
          </a:xfrm>
          <a:prstGeom prst="roundRect">
            <a:avLst>
              <a:gd name="adj" fmla="val 11111"/>
            </a:avLst>
          </a:prstGeom>
          <a:solidFill>
            <a:srgbClr val="1F5C99">
              <a:alpha val="8000"/>
            </a:srgbClr>
          </a:solidFill>
          <a:ln w="19050">
            <a:solidFill>
              <a:srgbClr val="1F5C99"/>
            </a:solidFill>
            <a:prstDash val="solid"/>
          </a:ln>
        </p:spPr>
      </p:sp>
      <p:sp>
        <p:nvSpPr>
          <p:cNvPr id="10" name="Text 8"/>
          <p:cNvSpPr txBox="1"/>
          <p:nvPr/>
        </p:nvSpPr>
        <p:spPr>
          <a:xfrm>
            <a:off x="594360" y="2779776"/>
            <a:ext cx="3931920" cy="822960"/>
          </a:xfrm>
          <a:prstGeom prst="rect">
            <a:avLst/>
          </a:prstGeom>
          <a:noFill/>
          <a:ln/>
        </p:spPr>
        <p:txBody>
          <a:bodyPr wrap="square" lIns="0" tIns="0" rIns="0" bIns="0" rtlCol="0" anchor="ctr"/>
          <a:lstStyle/>
          <a:p>
            <a:pPr rtl="0" algn="l" indent="0" marL="0">
              <a:buNone/>
            </a:pPr>
            <a:r>
              <a:rPr lang="en-US" sz="2200" b="1" dirty="0">
                <a:solidFill>
                  <a:srgbClr val="1B262C"/>
                </a:solidFill>
                <a:latin typeface="Arial" pitchFamily="34" charset="0"/>
                <a:ea typeface="Arial" pitchFamily="34" charset="-122"/>
                <a:cs typeface="Arial" pitchFamily="34" charset="-120"/>
              </a:rPr>
              <a:t>(2</a:t>
            </a:r>
            <a:r>
              <a:rPr lang="en-US" sz="2200" b="1" baseline="30000" dirty="0">
                <a:solidFill>
                  <a:srgbClr val="1B262C"/>
                </a:solidFill>
                <a:latin typeface="Arial" pitchFamily="34" charset="0"/>
                <a:ea typeface="Arial" pitchFamily="34" charset="-122"/>
                <a:cs typeface="Arial" pitchFamily="34" charset="-120"/>
              </a:rPr>
              <a:t>5</a:t>
            </a:r>
            <a:r>
              <a:rPr lang="en-US" sz="2200" b="1" dirty="0">
                <a:solidFill>
                  <a:srgbClr val="1B262C"/>
                </a:solidFill>
                <a:latin typeface="Arial" pitchFamily="34" charset="0"/>
                <a:ea typeface="Arial" pitchFamily="34" charset="-122"/>
                <a:cs typeface="Arial" pitchFamily="34" charset="-120"/>
              </a:rPr>
              <a:t>)</a:t>
            </a:r>
            <a:r>
              <a:rPr lang="en-US" sz="2200" b="1" baseline="30000" dirty="0">
                <a:solidFill>
                  <a:srgbClr val="1B262C"/>
                </a:solidFill>
                <a:latin typeface="Arial" pitchFamily="34" charset="0"/>
                <a:ea typeface="Arial" pitchFamily="34" charset="-122"/>
                <a:cs typeface="Arial" pitchFamily="34" charset="-120"/>
              </a:rPr>
              <a:t>2</a:t>
            </a:r>
            <a:r>
              <a:rPr lang="en-US" sz="2200" b="1" dirty="0">
                <a:solidFill>
                  <a:srgbClr val="1B262C"/>
                </a:solidFill>
                <a:latin typeface="Arial" pitchFamily="34" charset="0"/>
                <a:ea typeface="Arial" pitchFamily="34" charset="-122"/>
                <a:cs typeface="Arial" pitchFamily="34" charset="-120"/>
              </a:rPr>
              <a:t> = 2</a:t>
            </a:r>
            <a:r>
              <a:rPr lang="en-US" sz="2200" b="1" baseline="30000" dirty="0">
                <a:solidFill>
                  <a:srgbClr val="1B262C"/>
                </a:solidFill>
                <a:latin typeface="Arial" pitchFamily="34" charset="0"/>
                <a:ea typeface="Arial" pitchFamily="34" charset="-122"/>
                <a:cs typeface="Arial" pitchFamily="34" charset="-120"/>
              </a:rPr>
              <a:t>10</a:t>
            </a:r>
            <a:r>
              <a:rPr lang="en-US" sz="2200" b="1" dirty="0">
                <a:solidFill>
                  <a:srgbClr val="1B262C"/>
                </a:solidFill>
                <a:latin typeface="Arial" pitchFamily="34" charset="0"/>
                <a:ea typeface="Arial" pitchFamily="34" charset="-122"/>
                <a:cs typeface="Arial" pitchFamily="34" charset="-120"/>
              </a:rPr>
              <a:t> = 1024</a:t>
            </a:r>
            <a:endParaRPr lang="en-US" sz="2200" dirty="0"/>
          </a:p>
        </p:txBody>
      </p:sp>
      <p:sp>
        <p:nvSpPr>
          <p:cNvPr id="11" name="Text 9"/>
          <p:cNvSpPr txBox="1"/>
          <p:nvPr/>
        </p:nvSpPr>
        <p:spPr>
          <a:xfrm>
            <a:off x="4572000" y="2779776"/>
            <a:ext cx="3977640" cy="822960"/>
          </a:xfrm>
          <a:prstGeom prst="rect">
            <a:avLst/>
          </a:prstGeom>
          <a:noFill/>
          <a:ln/>
        </p:spPr>
        <p:txBody>
          <a:bodyPr wrap="square" lIns="0" tIns="0" rIns="0" bIns="0" rtlCol="0" anchor="ctr"/>
          <a:lstStyle/>
          <a:p>
            <a:pPr rtl="1" algn="r" indent="0" marL="0">
              <a:buNone/>
            </a:pPr>
            <a:r>
              <a:rPr lang="ar-LB" altLang="en-US" sz="1600" dirty="0">
                <a:solidFill>
                  <a:srgbClr val="1B262C"/>
                </a:solidFill>
              </a:rPr>
              <a:t>(2 أُس 5) الكلّ أُس 2 = 2 أُس 10 = 1024</a:t>
            </a:r>
            <a:endParaRPr lang="ar-LB" sz="1600" dirty="0"/>
          </a:p>
        </p:txBody>
      </p:sp>
      <p:sp>
        <p:nvSpPr>
          <p:cNvPr id="12" name="Shape 10"/>
          <p:cNvSpPr/>
          <p:nvPr/>
        </p:nvSpPr>
        <p:spPr>
          <a:xfrm>
            <a:off x="457200" y="3712464"/>
            <a:ext cx="8229600" cy="822960"/>
          </a:xfrm>
          <a:prstGeom prst="roundRect">
            <a:avLst>
              <a:gd name="adj" fmla="val 11111"/>
            </a:avLst>
          </a:prstGeom>
          <a:solidFill>
            <a:srgbClr val="0B6E70">
              <a:alpha val="8000"/>
            </a:srgbClr>
          </a:solidFill>
          <a:ln w="19050">
            <a:solidFill>
              <a:srgbClr val="0B6E70"/>
            </a:solidFill>
            <a:prstDash val="solid"/>
          </a:ln>
        </p:spPr>
      </p:sp>
      <p:sp>
        <p:nvSpPr>
          <p:cNvPr id="13" name="Text 11"/>
          <p:cNvSpPr txBox="1"/>
          <p:nvPr/>
        </p:nvSpPr>
        <p:spPr>
          <a:xfrm>
            <a:off x="594360" y="3712464"/>
            <a:ext cx="3931920" cy="822960"/>
          </a:xfrm>
          <a:prstGeom prst="rect">
            <a:avLst/>
          </a:prstGeom>
          <a:noFill/>
          <a:ln/>
        </p:spPr>
        <p:txBody>
          <a:bodyPr wrap="square" lIns="0" tIns="0" rIns="0" bIns="0" rtlCol="0" anchor="ctr"/>
          <a:lstStyle/>
          <a:p>
            <a:pPr rtl="0" algn="l" indent="0" marL="0">
              <a:buNone/>
            </a:pPr>
            <a:r>
              <a:rPr lang="en-US" sz="2200" b="1" dirty="0">
                <a:solidFill>
                  <a:srgbClr val="1B262C"/>
                </a:solidFill>
                <a:latin typeface="Arial" pitchFamily="34" charset="0"/>
                <a:ea typeface="Arial" pitchFamily="34" charset="-122"/>
                <a:cs typeface="Arial" pitchFamily="34" charset="-120"/>
              </a:rPr>
              <a:t>(x</a:t>
            </a:r>
            <a:r>
              <a:rPr lang="en-US" sz="2200" b="1" baseline="30000" dirty="0">
                <a:solidFill>
                  <a:srgbClr val="1B262C"/>
                </a:solidFill>
                <a:latin typeface="Arial" pitchFamily="34" charset="0"/>
                <a:ea typeface="Arial" pitchFamily="34" charset="-122"/>
                <a:cs typeface="Arial" pitchFamily="34" charset="-120"/>
              </a:rPr>
              <a:t>4</a:t>
            </a:r>
            <a:r>
              <a:rPr lang="en-US" sz="2200" b="1" dirty="0">
                <a:solidFill>
                  <a:srgbClr val="1B262C"/>
                </a:solidFill>
                <a:latin typeface="Arial" pitchFamily="34" charset="0"/>
                <a:ea typeface="Arial" pitchFamily="34" charset="-122"/>
                <a:cs typeface="Arial" pitchFamily="34" charset="-120"/>
              </a:rPr>
              <a:t>)</a:t>
            </a:r>
            <a:r>
              <a:rPr lang="en-US" sz="2200" b="1" baseline="30000" dirty="0">
                <a:solidFill>
                  <a:srgbClr val="1B262C"/>
                </a:solidFill>
                <a:latin typeface="Arial" pitchFamily="34" charset="0"/>
                <a:ea typeface="Arial" pitchFamily="34" charset="-122"/>
                <a:cs typeface="Arial" pitchFamily="34" charset="-120"/>
              </a:rPr>
              <a:t>3</a:t>
            </a:r>
            <a:r>
              <a:rPr lang="en-US" sz="2200" b="1" dirty="0">
                <a:solidFill>
                  <a:srgbClr val="1B262C"/>
                </a:solidFill>
                <a:latin typeface="Arial" pitchFamily="34" charset="0"/>
                <a:ea typeface="Arial" pitchFamily="34" charset="-122"/>
                <a:cs typeface="Arial" pitchFamily="34" charset="-120"/>
              </a:rPr>
              <a:t> = x</a:t>
            </a:r>
            <a:r>
              <a:rPr lang="en-US" sz="2200" b="1" baseline="30000" dirty="0">
                <a:solidFill>
                  <a:srgbClr val="1B262C"/>
                </a:solidFill>
                <a:latin typeface="Arial" pitchFamily="34" charset="0"/>
                <a:ea typeface="Arial" pitchFamily="34" charset="-122"/>
                <a:cs typeface="Arial" pitchFamily="34" charset="-120"/>
              </a:rPr>
              <a:t>12</a:t>
            </a:r>
            <a:endParaRPr lang="en-US" sz="2200" dirty="0"/>
          </a:p>
        </p:txBody>
      </p:sp>
      <p:sp>
        <p:nvSpPr>
          <p:cNvPr id="14" name="Text 12"/>
          <p:cNvSpPr txBox="1"/>
          <p:nvPr/>
        </p:nvSpPr>
        <p:spPr>
          <a:xfrm>
            <a:off x="4572000" y="3712464"/>
            <a:ext cx="3977640" cy="822960"/>
          </a:xfrm>
          <a:prstGeom prst="rect">
            <a:avLst/>
          </a:prstGeom>
          <a:noFill/>
          <a:ln/>
        </p:spPr>
        <p:txBody>
          <a:bodyPr wrap="square" lIns="0" tIns="0" rIns="0" bIns="0" rtlCol="0" anchor="ctr"/>
          <a:lstStyle/>
          <a:p>
            <a:pPr rtl="1" algn="r" indent="0" marL="0">
              <a:buNone/>
            </a:pPr>
            <a:r>
              <a:rPr lang="ar-LB" altLang="en-US" sz="1600" dirty="0">
                <a:solidFill>
                  <a:srgbClr val="1B262C"/>
                </a:solidFill>
              </a:rPr>
              <a:t>(x أُس 4) الكلّ أُس 3 = x أُس 12</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قوّة القوّة في الحياة: باللمس</a:t>
            </a:r>
            <a:endParaRPr lang="en-US" sz="3200" dirty="0"/>
          </a:p>
        </p:txBody>
      </p:sp>
      <p:sp>
        <p:nvSpPr>
          <p:cNvPr id="3" name="Shape 1"/>
          <p:cNvSpPr/>
          <p:nvPr/>
        </p:nvSpPr>
        <p:spPr>
          <a:xfrm>
            <a:off x="4709160" y="914400"/>
            <a:ext cx="3977640" cy="3703320"/>
          </a:xfrm>
          <a:prstGeom prst="roundRect">
            <a:avLst>
              <a:gd name="adj" fmla="val 2469"/>
            </a:avLst>
          </a:prstGeom>
          <a:solidFill>
            <a:srgbClr val="0B6E70">
              <a:alpha val="10000"/>
            </a:srgbClr>
          </a:solidFill>
          <a:ln w="19050">
            <a:solidFill>
              <a:srgbClr val="0B6E70"/>
            </a:solidFill>
            <a:prstDash val="solid"/>
          </a:ln>
        </p:spPr>
      </p:sp>
      <p:sp>
        <p:nvSpPr>
          <p:cNvPr id="4" name="Shape 2"/>
          <p:cNvSpPr/>
          <p:nvPr/>
        </p:nvSpPr>
        <p:spPr>
          <a:xfrm>
            <a:off x="8119872" y="1024128"/>
            <a:ext cx="457200" cy="457200"/>
          </a:xfrm>
          <a:prstGeom prst="ellipse">
            <a:avLst/>
          </a:prstGeom>
          <a:solidFill>
            <a:srgbClr val="0B6E70"/>
          </a:solidFill>
          <a:ln w="12700">
            <a:solidFill>
              <a:srgbClr val="0B6E70"/>
            </a:solidFill>
            <a:prstDash val="solid"/>
          </a:ln>
        </p:spPr>
      </p:sp>
      <p:pic>
        <p:nvPicPr>
          <p:cNvPr id="5" name="Image 0" descr="أيقونة مكعبات">    </p:cNvPr>
          <p:cNvPicPr>
            <a:picLocks noChangeAspect="1"/>
          </p:cNvPicPr>
          <p:nvPr/>
        </p:nvPicPr>
        <p:blipFill>
          <a:blip r:embed="rId1"/>
          <a:stretch>
            <a:fillRect/>
          </a:stretch>
        </p:blipFill>
        <p:spPr>
          <a:xfrm>
            <a:off x="8229600" y="1133856"/>
            <a:ext cx="237744" cy="237744"/>
          </a:xfrm>
          <a:prstGeom prst="rect">
            <a:avLst/>
          </a:prstGeom>
        </p:spPr>
      </p:pic>
      <p:sp>
        <p:nvSpPr>
          <p:cNvPr id="6" name="Text 3"/>
          <p:cNvSpPr txBox="1"/>
          <p:nvPr/>
        </p:nvSpPr>
        <p:spPr>
          <a:xfrm>
            <a:off x="4846320" y="10241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0B6E70"/>
                </a:solidFill>
              </a:rPr>
              <a:t>بلاطة مربّعة من المكعّبات</a:t>
            </a:r>
            <a:endParaRPr lang="ar-LB" sz="1800" dirty="0"/>
          </a:p>
        </p:txBody>
      </p:sp>
      <p:sp>
        <p:nvSpPr>
          <p:cNvPr id="7" name="Text 4"/>
          <p:cNvSpPr txBox="1"/>
          <p:nvPr/>
        </p:nvSpPr>
        <p:spPr>
          <a:xfrm>
            <a:off x="4846320" y="1508760"/>
            <a:ext cx="3703320" cy="301752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طول ضلعها 2 أُس 2 = 4 مكعّبات.</a:t>
            </a:r>
            <a:endParaRPr lang="ar-LB" sz="1700" dirty="0"/>
          </a:p>
          <a:p>
            <a:pPr rtl="1" algn="r" indent="0" marL="0">
              <a:spcAft>
                <a:spcPts val="400"/>
              </a:spcAft>
              <a:buNone/>
            </a:pPr>
            <a:r>
              <a:rPr lang="ar-LB" altLang="en-US" sz="1700" dirty="0">
                <a:solidFill>
                  <a:srgbClr val="1B262C"/>
                </a:solidFill>
              </a:rPr>
              <a:t>نبني 4 صفوف في كل صف 4 مكعّبات.</a:t>
            </a:r>
            <a:endParaRPr lang="ar-LB" sz="1700" dirty="0"/>
          </a:p>
          <a:p>
            <a:pPr rtl="1" algn="r" indent="0" marL="0">
              <a:spcAft>
                <a:spcPts val="400"/>
              </a:spcAft>
              <a:buNone/>
            </a:pPr>
            <a:r>
              <a:rPr lang="ar-LB" altLang="en-US" sz="1700" dirty="0">
                <a:solidFill>
                  <a:srgbClr val="1B262C"/>
                </a:solidFill>
              </a:rPr>
              <a:t>نعدّ: 16 مكعّبًا.</a:t>
            </a:r>
            <a:endParaRPr lang="ar-LB" sz="1700" dirty="0"/>
          </a:p>
          <a:p>
            <a:pPr rtl="1" algn="r" indent="0" marL="0">
              <a:spcAft>
                <a:spcPts val="400"/>
              </a:spcAft>
              <a:buNone/>
            </a:pPr>
            <a:r>
              <a:rPr lang="ar-LB" altLang="en-US" sz="1700" dirty="0">
                <a:solidFill>
                  <a:srgbClr val="1B262C"/>
                </a:solidFill>
              </a:rPr>
              <a:t>(2 أُس 2) الكلّ أُس 2 = 2 أُس 4 = 16.</a:t>
            </a:r>
            <a:endParaRPr lang="ar-LB" sz="1700" dirty="0"/>
          </a:p>
        </p:txBody>
      </p:sp>
      <p:sp>
        <p:nvSpPr>
          <p:cNvPr id="8" name="Shape 5"/>
          <p:cNvSpPr/>
          <p:nvPr/>
        </p:nvSpPr>
        <p:spPr>
          <a:xfrm>
            <a:off x="457200" y="914400"/>
            <a:ext cx="3977640" cy="3703320"/>
          </a:xfrm>
          <a:prstGeom prst="roundRect">
            <a:avLst>
              <a:gd name="adj" fmla="val 2469"/>
            </a:avLst>
          </a:prstGeom>
          <a:solidFill>
            <a:srgbClr val="1F5C99">
              <a:alpha val="10000"/>
            </a:srgbClr>
          </a:solidFill>
          <a:ln w="19050">
            <a:solidFill>
              <a:srgbClr val="1F5C99"/>
            </a:solidFill>
            <a:prstDash val="solid"/>
          </a:ln>
        </p:spPr>
      </p:sp>
      <p:sp>
        <p:nvSpPr>
          <p:cNvPr id="9" name="Shape 6"/>
          <p:cNvSpPr/>
          <p:nvPr/>
        </p:nvSpPr>
        <p:spPr>
          <a:xfrm>
            <a:off x="3867912" y="1024128"/>
            <a:ext cx="457200" cy="457200"/>
          </a:xfrm>
          <a:prstGeom prst="ellipse">
            <a:avLst/>
          </a:prstGeom>
          <a:solidFill>
            <a:srgbClr val="1F5C99"/>
          </a:solidFill>
          <a:ln w="12700">
            <a:solidFill>
              <a:srgbClr val="1F5C99"/>
            </a:solidFill>
            <a:prstDash val="solid"/>
          </a:ln>
        </p:spPr>
      </p:sp>
      <p:pic>
        <p:nvPicPr>
          <p:cNvPr id="10" name="Image 1" descr="أيقونة أذن: نشاط سمعي">    </p:cNvPr>
          <p:cNvPicPr>
            <a:picLocks noChangeAspect="1"/>
          </p:cNvPicPr>
          <p:nvPr/>
        </p:nvPicPr>
        <p:blipFill>
          <a:blip r:embed="rId2"/>
          <a:stretch>
            <a:fillRect/>
          </a:stretch>
        </p:blipFill>
        <p:spPr>
          <a:xfrm>
            <a:off x="3977640" y="1133856"/>
            <a:ext cx="237744" cy="237744"/>
          </a:xfrm>
          <a:prstGeom prst="rect">
            <a:avLst/>
          </a:prstGeom>
        </p:spPr>
      </p:pic>
      <p:sp>
        <p:nvSpPr>
          <p:cNvPr id="11" name="Text 7"/>
          <p:cNvSpPr txBox="1"/>
          <p:nvPr/>
        </p:nvSpPr>
        <p:spPr>
          <a:xfrm>
            <a:off x="594360" y="10241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5C99"/>
                </a:solidFill>
              </a:rPr>
              <a:t>علبة مكعّبة (شفهيًا)</a:t>
            </a:r>
            <a:endParaRPr lang="ar-LB" sz="1800" dirty="0"/>
          </a:p>
        </p:txBody>
      </p:sp>
      <p:sp>
        <p:nvSpPr>
          <p:cNvPr id="12" name="Text 8"/>
          <p:cNvSpPr txBox="1"/>
          <p:nvPr/>
        </p:nvSpPr>
        <p:spPr>
          <a:xfrm>
            <a:off x="594360" y="1508760"/>
            <a:ext cx="3703320" cy="3017520"/>
          </a:xfrm>
          <a:prstGeom prst="rect">
            <a:avLst/>
          </a:prstGeom>
          <a:noFill/>
          <a:ln/>
        </p:spPr>
        <p:txBody>
          <a:bodyPr wrap="square" lIns="0" tIns="0" rIns="0" bIns="0" rtlCol="0" anchor="t"/>
          <a:lstStyle/>
          <a:p>
            <a:pPr rtl="1" algn="r" indent="0" marL="0">
              <a:spcAft>
                <a:spcPts val="400"/>
              </a:spcAft>
              <a:buNone/>
            </a:pPr>
            <a:r>
              <a:rPr lang="ar-LB" altLang="en-US" sz="1700" dirty="0">
                <a:solidFill>
                  <a:srgbClr val="1B262C"/>
                </a:solidFill>
              </a:rPr>
              <a:t>طول حرفها 3 أُس 2 = 9 سم.</a:t>
            </a:r>
            <a:endParaRPr lang="ar-LB" sz="1700" dirty="0"/>
          </a:p>
          <a:p>
            <a:pPr rtl="1" algn="r" indent="0" marL="0">
              <a:spcAft>
                <a:spcPts val="400"/>
              </a:spcAft>
              <a:buNone/>
            </a:pPr>
            <a:r>
              <a:rPr lang="ar-LB" altLang="en-US" sz="1700" dirty="0">
                <a:solidFill>
                  <a:srgbClr val="1B262C"/>
                </a:solidFill>
              </a:rPr>
              <a:t>حجمها = (3 أُس 2) الكلّ أُس 3.</a:t>
            </a:r>
            <a:endParaRPr lang="ar-LB" sz="1700" dirty="0"/>
          </a:p>
          <a:p>
            <a:pPr rtl="1" algn="r" indent="0" marL="0">
              <a:spcAft>
                <a:spcPts val="400"/>
              </a:spcAft>
              <a:buNone/>
            </a:pPr>
            <a:r>
              <a:rPr lang="ar-LB" altLang="en-US" sz="1700" dirty="0">
                <a:solidFill>
                  <a:srgbClr val="1B262C"/>
                </a:solidFill>
              </a:rPr>
              <a:t>= 3 أُس 6 = 729 سم مكعّبًا.</a:t>
            </a:r>
            <a:endParaRPr lang="ar-LB" sz="1700" dirty="0"/>
          </a:p>
          <a:p>
            <a:pPr rtl="1" algn="r" indent="0" marL="0">
              <a:spcAft>
                <a:spcPts val="400"/>
              </a:spcAft>
              <a:buNone/>
            </a:pPr>
            <a:r>
              <a:rPr lang="ar-LB" altLang="en-US" sz="1700" dirty="0">
                <a:solidFill>
                  <a:srgbClr val="1B262C"/>
                </a:solidFill>
              </a:rPr>
              <a:t>تحقّق: 9 × 9 × 9 = 729.</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طالب يكتب">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4</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التطبيق الفردي</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الممارسة المستقلة المتدرّجة  •  8 دقائق</a:t>
            </a:r>
            <a:endParaRPr lang="en-US" sz="2000" dirty="0"/>
          </a:p>
          <a:p>
            <a:pPr rtl="1" algn="r" indent="0" marL="0">
              <a:buNone/>
            </a:pPr>
            <a:r>
              <a:rPr lang="en-US" sz="2000" dirty="0">
                <a:solidFill>
                  <a:srgbClr val="FFFFFF"/>
                </a:solidFill>
              </a:rPr>
              <a:t>بطاقة 2 بالبرايل أو بقارئ الشاشة، أو إجابة شفهية للمعلم</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أعمل وحدي</a:t>
            </a:r>
            <a:endParaRPr lang="en-US" sz="3200" dirty="0"/>
          </a:p>
        </p:txBody>
      </p:sp>
      <p:sp>
        <p:nvSpPr>
          <p:cNvPr id="3" name="Shape 1"/>
          <p:cNvSpPr/>
          <p:nvPr/>
        </p:nvSpPr>
        <p:spPr>
          <a:xfrm>
            <a:off x="457200" y="914400"/>
            <a:ext cx="8229600" cy="1316736"/>
          </a:xfrm>
          <a:prstGeom prst="roundRect">
            <a:avLst>
              <a:gd name="adj" fmla="val 6944"/>
            </a:avLst>
          </a:prstGeom>
          <a:solidFill>
            <a:srgbClr val="1F7A45">
              <a:alpha val="8000"/>
            </a:srgbClr>
          </a:solidFill>
          <a:ln w="19050">
            <a:solidFill>
              <a:srgbClr val="1F7A45"/>
            </a:solidFill>
            <a:prstDash val="solid"/>
          </a:ln>
        </p:spPr>
      </p:sp>
      <p:sp>
        <p:nvSpPr>
          <p:cNvPr id="4" name="Shape 2"/>
          <p:cNvSpPr/>
          <p:nvPr/>
        </p:nvSpPr>
        <p:spPr>
          <a:xfrm>
            <a:off x="7406640" y="1005840"/>
            <a:ext cx="1143000" cy="365760"/>
          </a:xfrm>
          <a:prstGeom prst="roundRect">
            <a:avLst>
              <a:gd name="adj" fmla="val 50000"/>
            </a:avLst>
          </a:prstGeom>
          <a:solidFill>
            <a:srgbClr val="1F7A45"/>
          </a:solidFill>
          <a:ln w="12700">
            <a:solidFill>
              <a:srgbClr val="1F7A45"/>
            </a:solidFill>
            <a:prstDash val="solid"/>
          </a:ln>
        </p:spPr>
      </p:sp>
      <p:sp>
        <p:nvSpPr>
          <p:cNvPr id="5" name="Text 3"/>
          <p:cNvSpPr txBox="1"/>
          <p:nvPr/>
        </p:nvSpPr>
        <p:spPr>
          <a:xfrm>
            <a:off x="7406640" y="1005840"/>
            <a:ext cx="114300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أساسي</a:t>
            </a:r>
            <a:endParaRPr lang="ar-LB" sz="1500" dirty="0"/>
          </a:p>
        </p:txBody>
      </p:sp>
      <p:sp>
        <p:nvSpPr>
          <p:cNvPr id="6" name="Text 4"/>
          <p:cNvSpPr txBox="1"/>
          <p:nvPr/>
        </p:nvSpPr>
        <p:spPr>
          <a:xfrm>
            <a:off x="640080" y="978408"/>
            <a:ext cx="6675120" cy="1225296"/>
          </a:xfrm>
          <a:prstGeom prst="rect">
            <a:avLst/>
          </a:prstGeom>
          <a:noFill/>
          <a:ln/>
        </p:spPr>
        <p:txBody>
          <a:bodyPr wrap="square" lIns="0" tIns="0" rIns="0" bIns="0" rtlCol="0" anchor="ctr"/>
          <a:lstStyle/>
          <a:p>
            <a:pPr rtl="1" algn="r" indent="0" marL="0">
              <a:buNone/>
            </a:pPr>
            <a:r>
              <a:rPr lang="ar-LB" altLang="en-US" sz="1800" dirty="0">
                <a:solidFill>
                  <a:srgbClr val="1B262C"/>
                </a:solidFill>
              </a:rPr>
              <a:t>1. اكتب على شكل قوّة: 9 × 9 × 9 × 9.</a:t>
            </a:r>
            <a:endParaRPr lang="ar-LB" sz="1800" dirty="0"/>
          </a:p>
          <a:p>
            <a:pPr rtl="1" algn="r" indent="0" marL="0">
              <a:buNone/>
            </a:pPr>
            <a:r>
              <a:rPr lang="ar-LB" altLang="en-US" sz="1800" dirty="0">
                <a:solidFill>
                  <a:srgbClr val="1B262C"/>
                </a:solidFill>
              </a:rPr>
              <a:t>2. احسب 4 أُس 3، ثم 4 × 3، وقارن.</a:t>
            </a:r>
            <a:endParaRPr lang="ar-LB" sz="1800" dirty="0"/>
          </a:p>
          <a:p>
            <a:pPr rtl="1" algn="r" indent="0" marL="0">
              <a:buNone/>
            </a:pPr>
            <a:r>
              <a:rPr lang="ar-LB" altLang="en-US" sz="1800" dirty="0">
                <a:solidFill>
                  <a:srgbClr val="1B262C"/>
                </a:solidFill>
              </a:rPr>
              <a:t>3. أيّهما أكبر: 3 أُس 2 أم 2 أُس 3؟</a:t>
            </a:r>
            <a:endParaRPr lang="ar-LB" sz="1800" dirty="0"/>
          </a:p>
        </p:txBody>
      </p:sp>
      <p:sp>
        <p:nvSpPr>
          <p:cNvPr id="7" name="Shape 5"/>
          <p:cNvSpPr/>
          <p:nvPr/>
        </p:nvSpPr>
        <p:spPr>
          <a:xfrm>
            <a:off x="457200" y="2340864"/>
            <a:ext cx="8229600" cy="923544"/>
          </a:xfrm>
          <a:prstGeom prst="roundRect">
            <a:avLst>
              <a:gd name="adj" fmla="val 9901"/>
            </a:avLst>
          </a:prstGeom>
          <a:solidFill>
            <a:srgbClr val="1F5C99">
              <a:alpha val="8000"/>
            </a:srgbClr>
          </a:solidFill>
          <a:ln w="19050">
            <a:solidFill>
              <a:srgbClr val="1F5C99"/>
            </a:solidFill>
            <a:prstDash val="solid"/>
          </a:ln>
        </p:spPr>
      </p:sp>
      <p:sp>
        <p:nvSpPr>
          <p:cNvPr id="8" name="Shape 6"/>
          <p:cNvSpPr/>
          <p:nvPr/>
        </p:nvSpPr>
        <p:spPr>
          <a:xfrm>
            <a:off x="7406640" y="2432304"/>
            <a:ext cx="1143000" cy="365760"/>
          </a:xfrm>
          <a:prstGeom prst="roundRect">
            <a:avLst>
              <a:gd name="adj" fmla="val 50000"/>
            </a:avLst>
          </a:prstGeom>
          <a:solidFill>
            <a:srgbClr val="1F5C99"/>
          </a:solidFill>
          <a:ln w="12700">
            <a:solidFill>
              <a:srgbClr val="1F5C99"/>
            </a:solidFill>
            <a:prstDash val="solid"/>
          </a:ln>
        </p:spPr>
      </p:sp>
      <p:sp>
        <p:nvSpPr>
          <p:cNvPr id="9" name="Text 7"/>
          <p:cNvSpPr txBox="1"/>
          <p:nvPr/>
        </p:nvSpPr>
        <p:spPr>
          <a:xfrm>
            <a:off x="7406640" y="2432304"/>
            <a:ext cx="114300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متوسط</a:t>
            </a:r>
            <a:endParaRPr lang="ar-LB" sz="1500" dirty="0"/>
          </a:p>
        </p:txBody>
      </p:sp>
      <p:sp>
        <p:nvSpPr>
          <p:cNvPr id="10" name="Text 8"/>
          <p:cNvSpPr txBox="1"/>
          <p:nvPr/>
        </p:nvSpPr>
        <p:spPr>
          <a:xfrm>
            <a:off x="640080" y="2404872"/>
            <a:ext cx="6675120" cy="832104"/>
          </a:xfrm>
          <a:prstGeom prst="rect">
            <a:avLst/>
          </a:prstGeom>
          <a:noFill/>
          <a:ln/>
        </p:spPr>
        <p:txBody>
          <a:bodyPr wrap="square" lIns="0" tIns="0" rIns="0" bIns="0" rtlCol="0" anchor="ctr"/>
          <a:lstStyle/>
          <a:p>
            <a:pPr rtl="1" algn="r" indent="0" marL="0">
              <a:buNone/>
            </a:pPr>
            <a:r>
              <a:rPr lang="ar-LB" altLang="en-US" sz="1800" dirty="0">
                <a:solidFill>
                  <a:srgbClr val="1B262C"/>
                </a:solidFill>
              </a:rPr>
              <a:t>4. (7 أُس 2) الكلّ أُس 5 = 7 أُس ؟</a:t>
            </a:r>
            <a:endParaRPr lang="ar-LB" sz="1800" dirty="0"/>
          </a:p>
          <a:p>
            <a:pPr rtl="1" algn="r" indent="0" marL="0">
              <a:buNone/>
            </a:pPr>
            <a:r>
              <a:rPr lang="ar-LB" altLang="en-US" sz="1800" dirty="0">
                <a:solidFill>
                  <a:srgbClr val="1B262C"/>
                </a:solidFill>
              </a:rPr>
              <a:t>5. احسب: (2 أُس 2) الكلّ أُس 3.</a:t>
            </a:r>
            <a:endParaRPr lang="ar-LB" sz="1800" dirty="0"/>
          </a:p>
        </p:txBody>
      </p:sp>
      <p:sp>
        <p:nvSpPr>
          <p:cNvPr id="11" name="Shape 9"/>
          <p:cNvSpPr/>
          <p:nvPr/>
        </p:nvSpPr>
        <p:spPr>
          <a:xfrm>
            <a:off x="457200" y="3374136"/>
            <a:ext cx="8229600" cy="923544"/>
          </a:xfrm>
          <a:prstGeom prst="roundRect">
            <a:avLst>
              <a:gd name="adj" fmla="val 9901"/>
            </a:avLst>
          </a:prstGeom>
          <a:solidFill>
            <a:srgbClr val="6A2F8F">
              <a:alpha val="8000"/>
            </a:srgbClr>
          </a:solidFill>
          <a:ln w="19050">
            <a:solidFill>
              <a:srgbClr val="6A2F8F"/>
            </a:solidFill>
            <a:prstDash val="solid"/>
          </a:ln>
        </p:spPr>
      </p:sp>
      <p:sp>
        <p:nvSpPr>
          <p:cNvPr id="12" name="Shape 10"/>
          <p:cNvSpPr/>
          <p:nvPr/>
        </p:nvSpPr>
        <p:spPr>
          <a:xfrm>
            <a:off x="7406640" y="3465576"/>
            <a:ext cx="1143000" cy="365760"/>
          </a:xfrm>
          <a:prstGeom prst="roundRect">
            <a:avLst>
              <a:gd name="adj" fmla="val 50000"/>
            </a:avLst>
          </a:prstGeom>
          <a:solidFill>
            <a:srgbClr val="6A2F8F"/>
          </a:solidFill>
          <a:ln w="12700">
            <a:solidFill>
              <a:srgbClr val="6A2F8F"/>
            </a:solidFill>
            <a:prstDash val="solid"/>
          </a:ln>
        </p:spPr>
      </p:sp>
      <p:sp>
        <p:nvSpPr>
          <p:cNvPr id="13" name="Text 11"/>
          <p:cNvSpPr txBox="1"/>
          <p:nvPr/>
        </p:nvSpPr>
        <p:spPr>
          <a:xfrm>
            <a:off x="7406640" y="3465576"/>
            <a:ext cx="114300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متقدّم</a:t>
            </a:r>
            <a:endParaRPr lang="ar-LB" sz="1500" dirty="0"/>
          </a:p>
        </p:txBody>
      </p:sp>
      <p:sp>
        <p:nvSpPr>
          <p:cNvPr id="14" name="Text 12"/>
          <p:cNvSpPr txBox="1"/>
          <p:nvPr/>
        </p:nvSpPr>
        <p:spPr>
          <a:xfrm>
            <a:off x="640080" y="3438144"/>
            <a:ext cx="6675120" cy="832104"/>
          </a:xfrm>
          <a:prstGeom prst="rect">
            <a:avLst/>
          </a:prstGeom>
          <a:noFill/>
          <a:ln/>
        </p:spPr>
        <p:txBody>
          <a:bodyPr wrap="square" lIns="0" tIns="0" rIns="0" bIns="0" rtlCol="0" anchor="ctr"/>
          <a:lstStyle/>
          <a:p>
            <a:pPr rtl="1" algn="r" indent="0" marL="0">
              <a:buNone/>
            </a:pPr>
            <a:r>
              <a:rPr lang="ar-LB" altLang="en-US" sz="1800" dirty="0">
                <a:solidFill>
                  <a:srgbClr val="1B262C"/>
                </a:solidFill>
              </a:rPr>
              <a:t>6. (5 أُس ؟) الكلّ أُس 3 = 5 أُس 12.</a:t>
            </a:r>
            <a:endParaRPr lang="ar-LB" sz="1800" dirty="0"/>
          </a:p>
          <a:p>
            <a:pPr rtl="1" algn="r" indent="0" marL="0">
              <a:buNone/>
            </a:pPr>
            <a:r>
              <a:rPr lang="ar-LB" altLang="en-US" sz="1800" dirty="0">
                <a:solidFill>
                  <a:srgbClr val="1B262C"/>
                </a:solidFill>
              </a:rPr>
              <a:t>7. اكتب 2 أُس 12 كقوّة قوّة بطريقتين.</a:t>
            </a:r>
            <a:endParaRPr lang="ar-LB" sz="18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حلول التطبيق الفردي</a:t>
            </a:r>
            <a:endParaRPr lang="en-US" sz="3200" dirty="0"/>
          </a:p>
        </p:txBody>
      </p:sp>
      <p:sp>
        <p:nvSpPr>
          <p:cNvPr id="3" name="Text 1"/>
          <p:cNvSpPr txBox="1"/>
          <p:nvPr/>
        </p:nvSpPr>
        <p:spPr>
          <a:xfrm>
            <a:off x="457200" y="914400"/>
            <a:ext cx="8229600" cy="3749040"/>
          </a:xfrm>
          <a:prstGeom prst="rect">
            <a:avLst/>
          </a:prstGeom>
          <a:noFill/>
          <a:ln/>
        </p:spPr>
        <p:txBody>
          <a:bodyPr wrap="square" lIns="0" tIns="0" rIns="0" bIns="0" rtlCol="0" anchor="t"/>
          <a:lstStyle/>
          <a:p>
            <a:pPr rtl="1" algn="r" indent="0" marL="0">
              <a:spcAft>
                <a:spcPts val="400"/>
              </a:spcAft>
              <a:buNone/>
            </a:pPr>
            <a:r>
              <a:rPr lang="ar-LB" altLang="en-US" sz="1800" dirty="0">
                <a:solidFill>
                  <a:srgbClr val="1B262C"/>
                </a:solidFill>
              </a:rPr>
              <a:t>1. 9 أُس 4.</a:t>
            </a:r>
            <a:endParaRPr lang="ar-LB" sz="1800" dirty="0"/>
          </a:p>
          <a:p>
            <a:pPr rtl="1" algn="r" indent="0" marL="0">
              <a:spcAft>
                <a:spcPts val="400"/>
              </a:spcAft>
              <a:buNone/>
            </a:pPr>
            <a:r>
              <a:rPr lang="ar-LB" altLang="en-US" sz="1800" dirty="0">
                <a:solidFill>
                  <a:srgbClr val="1B262C"/>
                </a:solidFill>
              </a:rPr>
              <a:t>2. 4 أُس 3 = 64، و4 × 3 = 12: مختلفان.</a:t>
            </a:r>
            <a:endParaRPr lang="ar-LB" sz="1800" dirty="0"/>
          </a:p>
          <a:p>
            <a:pPr rtl="1" algn="r" indent="0" marL="0">
              <a:spcAft>
                <a:spcPts val="400"/>
              </a:spcAft>
              <a:buNone/>
            </a:pPr>
            <a:r>
              <a:rPr lang="ar-LB" altLang="en-US" sz="1800" dirty="0">
                <a:solidFill>
                  <a:srgbClr val="1B262C"/>
                </a:solidFill>
              </a:rPr>
              <a:t>3. 3 أُس 2 = 9 أكبر من 2 أُس 3 = 8.</a:t>
            </a:r>
            <a:endParaRPr lang="ar-LB" sz="1800" dirty="0"/>
          </a:p>
          <a:p>
            <a:pPr rtl="1" algn="r" indent="0" marL="0">
              <a:spcAft>
                <a:spcPts val="400"/>
              </a:spcAft>
              <a:buNone/>
            </a:pPr>
            <a:r>
              <a:rPr lang="ar-LB" altLang="en-US" sz="1800" dirty="0">
                <a:solidFill>
                  <a:srgbClr val="1B262C"/>
                </a:solidFill>
              </a:rPr>
              <a:t>4. 7 أُس 10.</a:t>
            </a:r>
            <a:endParaRPr lang="ar-LB" sz="1800" dirty="0"/>
          </a:p>
          <a:p>
            <a:pPr rtl="1" algn="r" indent="0" marL="0">
              <a:spcAft>
                <a:spcPts val="400"/>
              </a:spcAft>
              <a:buNone/>
            </a:pPr>
            <a:r>
              <a:rPr lang="ar-LB" altLang="en-US" sz="1800" dirty="0">
                <a:solidFill>
                  <a:srgbClr val="1B262C"/>
                </a:solidFill>
              </a:rPr>
              <a:t>5. 2 أُس 6 = 64.</a:t>
            </a:r>
            <a:endParaRPr lang="ar-LB" sz="1800" dirty="0"/>
          </a:p>
          <a:p>
            <a:pPr rtl="1" algn="r" indent="0" marL="0">
              <a:spcAft>
                <a:spcPts val="400"/>
              </a:spcAft>
              <a:buNone/>
            </a:pPr>
            <a:r>
              <a:rPr lang="ar-LB" altLang="en-US" sz="1800" dirty="0">
                <a:solidFill>
                  <a:srgbClr val="1B262C"/>
                </a:solidFill>
              </a:rPr>
              <a:t>6. العدد الناقص 4، لأن 4 × 3 = 12.</a:t>
            </a:r>
            <a:endParaRPr lang="ar-LB" sz="1800" dirty="0"/>
          </a:p>
          <a:p>
            <a:pPr rtl="1" algn="r" indent="0" marL="0">
              <a:spcAft>
                <a:spcPts val="400"/>
              </a:spcAft>
              <a:buNone/>
            </a:pPr>
            <a:r>
              <a:rPr lang="ar-LB" altLang="en-US" sz="1800" dirty="0">
                <a:solidFill>
                  <a:srgbClr val="1B262C"/>
                </a:solidFill>
              </a:rPr>
              <a:t>7. (2 أُس 3) الكلّ أُس 4، أو (2 أُس 4) الكلّ أُس 3، أو (2 أُس 2) الكلّ أُس 6، أو (2 أُس 6) الكلّ أُس 2.</a:t>
            </a:r>
            <a:endParaRPr lang="ar-LB" sz="18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مجموعة">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5</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التطبيق الجماعي التمايزي</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التعلّم التعاوني بالأدوار + المجموعات المرنة  •  10 دقائق</a:t>
            </a:r>
            <a:endParaRPr lang="en-US" sz="2000" dirty="0"/>
          </a:p>
          <a:p>
            <a:pPr rtl="1" algn="r" indent="0" marL="0">
              <a:buNone/>
            </a:pPr>
            <a:r>
              <a:rPr lang="en-US" sz="2000" dirty="0">
                <a:solidFill>
                  <a:srgbClr val="FFFFFF"/>
                </a:solidFill>
              </a:rPr>
              <a:t>المجموعات تُميَّز بشارات بارزة: دائرة، مربّع، مثلث</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ثلاث مجموعات… ثلاثة تحدّيات</a:t>
            </a:r>
            <a:endParaRPr lang="en-US" sz="3200" dirty="0"/>
          </a:p>
        </p:txBody>
      </p:sp>
      <p:sp>
        <p:nvSpPr>
          <p:cNvPr id="3" name="Shape 1"/>
          <p:cNvSpPr/>
          <p:nvPr/>
        </p:nvSpPr>
        <p:spPr>
          <a:xfrm>
            <a:off x="5989320" y="914400"/>
            <a:ext cx="2606040" cy="3154680"/>
          </a:xfrm>
          <a:prstGeom prst="roundRect">
            <a:avLst>
              <a:gd name="adj" fmla="val 3509"/>
            </a:avLst>
          </a:prstGeom>
          <a:solidFill>
            <a:srgbClr val="1F7A45">
              <a:alpha val="10000"/>
            </a:srgbClr>
          </a:solidFill>
          <a:ln w="19050">
            <a:solidFill>
              <a:srgbClr val="1F7A45"/>
            </a:solidFill>
            <a:prstDash val="solid"/>
          </a:ln>
        </p:spPr>
      </p:sp>
      <p:sp>
        <p:nvSpPr>
          <p:cNvPr id="4" name="Text 2"/>
          <p:cNvSpPr txBox="1"/>
          <p:nvPr/>
        </p:nvSpPr>
        <p:spPr>
          <a:xfrm>
            <a:off x="6080760" y="987552"/>
            <a:ext cx="2423160" cy="685800"/>
          </a:xfrm>
          <a:prstGeom prst="rect">
            <a:avLst/>
          </a:prstGeom>
          <a:noFill/>
          <a:ln/>
        </p:spPr>
        <p:txBody>
          <a:bodyPr wrap="square" lIns="0" tIns="0" rIns="0" bIns="0" rtlCol="0" anchor="ctr"/>
          <a:lstStyle/>
          <a:p>
            <a:pPr rtl="1" algn="ctr" indent="0" marL="0">
              <a:buNone/>
            </a:pPr>
            <a:r>
              <a:rPr lang="ar-LB" altLang="en-US" sz="1800" b="1" dirty="0">
                <a:solidFill>
                  <a:srgbClr val="1F7A45"/>
                </a:solidFill>
              </a:rPr>
              <a:t>مجموعة الدائرة: دعم لمسي</a:t>
            </a:r>
            <a:endParaRPr lang="ar-LB" sz="1800" dirty="0"/>
          </a:p>
        </p:txBody>
      </p:sp>
      <p:sp>
        <p:nvSpPr>
          <p:cNvPr id="5" name="Text 3"/>
          <p:cNvSpPr txBox="1"/>
          <p:nvPr/>
        </p:nvSpPr>
        <p:spPr>
          <a:xfrm>
            <a:off x="6126480" y="1737360"/>
            <a:ext cx="2331720" cy="224028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600" dirty="0">
                <a:solidFill>
                  <a:srgbClr val="1B262C"/>
                </a:solidFill>
              </a:rPr>
              <a:t>نبني القوى بالخرز والمكعّبات ونعدّ.</a:t>
            </a:r>
            <a:endParaRPr lang="ar-LB" sz="1600" dirty="0"/>
          </a:p>
          <a:p>
            <a:pPr rtl="1" algn="r" marL="152400" indent="-152400">
              <a:spcAft>
                <a:spcPts val="600"/>
              </a:spcAft>
              <a:buSzPct val="100000"/>
              <a:buChar char="•"/>
            </a:pPr>
            <a:r>
              <a:rPr lang="ar-LB" altLang="en-US" sz="1600" dirty="0">
                <a:solidFill>
                  <a:srgbClr val="1B262C"/>
                </a:solidFill>
              </a:rPr>
              <a:t>مطابقة بطاقات برايل: ضرب متكرر، قوّة، قيمة.</a:t>
            </a:r>
            <a:endParaRPr lang="ar-LB" sz="1600" dirty="0"/>
          </a:p>
          <a:p>
            <a:pPr rtl="1" algn="r" marL="152400" indent="-152400">
              <a:spcAft>
                <a:spcPts val="600"/>
              </a:spcAft>
              <a:buSzPct val="100000"/>
              <a:buChar char="•"/>
            </a:pPr>
            <a:r>
              <a:rPr lang="ar-LB" altLang="en-US" sz="1600" dirty="0">
                <a:solidFill>
                  <a:srgbClr val="1B262C"/>
                </a:solidFill>
              </a:rPr>
              <a:t>قوّة القوّة بالخيوط خطوة بخطوة.</a:t>
            </a:r>
            <a:endParaRPr lang="ar-LB" sz="1600" dirty="0"/>
          </a:p>
        </p:txBody>
      </p:sp>
      <p:sp>
        <p:nvSpPr>
          <p:cNvPr id="6" name="Shape 4"/>
          <p:cNvSpPr/>
          <p:nvPr/>
        </p:nvSpPr>
        <p:spPr>
          <a:xfrm>
            <a:off x="3246120" y="914400"/>
            <a:ext cx="2606040" cy="3154680"/>
          </a:xfrm>
          <a:prstGeom prst="roundRect">
            <a:avLst>
              <a:gd name="adj" fmla="val 3509"/>
            </a:avLst>
          </a:prstGeom>
          <a:solidFill>
            <a:srgbClr val="1F5C99">
              <a:alpha val="10000"/>
            </a:srgbClr>
          </a:solidFill>
          <a:ln w="19050">
            <a:solidFill>
              <a:srgbClr val="1F5C99"/>
            </a:solidFill>
            <a:prstDash val="solid"/>
          </a:ln>
        </p:spPr>
      </p:sp>
      <p:sp>
        <p:nvSpPr>
          <p:cNvPr id="7" name="Text 5"/>
          <p:cNvSpPr txBox="1"/>
          <p:nvPr/>
        </p:nvSpPr>
        <p:spPr>
          <a:xfrm>
            <a:off x="3337560" y="987552"/>
            <a:ext cx="2423160" cy="685800"/>
          </a:xfrm>
          <a:prstGeom prst="rect">
            <a:avLst/>
          </a:prstGeom>
          <a:noFill/>
          <a:ln/>
        </p:spPr>
        <p:txBody>
          <a:bodyPr wrap="square" lIns="0" tIns="0" rIns="0" bIns="0" rtlCol="0" anchor="ctr"/>
          <a:lstStyle/>
          <a:p>
            <a:pPr rtl="1" algn="ctr" indent="0" marL="0">
              <a:buNone/>
            </a:pPr>
            <a:r>
              <a:rPr lang="ar-LB" altLang="en-US" sz="1800" b="1" dirty="0">
                <a:solidFill>
                  <a:srgbClr val="1F5C99"/>
                </a:solidFill>
              </a:rPr>
              <a:t>مجموعة المربّع: تمكّن</a:t>
            </a:r>
            <a:endParaRPr lang="ar-LB" sz="1800" dirty="0"/>
          </a:p>
        </p:txBody>
      </p:sp>
      <p:sp>
        <p:nvSpPr>
          <p:cNvPr id="8" name="Text 6"/>
          <p:cNvSpPr txBox="1"/>
          <p:nvPr/>
        </p:nvSpPr>
        <p:spPr>
          <a:xfrm>
            <a:off x="3383280" y="1737360"/>
            <a:ext cx="2331720" cy="224028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600" dirty="0">
                <a:solidFill>
                  <a:srgbClr val="1B262C"/>
                </a:solidFill>
              </a:rPr>
              <a:t>قوّة واحدة ثم حساب.</a:t>
            </a:r>
            <a:endParaRPr lang="ar-LB" sz="1600" dirty="0"/>
          </a:p>
          <a:p>
            <a:pPr rtl="1" algn="r" marL="152400" indent="-152400">
              <a:spcAft>
                <a:spcPts val="600"/>
              </a:spcAft>
              <a:buSzPct val="100000"/>
              <a:buChar char="•"/>
            </a:pPr>
            <a:r>
              <a:rPr lang="ar-LB" altLang="en-US" sz="1600" dirty="0">
                <a:solidFill>
                  <a:srgbClr val="1B262C"/>
                </a:solidFill>
              </a:rPr>
              <a:t>صح أم خطأ مع التصحيح.</a:t>
            </a:r>
            <a:endParaRPr lang="ar-LB" sz="1600" dirty="0"/>
          </a:p>
          <a:p>
            <a:pPr rtl="1" algn="r" marL="152400" indent="-152400">
              <a:spcAft>
                <a:spcPts val="600"/>
              </a:spcAft>
              <a:buSzPct val="100000"/>
              <a:buChar char="•"/>
            </a:pPr>
            <a:r>
              <a:rPr lang="ar-LB" altLang="en-US" sz="1600" dirty="0">
                <a:solidFill>
                  <a:srgbClr val="1B262C"/>
                </a:solidFill>
              </a:rPr>
              <a:t>مسألة: مساحة مزرعة.</a:t>
            </a:r>
            <a:endParaRPr lang="ar-LB" sz="1600" dirty="0"/>
          </a:p>
        </p:txBody>
      </p:sp>
      <p:sp>
        <p:nvSpPr>
          <p:cNvPr id="9" name="Shape 7"/>
          <p:cNvSpPr/>
          <p:nvPr/>
        </p:nvSpPr>
        <p:spPr>
          <a:xfrm>
            <a:off x="502920" y="914400"/>
            <a:ext cx="2606040" cy="3154680"/>
          </a:xfrm>
          <a:prstGeom prst="roundRect">
            <a:avLst>
              <a:gd name="adj" fmla="val 3509"/>
            </a:avLst>
          </a:prstGeom>
          <a:solidFill>
            <a:srgbClr val="6A2F8F">
              <a:alpha val="10000"/>
            </a:srgbClr>
          </a:solidFill>
          <a:ln w="19050">
            <a:solidFill>
              <a:srgbClr val="6A2F8F"/>
            </a:solidFill>
            <a:prstDash val="solid"/>
          </a:ln>
        </p:spPr>
      </p:sp>
      <p:sp>
        <p:nvSpPr>
          <p:cNvPr id="10" name="Text 8"/>
          <p:cNvSpPr txBox="1"/>
          <p:nvPr/>
        </p:nvSpPr>
        <p:spPr>
          <a:xfrm>
            <a:off x="594360" y="987552"/>
            <a:ext cx="2423160" cy="685800"/>
          </a:xfrm>
          <a:prstGeom prst="rect">
            <a:avLst/>
          </a:prstGeom>
          <a:noFill/>
          <a:ln/>
        </p:spPr>
        <p:txBody>
          <a:bodyPr wrap="square" lIns="0" tIns="0" rIns="0" bIns="0" rtlCol="0" anchor="ctr"/>
          <a:lstStyle/>
          <a:p>
            <a:pPr rtl="1" algn="ctr" indent="0" marL="0">
              <a:buNone/>
            </a:pPr>
            <a:r>
              <a:rPr lang="ar-LB" altLang="en-US" sz="1800" b="1" dirty="0">
                <a:solidFill>
                  <a:srgbClr val="6A2F8F"/>
                </a:solidFill>
              </a:rPr>
              <a:t>مجموعة المثلث: إثراء</a:t>
            </a:r>
            <a:endParaRPr lang="ar-LB" sz="1800" dirty="0"/>
          </a:p>
        </p:txBody>
      </p:sp>
      <p:sp>
        <p:nvSpPr>
          <p:cNvPr id="11" name="Text 9"/>
          <p:cNvSpPr txBox="1"/>
          <p:nvPr/>
        </p:nvSpPr>
        <p:spPr>
          <a:xfrm>
            <a:off x="640080" y="1737360"/>
            <a:ext cx="2331720" cy="224028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600" dirty="0">
                <a:solidFill>
                  <a:srgbClr val="1B262C"/>
                </a:solidFill>
              </a:rPr>
              <a:t>أُسس ناقصة.</a:t>
            </a:r>
            <a:endParaRPr lang="ar-LB" sz="1600" dirty="0"/>
          </a:p>
          <a:p>
            <a:pPr rtl="1" algn="r" marL="152400" indent="-152400">
              <a:spcAft>
                <a:spcPts val="600"/>
              </a:spcAft>
              <a:buSzPct val="100000"/>
              <a:buChar char="•"/>
            </a:pPr>
            <a:r>
              <a:rPr lang="ar-LB" altLang="en-US" sz="1600" dirty="0">
                <a:solidFill>
                  <a:srgbClr val="1B262C"/>
                </a:solidFill>
              </a:rPr>
              <a:t>مقارنة دون حساب.</a:t>
            </a:r>
            <a:endParaRPr lang="ar-LB" sz="1600" dirty="0"/>
          </a:p>
          <a:p>
            <a:pPr rtl="1" algn="r" marL="152400" indent="-152400">
              <a:spcAft>
                <a:spcPts val="600"/>
              </a:spcAft>
              <a:buSzPct val="100000"/>
              <a:buChar char="•"/>
            </a:pPr>
            <a:r>
              <a:rPr lang="ar-LB" altLang="en-US" sz="1600" dirty="0">
                <a:solidFill>
                  <a:srgbClr val="1B262C"/>
                </a:solidFill>
              </a:rPr>
              <a:t>اكتشف الخطأ، وتحدّي 64 مكعّبًا.</a:t>
            </a:r>
            <a:endParaRPr lang="ar-LB" sz="1600" dirty="0"/>
          </a:p>
        </p:txBody>
      </p:sp>
      <p:sp>
        <p:nvSpPr>
          <p:cNvPr id="12" name="Text 10"/>
          <p:cNvSpPr txBox="1"/>
          <p:nvPr/>
        </p:nvSpPr>
        <p:spPr>
          <a:xfrm>
            <a:off x="457200" y="4160520"/>
            <a:ext cx="8229600" cy="548640"/>
          </a:xfrm>
          <a:prstGeom prst="rect">
            <a:avLst/>
          </a:prstGeom>
          <a:noFill/>
          <a:ln/>
        </p:spPr>
        <p:txBody>
          <a:bodyPr wrap="square" lIns="0" tIns="0" rIns="0" bIns="0" rtlCol="0" anchor="ctr"/>
          <a:lstStyle/>
          <a:p>
            <a:pPr rtl="1" algn="ctr" indent="0" marL="0">
              <a:buNone/>
            </a:pPr>
            <a:r>
              <a:rPr lang="ar-LB" altLang="en-US" sz="1500" b="1" dirty="0">
                <a:solidFill>
                  <a:srgbClr val="0F4C5C"/>
                </a:solidFill>
              </a:rPr>
              <a:t>الأدوار: القارئ يقرأ البطاقة بالبرايل بصوت عالٍ • الكاتب يسجّل بالبرايل • المدقّق يتحقّق بالخرز • المتحدّث يعرض الحل</a:t>
            </a:r>
            <a:endParaRPr lang="ar-LB" sz="15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كيف نراعي الفروق الفردية؟</a:t>
            </a:r>
            <a:endParaRPr lang="en-US" sz="3200" dirty="0"/>
          </a:p>
        </p:txBody>
      </p:sp>
      <p:sp>
        <p:nvSpPr>
          <p:cNvPr id="3" name="Shape 1"/>
          <p:cNvSpPr/>
          <p:nvPr/>
        </p:nvSpPr>
        <p:spPr>
          <a:xfrm>
            <a:off x="457200" y="914400"/>
            <a:ext cx="8229600" cy="1115568"/>
          </a:xfrm>
          <a:prstGeom prst="roundRect">
            <a:avLst>
              <a:gd name="adj" fmla="val 8197"/>
            </a:avLst>
          </a:prstGeom>
          <a:solidFill>
            <a:srgbClr val="1F7A45">
              <a:alpha val="9000"/>
            </a:srgbClr>
          </a:solidFill>
          <a:ln w="19050">
            <a:solidFill>
              <a:srgbClr val="1F7A45"/>
            </a:solidFill>
            <a:prstDash val="solid"/>
          </a:ln>
        </p:spPr>
      </p:sp>
      <p:sp>
        <p:nvSpPr>
          <p:cNvPr id="4" name="Shape 2"/>
          <p:cNvSpPr/>
          <p:nvPr/>
        </p:nvSpPr>
        <p:spPr>
          <a:xfrm>
            <a:off x="6903720" y="1060704"/>
            <a:ext cx="1645920" cy="822960"/>
          </a:xfrm>
          <a:prstGeom prst="roundRect">
            <a:avLst>
              <a:gd name="adj" fmla="val 11111"/>
            </a:avLst>
          </a:prstGeom>
          <a:solidFill>
            <a:srgbClr val="1F7A45"/>
          </a:solidFill>
          <a:ln w="12700">
            <a:solidFill>
              <a:srgbClr val="1F7A45"/>
            </a:solidFill>
            <a:prstDash val="solid"/>
          </a:ln>
        </p:spPr>
      </p:sp>
      <p:sp>
        <p:nvSpPr>
          <p:cNvPr id="5" name="Text 3"/>
          <p:cNvSpPr txBox="1"/>
          <p:nvPr/>
        </p:nvSpPr>
        <p:spPr>
          <a:xfrm>
            <a:off x="6903720" y="1060704"/>
            <a:ext cx="1645920" cy="822960"/>
          </a:xfrm>
          <a:prstGeom prst="rect">
            <a:avLst/>
          </a:prstGeom>
          <a:noFill/>
          <a:ln/>
        </p:spPr>
        <p:txBody>
          <a:bodyPr wrap="square" lIns="0" tIns="0" rIns="0" bIns="0" rtlCol="0" anchor="ctr"/>
          <a:lstStyle/>
          <a:p>
            <a:pPr rtl="1" algn="ctr" indent="0" marL="0">
              <a:buNone/>
            </a:pPr>
            <a:r>
              <a:rPr lang="ar-LB" altLang="en-US" sz="1800" b="1" dirty="0">
                <a:solidFill>
                  <a:srgbClr val="FFFFFF"/>
                </a:solidFill>
              </a:rPr>
              <a:t>حسب البصر</a:t>
            </a:r>
            <a:endParaRPr lang="ar-LB" sz="1800" dirty="0"/>
          </a:p>
        </p:txBody>
      </p:sp>
      <p:sp>
        <p:nvSpPr>
          <p:cNvPr id="6" name="Text 4"/>
          <p:cNvSpPr txBox="1"/>
          <p:nvPr/>
        </p:nvSpPr>
        <p:spPr>
          <a:xfrm>
            <a:off x="640080" y="914400"/>
            <a:ext cx="6126480" cy="1115568"/>
          </a:xfrm>
          <a:prstGeom prst="rect">
            <a:avLst/>
          </a:prstGeom>
          <a:noFill/>
          <a:ln/>
        </p:spPr>
        <p:txBody>
          <a:bodyPr wrap="square" lIns="0" tIns="0" rIns="0" bIns="0" rtlCol="0" anchor="ctr"/>
          <a:lstStyle/>
          <a:p>
            <a:pPr rtl="1" algn="r" indent="0" marL="0">
              <a:buNone/>
            </a:pPr>
            <a:r>
              <a:rPr lang="ar-LB" altLang="en-US" sz="1700" dirty="0">
                <a:solidFill>
                  <a:srgbClr val="1B262C"/>
                </a:solidFill>
              </a:rPr>
              <a:t>الكفيف كليًا: لمس وبرايل وسمع. ضعيف البصر: خط كبير (24 أو أكبر) وتباين عالٍ أو شاشة مكبّرة.</a:t>
            </a:r>
            <a:endParaRPr lang="ar-LB" sz="1700" dirty="0"/>
          </a:p>
        </p:txBody>
      </p:sp>
      <p:sp>
        <p:nvSpPr>
          <p:cNvPr id="7" name="Shape 5"/>
          <p:cNvSpPr/>
          <p:nvPr/>
        </p:nvSpPr>
        <p:spPr>
          <a:xfrm>
            <a:off x="457200" y="2176272"/>
            <a:ext cx="8229600" cy="1115568"/>
          </a:xfrm>
          <a:prstGeom prst="roundRect">
            <a:avLst>
              <a:gd name="adj" fmla="val 8197"/>
            </a:avLst>
          </a:prstGeom>
          <a:solidFill>
            <a:srgbClr val="1F5C99">
              <a:alpha val="9000"/>
            </a:srgbClr>
          </a:solidFill>
          <a:ln w="19050">
            <a:solidFill>
              <a:srgbClr val="1F5C99"/>
            </a:solidFill>
            <a:prstDash val="solid"/>
          </a:ln>
        </p:spPr>
      </p:sp>
      <p:sp>
        <p:nvSpPr>
          <p:cNvPr id="8" name="Shape 6"/>
          <p:cNvSpPr/>
          <p:nvPr/>
        </p:nvSpPr>
        <p:spPr>
          <a:xfrm>
            <a:off x="6903720" y="2322576"/>
            <a:ext cx="1645920" cy="822960"/>
          </a:xfrm>
          <a:prstGeom prst="roundRect">
            <a:avLst>
              <a:gd name="adj" fmla="val 11111"/>
            </a:avLst>
          </a:prstGeom>
          <a:solidFill>
            <a:srgbClr val="1F5C99"/>
          </a:solidFill>
          <a:ln w="12700">
            <a:solidFill>
              <a:srgbClr val="1F5C99"/>
            </a:solidFill>
            <a:prstDash val="solid"/>
          </a:ln>
        </p:spPr>
      </p:sp>
      <p:sp>
        <p:nvSpPr>
          <p:cNvPr id="9" name="Text 7"/>
          <p:cNvSpPr txBox="1"/>
          <p:nvPr/>
        </p:nvSpPr>
        <p:spPr>
          <a:xfrm>
            <a:off x="6903720" y="2322576"/>
            <a:ext cx="1645920" cy="822960"/>
          </a:xfrm>
          <a:prstGeom prst="rect">
            <a:avLst/>
          </a:prstGeom>
          <a:noFill/>
          <a:ln/>
        </p:spPr>
        <p:txBody>
          <a:bodyPr wrap="square" lIns="0" tIns="0" rIns="0" bIns="0" rtlCol="0" anchor="ctr"/>
          <a:lstStyle/>
          <a:p>
            <a:pPr rtl="1" algn="ctr" indent="0" marL="0">
              <a:buNone/>
            </a:pPr>
            <a:r>
              <a:rPr lang="ar-LB" altLang="en-US" sz="1800" b="1" dirty="0">
                <a:solidFill>
                  <a:srgbClr val="FFFFFF"/>
                </a:solidFill>
              </a:rPr>
              <a:t>حسب البرايل</a:t>
            </a:r>
            <a:endParaRPr lang="ar-LB" sz="1800" dirty="0"/>
          </a:p>
        </p:txBody>
      </p:sp>
      <p:sp>
        <p:nvSpPr>
          <p:cNvPr id="10" name="Text 8"/>
          <p:cNvSpPr txBox="1"/>
          <p:nvPr/>
        </p:nvSpPr>
        <p:spPr>
          <a:xfrm>
            <a:off x="640080" y="2176272"/>
            <a:ext cx="6126480" cy="1115568"/>
          </a:xfrm>
          <a:prstGeom prst="rect">
            <a:avLst/>
          </a:prstGeom>
          <a:noFill/>
          <a:ln/>
        </p:spPr>
        <p:txBody>
          <a:bodyPr wrap="square" lIns="0" tIns="0" rIns="0" bIns="0" rtlCol="0" anchor="ctr"/>
          <a:lstStyle/>
          <a:p>
            <a:pPr rtl="1" algn="r" indent="0" marL="0">
              <a:buNone/>
            </a:pPr>
            <a:r>
              <a:rPr lang="ar-LB" altLang="en-US" sz="1700" dirty="0">
                <a:solidFill>
                  <a:srgbClr val="1B262C"/>
                </a:solidFill>
              </a:rPr>
              <a:t>قارئ متمكّن: بطاقة برايل. قارئ مبتدئ: قارئ شاشة أو إجابة شفهية مسجّلة.</a:t>
            </a:r>
            <a:endParaRPr lang="ar-LB" sz="1700" dirty="0"/>
          </a:p>
        </p:txBody>
      </p:sp>
      <p:sp>
        <p:nvSpPr>
          <p:cNvPr id="11" name="Shape 9"/>
          <p:cNvSpPr/>
          <p:nvPr/>
        </p:nvSpPr>
        <p:spPr>
          <a:xfrm>
            <a:off x="457200" y="3438144"/>
            <a:ext cx="8229600" cy="1115568"/>
          </a:xfrm>
          <a:prstGeom prst="roundRect">
            <a:avLst>
              <a:gd name="adj" fmla="val 8197"/>
            </a:avLst>
          </a:prstGeom>
          <a:solidFill>
            <a:srgbClr val="6A2F8F">
              <a:alpha val="9000"/>
            </a:srgbClr>
          </a:solidFill>
          <a:ln w="19050">
            <a:solidFill>
              <a:srgbClr val="6A2F8F"/>
            </a:solidFill>
            <a:prstDash val="solid"/>
          </a:ln>
        </p:spPr>
      </p:sp>
      <p:sp>
        <p:nvSpPr>
          <p:cNvPr id="12" name="Shape 10"/>
          <p:cNvSpPr/>
          <p:nvPr/>
        </p:nvSpPr>
        <p:spPr>
          <a:xfrm>
            <a:off x="6903720" y="3584448"/>
            <a:ext cx="1645920" cy="822960"/>
          </a:xfrm>
          <a:prstGeom prst="roundRect">
            <a:avLst>
              <a:gd name="adj" fmla="val 11111"/>
            </a:avLst>
          </a:prstGeom>
          <a:solidFill>
            <a:srgbClr val="6A2F8F"/>
          </a:solidFill>
          <a:ln w="12700">
            <a:solidFill>
              <a:srgbClr val="6A2F8F"/>
            </a:solidFill>
            <a:prstDash val="solid"/>
          </a:ln>
        </p:spPr>
      </p:sp>
      <p:sp>
        <p:nvSpPr>
          <p:cNvPr id="13" name="Text 11"/>
          <p:cNvSpPr txBox="1"/>
          <p:nvPr/>
        </p:nvSpPr>
        <p:spPr>
          <a:xfrm>
            <a:off x="6903720" y="3584448"/>
            <a:ext cx="1645920" cy="822960"/>
          </a:xfrm>
          <a:prstGeom prst="rect">
            <a:avLst/>
          </a:prstGeom>
          <a:noFill/>
          <a:ln/>
        </p:spPr>
        <p:txBody>
          <a:bodyPr wrap="square" lIns="0" tIns="0" rIns="0" bIns="0" rtlCol="0" anchor="ctr"/>
          <a:lstStyle/>
          <a:p>
            <a:pPr rtl="1" algn="ctr" indent="0" marL="0">
              <a:buNone/>
            </a:pPr>
            <a:r>
              <a:rPr lang="ar-LB" altLang="en-US" sz="1800" b="1" dirty="0">
                <a:solidFill>
                  <a:srgbClr val="FFFFFF"/>
                </a:solidFill>
              </a:rPr>
              <a:t>حسب المستوى</a:t>
            </a:r>
            <a:endParaRPr lang="ar-LB" sz="1800" dirty="0"/>
          </a:p>
        </p:txBody>
      </p:sp>
      <p:sp>
        <p:nvSpPr>
          <p:cNvPr id="14" name="Text 12"/>
          <p:cNvSpPr txBox="1"/>
          <p:nvPr/>
        </p:nvSpPr>
        <p:spPr>
          <a:xfrm>
            <a:off x="640080" y="3438144"/>
            <a:ext cx="6126480" cy="1115568"/>
          </a:xfrm>
          <a:prstGeom prst="rect">
            <a:avLst/>
          </a:prstGeom>
          <a:noFill/>
          <a:ln/>
        </p:spPr>
        <p:txBody>
          <a:bodyPr wrap="square" lIns="0" tIns="0" rIns="0" bIns="0" rtlCol="0" anchor="ctr"/>
          <a:lstStyle/>
          <a:p>
            <a:pPr rtl="1" algn="r" indent="0" marL="0">
              <a:buNone/>
            </a:pPr>
            <a:r>
              <a:rPr lang="ar-LB" altLang="en-US" sz="1700" dirty="0">
                <a:solidFill>
                  <a:srgbClr val="1B262C"/>
                </a:solidFill>
              </a:rPr>
              <a:t>مجموعات الدائرة والمربّع والمثلث، مع وقت إضافي للقراءة باللمس، وزميل «خبير» عند الحاجة.</a:t>
            </a:r>
            <a:endParaRPr lang="ar-LB" sz="17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حلول بطاقات المجموعات</a:t>
            </a:r>
            <a:endParaRPr lang="en-US" sz="3200" dirty="0"/>
          </a:p>
        </p:txBody>
      </p:sp>
      <p:sp>
        <p:nvSpPr>
          <p:cNvPr id="3" name="Shape 1"/>
          <p:cNvSpPr/>
          <p:nvPr/>
        </p:nvSpPr>
        <p:spPr>
          <a:xfrm>
            <a:off x="5989320" y="914400"/>
            <a:ext cx="2606040" cy="3749040"/>
          </a:xfrm>
          <a:prstGeom prst="roundRect">
            <a:avLst>
              <a:gd name="adj" fmla="val 3509"/>
            </a:avLst>
          </a:prstGeom>
          <a:solidFill>
            <a:srgbClr val="1F7A45">
              <a:alpha val="9000"/>
            </a:srgbClr>
          </a:solidFill>
          <a:ln w="19050">
            <a:solidFill>
              <a:srgbClr val="1F7A45"/>
            </a:solidFill>
            <a:prstDash val="solid"/>
          </a:ln>
        </p:spPr>
      </p:sp>
      <p:sp>
        <p:nvSpPr>
          <p:cNvPr id="4" name="Text 2"/>
          <p:cNvSpPr txBox="1"/>
          <p:nvPr/>
        </p:nvSpPr>
        <p:spPr>
          <a:xfrm>
            <a:off x="5989320" y="960120"/>
            <a:ext cx="2606040" cy="411480"/>
          </a:xfrm>
          <a:prstGeom prst="rect">
            <a:avLst/>
          </a:prstGeom>
          <a:noFill/>
          <a:ln/>
        </p:spPr>
        <p:txBody>
          <a:bodyPr wrap="square" lIns="0" tIns="0" rIns="0" bIns="0" rtlCol="0" anchor="t"/>
          <a:lstStyle/>
          <a:p>
            <a:pPr rtl="1" algn="ctr" indent="0" marL="0">
              <a:buNone/>
            </a:pPr>
            <a:r>
              <a:rPr lang="ar-LB" altLang="en-US" sz="1700" b="1" dirty="0">
                <a:solidFill>
                  <a:srgbClr val="1F7A45"/>
                </a:solidFill>
              </a:rPr>
              <a:t>مجموعة الدائرة</a:t>
            </a:r>
            <a:endParaRPr lang="ar-LB" sz="1700" dirty="0"/>
          </a:p>
        </p:txBody>
      </p:sp>
      <p:sp>
        <p:nvSpPr>
          <p:cNvPr id="5" name="Text 3"/>
          <p:cNvSpPr txBox="1"/>
          <p:nvPr/>
        </p:nvSpPr>
        <p:spPr>
          <a:xfrm>
            <a:off x="6080760" y="1417320"/>
            <a:ext cx="2423160" cy="3154680"/>
          </a:xfrm>
          <a:prstGeom prst="rect">
            <a:avLst/>
          </a:prstGeom>
          <a:noFill/>
          <a:ln/>
        </p:spPr>
        <p:txBody>
          <a:bodyPr wrap="square" lIns="0" tIns="0" rIns="0" bIns="0" rtlCol="0" anchor="t"/>
          <a:lstStyle/>
          <a:p>
            <a:pPr rtl="1" algn="r" indent="0" marL="0">
              <a:spcAft>
                <a:spcPts val="800"/>
              </a:spcAft>
              <a:buNone/>
            </a:pPr>
            <a:r>
              <a:rPr lang="ar-LB" altLang="en-US" sz="1400" dirty="0">
                <a:solidFill>
                  <a:srgbClr val="1B262C"/>
                </a:solidFill>
              </a:rPr>
              <a:t>3 أُس 4 = 81؛ 5 أُس 3 = 125</a:t>
            </a:r>
            <a:endParaRPr lang="ar-LB" sz="1400" dirty="0"/>
          </a:p>
          <a:p>
            <a:pPr rtl="1" algn="r" indent="0" marL="0">
              <a:spcAft>
                <a:spcPts val="800"/>
              </a:spcAft>
              <a:buNone/>
            </a:pPr>
            <a:r>
              <a:rPr lang="ar-LB" altLang="en-US" sz="1400" dirty="0">
                <a:solidFill>
                  <a:srgbClr val="1B262C"/>
                </a:solidFill>
              </a:rPr>
              <a:t>2 أُس 6 = 64؛ 10 أُس 2 = 100</a:t>
            </a:r>
            <a:endParaRPr lang="ar-LB" sz="1400" dirty="0"/>
          </a:p>
          <a:p>
            <a:pPr rtl="1" algn="r" indent="0" marL="0">
              <a:spcAft>
                <a:spcPts val="800"/>
              </a:spcAft>
              <a:buNone/>
            </a:pPr>
            <a:r>
              <a:rPr lang="ar-LB" altLang="en-US" sz="1400" dirty="0">
                <a:solidFill>
                  <a:srgbClr val="1B262C"/>
                </a:solidFill>
              </a:rPr>
              <a:t>3+3+3+3 = 4 × 3 = 12</a:t>
            </a:r>
            <a:endParaRPr lang="ar-LB" sz="1400" dirty="0"/>
          </a:p>
          <a:p>
            <a:pPr rtl="1" algn="r" indent="0" marL="0">
              <a:spcAft>
                <a:spcPts val="800"/>
              </a:spcAft>
              <a:buNone/>
            </a:pPr>
            <a:r>
              <a:rPr lang="ar-LB" altLang="en-US" sz="1400" dirty="0">
                <a:solidFill>
                  <a:srgbClr val="1B262C"/>
                </a:solidFill>
              </a:rPr>
              <a:t>(2 أُس 2) الكلّ أُس 2 = 2 أُس 4 = 16</a:t>
            </a:r>
            <a:endParaRPr lang="ar-LB" sz="1400" dirty="0"/>
          </a:p>
          <a:p>
            <a:pPr rtl="1" algn="r" indent="0" marL="0">
              <a:spcAft>
                <a:spcPts val="800"/>
              </a:spcAft>
              <a:buNone/>
            </a:pPr>
            <a:r>
              <a:rPr lang="ar-LB" altLang="en-US" sz="1400" dirty="0">
                <a:solidFill>
                  <a:srgbClr val="1B262C"/>
                </a:solidFill>
              </a:rPr>
              <a:t>(3 أُس 2) الكلّ أُس 2 = 3 أُس 4 = 81</a:t>
            </a:r>
            <a:endParaRPr lang="ar-LB" sz="1400" dirty="0"/>
          </a:p>
        </p:txBody>
      </p:sp>
      <p:sp>
        <p:nvSpPr>
          <p:cNvPr id="6" name="Shape 4"/>
          <p:cNvSpPr/>
          <p:nvPr/>
        </p:nvSpPr>
        <p:spPr>
          <a:xfrm>
            <a:off x="3246120" y="914400"/>
            <a:ext cx="2606040" cy="3749040"/>
          </a:xfrm>
          <a:prstGeom prst="roundRect">
            <a:avLst>
              <a:gd name="adj" fmla="val 3509"/>
            </a:avLst>
          </a:prstGeom>
          <a:solidFill>
            <a:srgbClr val="1F5C99">
              <a:alpha val="9000"/>
            </a:srgbClr>
          </a:solidFill>
          <a:ln w="19050">
            <a:solidFill>
              <a:srgbClr val="1F5C99"/>
            </a:solidFill>
            <a:prstDash val="solid"/>
          </a:ln>
        </p:spPr>
      </p:sp>
      <p:sp>
        <p:nvSpPr>
          <p:cNvPr id="7" name="Text 5"/>
          <p:cNvSpPr txBox="1"/>
          <p:nvPr/>
        </p:nvSpPr>
        <p:spPr>
          <a:xfrm>
            <a:off x="3246120" y="960120"/>
            <a:ext cx="2606040" cy="411480"/>
          </a:xfrm>
          <a:prstGeom prst="rect">
            <a:avLst/>
          </a:prstGeom>
          <a:noFill/>
          <a:ln/>
        </p:spPr>
        <p:txBody>
          <a:bodyPr wrap="square" lIns="0" tIns="0" rIns="0" bIns="0" rtlCol="0" anchor="t"/>
          <a:lstStyle/>
          <a:p>
            <a:pPr rtl="1" algn="ctr" indent="0" marL="0">
              <a:buNone/>
            </a:pPr>
            <a:r>
              <a:rPr lang="ar-LB" altLang="en-US" sz="1700" b="1" dirty="0">
                <a:solidFill>
                  <a:srgbClr val="1F5C99"/>
                </a:solidFill>
              </a:rPr>
              <a:t>مجموعة المربّع</a:t>
            </a:r>
            <a:endParaRPr lang="ar-LB" sz="1700" dirty="0"/>
          </a:p>
        </p:txBody>
      </p:sp>
      <p:sp>
        <p:nvSpPr>
          <p:cNvPr id="8" name="Text 6"/>
          <p:cNvSpPr txBox="1"/>
          <p:nvPr/>
        </p:nvSpPr>
        <p:spPr>
          <a:xfrm>
            <a:off x="3337560" y="1417320"/>
            <a:ext cx="2423160" cy="3154680"/>
          </a:xfrm>
          <a:prstGeom prst="rect">
            <a:avLst/>
          </a:prstGeom>
          <a:noFill/>
          <a:ln/>
        </p:spPr>
        <p:txBody>
          <a:bodyPr wrap="square" lIns="0" tIns="0" rIns="0" bIns="0" rtlCol="0" anchor="t"/>
          <a:lstStyle/>
          <a:p>
            <a:pPr rtl="1" algn="r" indent="0" marL="0">
              <a:spcAft>
                <a:spcPts val="800"/>
              </a:spcAft>
              <a:buNone/>
            </a:pPr>
            <a:r>
              <a:rPr lang="ar-LB" altLang="en-US" sz="1400" dirty="0">
                <a:solidFill>
                  <a:srgbClr val="1B262C"/>
                </a:solidFill>
              </a:rPr>
              <a:t>2 أُس 8 = 256</a:t>
            </a:r>
            <a:endParaRPr lang="ar-LB" sz="1400" dirty="0"/>
          </a:p>
          <a:p>
            <a:pPr rtl="1" algn="r" indent="0" marL="0">
              <a:spcAft>
                <a:spcPts val="800"/>
              </a:spcAft>
              <a:buNone/>
            </a:pPr>
            <a:r>
              <a:rPr lang="ar-LB" altLang="en-US" sz="1400" dirty="0">
                <a:solidFill>
                  <a:srgbClr val="1B262C"/>
                </a:solidFill>
              </a:rPr>
              <a:t>10 أُس 8 = 100 مليون</a:t>
            </a:r>
            <a:endParaRPr lang="ar-LB" sz="1400" dirty="0"/>
          </a:p>
          <a:p>
            <a:pPr rtl="1" algn="r" indent="0" marL="0">
              <a:spcAft>
                <a:spcPts val="800"/>
              </a:spcAft>
              <a:buNone/>
            </a:pPr>
            <a:r>
              <a:rPr lang="ar-LB" altLang="en-US" sz="1400" dirty="0">
                <a:solidFill>
                  <a:srgbClr val="1B262C"/>
                </a:solidFill>
              </a:rPr>
              <a:t>3 أُس 6 = 729</a:t>
            </a:r>
            <a:endParaRPr lang="ar-LB" sz="1400" dirty="0"/>
          </a:p>
          <a:p>
            <a:pPr rtl="1" algn="r" indent="0" marL="0">
              <a:spcAft>
                <a:spcPts val="800"/>
              </a:spcAft>
              <a:buNone/>
            </a:pPr>
            <a:r>
              <a:rPr lang="ar-LB" altLang="en-US" sz="1400" dirty="0">
                <a:solidFill>
                  <a:srgbClr val="1B262C"/>
                </a:solidFill>
              </a:rPr>
              <a:t>خطأ ← 4 أُس 6؛ خطأ ← 25؛ صح</a:t>
            </a:r>
            <a:endParaRPr lang="ar-LB" sz="1400" dirty="0"/>
          </a:p>
          <a:p>
            <a:pPr rtl="1" algn="r" indent="0" marL="0">
              <a:spcAft>
                <a:spcPts val="800"/>
              </a:spcAft>
              <a:buNone/>
            </a:pPr>
            <a:r>
              <a:rPr lang="ar-LB" altLang="en-US" sz="1400" dirty="0">
                <a:solidFill>
                  <a:srgbClr val="1B262C"/>
                </a:solidFill>
              </a:rPr>
              <a:t>المزرعة: 10 أُس 4 = 10000 م²</a:t>
            </a:r>
            <a:endParaRPr lang="ar-LB" sz="1400" dirty="0"/>
          </a:p>
        </p:txBody>
      </p:sp>
      <p:sp>
        <p:nvSpPr>
          <p:cNvPr id="9" name="Shape 7"/>
          <p:cNvSpPr/>
          <p:nvPr/>
        </p:nvSpPr>
        <p:spPr>
          <a:xfrm>
            <a:off x="502920" y="914400"/>
            <a:ext cx="2606040" cy="3749040"/>
          </a:xfrm>
          <a:prstGeom prst="roundRect">
            <a:avLst>
              <a:gd name="adj" fmla="val 3509"/>
            </a:avLst>
          </a:prstGeom>
          <a:solidFill>
            <a:srgbClr val="6A2F8F">
              <a:alpha val="9000"/>
            </a:srgbClr>
          </a:solidFill>
          <a:ln w="19050">
            <a:solidFill>
              <a:srgbClr val="6A2F8F"/>
            </a:solidFill>
            <a:prstDash val="solid"/>
          </a:ln>
        </p:spPr>
      </p:sp>
      <p:sp>
        <p:nvSpPr>
          <p:cNvPr id="10" name="Text 8"/>
          <p:cNvSpPr txBox="1"/>
          <p:nvPr/>
        </p:nvSpPr>
        <p:spPr>
          <a:xfrm>
            <a:off x="502920" y="960120"/>
            <a:ext cx="2606040" cy="411480"/>
          </a:xfrm>
          <a:prstGeom prst="rect">
            <a:avLst/>
          </a:prstGeom>
          <a:noFill/>
          <a:ln/>
        </p:spPr>
        <p:txBody>
          <a:bodyPr wrap="square" lIns="0" tIns="0" rIns="0" bIns="0" rtlCol="0" anchor="t"/>
          <a:lstStyle/>
          <a:p>
            <a:pPr rtl="1" algn="ctr" indent="0" marL="0">
              <a:buNone/>
            </a:pPr>
            <a:r>
              <a:rPr lang="ar-LB" altLang="en-US" sz="1700" b="1" dirty="0">
                <a:solidFill>
                  <a:srgbClr val="6A2F8F"/>
                </a:solidFill>
              </a:rPr>
              <a:t>مجموعة المثلث</a:t>
            </a:r>
            <a:endParaRPr lang="ar-LB" sz="1700" dirty="0"/>
          </a:p>
        </p:txBody>
      </p:sp>
      <p:sp>
        <p:nvSpPr>
          <p:cNvPr id="11" name="Text 9"/>
          <p:cNvSpPr txBox="1"/>
          <p:nvPr/>
        </p:nvSpPr>
        <p:spPr>
          <a:xfrm>
            <a:off x="594360" y="1417320"/>
            <a:ext cx="2423160" cy="3154680"/>
          </a:xfrm>
          <a:prstGeom prst="rect">
            <a:avLst/>
          </a:prstGeom>
          <a:noFill/>
          <a:ln/>
        </p:spPr>
        <p:txBody>
          <a:bodyPr wrap="square" lIns="0" tIns="0" rIns="0" bIns="0" rtlCol="0" anchor="t"/>
          <a:lstStyle/>
          <a:p>
            <a:pPr rtl="1" algn="r" indent="0" marL="0">
              <a:spcAft>
                <a:spcPts val="800"/>
              </a:spcAft>
              <a:buNone/>
            </a:pPr>
            <a:r>
              <a:rPr lang="ar-LB" altLang="en-US" sz="1400" dirty="0">
                <a:solidFill>
                  <a:srgbClr val="1B262C"/>
                </a:solidFill>
              </a:rPr>
              <a:t>5؛ 3</a:t>
            </a:r>
            <a:endParaRPr lang="ar-LB" sz="1400" dirty="0"/>
          </a:p>
          <a:p>
            <a:pPr rtl="1" algn="r" indent="0" marL="0">
              <a:spcAft>
                <a:spcPts val="800"/>
              </a:spcAft>
              <a:buNone/>
            </a:pPr>
            <a:r>
              <a:rPr lang="ar-LB" altLang="en-US" sz="1400" dirty="0">
                <a:solidFill>
                  <a:srgbClr val="1B262C"/>
                </a:solidFill>
              </a:rPr>
              <a:t>x أُس 12: الأُسّان 2 و6، أو 6 و2، أو 3 و4، أو 4 و3</a:t>
            </a:r>
            <a:endParaRPr lang="ar-LB" sz="1400" dirty="0"/>
          </a:p>
          <a:p>
            <a:pPr rtl="1" algn="r" indent="0" marL="0">
              <a:spcAft>
                <a:spcPts val="800"/>
              </a:spcAft>
              <a:buNone/>
            </a:pPr>
            <a:r>
              <a:rPr lang="ar-LB" altLang="en-US" sz="1400" dirty="0">
                <a:solidFill>
                  <a:srgbClr val="1B262C"/>
                </a:solidFill>
              </a:rPr>
              <a:t>متساويتان: كلتاهما 2 أُس 12</a:t>
            </a:r>
            <a:endParaRPr lang="ar-LB" sz="1400" dirty="0"/>
          </a:p>
          <a:p>
            <a:pPr rtl="1" algn="r" indent="0" marL="0">
              <a:spcAft>
                <a:spcPts val="800"/>
              </a:spcAft>
              <a:buNone/>
            </a:pPr>
            <a:r>
              <a:rPr lang="ar-LB" altLang="en-US" sz="1400" dirty="0">
                <a:solidFill>
                  <a:srgbClr val="1B262C"/>
                </a:solidFill>
              </a:rPr>
              <a:t>الصحيح: 3 أُس 6 = 729</a:t>
            </a:r>
            <a:endParaRPr lang="ar-LB" sz="1400" dirty="0"/>
          </a:p>
          <a:p>
            <a:pPr rtl="1" algn="r" indent="0" marL="0">
              <a:spcAft>
                <a:spcPts val="800"/>
              </a:spcAft>
              <a:buNone/>
            </a:pPr>
            <a:r>
              <a:rPr lang="ar-LB" altLang="en-US" sz="1400" dirty="0">
                <a:solidFill>
                  <a:srgbClr val="1B262C"/>
                </a:solidFill>
              </a:rPr>
              <a:t>64 مكعّبًا صغيرًا</a:t>
            </a:r>
            <a:endParaRPr lang="ar-LB" sz="14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C2500C"/>
          </a:solidFill>
          <a:ln w="12700">
            <a:solidFill>
              <a:srgbClr val="C2500C"/>
            </a:solidFill>
            <a:prstDash val="solid"/>
          </a:ln>
        </p:spPr>
      </p:sp>
      <p:pic>
        <p:nvPicPr>
          <p:cNvPr id="3" name="Image 0" descr="أيقونة تقييم">    </p:cNvPr>
          <p:cNvPicPr>
            <a:picLocks noChangeAspect="1"/>
          </p:cNvPicPr>
          <p:nvPr/>
        </p:nvPicPr>
        <p:blipFill>
          <a:blip r:embed="rId1"/>
          <a:stretch>
            <a:fillRect/>
          </a:stretch>
        </p:blipFill>
        <p:spPr>
          <a:xfrm>
            <a:off x="7388352" y="1856232"/>
            <a:ext cx="950976" cy="950976"/>
          </a:xfrm>
          <a:prstGeom prst="rect">
            <a:avLst/>
          </a:prstGeom>
        </p:spPr>
      </p:pic>
      <p:sp>
        <p:nvSpPr>
          <p:cNvPr id="4" name="Text 1"/>
          <p:cNvSpPr txBox="1"/>
          <p:nvPr/>
        </p:nvSpPr>
        <p:spPr>
          <a:xfrm>
            <a:off x="548640" y="1325880"/>
            <a:ext cx="6035040" cy="411480"/>
          </a:xfrm>
          <a:prstGeom prst="rect">
            <a:avLst/>
          </a:prstGeom>
          <a:noFill/>
          <a:ln/>
        </p:spPr>
        <p:txBody>
          <a:bodyPr wrap="square" lIns="0" tIns="0" rIns="0" bIns="0" rtlCol="0" anchor="t"/>
          <a:lstStyle/>
          <a:p>
            <a:pPr rtl="1" algn="r" indent="0" marL="0">
              <a:buNone/>
            </a:pPr>
            <a:r>
              <a:rPr lang="ar-LB" altLang="en-US" sz="2000" b="1" dirty="0">
                <a:solidFill>
                  <a:srgbClr val="F2C46D"/>
                </a:solidFill>
              </a:rPr>
              <a:t>المرحلة 6</a:t>
            </a:r>
            <a:endParaRPr lang="ar-LB" sz="2000" dirty="0"/>
          </a:p>
        </p:txBody>
      </p:sp>
      <p:sp>
        <p:nvSpPr>
          <p:cNvPr id="5" name="Text 0"/>
          <p:cNvSpPr/>
          <p:nvPr>
            <p:ph idx="100" type="title" hasCustomPrompt="1"/>
          </p:nvPr>
        </p:nvSpPr>
        <p:spPr>
          <a:xfrm>
            <a:off x="548640" y="1783080"/>
            <a:ext cx="6035040" cy="822960"/>
          </a:xfrm>
          <a:prstGeom prst="rect">
            <a:avLst/>
          </a:prstGeom>
          <a:noFill/>
          <a:ln/>
        </p:spPr>
        <p:txBody>
          <a:bodyPr wrap="square" rtlCol="0"/>
          <a:lstStyle/>
          <a:p>
            <a:pPr rtl="1" algn="r" indent="0" marL="0">
              <a:buNone/>
            </a:pPr>
            <a:r>
              <a:rPr lang="en-US" sz="4000" b="1" dirty="0">
                <a:solidFill>
                  <a:srgbClr val="FFFFFF"/>
                </a:solidFill>
              </a:rPr>
              <a:t>التقييم وتناقل المعرفة</a:t>
            </a:r>
            <a:endParaRPr lang="en-US" sz="4000" dirty="0"/>
          </a:p>
        </p:txBody>
      </p:sp>
      <p:sp>
        <p:nvSpPr>
          <p:cNvPr id="6" name="Text 0"/>
          <p:cNvSpPr/>
          <p:nvPr>
            <p:ph idx="101" type="body" hasCustomPrompt="1"/>
          </p:nvPr>
        </p:nvSpPr>
        <p:spPr>
          <a:xfrm>
            <a:off x="548640" y="2697480"/>
            <a:ext cx="6035040" cy="1097280"/>
          </a:xfrm>
          <a:prstGeom prst="rect">
            <a:avLst/>
          </a:prstGeom>
          <a:noFill/>
          <a:ln/>
        </p:spPr>
        <p:txBody>
          <a:bodyPr wrap="square" rtlCol="0" anchor="t"/>
          <a:lstStyle/>
          <a:p>
            <a:pPr rtl="1" algn="r" indent="0" marL="0">
              <a:buNone/>
            </a:pPr>
            <a:r>
              <a:rPr lang="en-US" sz="2000" dirty="0">
                <a:solidFill>
                  <a:srgbClr val="FFFFFF"/>
                </a:solidFill>
              </a:rPr>
              <a:t>استراتيجية: «اسأل ثلاثة قبل المعلم» شفهيًا + تقييم الأقران  •  8 دقائق</a:t>
            </a:r>
            <a:endParaRPr lang="en-US" sz="2000" dirty="0"/>
          </a:p>
          <a:p>
            <a:pPr rtl="1" algn="r" indent="0" marL="0">
              <a:buNone/>
            </a:pPr>
            <a:r>
              <a:rPr lang="en-US" sz="2000" dirty="0">
                <a:solidFill>
                  <a:srgbClr val="FFFFFF"/>
                </a:solidFill>
              </a:rPr>
              <a:t>بطاقة التقييم بالبرايل أو شفهيًا</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تناقل المعرفة: اسأل ثلاثة قبل المعلم</a:t>
            </a:r>
            <a:endParaRPr lang="en-US" sz="3200" dirty="0"/>
          </a:p>
        </p:txBody>
      </p:sp>
      <p:sp>
        <p:nvSpPr>
          <p:cNvPr id="3" name="Shape 1"/>
          <p:cNvSpPr/>
          <p:nvPr/>
        </p:nvSpPr>
        <p:spPr>
          <a:xfrm>
            <a:off x="6629400" y="914400"/>
            <a:ext cx="1920240" cy="2834640"/>
          </a:xfrm>
          <a:prstGeom prst="roundRect">
            <a:avLst>
              <a:gd name="adj" fmla="val 4762"/>
            </a:avLst>
          </a:prstGeom>
          <a:solidFill>
            <a:srgbClr val="0B6E70">
              <a:alpha val="10000"/>
            </a:srgbClr>
          </a:solidFill>
          <a:ln w="19050">
            <a:solidFill>
              <a:srgbClr val="0B6E70"/>
            </a:solidFill>
            <a:prstDash val="solid"/>
          </a:ln>
        </p:spPr>
      </p:sp>
      <p:sp>
        <p:nvSpPr>
          <p:cNvPr id="4" name="Text 2"/>
          <p:cNvSpPr txBox="1"/>
          <p:nvPr/>
        </p:nvSpPr>
        <p:spPr>
          <a:xfrm>
            <a:off x="6720840" y="1005840"/>
            <a:ext cx="1737360" cy="457200"/>
          </a:xfrm>
          <a:prstGeom prst="rect">
            <a:avLst/>
          </a:prstGeom>
          <a:noFill/>
          <a:ln/>
        </p:spPr>
        <p:txBody>
          <a:bodyPr wrap="square" lIns="0" tIns="0" rIns="0" bIns="0" rtlCol="0" anchor="t"/>
          <a:lstStyle/>
          <a:p>
            <a:pPr rtl="1" algn="ctr" indent="0" marL="0">
              <a:buNone/>
            </a:pPr>
            <a:r>
              <a:rPr lang="ar-LB" altLang="en-US" sz="1800" b="1" dirty="0">
                <a:solidFill>
                  <a:srgbClr val="0B6E70"/>
                </a:solidFill>
              </a:rPr>
              <a:t>1. أحلّ وحدي</a:t>
            </a:r>
            <a:endParaRPr lang="ar-LB" sz="1800" dirty="0"/>
          </a:p>
        </p:txBody>
      </p:sp>
      <p:sp>
        <p:nvSpPr>
          <p:cNvPr id="5" name="Text 3"/>
          <p:cNvSpPr txBox="1"/>
          <p:nvPr/>
        </p:nvSpPr>
        <p:spPr>
          <a:xfrm>
            <a:off x="6739128" y="1508760"/>
            <a:ext cx="1700784" cy="2148840"/>
          </a:xfrm>
          <a:prstGeom prst="rect">
            <a:avLst/>
          </a:prstGeom>
          <a:noFill/>
          <a:ln/>
        </p:spPr>
        <p:txBody>
          <a:bodyPr wrap="square" lIns="0" tIns="0" rIns="0" bIns="0" rtlCol="0" anchor="t"/>
          <a:lstStyle/>
          <a:p>
            <a:pPr rtl="1" algn="ctr" indent="0" marL="0">
              <a:buNone/>
            </a:pPr>
            <a:r>
              <a:rPr lang="ar-LB" altLang="en-US" sz="1500" dirty="0">
                <a:solidFill>
                  <a:srgbClr val="1B262C"/>
                </a:solidFill>
              </a:rPr>
              <a:t>بالبرايل أو بقارئ الشاشة (5 دقائق).</a:t>
            </a:r>
            <a:endParaRPr lang="ar-LB" sz="1500" dirty="0"/>
          </a:p>
        </p:txBody>
      </p:sp>
      <p:sp>
        <p:nvSpPr>
          <p:cNvPr id="6" name="Shape 4"/>
          <p:cNvSpPr/>
          <p:nvPr/>
        </p:nvSpPr>
        <p:spPr>
          <a:xfrm>
            <a:off x="4572000" y="914400"/>
            <a:ext cx="1920240" cy="2834640"/>
          </a:xfrm>
          <a:prstGeom prst="roundRect">
            <a:avLst>
              <a:gd name="adj" fmla="val 4762"/>
            </a:avLst>
          </a:prstGeom>
          <a:solidFill>
            <a:srgbClr val="0B6E70">
              <a:alpha val="10000"/>
            </a:srgbClr>
          </a:solidFill>
          <a:ln w="19050">
            <a:solidFill>
              <a:srgbClr val="0B6E70"/>
            </a:solidFill>
            <a:prstDash val="solid"/>
          </a:ln>
        </p:spPr>
      </p:sp>
      <p:sp>
        <p:nvSpPr>
          <p:cNvPr id="7" name="Text 5"/>
          <p:cNvSpPr txBox="1"/>
          <p:nvPr/>
        </p:nvSpPr>
        <p:spPr>
          <a:xfrm>
            <a:off x="4663440" y="1005840"/>
            <a:ext cx="1737360" cy="457200"/>
          </a:xfrm>
          <a:prstGeom prst="rect">
            <a:avLst/>
          </a:prstGeom>
          <a:noFill/>
          <a:ln/>
        </p:spPr>
        <p:txBody>
          <a:bodyPr wrap="square" lIns="0" tIns="0" rIns="0" bIns="0" rtlCol="0" anchor="t"/>
          <a:lstStyle/>
          <a:p>
            <a:pPr rtl="1" algn="ctr" indent="0" marL="0">
              <a:buNone/>
            </a:pPr>
            <a:r>
              <a:rPr lang="ar-LB" altLang="en-US" sz="1800" b="1" dirty="0">
                <a:solidFill>
                  <a:srgbClr val="0B6E70"/>
                </a:solidFill>
              </a:rPr>
              <a:t>2. أقرأ لزميلي</a:t>
            </a:r>
            <a:endParaRPr lang="ar-LB" sz="1800" dirty="0"/>
          </a:p>
        </p:txBody>
      </p:sp>
      <p:sp>
        <p:nvSpPr>
          <p:cNvPr id="8" name="Text 6"/>
          <p:cNvSpPr txBox="1"/>
          <p:nvPr/>
        </p:nvSpPr>
        <p:spPr>
          <a:xfrm>
            <a:off x="4681728" y="1508760"/>
            <a:ext cx="1700784" cy="2148840"/>
          </a:xfrm>
          <a:prstGeom prst="rect">
            <a:avLst/>
          </a:prstGeom>
          <a:noFill/>
          <a:ln/>
        </p:spPr>
        <p:txBody>
          <a:bodyPr wrap="square" lIns="0" tIns="0" rIns="0" bIns="0" rtlCol="0" anchor="t"/>
          <a:lstStyle/>
          <a:p>
            <a:pPr rtl="1" algn="ctr" indent="0" marL="0">
              <a:buNone/>
            </a:pPr>
            <a:r>
              <a:rPr lang="ar-LB" altLang="en-US" sz="1500" dirty="0">
                <a:solidFill>
                  <a:srgbClr val="1B262C"/>
                </a:solidFill>
              </a:rPr>
              <a:t>أقرأ إجاباتي بصوت منخفض لجاري، فيقول: «موافق» أو «لست متأكدًا».</a:t>
            </a:r>
            <a:endParaRPr lang="ar-LB" sz="1500" dirty="0"/>
          </a:p>
        </p:txBody>
      </p:sp>
      <p:sp>
        <p:nvSpPr>
          <p:cNvPr id="9" name="Shape 7"/>
          <p:cNvSpPr/>
          <p:nvPr/>
        </p:nvSpPr>
        <p:spPr>
          <a:xfrm>
            <a:off x="2514600" y="914400"/>
            <a:ext cx="1920240" cy="2834640"/>
          </a:xfrm>
          <a:prstGeom prst="roundRect">
            <a:avLst>
              <a:gd name="adj" fmla="val 4762"/>
            </a:avLst>
          </a:prstGeom>
          <a:solidFill>
            <a:srgbClr val="0B6E70">
              <a:alpha val="10000"/>
            </a:srgbClr>
          </a:solidFill>
          <a:ln w="19050">
            <a:solidFill>
              <a:srgbClr val="0B6E70"/>
            </a:solidFill>
            <a:prstDash val="solid"/>
          </a:ln>
        </p:spPr>
      </p:sp>
      <p:sp>
        <p:nvSpPr>
          <p:cNvPr id="10" name="Text 8"/>
          <p:cNvSpPr txBox="1"/>
          <p:nvPr/>
        </p:nvSpPr>
        <p:spPr>
          <a:xfrm>
            <a:off x="2606040" y="1005840"/>
            <a:ext cx="1737360" cy="457200"/>
          </a:xfrm>
          <a:prstGeom prst="rect">
            <a:avLst/>
          </a:prstGeom>
          <a:noFill/>
          <a:ln/>
        </p:spPr>
        <p:txBody>
          <a:bodyPr wrap="square" lIns="0" tIns="0" rIns="0" bIns="0" rtlCol="0" anchor="t"/>
          <a:lstStyle/>
          <a:p>
            <a:pPr rtl="1" algn="ctr" indent="0" marL="0">
              <a:buNone/>
            </a:pPr>
            <a:r>
              <a:rPr lang="ar-LB" altLang="en-US" sz="1800" b="1" dirty="0">
                <a:solidFill>
                  <a:srgbClr val="0B6E70"/>
                </a:solidFill>
              </a:rPr>
              <a:t>3. نتحقّق معًا</a:t>
            </a:r>
            <a:endParaRPr lang="ar-LB" sz="1800" dirty="0"/>
          </a:p>
        </p:txBody>
      </p:sp>
      <p:sp>
        <p:nvSpPr>
          <p:cNvPr id="11" name="Text 9"/>
          <p:cNvSpPr txBox="1"/>
          <p:nvPr/>
        </p:nvSpPr>
        <p:spPr>
          <a:xfrm>
            <a:off x="2624328" y="1508760"/>
            <a:ext cx="1700784" cy="2148840"/>
          </a:xfrm>
          <a:prstGeom prst="rect">
            <a:avLst/>
          </a:prstGeom>
          <a:noFill/>
          <a:ln/>
        </p:spPr>
        <p:txBody>
          <a:bodyPr wrap="square" lIns="0" tIns="0" rIns="0" bIns="0" rtlCol="0" anchor="t"/>
          <a:lstStyle/>
          <a:p>
            <a:pPr rtl="1" algn="ctr" indent="0" marL="0">
              <a:buNone/>
            </a:pPr>
            <a:r>
              <a:rPr lang="ar-LB" altLang="en-US" sz="1500" dirty="0">
                <a:solidFill>
                  <a:srgbClr val="1B262C"/>
                </a:solidFill>
              </a:rPr>
              <a:t>عند الاختلاف نشرح بالخرز، ثم نسأل زميلًا ثالثًا ثم رابعًا بالاسم.</a:t>
            </a:r>
            <a:endParaRPr lang="ar-LB" sz="1500" dirty="0"/>
          </a:p>
        </p:txBody>
      </p:sp>
      <p:sp>
        <p:nvSpPr>
          <p:cNvPr id="12" name="Shape 10"/>
          <p:cNvSpPr/>
          <p:nvPr/>
        </p:nvSpPr>
        <p:spPr>
          <a:xfrm>
            <a:off x="457200" y="914400"/>
            <a:ext cx="1920240" cy="2834640"/>
          </a:xfrm>
          <a:prstGeom prst="roundRect">
            <a:avLst>
              <a:gd name="adj" fmla="val 4762"/>
            </a:avLst>
          </a:prstGeom>
          <a:solidFill>
            <a:srgbClr val="C2500C">
              <a:alpha val="10000"/>
            </a:srgbClr>
          </a:solidFill>
          <a:ln w="19050">
            <a:solidFill>
              <a:srgbClr val="C2500C"/>
            </a:solidFill>
            <a:prstDash val="solid"/>
          </a:ln>
        </p:spPr>
      </p:sp>
      <p:sp>
        <p:nvSpPr>
          <p:cNvPr id="13" name="Text 11"/>
          <p:cNvSpPr txBox="1"/>
          <p:nvPr/>
        </p:nvSpPr>
        <p:spPr>
          <a:xfrm>
            <a:off x="548640" y="1005840"/>
            <a:ext cx="1737360" cy="457200"/>
          </a:xfrm>
          <a:prstGeom prst="rect">
            <a:avLst/>
          </a:prstGeom>
          <a:noFill/>
          <a:ln/>
        </p:spPr>
        <p:txBody>
          <a:bodyPr wrap="square" lIns="0" tIns="0" rIns="0" bIns="0" rtlCol="0" anchor="t"/>
          <a:lstStyle/>
          <a:p>
            <a:pPr rtl="1" algn="ctr" indent="0" marL="0">
              <a:buNone/>
            </a:pPr>
            <a:r>
              <a:rPr lang="ar-LB" altLang="en-US" sz="1800" b="1" dirty="0">
                <a:solidFill>
                  <a:srgbClr val="C2500C"/>
                </a:solidFill>
              </a:rPr>
              <a:t>4. ثم المعلم</a:t>
            </a:r>
            <a:endParaRPr lang="ar-LB" sz="1800" dirty="0"/>
          </a:p>
        </p:txBody>
      </p:sp>
      <p:sp>
        <p:nvSpPr>
          <p:cNvPr id="14" name="Text 12"/>
          <p:cNvSpPr txBox="1"/>
          <p:nvPr/>
        </p:nvSpPr>
        <p:spPr>
          <a:xfrm>
            <a:off x="566928" y="1508760"/>
            <a:ext cx="1700784" cy="2148840"/>
          </a:xfrm>
          <a:prstGeom prst="rect">
            <a:avLst/>
          </a:prstGeom>
          <a:noFill/>
          <a:ln/>
        </p:spPr>
        <p:txBody>
          <a:bodyPr wrap="square" lIns="0" tIns="0" rIns="0" bIns="0" rtlCol="0" anchor="t"/>
          <a:lstStyle/>
          <a:p>
            <a:pPr rtl="1" algn="ctr" indent="0" marL="0">
              <a:buNone/>
            </a:pPr>
            <a:r>
              <a:rPr lang="ar-LB" altLang="en-US" sz="1500" dirty="0">
                <a:solidFill>
                  <a:srgbClr val="1B262C"/>
                </a:solidFill>
              </a:rPr>
              <a:t>نستشير المعلم فقط إذا لم نتّفق بعد سؤال ثلاثة زملاء.</a:t>
            </a:r>
            <a:endParaRPr lang="ar-LB" sz="1500" dirty="0"/>
          </a:p>
        </p:txBody>
      </p:sp>
      <p:sp>
        <p:nvSpPr>
          <p:cNvPr id="15" name="Shape 13"/>
          <p:cNvSpPr/>
          <p:nvPr/>
        </p:nvSpPr>
        <p:spPr>
          <a:xfrm>
            <a:off x="457200" y="3840480"/>
            <a:ext cx="8229600" cy="868680"/>
          </a:xfrm>
          <a:prstGeom prst="roundRect">
            <a:avLst>
              <a:gd name="adj" fmla="val 10526"/>
            </a:avLst>
          </a:prstGeom>
          <a:solidFill>
            <a:srgbClr val="9A6400">
              <a:alpha val="10000"/>
            </a:srgbClr>
          </a:solidFill>
          <a:ln w="19050">
            <a:solidFill>
              <a:srgbClr val="9A6400"/>
            </a:solidFill>
            <a:prstDash val="solid"/>
          </a:ln>
        </p:spPr>
      </p:sp>
      <p:sp>
        <p:nvSpPr>
          <p:cNvPr id="16" name="Shape 14"/>
          <p:cNvSpPr/>
          <p:nvPr/>
        </p:nvSpPr>
        <p:spPr>
          <a:xfrm>
            <a:off x="8119872" y="3950208"/>
            <a:ext cx="457200" cy="457200"/>
          </a:xfrm>
          <a:prstGeom prst="ellipse">
            <a:avLst/>
          </a:prstGeom>
          <a:solidFill>
            <a:srgbClr val="9A6400"/>
          </a:solidFill>
          <a:ln w="12700">
            <a:solidFill>
              <a:srgbClr val="9A6400"/>
            </a:solidFill>
            <a:prstDash val="solid"/>
          </a:ln>
        </p:spPr>
      </p:sp>
      <p:pic>
        <p:nvPicPr>
          <p:cNvPr id="17" name="Image 0" descr="أيقونة نجمة">    </p:cNvPr>
          <p:cNvPicPr>
            <a:picLocks noChangeAspect="1"/>
          </p:cNvPicPr>
          <p:nvPr/>
        </p:nvPicPr>
        <p:blipFill>
          <a:blip r:embed="rId1"/>
          <a:stretch>
            <a:fillRect/>
          </a:stretch>
        </p:blipFill>
        <p:spPr>
          <a:xfrm>
            <a:off x="8229600" y="4059936"/>
            <a:ext cx="237744" cy="237744"/>
          </a:xfrm>
          <a:prstGeom prst="rect">
            <a:avLst/>
          </a:prstGeom>
        </p:spPr>
      </p:pic>
      <p:sp>
        <p:nvSpPr>
          <p:cNvPr id="18" name="Text 15"/>
          <p:cNvSpPr txBox="1"/>
          <p:nvPr/>
        </p:nvSpPr>
        <p:spPr>
          <a:xfrm>
            <a:off x="594360" y="3950208"/>
            <a:ext cx="7452360" cy="457200"/>
          </a:xfrm>
          <a:prstGeom prst="rect">
            <a:avLst/>
          </a:prstGeom>
          <a:noFill/>
          <a:ln/>
        </p:spPr>
        <p:txBody>
          <a:bodyPr wrap="square" lIns="0" tIns="0" rIns="0" bIns="0" rtlCol="0" anchor="ctr"/>
          <a:lstStyle/>
          <a:p>
            <a:pPr rtl="1" algn="r" indent="0" marL="0">
              <a:buNone/>
            </a:pPr>
            <a:r>
              <a:rPr lang="ar-LB" altLang="en-US" sz="1800" b="1" dirty="0">
                <a:solidFill>
                  <a:srgbClr val="9A6400"/>
                </a:solidFill>
              </a:rPr>
              <a:t>الخبير</a:t>
            </a:r>
            <a:endParaRPr lang="ar-LB" sz="1800" dirty="0"/>
          </a:p>
        </p:txBody>
      </p:sp>
      <p:sp>
        <p:nvSpPr>
          <p:cNvPr id="19" name="Text 16"/>
          <p:cNvSpPr txBox="1"/>
          <p:nvPr/>
        </p:nvSpPr>
        <p:spPr>
          <a:xfrm>
            <a:off x="594360" y="4434840"/>
            <a:ext cx="7955280" cy="182880"/>
          </a:xfrm>
          <a:prstGeom prst="rect">
            <a:avLst/>
          </a:prstGeom>
          <a:noFill/>
          <a:ln/>
        </p:spPr>
        <p:txBody>
          <a:bodyPr wrap="square" lIns="0" tIns="0" rIns="0" bIns="0" rtlCol="0" anchor="t"/>
          <a:lstStyle/>
          <a:p>
            <a:pPr rtl="1" algn="r" indent="0" marL="0">
              <a:spcAft>
                <a:spcPts val="400"/>
              </a:spcAft>
              <a:buNone/>
            </a:pPr>
            <a:r>
              <a:rPr lang="ar-LB" altLang="en-US" sz="1500" dirty="0">
                <a:solidFill>
                  <a:srgbClr val="1B262C"/>
                </a:solidFill>
              </a:rPr>
              <a:t>من تأكّد من حلّه يلبس شارة بارزة، ويساعد زملاءه بالأسئلة والشرح، لا بإعطاء الإجابة.</a:t>
            </a:r>
            <a:endParaRPr lang="ar-LB" sz="15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بطاقة التقييم</a:t>
            </a:r>
            <a:endParaRPr lang="en-US" sz="3200" dirty="0"/>
          </a:p>
        </p:txBody>
      </p:sp>
      <p:sp>
        <p:nvSpPr>
          <p:cNvPr id="3" name="Text 1"/>
          <p:cNvSpPr txBox="1"/>
          <p:nvPr/>
        </p:nvSpPr>
        <p:spPr>
          <a:xfrm>
            <a:off x="457200" y="914400"/>
            <a:ext cx="8229600" cy="3749040"/>
          </a:xfrm>
          <a:prstGeom prst="rect">
            <a:avLst/>
          </a:prstGeom>
          <a:noFill/>
          <a:ln/>
        </p:spPr>
        <p:txBody>
          <a:bodyPr wrap="square" lIns="0" tIns="0" rIns="0" bIns="0" rtlCol="0" anchor="t"/>
          <a:lstStyle/>
          <a:p>
            <a:pPr rtl="1" algn="r" indent="0" marL="0">
              <a:spcAft>
                <a:spcPts val="800"/>
              </a:spcAft>
              <a:buNone/>
            </a:pPr>
            <a:r>
              <a:rPr lang="ar-LB" altLang="en-US" sz="1900" dirty="0">
                <a:solidFill>
                  <a:srgbClr val="1B262C"/>
                </a:solidFill>
              </a:rPr>
              <a:t>1. (الهدف 1) أيّهما يساوي 6 أُس 3: (أ) 6 × 3 أم (ب) 6 × 6 × 6؟ اشرح.</a:t>
            </a:r>
            <a:endParaRPr lang="ar-LB" sz="1900" dirty="0"/>
          </a:p>
          <a:p>
            <a:pPr rtl="1" algn="r" indent="0" marL="0">
              <a:spcAft>
                <a:spcPts val="800"/>
              </a:spcAft>
              <a:buNone/>
            </a:pPr>
            <a:r>
              <a:rPr lang="ar-LB" altLang="en-US" sz="1900" dirty="0">
                <a:solidFill>
                  <a:srgbClr val="1B262C"/>
                </a:solidFill>
              </a:rPr>
              <a:t>2. (الهدف 2) اكتب بالبرايل على شكل قوّة: 8 × 8 × 8 × 8 × 8، وكذلك y × y × y.</a:t>
            </a:r>
            <a:endParaRPr lang="ar-LB" sz="1900" dirty="0"/>
          </a:p>
          <a:p>
            <a:pPr rtl="1" algn="r" indent="0" marL="0">
              <a:spcAft>
                <a:spcPts val="800"/>
              </a:spcAft>
              <a:buNone/>
            </a:pPr>
            <a:r>
              <a:rPr lang="ar-LB" altLang="en-US" sz="1900" dirty="0">
                <a:solidFill>
                  <a:srgbClr val="1B262C"/>
                </a:solidFill>
              </a:rPr>
              <a:t>3. (الهدف 3) اكتب على شكل قوّة واحدة: (5 أُس 3) الكلّ أُس 4، و(b أُس 2) الكلّ أُس 7.</a:t>
            </a:r>
            <a:endParaRPr lang="ar-LB" sz="1900" dirty="0"/>
          </a:p>
          <a:p>
            <a:pPr rtl="1" algn="r" indent="0" marL="0">
              <a:spcAft>
                <a:spcPts val="800"/>
              </a:spcAft>
              <a:buNone/>
            </a:pPr>
            <a:r>
              <a:rPr lang="ar-LB" altLang="en-US" sz="1900" dirty="0">
                <a:solidFill>
                  <a:srgbClr val="1B262C"/>
                </a:solidFill>
              </a:rPr>
              <a:t>4. (الهدف 3) احسب: (2 أُس 2) الكلّ أُس 4.</a:t>
            </a:r>
            <a:endParaRPr lang="ar-LB" sz="1900" dirty="0"/>
          </a:p>
          <a:p>
            <a:pPr rtl="1" algn="r" indent="0" marL="0">
              <a:spcAft>
                <a:spcPts val="800"/>
              </a:spcAft>
              <a:buNone/>
            </a:pPr>
            <a:r>
              <a:rPr lang="ar-LB" altLang="en-US" sz="1900" dirty="0">
                <a:solidFill>
                  <a:srgbClr val="1B262C"/>
                </a:solidFill>
              </a:rPr>
              <a:t>5. (مسألة) صندوق مكعّب طول حرفه 10 أُس 2 سم. احسب حجمه.</a:t>
            </a:r>
            <a:endParaRPr lang="ar-LB" sz="19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حلول بطاقة التقييم</a:t>
            </a:r>
            <a:endParaRPr lang="en-US" sz="3200" dirty="0"/>
          </a:p>
        </p:txBody>
      </p:sp>
      <p:sp>
        <p:nvSpPr>
          <p:cNvPr id="3" name="Text 1"/>
          <p:cNvSpPr txBox="1"/>
          <p:nvPr/>
        </p:nvSpPr>
        <p:spPr>
          <a:xfrm>
            <a:off x="457200" y="914400"/>
            <a:ext cx="8229600" cy="3108960"/>
          </a:xfrm>
          <a:prstGeom prst="rect">
            <a:avLst/>
          </a:prstGeom>
          <a:noFill/>
          <a:ln/>
        </p:spPr>
        <p:txBody>
          <a:bodyPr wrap="square" lIns="0" tIns="0" rIns="0" bIns="0" rtlCol="0" anchor="t"/>
          <a:lstStyle/>
          <a:p>
            <a:pPr rtl="1" algn="r" indent="0" marL="0">
              <a:spcAft>
                <a:spcPts val="800"/>
              </a:spcAft>
              <a:buNone/>
            </a:pPr>
            <a:r>
              <a:rPr lang="ar-LB" altLang="en-US" sz="2000" dirty="0">
                <a:solidFill>
                  <a:srgbClr val="1B262C"/>
                </a:solidFill>
              </a:rPr>
              <a:t>1. (ب): 6 أُس 3 = 6 × 6 × 6 = 216، أما 6 × 3 = 18 فهو جمع متكرر.</a:t>
            </a:r>
            <a:endParaRPr lang="ar-LB" sz="2000" dirty="0"/>
          </a:p>
          <a:p>
            <a:pPr rtl="1" algn="r" indent="0" marL="0">
              <a:spcAft>
                <a:spcPts val="800"/>
              </a:spcAft>
              <a:buNone/>
            </a:pPr>
            <a:r>
              <a:rPr lang="ar-LB" altLang="en-US" sz="2000" dirty="0">
                <a:solidFill>
                  <a:srgbClr val="1B262C"/>
                </a:solidFill>
              </a:rPr>
              <a:t>2. 8 أُس 5، و y أُس 3.</a:t>
            </a:r>
            <a:endParaRPr lang="ar-LB" sz="2000" dirty="0"/>
          </a:p>
          <a:p>
            <a:pPr rtl="1" algn="r" indent="0" marL="0">
              <a:spcAft>
                <a:spcPts val="800"/>
              </a:spcAft>
              <a:buNone/>
            </a:pPr>
            <a:r>
              <a:rPr lang="ar-LB" altLang="en-US" sz="2000" dirty="0">
                <a:solidFill>
                  <a:srgbClr val="1B262C"/>
                </a:solidFill>
              </a:rPr>
              <a:t>3. 5 أُس 12، و b أُس 14.</a:t>
            </a:r>
            <a:endParaRPr lang="ar-LB" sz="2000" dirty="0"/>
          </a:p>
          <a:p>
            <a:pPr rtl="1" algn="r" indent="0" marL="0">
              <a:spcAft>
                <a:spcPts val="800"/>
              </a:spcAft>
              <a:buNone/>
            </a:pPr>
            <a:r>
              <a:rPr lang="ar-LB" altLang="en-US" sz="2000" dirty="0">
                <a:solidFill>
                  <a:srgbClr val="1B262C"/>
                </a:solidFill>
              </a:rPr>
              <a:t>4. 2 أُس 8 = 256.</a:t>
            </a:r>
            <a:endParaRPr lang="ar-LB" sz="2000" dirty="0"/>
          </a:p>
          <a:p>
            <a:pPr rtl="1" algn="r" indent="0" marL="0">
              <a:spcAft>
                <a:spcPts val="800"/>
              </a:spcAft>
              <a:buNone/>
            </a:pPr>
            <a:r>
              <a:rPr lang="ar-LB" altLang="en-US" sz="2000" dirty="0">
                <a:solidFill>
                  <a:srgbClr val="1B262C"/>
                </a:solidFill>
              </a:rPr>
              <a:t>5. (10 أُس 2) الكلّ أُس 3 = 10 أُس 6 = مليون سنتيمتر مكعّب.</a:t>
            </a:r>
            <a:endParaRPr lang="ar-LB" sz="2000" dirty="0"/>
          </a:p>
        </p:txBody>
      </p:sp>
      <p:sp>
        <p:nvSpPr>
          <p:cNvPr id="4" name="Text 2"/>
          <p:cNvSpPr txBox="1"/>
          <p:nvPr/>
        </p:nvSpPr>
        <p:spPr>
          <a:xfrm>
            <a:off x="457200" y="4069080"/>
            <a:ext cx="8229600" cy="457200"/>
          </a:xfrm>
          <a:prstGeom prst="rect">
            <a:avLst/>
          </a:prstGeom>
          <a:noFill/>
          <a:ln/>
        </p:spPr>
        <p:txBody>
          <a:bodyPr wrap="square" lIns="0" tIns="0" rIns="0" bIns="0" rtlCol="0" anchor="t"/>
          <a:lstStyle/>
          <a:p>
            <a:pPr rtl="1" algn="r" indent="0" marL="0">
              <a:buNone/>
            </a:pPr>
            <a:r>
              <a:rPr lang="ar-LB" altLang="en-US" sz="1600" dirty="0">
                <a:solidFill>
                  <a:srgbClr val="3E4A52"/>
                </a:solidFill>
              </a:rPr>
              <a:t>من أخطأ في سؤال يعود إلى نشاطه اللمسي (الخيط أو المكعّبات) مع «خبير».</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200" b="1" dirty="0">
                <a:solidFill>
                  <a:srgbClr val="0F4C5C"/>
                </a:solidFill>
              </a:rPr>
              <a:t>الخلاصة والتقويم الذاتي</a:t>
            </a:r>
            <a:endParaRPr lang="en-US" sz="3200" dirty="0"/>
          </a:p>
        </p:txBody>
      </p:sp>
      <p:sp>
        <p:nvSpPr>
          <p:cNvPr id="3" name="Text 1"/>
          <p:cNvSpPr txBox="1"/>
          <p:nvPr/>
        </p:nvSpPr>
        <p:spPr>
          <a:xfrm>
            <a:off x="457200" y="914400"/>
            <a:ext cx="8229600" cy="1463040"/>
          </a:xfrm>
          <a:prstGeom prst="rect">
            <a:avLst/>
          </a:prstGeom>
          <a:noFill/>
          <a:ln/>
        </p:spPr>
        <p:txBody>
          <a:bodyPr wrap="square" lIns="0" tIns="0" rIns="0" bIns="0" rtlCol="0" anchor="t"/>
          <a:lstStyle/>
          <a:p>
            <a:pPr rtl="1" algn="r" indent="0" marL="0">
              <a:spcAft>
                <a:spcPts val="600"/>
              </a:spcAft>
              <a:buNone/>
            </a:pPr>
            <a:r>
              <a:rPr lang="ar-LB" altLang="en-US" sz="2100" b="1" dirty="0">
                <a:solidFill>
                  <a:srgbClr val="0B6E70"/>
                </a:solidFill>
              </a:rPr>
              <a:t>الضرب جمع متكرر</a:t>
            </a:r>
            <a:r>
              <a:rPr lang="ar-LB" altLang="en-US" sz="2100" dirty="0">
                <a:solidFill>
                  <a:srgbClr val="1B262C"/>
                </a:solidFill>
              </a:rPr>
              <a:t>: 4 × 3 = 3 + 3 + 3 + 3.</a:t>
            </a:r>
            <a:endParaRPr lang="ar-LB" sz="2100" dirty="0"/>
          </a:p>
          <a:p>
            <a:pPr rtl="1" algn="r" indent="0" marL="0">
              <a:spcAft>
                <a:spcPts val="600"/>
              </a:spcAft>
              <a:buNone/>
            </a:pPr>
            <a:r>
              <a:rPr lang="ar-LB" altLang="en-US" sz="2100" b="1" dirty="0">
                <a:solidFill>
                  <a:srgbClr val="C2500C"/>
                </a:solidFill>
              </a:rPr>
              <a:t>القوّة ضرب متكرر</a:t>
            </a:r>
            <a:r>
              <a:rPr lang="ar-LB" altLang="en-US" sz="2100" dirty="0">
                <a:solidFill>
                  <a:srgbClr val="1B262C"/>
                </a:solidFill>
              </a:rPr>
              <a:t>: 3 أُس 4 = 3 × 3 × 3 × 3.</a:t>
            </a:r>
            <a:endParaRPr lang="ar-LB" sz="2100" dirty="0"/>
          </a:p>
          <a:p>
            <a:pPr rtl="1" algn="r" indent="0" marL="0">
              <a:spcAft>
                <a:spcPts val="600"/>
              </a:spcAft>
              <a:buNone/>
            </a:pPr>
            <a:r>
              <a:rPr lang="ar-LB" altLang="en-US" sz="2100" b="1" dirty="0">
                <a:solidFill>
                  <a:srgbClr val="1F5C99"/>
                </a:solidFill>
              </a:rPr>
              <a:t>قوّة القوّة</a:t>
            </a:r>
            <a:r>
              <a:rPr lang="ar-LB" altLang="en-US" sz="2100" dirty="0">
                <a:solidFill>
                  <a:srgbClr val="1B262C"/>
                </a:solidFill>
              </a:rPr>
              <a:t>: نُبقي الأساس ونضرب الأُسّين.</a:t>
            </a:r>
            <a:endParaRPr lang="ar-LB" sz="2100" dirty="0"/>
          </a:p>
        </p:txBody>
      </p:sp>
      <p:sp>
        <p:nvSpPr>
          <p:cNvPr id="4" name="Shape 2"/>
          <p:cNvSpPr/>
          <p:nvPr/>
        </p:nvSpPr>
        <p:spPr>
          <a:xfrm>
            <a:off x="4709160" y="2514600"/>
            <a:ext cx="3977640" cy="2103120"/>
          </a:xfrm>
          <a:prstGeom prst="roundRect">
            <a:avLst>
              <a:gd name="adj" fmla="val 4348"/>
            </a:avLst>
          </a:prstGeom>
          <a:solidFill>
            <a:srgbClr val="1F7A45">
              <a:alpha val="10000"/>
            </a:srgbClr>
          </a:solidFill>
          <a:ln w="19050">
            <a:solidFill>
              <a:srgbClr val="1F7A45"/>
            </a:solidFill>
            <a:prstDash val="solid"/>
          </a:ln>
        </p:spPr>
      </p:sp>
      <p:sp>
        <p:nvSpPr>
          <p:cNvPr id="5" name="Shape 3"/>
          <p:cNvSpPr/>
          <p:nvPr/>
        </p:nvSpPr>
        <p:spPr>
          <a:xfrm>
            <a:off x="8119872" y="2624328"/>
            <a:ext cx="457200" cy="457200"/>
          </a:xfrm>
          <a:prstGeom prst="ellipse">
            <a:avLst/>
          </a:prstGeom>
          <a:solidFill>
            <a:srgbClr val="1F7A45"/>
          </a:solidFill>
          <a:ln w="12700">
            <a:solidFill>
              <a:srgbClr val="1F7A45"/>
            </a:solidFill>
            <a:prstDash val="solid"/>
          </a:ln>
        </p:spPr>
      </p:sp>
      <p:pic>
        <p:nvPicPr>
          <p:cNvPr id="6" name="Image 0" descr="أيقونة يد: نشاط لمسي">    </p:cNvPr>
          <p:cNvPicPr>
            <a:picLocks noChangeAspect="1"/>
          </p:cNvPicPr>
          <p:nvPr/>
        </p:nvPicPr>
        <p:blipFill>
          <a:blip r:embed="rId1"/>
          <a:stretch>
            <a:fillRect/>
          </a:stretch>
        </p:blipFill>
        <p:spPr>
          <a:xfrm>
            <a:off x="8229600" y="2734056"/>
            <a:ext cx="237744" cy="237744"/>
          </a:xfrm>
          <a:prstGeom prst="rect">
            <a:avLst/>
          </a:prstGeom>
        </p:spPr>
      </p:pic>
      <p:sp>
        <p:nvSpPr>
          <p:cNvPr id="7" name="Text 4"/>
          <p:cNvSpPr txBox="1"/>
          <p:nvPr/>
        </p:nvSpPr>
        <p:spPr>
          <a:xfrm>
            <a:off x="4846320" y="26243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1F7A45"/>
                </a:solidFill>
              </a:rPr>
              <a:t>تقويم ذاتي باللمس</a:t>
            </a:r>
            <a:endParaRPr lang="ar-LB" sz="1800" dirty="0"/>
          </a:p>
        </p:txBody>
      </p:sp>
      <p:sp>
        <p:nvSpPr>
          <p:cNvPr id="8" name="Text 5"/>
          <p:cNvSpPr txBox="1"/>
          <p:nvPr/>
        </p:nvSpPr>
        <p:spPr>
          <a:xfrm>
            <a:off x="4846320" y="3108960"/>
            <a:ext cx="3703320" cy="141732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لكل هدف ارفع إبهامك:</a:t>
            </a:r>
            <a:endParaRPr lang="ar-LB" sz="1600" dirty="0"/>
          </a:p>
          <a:p>
            <a:pPr rtl="1" algn="r" indent="0" marL="0">
              <a:spcAft>
                <a:spcPts val="400"/>
              </a:spcAft>
              <a:buNone/>
            </a:pPr>
            <a:r>
              <a:rPr lang="ar-LB" altLang="en-US" sz="1600" dirty="0">
                <a:solidFill>
                  <a:srgbClr val="1B262C"/>
                </a:solidFill>
              </a:rPr>
              <a:t>إلى أعلى: أستطيع أن أشرحه.</a:t>
            </a:r>
            <a:endParaRPr lang="ar-LB" sz="1600" dirty="0"/>
          </a:p>
          <a:p>
            <a:pPr rtl="1" algn="r" indent="0" marL="0">
              <a:spcAft>
                <a:spcPts val="400"/>
              </a:spcAft>
              <a:buNone/>
            </a:pPr>
            <a:r>
              <a:rPr lang="ar-LB" altLang="en-US" sz="1600" dirty="0">
                <a:solidFill>
                  <a:srgbClr val="1B262C"/>
                </a:solidFill>
              </a:rPr>
              <a:t>أفقيًا: أحتاج تدريبًا.</a:t>
            </a:r>
            <a:endParaRPr lang="ar-LB" sz="1600" dirty="0"/>
          </a:p>
          <a:p>
            <a:pPr rtl="1" algn="r" indent="0" marL="0">
              <a:spcAft>
                <a:spcPts val="400"/>
              </a:spcAft>
              <a:buNone/>
            </a:pPr>
            <a:r>
              <a:rPr lang="ar-LB" altLang="en-US" sz="1600" dirty="0">
                <a:solidFill>
                  <a:srgbClr val="1B262C"/>
                </a:solidFill>
              </a:rPr>
              <a:t>إلى أسفل: أحتاج مساعدة.</a:t>
            </a:r>
            <a:endParaRPr lang="ar-LB" sz="1600" dirty="0"/>
          </a:p>
        </p:txBody>
      </p:sp>
      <p:sp>
        <p:nvSpPr>
          <p:cNvPr id="9" name="Shape 6"/>
          <p:cNvSpPr/>
          <p:nvPr/>
        </p:nvSpPr>
        <p:spPr>
          <a:xfrm>
            <a:off x="457200" y="2514600"/>
            <a:ext cx="3977640" cy="2103120"/>
          </a:xfrm>
          <a:prstGeom prst="roundRect">
            <a:avLst>
              <a:gd name="adj" fmla="val 4348"/>
            </a:avLst>
          </a:prstGeom>
          <a:solidFill>
            <a:srgbClr val="0F4C5C">
              <a:alpha val="10000"/>
            </a:srgbClr>
          </a:solidFill>
          <a:ln w="19050">
            <a:solidFill>
              <a:srgbClr val="0F4C5C"/>
            </a:solidFill>
            <a:prstDash val="solid"/>
          </a:ln>
        </p:spPr>
      </p:sp>
      <p:sp>
        <p:nvSpPr>
          <p:cNvPr id="10" name="Shape 7"/>
          <p:cNvSpPr/>
          <p:nvPr/>
        </p:nvSpPr>
        <p:spPr>
          <a:xfrm>
            <a:off x="3867912" y="2624328"/>
            <a:ext cx="457200" cy="457200"/>
          </a:xfrm>
          <a:prstGeom prst="ellipse">
            <a:avLst/>
          </a:prstGeom>
          <a:solidFill>
            <a:srgbClr val="0F4C5C"/>
          </a:solidFill>
          <a:ln w="12700">
            <a:solidFill>
              <a:srgbClr val="0F4C5C"/>
            </a:solidFill>
            <a:prstDash val="solid"/>
          </a:ln>
        </p:spPr>
      </p:sp>
      <p:pic>
        <p:nvPicPr>
          <p:cNvPr id="11" name="Image 1" descr="أيقونة برايل">    </p:cNvPr>
          <p:cNvPicPr>
            <a:picLocks noChangeAspect="1"/>
          </p:cNvPicPr>
          <p:nvPr/>
        </p:nvPicPr>
        <p:blipFill>
          <a:blip r:embed="rId2"/>
          <a:stretch>
            <a:fillRect/>
          </a:stretch>
        </p:blipFill>
        <p:spPr>
          <a:xfrm>
            <a:off x="3977640" y="2734056"/>
            <a:ext cx="237744" cy="237744"/>
          </a:xfrm>
          <a:prstGeom prst="rect">
            <a:avLst/>
          </a:prstGeom>
        </p:spPr>
      </p:pic>
      <p:sp>
        <p:nvSpPr>
          <p:cNvPr id="12" name="Text 8"/>
          <p:cNvSpPr txBox="1"/>
          <p:nvPr/>
        </p:nvSpPr>
        <p:spPr>
          <a:xfrm>
            <a:off x="594360" y="2624328"/>
            <a:ext cx="3200400" cy="457200"/>
          </a:xfrm>
          <a:prstGeom prst="rect">
            <a:avLst/>
          </a:prstGeom>
          <a:noFill/>
          <a:ln/>
        </p:spPr>
        <p:txBody>
          <a:bodyPr wrap="square" lIns="0" tIns="0" rIns="0" bIns="0" rtlCol="0" anchor="ctr"/>
          <a:lstStyle/>
          <a:p>
            <a:pPr rtl="1" algn="r" indent="0" marL="0">
              <a:buNone/>
            </a:pPr>
            <a:r>
              <a:rPr lang="ar-LB" altLang="en-US" sz="1800" b="1" dirty="0">
                <a:solidFill>
                  <a:srgbClr val="0F4C5C"/>
                </a:solidFill>
              </a:rPr>
              <a:t>واجب</a:t>
            </a:r>
            <a:endParaRPr lang="ar-LB" sz="1800" dirty="0"/>
          </a:p>
        </p:txBody>
      </p:sp>
      <p:sp>
        <p:nvSpPr>
          <p:cNvPr id="13" name="Text 9"/>
          <p:cNvSpPr txBox="1"/>
          <p:nvPr/>
        </p:nvSpPr>
        <p:spPr>
          <a:xfrm>
            <a:off x="594360" y="3108960"/>
            <a:ext cx="3703320" cy="1417320"/>
          </a:xfrm>
          <a:prstGeom prst="rect">
            <a:avLst/>
          </a:prstGeom>
          <a:noFill/>
          <a:ln/>
        </p:spPr>
        <p:txBody>
          <a:bodyPr wrap="square" lIns="0" tIns="0" rIns="0" bIns="0" rtlCol="0" anchor="t"/>
          <a:lstStyle/>
          <a:p>
            <a:pPr rtl="1" algn="r" indent="0" marL="0">
              <a:spcAft>
                <a:spcPts val="400"/>
              </a:spcAft>
              <a:buNone/>
            </a:pPr>
            <a:r>
              <a:rPr lang="ar-LB" altLang="en-US" sz="1600" dirty="0">
                <a:solidFill>
                  <a:srgbClr val="1B262C"/>
                </a:solidFill>
              </a:rPr>
              <a:t>اكتب بالبرايل أو سجّل بصوتك مثالًا من حياتك على قوّة، ومثالًا على قوّة قوّة، واحسب قيمتهما.</a:t>
            </a:r>
            <a:endParaRPr lang="ar-LB" sz="16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Powers Lesson">
  <a:themeElements>
    <a:clrScheme name="Powers Lesson">
      <a:dk1>
        <a:srgbClr val="1B262C"/>
      </a:dk1>
      <a:lt1>
        <a:srgbClr val="FFFFFF"/>
      </a:lt1>
      <a:dk2>
        <a:srgbClr val="0F4C5C"/>
      </a:dk2>
      <a:lt2>
        <a:srgbClr val="EAF4F4"/>
      </a:lt2>
      <a:accent1>
        <a:srgbClr val="E36414"/>
      </a:accent1>
      <a:accent2>
        <a:srgbClr val="0F8B8D"/>
      </a:accent2>
      <a:accent3>
        <a:srgbClr val="2E9E5B"/>
      </a:accent3>
      <a:accent4>
        <a:srgbClr val="2671B8"/>
      </a:accent4>
      <a:accent5>
        <a:srgbClr val="7B3FA0"/>
      </a:accent5>
      <a:accent6>
        <a:srgbClr val="E9A23B"/>
      </a:accent6>
      <a:hlink>
        <a:srgbClr val="2671B8"/>
      </a:hlink>
      <a:folHlink>
        <a:srgbClr val="7B3FA0"/>
      </a:folHlink>
    </a:clrScheme>
    <a:fontScheme name="Powers Less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القوى وقوة القوة - نسخة للطلاب المكفوفين</dc:title>
  <dc:subject>PptxGenJS Presentation</dc:subject>
  <dc:creator>معلم الرياضيات</dc:creator>
  <cp:lastModifiedBy>معلم الرياضيات</cp:lastModifiedBy>
  <cp:revision>1</cp:revision>
  <dcterms:created xsi:type="dcterms:W3CDTF">2026-10-11T08:57:22Z</dcterms:created>
  <dcterms:modified xsi:type="dcterms:W3CDTF">2026-10-11T08:57:22Z</dcterms:modified>
</cp:coreProperties>
</file>