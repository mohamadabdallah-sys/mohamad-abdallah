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7f0da574-db2b-f533-e05b-260b5bb1d20d}">
          <p14:sldIdLst>
            <p14:sldId id="256"/>
            <p14:sldId id="257"/>
          </p14:sldIdLst>
        </p14:section>
        <p14:section name="التمهيد" id="{f5785d62-2608-763e-0c4d-ca8219eb35c6}">
          <p14:sldIdLst>
            <p14:sldId id="258"/>
            <p14:sldId id="259"/>
          </p14:sldIdLst>
        </p14:section>
        <p14:section name="الاستكشاف" id="{b0b203c4-78c6-8c88-a34f-0338e7c5eff5}">
          <p14:sldIdLst>
            <p14:sldId id="260"/>
            <p14:sldId id="261"/>
            <p14:sldId id="262"/>
          </p14:sldIdLst>
        </p14:section>
        <p14:section name="الشرح" id="{d6b16249-3e9f-fa7c-f026-d518f5f9c8d5}">
          <p14:sldIdLst>
            <p14:sldId id="263"/>
            <p14:sldId id="264"/>
            <p14:sldId id="265"/>
            <p14:sldId id="266"/>
            <p14:sldId id="267"/>
            <p14:sldId id="268"/>
            <p14:sldId id="269"/>
            <p14:sldId id="270"/>
            <p14:sldId id="271"/>
          </p14:sldIdLst>
        </p14:section>
        <p14:section name="التطبيق الفردي" id="{4e668d32-a55d-b9fc-a2de-7704da8d67a3}">
          <p14:sldIdLst>
            <p14:sldId id="272"/>
            <p14:sldId id="273"/>
            <p14:sldId id="274"/>
          </p14:sldIdLst>
        </p14:section>
        <p14:section name="التطبيق الجماعي" id="{a6a60659-1a5f-96f6-7d5b-08df5ebc474d}">
          <p14:sldIdLst>
            <p14:sldId id="275"/>
            <p14:sldId id="276"/>
            <p14:sldId id="277"/>
            <p14:sldId id="278"/>
          </p14:sldIdLst>
        </p14:section>
        <p14:section name="التقييم" id="{bfcf0644-c609-6b67-dc56-7a97fe41bed9}">
          <p14:sldIdLst>
            <p14:sldId id="279"/>
            <p14:sldId id="280"/>
            <p14:sldId id="281"/>
            <p14:sldId id="282"/>
          </p14:sldIdLst>
        </p14:section>
        <p14:section name="الختام" id="{7ad9eeaa-9f1c-85b0-0d1f-888650b99e80}">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مدة الدرس المقترحة: حصة واحدة (50 دقيقة). يمكن تقسيمه على حصتين: الحصة الأولى حتى نهاية الترميز والربط بالحياة، والثانية من قوة القوة حتى التقييم.
المواد: أوراق A4 للطيّ، البطاقات المطبوعة (ملف البطاقات)، مقص لبطاقات المطابقة، أقلام ملوّنة.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الأهداف بلغة بسيطة واطلب من أحد الطلاب إعادة صياغة كل هدف بكلماته. أشر إلى مراحل الدرس الست ليعرف الطلاب ما ينتظرهم (التعلّم الواضح المسار).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الهدف: إثارة الدافعية وتشخيص الخلط بين الجمع المتكرر والضرب المتكرر.
اطلب تصويتًا سريعًا برفع الأيدي قبل الحساب. معظم الطلاب سيظنون أن العرضين متقاربان.
الحل (لا تكشفه الآن): العرض (أ) = 10 × 2 = 20 نقطة. العرض (ب) = 1024 نقطة.
نعود للحل بعد النشاط الاستكشافي (شريحة «ماذا اكتشفنا؟»).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 البطاقة رقم 1 وورقة A4 على كل مجموعة. وزّع الأدوار: قارئ، كاتب، مدقّق، متحدّث (بطاقات الأدوار).
الحل المتوقع:
3 طيّات: 8 طبقات = 2 × 2 × 2 = 2^3
4 طيّات: 16 طبقة = 2 × 2 × 2 × 2 = 2^4
5 طيّات: 32 طبقة = 2 × 2 × 2 × 2 × 2 = 2^5
عمود الترميز يُكمل بعد مناقشة السطرين الأولين؛ اترك الطلاب يقترحون طريقة الاختصار بأنفسهم.
دعم: المجموعات التي تتعثر تطوي فعلًا وتعدّ. إثراء: اسأل «كم طبقة بعد 10 طيّات؟» (1024) و«هل هي 2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المتحدّث في كل مجموعة عن نتيجة 5 طيّات. ناقش لماذا 2 × 5 خطأ.
اكشف حل المكافأة: (أ) جمع متكرر = 20، (ب) ضرب متكرر = 1024.
انتقل إلى التعريف الرسمي.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المصطلحات: الأساس، الأُس، القوّة. اطلب من الطلاب قراءة 2^5 بصوت عالٍ بالطريقتين.
سؤال موجّه: في 7^3 ما الأساس؟ (7) ما الأُس؟ (3) ماذا يعني؟ (7 × 7 × 7).
حالة خاصة: 3^1 = 3. والقوة 2 تُسمّى «مربّعًا» والقوة 3 «مكعّبًا».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ركّز على الهدف الأول: الضرب جمع متكرر، والقوّة ضرب متكرر.
سؤال تحقق سريع (إشارة بالأصابع): 2 × 3 = ؟ (6) و 2^3 = ؟ (8).
الخطأ الشائع: ضرب الأساس في الأس. اطلب من الطلاب شرح سبب الخطأ لزميله.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الهدف الثاني: استخدام الترميز. اطلب من الطلاب كتابة أمثلة على اللوح الصغير:
9 × 9 × 9 × 9 = 9^4 ، 3 × 3 = 3^2.
في المثال الأخير نبّه: لا نجمع 2 و5 في قوّة واحدة لأن العاملين مختلفان.
ملاحظة: 10^n يساوي 1 متبوعًا بـ n أصفار.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ربط بالحياة: لهذا نسمّي القوة 2 «مربّعًا» (مساحة المربع) والقوة 3 «مكعّبًا» (حجم المكعب).
البكتيريا: تبدأ بواحدة، بعد ساعة 2، بعد ساعتين 4 ... بعد 6 ساعات 2^6 = 64.
الرسالة: المرحلة 1: 3 أشخاص، المرحلة 2: 9، المرحلة 3: 27، المرحلة 4: 81.
اطلب من الطلاب اقتراح مثال من حياتهم (مثلًا: 1 km = 10^3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اكتب (2^3)^2 على اللوح واسأل: ماذا يعني الأُس 2 خارج القوس؟ (نضرب ما داخل القوس في نفسه مرتين).
اكتب الأمثلة سطرًا سطرًا، واطلب من الطلاب عدّ العوامل في كل مرة.
دع المجموعات تكتشف أن الأس الجديد = حاصل ضرب الأسّين (3 × 2 = 6، 2 × 3 = 6، 4 × 2 = 8) قبل عرض القاعدة.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صُغ القاعدة مع الطلاب بكلماتهم أولًا ثم اعرضها.
التحقق: 2^3 = 8، و 8^2 = 8 × 8 = 64 = 2^6.
الخطأ الشائع: جمع الأسّين (2^5 = 32) — قارن النتيجتين ليقتنع الطلاب.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حلّ المثال الأول مع الطلاب خطوة بخطوة (نمذجة)، ثم اطلب من الطلاب حل المثال الثاني على اللوح الصغير قبل كشفه (ممارسة موجّهة).
في المثال 4 لا يمكن الحساب لأن الأساس مجهول، فنكتفي بكتابة الناتج على شكل قوّة.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بالحياة لهدف قوّة القوّة: عندما يكون طول الضلع نفسه قوّة، فإن المساحة أو الحجم تصبح قوّة قوّة.
اسأل: لو كان طول ضلع البلاطة 2^4 cm، ما مساحتها؟ (2^8 = 256 cm²).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 البطاقة رقم 2. التمايز هنا بالتدرّج: الجميع يحل المستوى الأساسي، ويتقدم كل طالب حسب قدرته (تمايز بالناتج).
تجوّل وسجّل من تعثّر في الأساسي لتوجيهه إلى المجموعة الخضراء في التطبيق الجماعي.
الحلول:
1) 9^4
2) 4^3 = 64 و 4 × 3 = 12 (مختلفان)
3) 2^4 = 16 = 4^2 إذن = ؛ 3^2 = 9 &gt; 2^3 = 8 إذن &gt;
4) 7^10 ؛ a^12
5) 2^6 = 64
6) 4 ؛ 5
7) (2^3)^4 أو (2^4)^3 أو (2^2)^6 أو (2^6)^2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هذه الشريحة بعد انتهاء الوقت. يصحّح كل طالب بقلم ملوّن مختلف، ثم يحدّد مستواه للانتقال إلى المجموعة المناسبة.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التوزيع حسب نتائج التطبيق الفردي (تجميع مرن غير ثابت):
- الخضراء: من تعثّر في المستوى الأساسي. نشاط حسّي (قص ومطابقة) يناسب المتعلّم البصري والحركي. المعلم يقضي معها وقتًا أطول.
- الزرقاء: من أتقن الأساسي والمتوسط.
- البنفسجية: من أنهى المستوى المتقدّم بنجاح.
يمكن أيضًا السماح للطالب باختيار «تحدَّ نفسك» والانتقال للمستوى الأعلى.
لا تذكر أسماء المستويات (ضعيف/ممتاز) أمام الطلاب، استخدم الألوان فقط.
الحلول الكاملة في ملف البطاقات (مفتاح الإجابات) وفي الشريحة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موجّهة للمعلم (يمكن إخفاؤها عند العرض على الطلاب).
التمايز في الدرس يتم في: المحتوى (مستويات البطاقات)، العملية (أدوات محسوسة/مجرّدة)، الناتج (أسئلة مفتوحة)، وبيئة التعلّم (مجموعات مرنة وأدوار).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تُعرض بعد أن تتحقق كل مجموعة من حلها عبر «تناقل المعرفة» (الشريحة التالية). يقدّم المتحدّث في كل مجموعة حلًا واحدًا للصف.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قواعد التناقل: الخبير يشرح بالأسئلة («ماذا يعني الأس خارج القوس؟») ولا يكتب الحل عن زميله.
يكتب الزميل المدقّق اسمه في خانة «تحقّق زميلي» على بطاقة التقييم.
المعلم يتجوّل ويراقب الحوارات ويسجّل الأخطاء الشائعة لمعالجتها في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سؤال مرتبط بهدف: يساعد ذلك على معرفة الهدف الذي لم يتحقق عند كل طالب.
بعد الحل الفردي يطبّق الطلاب «اسأل ثلاثة قبل المعلم»، ثم تُعرض الحلول.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1 والهدف 1 | السؤال 2 والهدف 2 | السؤالان 3 و4 والهدف 3 | السؤال 5 ربط بالحياة.
التحقق من 5: 10^2 = 100 cm، والحجم 100 × 100 × 100 = 1 000 000 cm³ (أي 1 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يرفع كل طالب بطاقة لونية (أو يرسم دائرة ملوّنة على بطاقة الخروج) لكل هدف.
من اختار الأحمر في هدف ما يحصل على دعم إضافي في الحصة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rtl="1" algn="r" indent="0" marL="0">
              <a:buNone/>
              <a:defRPr lang="en-US" sz="4400" b="1" dirty="0">
                <a:solidFill>
                  <a:srgbClr val="FFFFFF"/>
                </a:solidFill>
              </a:defRPr>
            </a:lvl1pPr>
          </a:lstStyle>
          <a:p>
            <a:pPr algn="r" indent="0" marL="0">
              <a:buNone/>
            </a:pPr>
            <a:endParaRPr lang="en-US" sz="4400" dirty="0"/>
          </a:p>
        </p:txBody>
      </p:sp>
      <p:sp>
        <p:nvSpPr>
          <p:cNvPr id="3" name="Text 0"/>
          <p:cNvSpPr/>
          <p:nvPr>
            <p:ph idx="101" type="body" hasCustomPrompt="1"/>
          </p:nvPr>
        </p:nvSpPr>
        <p:spPr>
          <a:xfrm>
            <a:off x="548640" y="2468880"/>
            <a:ext cx="8046720" cy="548640"/>
          </a:xfrm>
          <a:prstGeom prst="rect">
            <a:avLst/>
          </a:prstGeom>
          <a:noFill/>
          <a:ln/>
        </p:spPr>
        <p:txBody>
          <a:bodyPr wrap="square" rtlCol="0"/>
          <a:lstStyle>
            <a:lvl1pPr rtl="1" algn="r" indent="0" marL="0">
              <a:buNone/>
              <a:defRPr lang="en-US" sz="2000" dirty="0">
                <a:solidFill>
                  <a:srgbClr val="CFE3E6"/>
                </a:solidFill>
              </a:defRPr>
            </a:lvl1pPr>
          </a:lstStyle>
          <a:p>
            <a:pPr algn="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822960"/>
          </a:xfrm>
          <a:prstGeom prst="rect">
            <a:avLst/>
          </a:prstGeom>
          <a:noFill/>
          <a:ln/>
        </p:spPr>
        <p:txBody>
          <a:bodyPr wrap="square" rtlCol="0"/>
          <a:lstStyle>
            <a:lvl1pPr rtl="1" algn="r" indent="0" marL="0">
              <a:buNone/>
              <a:defRPr lang="en-US" sz="4000" b="1" dirty="0">
                <a:solidFill>
                  <a:srgbClr val="FFFFFF"/>
                </a:solidFill>
              </a:defRPr>
            </a:lvl1pPr>
          </a:lstStyle>
          <a:p>
            <a:pPr algn="r" indent="0" marL="0">
              <a:buNone/>
            </a:pPr>
            <a:endParaRPr lang="en-US" sz="4000" dirty="0"/>
          </a:p>
        </p:txBody>
      </p:sp>
      <p:sp>
        <p:nvSpPr>
          <p:cNvPr id="3" name="Text 0"/>
          <p:cNvSpPr/>
          <p:nvPr>
            <p:ph idx="101" type="body" hasCustomPrompt="1"/>
          </p:nvPr>
        </p:nvSpPr>
        <p:spPr>
          <a:xfrm>
            <a:off x="548640" y="2697480"/>
            <a:ext cx="6035040" cy="822960"/>
          </a:xfrm>
          <a:prstGeom prst="rect">
            <a:avLst/>
          </a:prstGeom>
          <a:noFill/>
          <a:ln/>
        </p:spPr>
        <p:txBody>
          <a:bodyPr wrap="square" rtlCol="0"/>
          <a:lstStyle>
            <a:lvl1pPr rtl="1" algn="r" indent="0" marL="0">
              <a:buNone/>
              <a:defRPr lang="en-US" sz="1800" dirty="0">
                <a:solidFill>
                  <a:srgbClr val="CFE3E6"/>
                </a:solidFill>
              </a:defRPr>
            </a:lvl1pPr>
          </a:lstStyle>
          <a:p>
            <a:pPr algn="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rtl="1" algn="r" indent="0" marL="0">
              <a:buNone/>
              <a:defRPr lang="en-US" sz="3000" b="1" dirty="0">
                <a:solidFill>
                  <a:srgbClr val="0F4C5C"/>
                </a:solidFill>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4.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p>
            <a:pPr rtl="1" algn="r" indent="0" marL="0">
              <a:buNone/>
            </a:pPr>
            <a:r>
              <a:rPr lang="en-US" sz="4400" b="1" dirty="0">
                <a:solidFill>
                  <a:srgbClr val="FFFFFF"/>
                </a:solidFill>
              </a:rPr>
              <a:t>القوى وقوّة القوّة</a:t>
            </a:r>
            <a:endParaRPr lang="en-US" sz="4400" dirty="0"/>
          </a:p>
        </p:txBody>
      </p:sp>
      <p:sp>
        <p:nvSpPr>
          <p:cNvPr id="3" name="Text 0"/>
          <p:cNvSpPr/>
          <p:nvPr>
            <p:ph idx="101" type="body" hasCustomPrompt="1"/>
          </p:nvPr>
        </p:nvSpPr>
        <p:spPr>
          <a:xfrm>
            <a:off x="548640" y="2468880"/>
            <a:ext cx="8046720" cy="548640"/>
          </a:xfrm>
          <a:prstGeom prst="rect">
            <a:avLst/>
          </a:prstGeom>
          <a:noFill/>
          <a:ln/>
        </p:spPr>
        <p:txBody>
          <a:bodyPr wrap="square" rtlCol="0"/>
          <a:lstStyle/>
          <a:p>
            <a:pPr rtl="1" algn="r" indent="0" marL="0">
              <a:buNone/>
            </a:pPr>
            <a:r>
              <a:rPr lang="en-US" sz="2000" dirty="0">
                <a:solidFill>
                  <a:srgbClr val="CFE3E6"/>
                </a:solidFill>
              </a:rPr>
              <a:t>درس في الرياضيات — الضرب المتكرر والترميز الأسّي</a:t>
            </a:r>
            <a:endParaRPr lang="en-US" sz="2000" dirty="0"/>
          </a:p>
        </p:txBody>
      </p:sp>
      <p:sp>
        <p:nvSpPr>
          <p:cNvPr id="4" name="Text 2"/>
          <p:cNvSpPr txBox="1"/>
          <p:nvPr/>
        </p:nvSpPr>
        <p:spPr>
          <a:xfrm>
            <a:off x="640080" y="3291840"/>
            <a:ext cx="1463040" cy="1097280"/>
          </a:xfrm>
          <a:prstGeom prst="rect">
            <a:avLst/>
          </a:prstGeom>
          <a:noFill/>
          <a:ln/>
        </p:spPr>
        <p:txBody>
          <a:bodyPr wrap="square" lIns="0" tIns="0" rIns="0" bIns="0" rtlCol="0" anchor="ctr"/>
          <a:lstStyle/>
          <a:p>
            <a:pPr rtl="0" algn="ctr" indent="0" marL="0">
              <a:buNone/>
            </a:pPr>
            <a:r>
              <a:rPr lang="en-US" sz="5400" b="1" dirty="0">
                <a:solidFill>
                  <a:srgbClr val="E9A23B"/>
                </a:solidFill>
                <a:latin typeface="Arial" pitchFamily="34" charset="0"/>
                <a:ea typeface="Arial" pitchFamily="34" charset="-122"/>
                <a:cs typeface="Arial" pitchFamily="34" charset="-120"/>
              </a:rPr>
              <a:t>2</a:t>
            </a:r>
            <a:r>
              <a:rPr lang="en-US" sz="5400" b="1" baseline="30000" dirty="0">
                <a:solidFill>
                  <a:srgbClr val="E9A23B"/>
                </a:solidFill>
                <a:latin typeface="Arial" pitchFamily="34" charset="0"/>
                <a:ea typeface="Arial" pitchFamily="34" charset="-122"/>
                <a:cs typeface="Arial" pitchFamily="34" charset="-120"/>
              </a:rPr>
              <a:t>5</a:t>
            </a:r>
            <a:endParaRPr lang="en-US" sz="5400" dirty="0"/>
          </a:p>
        </p:txBody>
      </p:sp>
      <p:sp>
        <p:nvSpPr>
          <p:cNvPr id="5" name="Text 3"/>
          <p:cNvSpPr txBox="1"/>
          <p:nvPr/>
        </p:nvSpPr>
        <p:spPr>
          <a:xfrm>
            <a:off x="2286000" y="3291840"/>
            <a:ext cx="2011680" cy="1097280"/>
          </a:xfrm>
          <a:prstGeom prst="rect">
            <a:avLst/>
          </a:prstGeom>
          <a:noFill/>
          <a:ln/>
        </p:spPr>
        <p:txBody>
          <a:bodyPr wrap="square" lIns="0" tIns="0" rIns="0" bIns="0" rtlCol="0" anchor="ctr"/>
          <a:lstStyle/>
          <a:p>
            <a:pPr rtl="0" algn="ctr" indent="0" marL="0">
              <a:buNone/>
            </a:pPr>
            <a:r>
              <a:rPr lang="en-US" sz="5400" b="1" dirty="0">
                <a:solidFill>
                  <a:srgbClr val="FFFFFF"/>
                </a:solidFill>
                <a:latin typeface="Arial" pitchFamily="34" charset="0"/>
                <a:ea typeface="Arial" pitchFamily="34" charset="-122"/>
                <a:cs typeface="Arial" pitchFamily="34" charset="-120"/>
              </a:rPr>
              <a:t>(a</a:t>
            </a:r>
            <a:r>
              <a:rPr lang="en-US" sz="5400" b="1" baseline="30000" dirty="0">
                <a:solidFill>
                  <a:srgbClr val="FFFFFF"/>
                </a:solidFill>
                <a:latin typeface="Arial" pitchFamily="34" charset="0"/>
                <a:ea typeface="Arial" pitchFamily="34" charset="-122"/>
                <a:cs typeface="Arial" pitchFamily="34" charset="-120"/>
              </a:rPr>
              <a:t>m</a:t>
            </a:r>
            <a:r>
              <a:rPr lang="en-US" sz="5400" b="1" dirty="0">
                <a:solidFill>
                  <a:srgbClr val="FFFFFF"/>
                </a:solidFill>
                <a:latin typeface="Arial" pitchFamily="34" charset="0"/>
                <a:ea typeface="Arial" pitchFamily="34" charset="-122"/>
                <a:cs typeface="Arial" pitchFamily="34" charset="-120"/>
              </a:rPr>
              <a:t>)</a:t>
            </a:r>
            <a:r>
              <a:rPr lang="en-US" sz="5400" b="1" baseline="30000" dirty="0">
                <a:solidFill>
                  <a:srgbClr val="FFFFFF"/>
                </a:solidFill>
                <a:latin typeface="Arial" pitchFamily="34" charset="0"/>
                <a:ea typeface="Arial" pitchFamily="34" charset="-122"/>
                <a:cs typeface="Arial" pitchFamily="34" charset="-120"/>
              </a:rPr>
              <a:t>n</a:t>
            </a:r>
            <a:endParaRPr lang="en-US" sz="5400" dirty="0"/>
          </a:p>
        </p:txBody>
      </p:sp>
      <p:sp>
        <p:nvSpPr>
          <p:cNvPr id="6" name="Text 4"/>
          <p:cNvSpPr txBox="1"/>
          <p:nvPr/>
        </p:nvSpPr>
        <p:spPr>
          <a:xfrm>
            <a:off x="4480560" y="3291840"/>
            <a:ext cx="1645920" cy="1097280"/>
          </a:xfrm>
          <a:prstGeom prst="rect">
            <a:avLst/>
          </a:prstGeom>
          <a:noFill/>
          <a:ln/>
        </p:spPr>
        <p:txBody>
          <a:bodyPr wrap="square" lIns="0" tIns="0" rIns="0" bIns="0" rtlCol="0" anchor="ctr"/>
          <a:lstStyle/>
          <a:p>
            <a:pPr rtl="0" algn="ctr" indent="0" marL="0">
              <a:buNone/>
            </a:pPr>
            <a:r>
              <a:rPr lang="en-US" sz="5400" b="1" dirty="0">
                <a:solidFill>
                  <a:srgbClr val="8FD3D4"/>
                </a:solidFill>
                <a:latin typeface="Arial" pitchFamily="34" charset="0"/>
                <a:ea typeface="Arial" pitchFamily="34" charset="-122"/>
                <a:cs typeface="Arial" pitchFamily="34" charset="-120"/>
              </a:rPr>
              <a:t>10</a:t>
            </a:r>
            <a:r>
              <a:rPr lang="en-US" sz="5400" b="1" baseline="30000" dirty="0">
                <a:solidFill>
                  <a:srgbClr val="8FD3D4"/>
                </a:solidFill>
                <a:latin typeface="Arial" pitchFamily="34" charset="0"/>
                <a:ea typeface="Arial" pitchFamily="34" charset="-122"/>
                <a:cs typeface="Arial" pitchFamily="34" charset="-120"/>
              </a:rPr>
              <a:t>3</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أهداف الدرس</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t"/>
          <a:lstStyle/>
          <a:p>
            <a:pPr rtl="1" algn="r" indent="0" marL="0">
              <a:buNone/>
            </a:pPr>
            <a:r>
              <a:rPr lang="ar-LB" altLang="en-US" sz="1600" dirty="0">
                <a:solidFill>
                  <a:srgbClr val="5B6770"/>
                </a:solidFill>
              </a:rPr>
              <a:t>في نهاية الدرس يُتوقَّع من المتعلّم أن:</a:t>
            </a:r>
            <a:endParaRPr lang="ar-LB" sz="1600" dirty="0"/>
          </a:p>
        </p:txBody>
      </p:sp>
      <p:sp>
        <p:nvSpPr>
          <p:cNvPr id="4" name="goal1"/>
          <p:cNvSpPr/>
          <p:nvPr/>
        </p:nvSpPr>
        <p:spPr>
          <a:xfrm>
            <a:off x="457200" y="1371600"/>
            <a:ext cx="8229600" cy="512064"/>
          </a:xfrm>
          <a:prstGeom prst="roundRect">
            <a:avLst>
              <a:gd name="adj" fmla="val 21429"/>
            </a:avLst>
          </a:prstGeom>
          <a:solidFill>
            <a:srgbClr val="0F8B8D">
              <a:alpha val="10000"/>
            </a:srgbClr>
          </a:solidFill>
          <a:ln w="12700">
            <a:solidFill>
              <a:srgbClr val="0F8B8D">
                <a:alpha val="60000"/>
              </a:srgbClr>
            </a:solidFill>
            <a:prstDash val="solid"/>
          </a:ln>
        </p:spPr>
      </p:sp>
      <p:sp>
        <p:nvSpPr>
          <p:cNvPr id="5" name="Shape 3"/>
          <p:cNvSpPr/>
          <p:nvPr/>
        </p:nvSpPr>
        <p:spPr>
          <a:xfrm>
            <a:off x="8183880" y="1444752"/>
            <a:ext cx="365760" cy="365760"/>
          </a:xfrm>
          <a:prstGeom prst="ellipse">
            <a:avLst/>
          </a:prstGeom>
          <a:solidFill>
            <a:srgbClr val="0F8B8D"/>
          </a:solidFill>
          <a:ln w="12700">
            <a:solidFill>
              <a:srgbClr val="0F8B8D"/>
            </a:solidFill>
            <a:prstDash val="solid"/>
          </a:ln>
        </p:spPr>
      </p:sp>
      <p:sp>
        <p:nvSpPr>
          <p:cNvPr id="6" name="Text 4"/>
          <p:cNvSpPr txBox="1"/>
          <p:nvPr/>
        </p:nvSpPr>
        <p:spPr>
          <a:xfrm>
            <a:off x="8183880" y="1444752"/>
            <a:ext cx="365760" cy="365760"/>
          </a:xfrm>
          <a:prstGeom prst="rect">
            <a:avLst/>
          </a:prstGeom>
          <a:noFill/>
          <a:ln/>
        </p:spPr>
        <p:txBody>
          <a:bodyPr wrap="square" lIns="0" tIns="0" rIns="0" bIns="0" rtlCol="0" anchor="ctr"/>
          <a:lstStyle/>
          <a:p>
            <a:pPr rtl="1" algn="ctr" indent="0" marL="0">
              <a:buNone/>
            </a:pPr>
            <a:r>
              <a:rPr lang="ar-LB" altLang="en-US" sz="1600" b="1" dirty="0">
                <a:solidFill>
                  <a:srgbClr val="FFFFFF"/>
                </a:solidFill>
              </a:rPr>
              <a:t>1</a:t>
            </a:r>
            <a:endParaRPr lang="ar-LB" sz="1600" dirty="0"/>
          </a:p>
        </p:txBody>
      </p:sp>
      <p:sp>
        <p:nvSpPr>
          <p:cNvPr id="7" name="Text 5"/>
          <p:cNvSpPr txBox="1"/>
          <p:nvPr/>
        </p:nvSpPr>
        <p:spPr>
          <a:xfrm>
            <a:off x="640080" y="1371600"/>
            <a:ext cx="7406640" cy="512064"/>
          </a:xfrm>
          <a:prstGeom prst="rect">
            <a:avLst/>
          </a:prstGeom>
          <a:noFill/>
          <a:ln/>
        </p:spPr>
        <p:txBody>
          <a:bodyPr wrap="square" lIns="0" tIns="0" rIns="0" bIns="0" rtlCol="0" anchor="ctr"/>
          <a:lstStyle/>
          <a:p>
            <a:pPr rtl="1" algn="r" indent="0" marL="0">
              <a:buNone/>
            </a:pPr>
            <a:r>
              <a:rPr lang="ar-LB" altLang="en-US" sz="1700" dirty="0">
                <a:solidFill>
                  <a:srgbClr val="1B262C"/>
                </a:solidFill>
              </a:rPr>
              <a:t>يفرّق بين تعريف القوّة (ضرب متكرر) وتعريف الضرب (جمع متكرر).</a:t>
            </a:r>
            <a:endParaRPr lang="ar-LB" sz="1700" dirty="0"/>
          </a:p>
        </p:txBody>
      </p:sp>
      <p:sp>
        <p:nvSpPr>
          <p:cNvPr id="8" name="goal2"/>
          <p:cNvSpPr/>
          <p:nvPr/>
        </p:nvSpPr>
        <p:spPr>
          <a:xfrm>
            <a:off x="457200" y="1993392"/>
            <a:ext cx="8229600" cy="512064"/>
          </a:xfrm>
          <a:prstGeom prst="roundRect">
            <a:avLst>
              <a:gd name="adj" fmla="val 21429"/>
            </a:avLst>
          </a:prstGeom>
          <a:solidFill>
            <a:srgbClr val="2671B8">
              <a:alpha val="10000"/>
            </a:srgbClr>
          </a:solidFill>
          <a:ln w="12700">
            <a:solidFill>
              <a:srgbClr val="2671B8">
                <a:alpha val="60000"/>
              </a:srgbClr>
            </a:solidFill>
            <a:prstDash val="solid"/>
          </a:ln>
        </p:spPr>
      </p:sp>
      <p:sp>
        <p:nvSpPr>
          <p:cNvPr id="9" name="Shape 7"/>
          <p:cNvSpPr/>
          <p:nvPr/>
        </p:nvSpPr>
        <p:spPr>
          <a:xfrm>
            <a:off x="8183880" y="2066544"/>
            <a:ext cx="365760" cy="365760"/>
          </a:xfrm>
          <a:prstGeom prst="ellipse">
            <a:avLst/>
          </a:prstGeom>
          <a:solidFill>
            <a:srgbClr val="2671B8"/>
          </a:solidFill>
          <a:ln w="12700">
            <a:solidFill>
              <a:srgbClr val="2671B8"/>
            </a:solidFill>
            <a:prstDash val="solid"/>
          </a:ln>
        </p:spPr>
      </p:sp>
      <p:sp>
        <p:nvSpPr>
          <p:cNvPr id="10" name="Text 8"/>
          <p:cNvSpPr txBox="1"/>
          <p:nvPr/>
        </p:nvSpPr>
        <p:spPr>
          <a:xfrm>
            <a:off x="8183880" y="2066544"/>
            <a:ext cx="365760" cy="365760"/>
          </a:xfrm>
          <a:prstGeom prst="rect">
            <a:avLst/>
          </a:prstGeom>
          <a:noFill/>
          <a:ln/>
        </p:spPr>
        <p:txBody>
          <a:bodyPr wrap="square" lIns="0" tIns="0" rIns="0" bIns="0" rtlCol="0" anchor="ctr"/>
          <a:lstStyle/>
          <a:p>
            <a:pPr rtl="1" algn="ctr" indent="0" marL="0">
              <a:buNone/>
            </a:pPr>
            <a:r>
              <a:rPr lang="ar-LB" altLang="en-US" sz="1600" b="1" dirty="0">
                <a:solidFill>
                  <a:srgbClr val="FFFFFF"/>
                </a:solidFill>
              </a:rPr>
              <a:t>2</a:t>
            </a:r>
            <a:endParaRPr lang="ar-LB" sz="1600" dirty="0"/>
          </a:p>
        </p:txBody>
      </p:sp>
      <p:sp>
        <p:nvSpPr>
          <p:cNvPr id="11" name="Text 9"/>
          <p:cNvSpPr txBox="1"/>
          <p:nvPr/>
        </p:nvSpPr>
        <p:spPr>
          <a:xfrm>
            <a:off x="640080" y="1993392"/>
            <a:ext cx="7406640" cy="512064"/>
          </a:xfrm>
          <a:prstGeom prst="rect">
            <a:avLst/>
          </a:prstGeom>
          <a:noFill/>
          <a:ln/>
        </p:spPr>
        <p:txBody>
          <a:bodyPr wrap="square" lIns="0" tIns="0" rIns="0" bIns="0" rtlCol="0" anchor="ctr"/>
          <a:lstStyle/>
          <a:p>
            <a:pPr rtl="1" algn="r" indent="0" marL="0">
              <a:buNone/>
            </a:pPr>
            <a:r>
              <a:rPr lang="ar-LB" altLang="en-US" sz="1700" dirty="0">
                <a:solidFill>
                  <a:srgbClr val="1B262C"/>
                </a:solidFill>
              </a:rPr>
              <a:t>يستخدم الترميز الأسّي لكتابة ضرب متكرر لعامل واحد.</a:t>
            </a:r>
            <a:endParaRPr lang="ar-LB" sz="1700" dirty="0"/>
          </a:p>
        </p:txBody>
      </p:sp>
      <p:sp>
        <p:nvSpPr>
          <p:cNvPr id="12" name="goal3"/>
          <p:cNvSpPr/>
          <p:nvPr/>
        </p:nvSpPr>
        <p:spPr>
          <a:xfrm>
            <a:off x="457200" y="2615184"/>
            <a:ext cx="8229600" cy="512064"/>
          </a:xfrm>
          <a:prstGeom prst="roundRect">
            <a:avLst>
              <a:gd name="adj" fmla="val 21429"/>
            </a:avLst>
          </a:prstGeom>
          <a:solidFill>
            <a:srgbClr val="E36414">
              <a:alpha val="10000"/>
            </a:srgbClr>
          </a:solidFill>
          <a:ln w="12700">
            <a:solidFill>
              <a:srgbClr val="E36414">
                <a:alpha val="60000"/>
              </a:srgbClr>
            </a:solidFill>
            <a:prstDash val="solid"/>
          </a:ln>
        </p:spPr>
      </p:sp>
      <p:sp>
        <p:nvSpPr>
          <p:cNvPr id="13" name="Shape 11"/>
          <p:cNvSpPr/>
          <p:nvPr/>
        </p:nvSpPr>
        <p:spPr>
          <a:xfrm>
            <a:off x="8183880" y="2688336"/>
            <a:ext cx="365760" cy="365760"/>
          </a:xfrm>
          <a:prstGeom prst="ellipse">
            <a:avLst/>
          </a:prstGeom>
          <a:solidFill>
            <a:srgbClr val="E36414"/>
          </a:solidFill>
          <a:ln w="12700">
            <a:solidFill>
              <a:srgbClr val="E36414"/>
            </a:solidFill>
            <a:prstDash val="solid"/>
          </a:ln>
        </p:spPr>
      </p:sp>
      <p:sp>
        <p:nvSpPr>
          <p:cNvPr id="14" name="Text 12"/>
          <p:cNvSpPr txBox="1"/>
          <p:nvPr/>
        </p:nvSpPr>
        <p:spPr>
          <a:xfrm>
            <a:off x="8183880" y="2688336"/>
            <a:ext cx="365760" cy="365760"/>
          </a:xfrm>
          <a:prstGeom prst="rect">
            <a:avLst/>
          </a:prstGeom>
          <a:noFill/>
          <a:ln/>
        </p:spPr>
        <p:txBody>
          <a:bodyPr wrap="square" lIns="0" tIns="0" rIns="0" bIns="0" rtlCol="0" anchor="ctr"/>
          <a:lstStyle/>
          <a:p>
            <a:pPr rtl="1" algn="ctr" indent="0" marL="0">
              <a:buNone/>
            </a:pPr>
            <a:r>
              <a:rPr lang="ar-LB" altLang="en-US" sz="1600" b="1" dirty="0">
                <a:solidFill>
                  <a:srgbClr val="FFFFFF"/>
                </a:solidFill>
              </a:rPr>
              <a:t>3</a:t>
            </a:r>
            <a:endParaRPr lang="ar-LB" sz="1600" dirty="0"/>
          </a:p>
        </p:txBody>
      </p:sp>
      <p:sp>
        <p:nvSpPr>
          <p:cNvPr id="15" name="Text 13"/>
          <p:cNvSpPr txBox="1"/>
          <p:nvPr/>
        </p:nvSpPr>
        <p:spPr>
          <a:xfrm>
            <a:off x="640080" y="2615184"/>
            <a:ext cx="7406640" cy="512064"/>
          </a:xfrm>
          <a:prstGeom prst="rect">
            <a:avLst/>
          </a:prstGeom>
          <a:noFill/>
          <a:ln/>
        </p:spPr>
        <p:txBody>
          <a:bodyPr wrap="square" lIns="0" tIns="0" rIns="0" bIns="0" rtlCol="0" anchor="ctr"/>
          <a:lstStyle/>
          <a:p>
            <a:pPr rtl="1" algn="r" indent="0" marL="0">
              <a:buNone/>
            </a:pPr>
            <a:r>
              <a:rPr lang="ar-LB" altLang="en-US" sz="1700" dirty="0">
                <a:solidFill>
                  <a:srgbClr val="1B262C"/>
                </a:solidFill>
              </a:rPr>
              <a:t>يحسب قوّة القوّة لعدد مستخدمًا القاعدة المناسبة.</a:t>
            </a:r>
            <a:endParaRPr lang="ar-LB" sz="1700" dirty="0"/>
          </a:p>
        </p:txBody>
      </p:sp>
      <p:sp>
        <p:nvSpPr>
          <p:cNvPr id="16" name="Shape 14"/>
          <p:cNvSpPr/>
          <p:nvPr/>
        </p:nvSpPr>
        <p:spPr>
          <a:xfrm>
            <a:off x="7973568" y="3383280"/>
            <a:ext cx="512064" cy="512064"/>
          </a:xfrm>
          <a:prstGeom prst="ellipse">
            <a:avLst/>
          </a:prstGeom>
          <a:solidFill>
            <a:srgbClr val="0F4C5C"/>
          </a:solidFill>
          <a:ln w="12700">
            <a:solidFill>
              <a:srgbClr val="0F4C5C"/>
            </a:solidFill>
            <a:prstDash val="solid"/>
          </a:ln>
        </p:spPr>
      </p:sp>
      <p:pic>
        <p:nvPicPr>
          <p:cNvPr id="17" name="Image 0" descr="preencoded.png">    </p:cNvPr>
          <p:cNvPicPr>
            <a:picLocks noChangeAspect="1"/>
          </p:cNvPicPr>
          <p:nvPr/>
        </p:nvPicPr>
        <p:blipFill>
          <a:blip r:embed="rId1"/>
          <a:stretch>
            <a:fillRect/>
          </a:stretch>
        </p:blipFill>
        <p:spPr>
          <a:xfrm>
            <a:off x="8096463" y="3506175"/>
            <a:ext cx="266273" cy="266273"/>
          </a:xfrm>
          <a:prstGeom prst="rect">
            <a:avLst/>
          </a:prstGeom>
        </p:spPr>
      </p:pic>
      <p:sp>
        <p:nvSpPr>
          <p:cNvPr id="18" name="Text 15"/>
          <p:cNvSpPr txBox="1"/>
          <p:nvPr/>
        </p:nvSpPr>
        <p:spPr>
          <a:xfrm>
            <a:off x="7589520" y="3950208"/>
            <a:ext cx="1280160" cy="320040"/>
          </a:xfrm>
          <a:prstGeom prst="rect">
            <a:avLst/>
          </a:prstGeom>
          <a:noFill/>
          <a:ln/>
        </p:spPr>
        <p:txBody>
          <a:bodyPr wrap="square" lIns="0" tIns="0" rIns="0" bIns="0" rtlCol="0" anchor="t"/>
          <a:lstStyle/>
          <a:p>
            <a:pPr rtl="1" algn="ctr" indent="0" marL="0">
              <a:buNone/>
            </a:pPr>
            <a:r>
              <a:rPr lang="ar-LB" altLang="en-US" sz="1300" b="1" dirty="0">
                <a:solidFill>
                  <a:srgbClr val="0F4C5C"/>
                </a:solidFill>
              </a:rPr>
              <a:t>تمهيد</a:t>
            </a:r>
            <a:endParaRPr lang="ar-LB" sz="1300" dirty="0"/>
          </a:p>
        </p:txBody>
      </p:sp>
      <p:sp>
        <p:nvSpPr>
          <p:cNvPr id="19" name="Shape 16"/>
          <p:cNvSpPr/>
          <p:nvPr/>
        </p:nvSpPr>
        <p:spPr>
          <a:xfrm flipH="1">
            <a:off x="7132320" y="3639312"/>
            <a:ext cx="685800" cy="0"/>
          </a:xfrm>
          <a:prstGeom prst="line">
            <a:avLst/>
          </a:prstGeom>
          <a:noFill/>
          <a:ln w="19050">
            <a:solidFill>
              <a:srgbClr val="5B6770"/>
            </a:solidFill>
            <a:prstDash val="solid"/>
            <a:tailEnd type="triangle"/>
          </a:ln>
        </p:spPr>
      </p:sp>
      <p:sp>
        <p:nvSpPr>
          <p:cNvPr id="20" name="Shape 17"/>
          <p:cNvSpPr/>
          <p:nvPr/>
        </p:nvSpPr>
        <p:spPr>
          <a:xfrm>
            <a:off x="6510528" y="3383280"/>
            <a:ext cx="512064" cy="512064"/>
          </a:xfrm>
          <a:prstGeom prst="ellipse">
            <a:avLst/>
          </a:prstGeom>
          <a:solidFill>
            <a:srgbClr val="0F8B8D"/>
          </a:solidFill>
          <a:ln w="12700">
            <a:solidFill>
              <a:srgbClr val="0F8B8D"/>
            </a:solidFill>
            <a:prstDash val="solid"/>
          </a:ln>
        </p:spPr>
      </p:sp>
      <p:pic>
        <p:nvPicPr>
          <p:cNvPr id="21" name="Image 1" descr="preencoded.png">    </p:cNvPr>
          <p:cNvPicPr>
            <a:picLocks noChangeAspect="1"/>
          </p:cNvPicPr>
          <p:nvPr/>
        </p:nvPicPr>
        <p:blipFill>
          <a:blip r:embed="rId2"/>
          <a:stretch>
            <a:fillRect/>
          </a:stretch>
        </p:blipFill>
        <p:spPr>
          <a:xfrm>
            <a:off x="6633423" y="3506175"/>
            <a:ext cx="266273" cy="266273"/>
          </a:xfrm>
          <a:prstGeom prst="rect">
            <a:avLst/>
          </a:prstGeom>
        </p:spPr>
      </p:pic>
      <p:sp>
        <p:nvSpPr>
          <p:cNvPr id="22" name="Text 18"/>
          <p:cNvSpPr txBox="1"/>
          <p:nvPr/>
        </p:nvSpPr>
        <p:spPr>
          <a:xfrm>
            <a:off x="6126480" y="3950208"/>
            <a:ext cx="1280160" cy="320040"/>
          </a:xfrm>
          <a:prstGeom prst="rect">
            <a:avLst/>
          </a:prstGeom>
          <a:noFill/>
          <a:ln/>
        </p:spPr>
        <p:txBody>
          <a:bodyPr wrap="square" lIns="0" tIns="0" rIns="0" bIns="0" rtlCol="0" anchor="t"/>
          <a:lstStyle/>
          <a:p>
            <a:pPr rtl="1" algn="ctr" indent="0" marL="0">
              <a:buNone/>
            </a:pPr>
            <a:r>
              <a:rPr lang="ar-LB" altLang="en-US" sz="1300" b="1" dirty="0">
                <a:solidFill>
                  <a:srgbClr val="0F4C5C"/>
                </a:solidFill>
              </a:rPr>
              <a:t>استكشاف</a:t>
            </a:r>
            <a:endParaRPr lang="ar-LB" sz="1300" dirty="0"/>
          </a:p>
        </p:txBody>
      </p:sp>
      <p:sp>
        <p:nvSpPr>
          <p:cNvPr id="23" name="Shape 19"/>
          <p:cNvSpPr/>
          <p:nvPr/>
        </p:nvSpPr>
        <p:spPr>
          <a:xfrm flipH="1">
            <a:off x="5669280" y="3639312"/>
            <a:ext cx="685800" cy="0"/>
          </a:xfrm>
          <a:prstGeom prst="line">
            <a:avLst/>
          </a:prstGeom>
          <a:noFill/>
          <a:ln w="19050">
            <a:solidFill>
              <a:srgbClr val="5B6770"/>
            </a:solidFill>
            <a:prstDash val="solid"/>
            <a:tailEnd type="triangle"/>
          </a:ln>
        </p:spPr>
      </p:sp>
      <p:sp>
        <p:nvSpPr>
          <p:cNvPr id="24" name="Shape 20"/>
          <p:cNvSpPr/>
          <p:nvPr/>
        </p:nvSpPr>
        <p:spPr>
          <a:xfrm>
            <a:off x="5047488" y="3383280"/>
            <a:ext cx="512064" cy="512064"/>
          </a:xfrm>
          <a:prstGeom prst="ellipse">
            <a:avLst/>
          </a:prstGeom>
          <a:solidFill>
            <a:srgbClr val="0F4C5C"/>
          </a:solidFill>
          <a:ln w="12700">
            <a:solidFill>
              <a:srgbClr val="0F4C5C"/>
            </a:solidFill>
            <a:prstDash val="solid"/>
          </a:ln>
        </p:spPr>
      </p:sp>
      <p:pic>
        <p:nvPicPr>
          <p:cNvPr id="25" name="Image 2" descr="preencoded.png">    </p:cNvPr>
          <p:cNvPicPr>
            <a:picLocks noChangeAspect="1"/>
          </p:cNvPicPr>
          <p:nvPr/>
        </p:nvPicPr>
        <p:blipFill>
          <a:blip r:embed="rId3"/>
          <a:stretch>
            <a:fillRect/>
          </a:stretch>
        </p:blipFill>
        <p:spPr>
          <a:xfrm>
            <a:off x="5170383" y="3506175"/>
            <a:ext cx="266273" cy="266273"/>
          </a:xfrm>
          <a:prstGeom prst="rect">
            <a:avLst/>
          </a:prstGeom>
        </p:spPr>
      </p:pic>
      <p:sp>
        <p:nvSpPr>
          <p:cNvPr id="26" name="Text 21"/>
          <p:cNvSpPr txBox="1"/>
          <p:nvPr/>
        </p:nvSpPr>
        <p:spPr>
          <a:xfrm>
            <a:off x="4663440" y="3950208"/>
            <a:ext cx="1280160" cy="320040"/>
          </a:xfrm>
          <a:prstGeom prst="rect">
            <a:avLst/>
          </a:prstGeom>
          <a:noFill/>
          <a:ln/>
        </p:spPr>
        <p:txBody>
          <a:bodyPr wrap="square" lIns="0" tIns="0" rIns="0" bIns="0" rtlCol="0" anchor="t"/>
          <a:lstStyle/>
          <a:p>
            <a:pPr rtl="1" algn="ctr" indent="0" marL="0">
              <a:buNone/>
            </a:pPr>
            <a:r>
              <a:rPr lang="ar-LB" altLang="en-US" sz="1300" b="1" dirty="0">
                <a:solidFill>
                  <a:srgbClr val="0F4C5C"/>
                </a:solidFill>
              </a:rPr>
              <a:t>شرح وأمثلة</a:t>
            </a:r>
            <a:endParaRPr lang="ar-LB" sz="1300" dirty="0"/>
          </a:p>
        </p:txBody>
      </p:sp>
      <p:sp>
        <p:nvSpPr>
          <p:cNvPr id="27" name="Shape 22"/>
          <p:cNvSpPr/>
          <p:nvPr/>
        </p:nvSpPr>
        <p:spPr>
          <a:xfrm flipH="1">
            <a:off x="4206240" y="3639312"/>
            <a:ext cx="685800" cy="0"/>
          </a:xfrm>
          <a:prstGeom prst="line">
            <a:avLst/>
          </a:prstGeom>
          <a:noFill/>
          <a:ln w="19050">
            <a:solidFill>
              <a:srgbClr val="5B6770"/>
            </a:solidFill>
            <a:prstDash val="solid"/>
            <a:tailEnd type="triangle"/>
          </a:ln>
        </p:spPr>
      </p:sp>
      <p:sp>
        <p:nvSpPr>
          <p:cNvPr id="28" name="Shape 23"/>
          <p:cNvSpPr/>
          <p:nvPr/>
        </p:nvSpPr>
        <p:spPr>
          <a:xfrm>
            <a:off x="3584448" y="3383280"/>
            <a:ext cx="512064" cy="512064"/>
          </a:xfrm>
          <a:prstGeom prst="ellipse">
            <a:avLst/>
          </a:prstGeom>
          <a:solidFill>
            <a:srgbClr val="0F8B8D"/>
          </a:solidFill>
          <a:ln w="12700">
            <a:solidFill>
              <a:srgbClr val="0F8B8D"/>
            </a:solidFill>
            <a:prstDash val="solid"/>
          </a:ln>
        </p:spPr>
      </p:sp>
      <p:pic>
        <p:nvPicPr>
          <p:cNvPr id="29" name="Image 3" descr="preencoded.png">    </p:cNvPr>
          <p:cNvPicPr>
            <a:picLocks noChangeAspect="1"/>
          </p:cNvPicPr>
          <p:nvPr/>
        </p:nvPicPr>
        <p:blipFill>
          <a:blip r:embed="rId4"/>
          <a:stretch>
            <a:fillRect/>
          </a:stretch>
        </p:blipFill>
        <p:spPr>
          <a:xfrm>
            <a:off x="3707343" y="3506175"/>
            <a:ext cx="266273" cy="266273"/>
          </a:xfrm>
          <a:prstGeom prst="rect">
            <a:avLst/>
          </a:prstGeom>
        </p:spPr>
      </p:pic>
      <p:sp>
        <p:nvSpPr>
          <p:cNvPr id="30" name="Text 24"/>
          <p:cNvSpPr txBox="1"/>
          <p:nvPr/>
        </p:nvSpPr>
        <p:spPr>
          <a:xfrm>
            <a:off x="3200400" y="3950208"/>
            <a:ext cx="1280160" cy="320040"/>
          </a:xfrm>
          <a:prstGeom prst="rect">
            <a:avLst/>
          </a:prstGeom>
          <a:noFill/>
          <a:ln/>
        </p:spPr>
        <p:txBody>
          <a:bodyPr wrap="square" lIns="0" tIns="0" rIns="0" bIns="0" rtlCol="0" anchor="t"/>
          <a:lstStyle/>
          <a:p>
            <a:pPr rtl="1" algn="ctr" indent="0" marL="0">
              <a:buNone/>
            </a:pPr>
            <a:r>
              <a:rPr lang="ar-LB" altLang="en-US" sz="1300" b="1" dirty="0">
                <a:solidFill>
                  <a:srgbClr val="0F4C5C"/>
                </a:solidFill>
              </a:rPr>
              <a:t>تطبيق فردي</a:t>
            </a:r>
            <a:endParaRPr lang="ar-LB" sz="1300" dirty="0"/>
          </a:p>
        </p:txBody>
      </p:sp>
      <p:sp>
        <p:nvSpPr>
          <p:cNvPr id="31" name="Shape 25"/>
          <p:cNvSpPr/>
          <p:nvPr/>
        </p:nvSpPr>
        <p:spPr>
          <a:xfrm flipH="1">
            <a:off x="2743200" y="3639312"/>
            <a:ext cx="685800" cy="0"/>
          </a:xfrm>
          <a:prstGeom prst="line">
            <a:avLst/>
          </a:prstGeom>
          <a:noFill/>
          <a:ln w="19050">
            <a:solidFill>
              <a:srgbClr val="5B6770"/>
            </a:solidFill>
            <a:prstDash val="solid"/>
            <a:tailEnd type="triangle"/>
          </a:ln>
        </p:spPr>
      </p:sp>
      <p:sp>
        <p:nvSpPr>
          <p:cNvPr id="32" name="Shape 26"/>
          <p:cNvSpPr/>
          <p:nvPr/>
        </p:nvSpPr>
        <p:spPr>
          <a:xfrm>
            <a:off x="2121408" y="3383280"/>
            <a:ext cx="512064" cy="512064"/>
          </a:xfrm>
          <a:prstGeom prst="ellipse">
            <a:avLst/>
          </a:prstGeom>
          <a:solidFill>
            <a:srgbClr val="0F4C5C"/>
          </a:solidFill>
          <a:ln w="12700">
            <a:solidFill>
              <a:srgbClr val="0F4C5C"/>
            </a:solidFill>
            <a:prstDash val="solid"/>
          </a:ln>
        </p:spPr>
      </p:sp>
      <p:pic>
        <p:nvPicPr>
          <p:cNvPr id="33" name="Image 4" descr="preencoded.png">    </p:cNvPr>
          <p:cNvPicPr>
            <a:picLocks noChangeAspect="1"/>
          </p:cNvPicPr>
          <p:nvPr/>
        </p:nvPicPr>
        <p:blipFill>
          <a:blip r:embed="rId5"/>
          <a:stretch>
            <a:fillRect/>
          </a:stretch>
        </p:blipFill>
        <p:spPr>
          <a:xfrm>
            <a:off x="2244303" y="3506175"/>
            <a:ext cx="266273" cy="266273"/>
          </a:xfrm>
          <a:prstGeom prst="rect">
            <a:avLst/>
          </a:prstGeom>
        </p:spPr>
      </p:pic>
      <p:sp>
        <p:nvSpPr>
          <p:cNvPr id="34" name="Text 27"/>
          <p:cNvSpPr txBox="1"/>
          <p:nvPr/>
        </p:nvSpPr>
        <p:spPr>
          <a:xfrm>
            <a:off x="1737360" y="3950208"/>
            <a:ext cx="1280160" cy="320040"/>
          </a:xfrm>
          <a:prstGeom prst="rect">
            <a:avLst/>
          </a:prstGeom>
          <a:noFill/>
          <a:ln/>
        </p:spPr>
        <p:txBody>
          <a:bodyPr wrap="square" lIns="0" tIns="0" rIns="0" bIns="0" rtlCol="0" anchor="t"/>
          <a:lstStyle/>
          <a:p>
            <a:pPr rtl="1" algn="ctr" indent="0" marL="0">
              <a:buNone/>
            </a:pPr>
            <a:r>
              <a:rPr lang="ar-LB" altLang="en-US" sz="1300" b="1" dirty="0">
                <a:solidFill>
                  <a:srgbClr val="0F4C5C"/>
                </a:solidFill>
              </a:rPr>
              <a:t>تطبيق جماعي</a:t>
            </a:r>
            <a:endParaRPr lang="ar-LB" sz="1300" dirty="0"/>
          </a:p>
        </p:txBody>
      </p:sp>
      <p:sp>
        <p:nvSpPr>
          <p:cNvPr id="35" name="Shape 28"/>
          <p:cNvSpPr/>
          <p:nvPr/>
        </p:nvSpPr>
        <p:spPr>
          <a:xfrm flipH="1">
            <a:off x="1280160" y="3639312"/>
            <a:ext cx="685800" cy="0"/>
          </a:xfrm>
          <a:prstGeom prst="line">
            <a:avLst/>
          </a:prstGeom>
          <a:noFill/>
          <a:ln w="19050">
            <a:solidFill>
              <a:srgbClr val="5B6770"/>
            </a:solidFill>
            <a:prstDash val="solid"/>
            <a:tailEnd type="triangle"/>
          </a:ln>
        </p:spPr>
      </p:sp>
      <p:sp>
        <p:nvSpPr>
          <p:cNvPr id="36" name="Shape 29"/>
          <p:cNvSpPr/>
          <p:nvPr/>
        </p:nvSpPr>
        <p:spPr>
          <a:xfrm>
            <a:off x="658368" y="3383280"/>
            <a:ext cx="512064" cy="512064"/>
          </a:xfrm>
          <a:prstGeom prst="ellipse">
            <a:avLst/>
          </a:prstGeom>
          <a:solidFill>
            <a:srgbClr val="0F8B8D"/>
          </a:solidFill>
          <a:ln w="12700">
            <a:solidFill>
              <a:srgbClr val="0F8B8D"/>
            </a:solidFill>
            <a:prstDash val="solid"/>
          </a:ln>
        </p:spPr>
      </p:sp>
      <p:pic>
        <p:nvPicPr>
          <p:cNvPr id="37" name="Image 5" descr="preencoded.png">    </p:cNvPr>
          <p:cNvPicPr>
            <a:picLocks noChangeAspect="1"/>
          </p:cNvPicPr>
          <p:nvPr/>
        </p:nvPicPr>
        <p:blipFill>
          <a:blip r:embed="rId6"/>
          <a:stretch>
            <a:fillRect/>
          </a:stretch>
        </p:blipFill>
        <p:spPr>
          <a:xfrm>
            <a:off x="781263" y="3506175"/>
            <a:ext cx="266273" cy="266273"/>
          </a:xfrm>
          <a:prstGeom prst="rect">
            <a:avLst/>
          </a:prstGeom>
        </p:spPr>
      </p:pic>
      <p:sp>
        <p:nvSpPr>
          <p:cNvPr id="38" name="Text 30"/>
          <p:cNvSpPr txBox="1"/>
          <p:nvPr/>
        </p:nvSpPr>
        <p:spPr>
          <a:xfrm>
            <a:off x="274320" y="3950208"/>
            <a:ext cx="1280160" cy="320040"/>
          </a:xfrm>
          <a:prstGeom prst="rect">
            <a:avLst/>
          </a:prstGeom>
          <a:noFill/>
          <a:ln/>
        </p:spPr>
        <p:txBody>
          <a:bodyPr wrap="square" lIns="0" tIns="0" rIns="0" bIns="0" rtlCol="0" anchor="t"/>
          <a:lstStyle/>
          <a:p>
            <a:pPr rtl="1" algn="ctr" indent="0" marL="0">
              <a:buNone/>
            </a:pPr>
            <a:r>
              <a:rPr lang="ar-LB" altLang="en-US" sz="1300" b="1" dirty="0">
                <a:solidFill>
                  <a:srgbClr val="0F4C5C"/>
                </a:solidFill>
              </a:rPr>
              <a:t>تقييم</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E36414"/>
          </a:solidFill>
          <a:ln w="12700">
            <a:solidFill>
              <a:srgbClr val="E36414"/>
            </a:solidFill>
            <a:prstDash val="solid"/>
          </a:ln>
        </p:spPr>
      </p:sp>
      <p:pic>
        <p:nvPicPr>
          <p:cNvPr id="3" name="Image 0" descr="preencoded.png">    </p:cNvPr>
          <p:cNvPicPr>
            <a:picLocks noChangeAspect="1"/>
          </p:cNvPicPr>
          <p:nvPr/>
        </p:nvPicPr>
        <p:blipFill>
          <a:blip r:embed="rId1"/>
          <a:stretch>
            <a:fillRect/>
          </a:stretch>
        </p:blipFill>
        <p:spPr>
          <a:xfrm>
            <a:off x="7452360" y="1920240"/>
            <a:ext cx="822960" cy="822960"/>
          </a:xfrm>
          <a:prstGeom prst="rect">
            <a:avLst/>
          </a:prstGeom>
        </p:spPr>
      </p:pic>
      <p:sp>
        <p:nvSpPr>
          <p:cNvPr id="4" name="Text 1"/>
          <p:cNvSpPr txBox="1"/>
          <p:nvPr/>
        </p:nvSpPr>
        <p:spPr>
          <a:xfrm>
            <a:off x="548640" y="1371600"/>
            <a:ext cx="6035040" cy="411480"/>
          </a:xfrm>
          <a:prstGeom prst="rect">
            <a:avLst/>
          </a:prstGeom>
          <a:noFill/>
          <a:ln/>
        </p:spPr>
        <p:txBody>
          <a:bodyPr wrap="square" lIns="0" tIns="0" rIns="0" bIns="0" rtlCol="0" anchor="t"/>
          <a:lstStyle/>
          <a:p>
            <a:pPr rtl="1" algn="r" indent="0" marL="0">
              <a:buNone/>
            </a:pPr>
            <a:r>
              <a:rPr lang="ar-LB" altLang="en-US" sz="1800" b="1" dirty="0">
                <a:solidFill>
                  <a:srgbClr val="E9A23B"/>
                </a:solidFill>
              </a:rPr>
              <a:t>المرحلة 1</a:t>
            </a:r>
            <a:endParaRPr lang="ar-LB" sz="1800" dirty="0"/>
          </a:p>
        </p:txBody>
      </p:sp>
      <p:sp>
        <p:nvSpPr>
          <p:cNvPr id="5" name="Text 0"/>
          <p:cNvSpPr/>
          <p:nvPr>
            <p:ph idx="100" type="title" hasCustomPrompt="1"/>
          </p:nvPr>
        </p:nvSpPr>
        <p:spPr>
          <a:xfrm>
            <a:off x="548640" y="1828800"/>
            <a:ext cx="6035040" cy="822960"/>
          </a:xfrm>
          <a:prstGeom prst="rect">
            <a:avLst/>
          </a:prstGeom>
          <a:noFill/>
          <a:ln/>
        </p:spPr>
        <p:txBody>
          <a:bodyPr wrap="square" rtlCol="0"/>
          <a:lstStyle/>
          <a:p>
            <a:pPr rtl="1" algn="r" indent="0" marL="0">
              <a:buNone/>
            </a:pPr>
            <a:r>
              <a:rPr lang="en-US" sz="4000" b="1" dirty="0">
                <a:solidFill>
                  <a:srgbClr val="FFFFFF"/>
                </a:solidFill>
              </a:rPr>
              <a:t>التمهيد</a:t>
            </a:r>
            <a:endParaRPr lang="en-US" sz="4000" dirty="0"/>
          </a:p>
        </p:txBody>
      </p:sp>
      <p:sp>
        <p:nvSpPr>
          <p:cNvPr id="6" name="Text 0"/>
          <p:cNvSpPr/>
          <p:nvPr>
            <p:ph idx="101" type="body" hasCustomPrompt="1"/>
          </p:nvPr>
        </p:nvSpPr>
        <p:spPr>
          <a:xfrm>
            <a:off x="548640" y="2697480"/>
            <a:ext cx="6035040" cy="822960"/>
          </a:xfrm>
          <a:prstGeom prst="rect">
            <a:avLst/>
          </a:prstGeom>
          <a:noFill/>
          <a:ln/>
        </p:spPr>
        <p:txBody>
          <a:bodyPr wrap="square" rtlCol="0" anchor="t"/>
          <a:lstStyle/>
          <a:p>
            <a:pPr rtl="1" algn="r" indent="0" marL="0">
              <a:buNone/>
            </a:pPr>
            <a:r>
              <a:rPr lang="en-US" sz="1800" dirty="0">
                <a:solidFill>
                  <a:srgbClr val="CFE3E6"/>
                </a:solidFill>
              </a:rPr>
              <a:t>استراتيجية: فكّر – زاوج – شارك  •  مدة مقترحة: 5 دقائق</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أيّ المكافأتين تختار؟</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t"/>
          <a:lstStyle/>
          <a:p>
            <a:pPr rtl="1" algn="r" indent="0" marL="0">
              <a:buNone/>
            </a:pPr>
            <a:r>
              <a:rPr lang="ar-LB" altLang="en-US" sz="1700" dirty="0">
                <a:solidFill>
                  <a:srgbClr val="1B262C"/>
                </a:solidFill>
              </a:rPr>
              <a:t>قرّر المدير مكافأة طالب متفوّق بالنقاط، وخيّره بين عرضين:</a:t>
            </a:r>
            <a:endParaRPr lang="ar-LB" sz="1700" dirty="0"/>
          </a:p>
        </p:txBody>
      </p:sp>
      <p:sp>
        <p:nvSpPr>
          <p:cNvPr id="4" name="العرض (أ)"/>
          <p:cNvSpPr/>
          <p:nvPr/>
        </p:nvSpPr>
        <p:spPr>
          <a:xfrm>
            <a:off x="4709160" y="1417320"/>
            <a:ext cx="3977640" cy="1554480"/>
          </a:xfrm>
          <a:prstGeom prst="roundRect">
            <a:avLst>
              <a:gd name="adj" fmla="val 7059"/>
            </a:avLst>
          </a:prstGeom>
          <a:solidFill>
            <a:srgbClr val="0F8B8D">
              <a:alpha val="12000"/>
            </a:srgbClr>
          </a:solidFill>
          <a:ln w="12700">
            <a:solidFill>
              <a:srgbClr val="0F8B8D">
                <a:alpha val="60000"/>
              </a:srgbClr>
            </a:solidFill>
            <a:prstDash val="solid"/>
          </a:ln>
        </p:spPr>
      </p:sp>
      <p:sp>
        <p:nvSpPr>
          <p:cNvPr id="5" name="Shape 3"/>
          <p:cNvSpPr/>
          <p:nvPr/>
        </p:nvSpPr>
        <p:spPr>
          <a:xfrm>
            <a:off x="8138160" y="1527048"/>
            <a:ext cx="411480" cy="41148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8236915" y="1625803"/>
            <a:ext cx="213970" cy="213970"/>
          </a:xfrm>
          <a:prstGeom prst="rect">
            <a:avLst/>
          </a:prstGeom>
        </p:spPr>
      </p:pic>
      <p:sp>
        <p:nvSpPr>
          <p:cNvPr id="7" name="Text 4"/>
          <p:cNvSpPr txBox="1"/>
          <p:nvPr/>
        </p:nvSpPr>
        <p:spPr>
          <a:xfrm>
            <a:off x="4892040" y="1554480"/>
            <a:ext cx="3154680" cy="365760"/>
          </a:xfrm>
          <a:prstGeom prst="rect">
            <a:avLst/>
          </a:prstGeom>
          <a:noFill/>
          <a:ln/>
        </p:spPr>
        <p:txBody>
          <a:bodyPr wrap="square" lIns="0" tIns="0" rIns="0" bIns="0" rtlCol="0" anchor="t"/>
          <a:lstStyle/>
          <a:p>
            <a:pPr rtl="1" algn="r" indent="0" marL="0">
              <a:buNone/>
            </a:pPr>
            <a:r>
              <a:rPr lang="ar-LB" altLang="en-US" sz="2000" b="1" dirty="0">
                <a:solidFill>
                  <a:srgbClr val="0F8B8D"/>
                </a:solidFill>
              </a:rPr>
              <a:t>العرض (أ)</a:t>
            </a:r>
            <a:endParaRPr lang="ar-LB" sz="2000" dirty="0"/>
          </a:p>
        </p:txBody>
      </p:sp>
      <p:sp>
        <p:nvSpPr>
          <p:cNvPr id="8" name="Text 5"/>
          <p:cNvSpPr txBox="1"/>
          <p:nvPr/>
        </p:nvSpPr>
        <p:spPr>
          <a:xfrm>
            <a:off x="4800600" y="2057400"/>
            <a:ext cx="3794760" cy="457200"/>
          </a:xfrm>
          <a:prstGeom prst="rect">
            <a:avLst/>
          </a:prstGeom>
          <a:noFill/>
          <a:ln/>
        </p:spPr>
        <p:txBody>
          <a:bodyPr wrap="square" lIns="0" tIns="0" rIns="0" bIns="0" rtlCol="0" anchor="ctr"/>
          <a:lstStyle/>
          <a:p>
            <a:pPr rtl="0" algn="ctr" indent="0" marL="0">
              <a:buNone/>
            </a:pPr>
            <a:r>
              <a:rPr lang="en-US" sz="1700" b="1" dirty="0">
                <a:solidFill>
                  <a:srgbClr val="1B262C"/>
                </a:solidFill>
                <a:latin typeface="Arial" pitchFamily="34" charset="0"/>
                <a:ea typeface="Arial" pitchFamily="34" charset="-122"/>
                <a:cs typeface="Arial" pitchFamily="34" charset="-120"/>
              </a:rPr>
              <a:t>2 + 2 + 2 + 2 + 2 + 2 + 2 + 2 + 2 + 2</a:t>
            </a:r>
            <a:endParaRPr lang="en-US" sz="1700" dirty="0"/>
          </a:p>
        </p:txBody>
      </p:sp>
      <p:sp>
        <p:nvSpPr>
          <p:cNvPr id="9" name="Text 6"/>
          <p:cNvSpPr txBox="1"/>
          <p:nvPr/>
        </p:nvSpPr>
        <p:spPr>
          <a:xfrm>
            <a:off x="4892040" y="2560320"/>
            <a:ext cx="361188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(العدد 2 مكرّر 10 مرات)</a:t>
            </a:r>
            <a:endParaRPr lang="ar-LB" sz="1300" dirty="0"/>
          </a:p>
        </p:txBody>
      </p:sp>
      <p:sp>
        <p:nvSpPr>
          <p:cNvPr id="10" name="العرض (ب)"/>
          <p:cNvSpPr/>
          <p:nvPr/>
        </p:nvSpPr>
        <p:spPr>
          <a:xfrm>
            <a:off x="457200" y="1417320"/>
            <a:ext cx="3977640" cy="1554480"/>
          </a:xfrm>
          <a:prstGeom prst="roundRect">
            <a:avLst>
              <a:gd name="adj" fmla="val 7059"/>
            </a:avLst>
          </a:prstGeom>
          <a:solidFill>
            <a:srgbClr val="E36414">
              <a:alpha val="12000"/>
            </a:srgbClr>
          </a:solidFill>
          <a:ln w="12700">
            <a:solidFill>
              <a:srgbClr val="E36414">
                <a:alpha val="60000"/>
              </a:srgbClr>
            </a:solidFill>
            <a:prstDash val="solid"/>
          </a:ln>
        </p:spPr>
      </p:sp>
      <p:sp>
        <p:nvSpPr>
          <p:cNvPr id="11" name="Shape 8"/>
          <p:cNvSpPr/>
          <p:nvPr/>
        </p:nvSpPr>
        <p:spPr>
          <a:xfrm>
            <a:off x="3886200" y="1527048"/>
            <a:ext cx="411480" cy="411480"/>
          </a:xfrm>
          <a:prstGeom prst="ellipse">
            <a:avLst/>
          </a:prstGeom>
          <a:solidFill>
            <a:srgbClr val="E36414"/>
          </a:solidFill>
          <a:ln w="12700">
            <a:solidFill>
              <a:srgbClr val="E36414"/>
            </a:solidFill>
            <a:prstDash val="solid"/>
          </a:ln>
        </p:spPr>
      </p:sp>
      <p:pic>
        <p:nvPicPr>
          <p:cNvPr id="12" name="Image 1" descr="preencoded.png">    </p:cNvPr>
          <p:cNvPicPr>
            <a:picLocks noChangeAspect="1"/>
          </p:cNvPicPr>
          <p:nvPr/>
        </p:nvPicPr>
        <p:blipFill>
          <a:blip r:embed="rId2"/>
          <a:stretch>
            <a:fillRect/>
          </a:stretch>
        </p:blipFill>
        <p:spPr>
          <a:xfrm>
            <a:off x="3984955" y="1625803"/>
            <a:ext cx="213970" cy="213970"/>
          </a:xfrm>
          <a:prstGeom prst="rect">
            <a:avLst/>
          </a:prstGeom>
        </p:spPr>
      </p:pic>
      <p:sp>
        <p:nvSpPr>
          <p:cNvPr id="13" name="Text 9"/>
          <p:cNvSpPr txBox="1"/>
          <p:nvPr/>
        </p:nvSpPr>
        <p:spPr>
          <a:xfrm>
            <a:off x="640080" y="1554480"/>
            <a:ext cx="3154680" cy="365760"/>
          </a:xfrm>
          <a:prstGeom prst="rect">
            <a:avLst/>
          </a:prstGeom>
          <a:noFill/>
          <a:ln/>
        </p:spPr>
        <p:txBody>
          <a:bodyPr wrap="square" lIns="0" tIns="0" rIns="0" bIns="0" rtlCol="0" anchor="t"/>
          <a:lstStyle/>
          <a:p>
            <a:pPr rtl="1" algn="r" indent="0" marL="0">
              <a:buNone/>
            </a:pPr>
            <a:r>
              <a:rPr lang="ar-LB" altLang="en-US" sz="2000" b="1" dirty="0">
                <a:solidFill>
                  <a:srgbClr val="E36414"/>
                </a:solidFill>
              </a:rPr>
              <a:t>العرض (ب)</a:t>
            </a:r>
            <a:endParaRPr lang="ar-LB" sz="2000" dirty="0"/>
          </a:p>
        </p:txBody>
      </p:sp>
      <p:sp>
        <p:nvSpPr>
          <p:cNvPr id="14" name="Text 10"/>
          <p:cNvSpPr txBox="1"/>
          <p:nvPr/>
        </p:nvSpPr>
        <p:spPr>
          <a:xfrm>
            <a:off x="548640" y="2057400"/>
            <a:ext cx="3794760" cy="457200"/>
          </a:xfrm>
          <a:prstGeom prst="rect">
            <a:avLst/>
          </a:prstGeom>
          <a:noFill/>
          <a:ln/>
        </p:spPr>
        <p:txBody>
          <a:bodyPr wrap="square" lIns="0" tIns="0" rIns="0" bIns="0" rtlCol="0" anchor="ctr"/>
          <a:lstStyle/>
          <a:p>
            <a:pPr rtl="0" algn="ctr" indent="0" marL="0">
              <a:buNone/>
            </a:pPr>
            <a:r>
              <a:rPr lang="en-US" sz="1700" b="1" dirty="0">
                <a:solidFill>
                  <a:srgbClr val="1B262C"/>
                </a:solidFill>
                <a:latin typeface="Arial" pitchFamily="34" charset="0"/>
                <a:ea typeface="Arial" pitchFamily="34" charset="-122"/>
                <a:cs typeface="Arial" pitchFamily="34" charset="-120"/>
              </a:rPr>
              <a:t>2 × 2 × 2 × 2 × 2 × 2 × 2 × 2 × 2 × 2</a:t>
            </a:r>
            <a:endParaRPr lang="en-US" sz="1700" dirty="0"/>
          </a:p>
        </p:txBody>
      </p:sp>
      <p:sp>
        <p:nvSpPr>
          <p:cNvPr id="15" name="Text 11"/>
          <p:cNvSpPr txBox="1"/>
          <p:nvPr/>
        </p:nvSpPr>
        <p:spPr>
          <a:xfrm>
            <a:off x="640080" y="2560320"/>
            <a:ext cx="361188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(العدد 2 مكرّر 10 مرات)</a:t>
            </a:r>
            <a:endParaRPr lang="ar-LB" sz="1300" dirty="0"/>
          </a:p>
        </p:txBody>
      </p:sp>
      <p:sp>
        <p:nvSpPr>
          <p:cNvPr id="16" name="questions"/>
          <p:cNvSpPr/>
          <p:nvPr/>
        </p:nvSpPr>
        <p:spPr>
          <a:xfrm>
            <a:off x="457200" y="3200400"/>
            <a:ext cx="8229600" cy="1325880"/>
          </a:xfrm>
          <a:prstGeom prst="roundRect">
            <a:avLst>
              <a:gd name="adj" fmla="val 8276"/>
            </a:avLst>
          </a:prstGeom>
          <a:solidFill>
            <a:srgbClr val="0F4C5C">
              <a:alpha val="6000"/>
            </a:srgbClr>
          </a:solidFill>
          <a:ln w="12700">
            <a:solidFill>
              <a:srgbClr val="0F4C5C">
                <a:alpha val="60000"/>
              </a:srgbClr>
            </a:solidFill>
            <a:prstDash val="solid"/>
          </a:ln>
        </p:spPr>
      </p:sp>
      <p:sp>
        <p:nvSpPr>
          <p:cNvPr id="17" name="Text 13"/>
          <p:cNvSpPr txBox="1"/>
          <p:nvPr/>
        </p:nvSpPr>
        <p:spPr>
          <a:xfrm>
            <a:off x="640080" y="3291840"/>
            <a:ext cx="7863840" cy="1143000"/>
          </a:xfrm>
          <a:prstGeom prst="rect">
            <a:avLst/>
          </a:prstGeom>
          <a:noFill/>
          <a:ln/>
        </p:spPr>
        <p:txBody>
          <a:bodyPr wrap="square" lIns="0" tIns="0" rIns="0" bIns="0" rtlCol="0" anchor="ctr"/>
          <a:lstStyle/>
          <a:p>
            <a:pPr rtl="1" algn="r" indent="0" marL="0">
              <a:spcAft>
                <a:spcPts val="400"/>
              </a:spcAft>
              <a:buNone/>
            </a:pPr>
            <a:r>
              <a:rPr lang="ar-LB" altLang="en-US" sz="1600" b="1" dirty="0">
                <a:solidFill>
                  <a:srgbClr val="E36414"/>
                </a:solidFill>
              </a:rPr>
              <a:t>فكّر وحدك (دقيقة): </a:t>
            </a:r>
            <a:r>
              <a:rPr lang="ar-LB" altLang="en-US" sz="1600" dirty="0">
                <a:solidFill>
                  <a:srgbClr val="1B262C"/>
                </a:solidFill>
              </a:rPr>
              <a:t>أيّ العرضين تختار؟ ولماذا؟</a:t>
            </a:r>
            <a:endParaRPr lang="ar-LB" sz="1600" dirty="0"/>
          </a:p>
          <a:p>
            <a:pPr rtl="1" algn="r" indent="0" marL="0">
              <a:spcAft>
                <a:spcPts val="400"/>
              </a:spcAft>
              <a:buNone/>
            </a:pPr>
            <a:r>
              <a:rPr lang="ar-LB" altLang="en-US" sz="1600" b="1" dirty="0">
                <a:solidFill>
                  <a:srgbClr val="E36414"/>
                </a:solidFill>
              </a:rPr>
              <a:t>زاوج: </a:t>
            </a:r>
            <a:r>
              <a:rPr lang="ar-LB" altLang="en-US" sz="1600" dirty="0">
                <a:solidFill>
                  <a:srgbClr val="1B262C"/>
                </a:solidFill>
              </a:rPr>
              <a:t>قارن إجابتك بإجابة زميلك.</a:t>
            </a:r>
            <a:endParaRPr lang="ar-LB" sz="1600" dirty="0"/>
          </a:p>
          <a:p>
            <a:pPr rtl="1" algn="r" indent="0" marL="0">
              <a:spcAft>
                <a:spcPts val="400"/>
              </a:spcAft>
              <a:buNone/>
            </a:pPr>
            <a:r>
              <a:rPr lang="ar-LB" altLang="en-US" sz="1600" b="1" dirty="0">
                <a:solidFill>
                  <a:srgbClr val="E36414"/>
                </a:solidFill>
              </a:rPr>
              <a:t>شارك: </a:t>
            </a:r>
            <a:r>
              <a:rPr lang="ar-LB" altLang="en-US" sz="1600" dirty="0">
                <a:solidFill>
                  <a:srgbClr val="1B262C"/>
                </a:solidFill>
              </a:rPr>
              <a:t>هل يوجد اختصار لكتابة العرض (ب) كما اختصرنا الجمع المتكرر بالضرب؟</a:t>
            </a:r>
            <a:endParaRPr lang="ar-LB" sz="16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E36414"/>
          </a:solidFill>
          <a:ln w="12700">
            <a:solidFill>
              <a:srgbClr val="E36414"/>
            </a:solidFill>
            <a:prstDash val="solid"/>
          </a:ln>
        </p:spPr>
      </p:sp>
      <p:pic>
        <p:nvPicPr>
          <p:cNvPr id="3" name="Image 0" descr="preencoded.png">    </p:cNvPr>
          <p:cNvPicPr>
            <a:picLocks noChangeAspect="1"/>
          </p:cNvPicPr>
          <p:nvPr/>
        </p:nvPicPr>
        <p:blipFill>
          <a:blip r:embed="rId1"/>
          <a:stretch>
            <a:fillRect/>
          </a:stretch>
        </p:blipFill>
        <p:spPr>
          <a:xfrm>
            <a:off x="7452360" y="1920240"/>
            <a:ext cx="822960" cy="822960"/>
          </a:xfrm>
          <a:prstGeom prst="rect">
            <a:avLst/>
          </a:prstGeom>
        </p:spPr>
      </p:pic>
      <p:sp>
        <p:nvSpPr>
          <p:cNvPr id="4" name="Text 1"/>
          <p:cNvSpPr txBox="1"/>
          <p:nvPr/>
        </p:nvSpPr>
        <p:spPr>
          <a:xfrm>
            <a:off x="548640" y="1371600"/>
            <a:ext cx="6035040" cy="411480"/>
          </a:xfrm>
          <a:prstGeom prst="rect">
            <a:avLst/>
          </a:prstGeom>
          <a:noFill/>
          <a:ln/>
        </p:spPr>
        <p:txBody>
          <a:bodyPr wrap="square" lIns="0" tIns="0" rIns="0" bIns="0" rtlCol="0" anchor="t"/>
          <a:lstStyle/>
          <a:p>
            <a:pPr rtl="1" algn="r" indent="0" marL="0">
              <a:buNone/>
            </a:pPr>
            <a:r>
              <a:rPr lang="ar-LB" altLang="en-US" sz="1800" b="1" dirty="0">
                <a:solidFill>
                  <a:srgbClr val="E9A23B"/>
                </a:solidFill>
              </a:rPr>
              <a:t>المرحلة 2</a:t>
            </a:r>
            <a:endParaRPr lang="ar-LB" sz="1800" dirty="0"/>
          </a:p>
        </p:txBody>
      </p:sp>
      <p:sp>
        <p:nvSpPr>
          <p:cNvPr id="5" name="Text 0"/>
          <p:cNvSpPr/>
          <p:nvPr>
            <p:ph idx="100" type="title" hasCustomPrompt="1"/>
          </p:nvPr>
        </p:nvSpPr>
        <p:spPr>
          <a:xfrm>
            <a:off x="548640" y="1828800"/>
            <a:ext cx="6035040" cy="822960"/>
          </a:xfrm>
          <a:prstGeom prst="rect">
            <a:avLst/>
          </a:prstGeom>
          <a:noFill/>
          <a:ln/>
        </p:spPr>
        <p:txBody>
          <a:bodyPr wrap="square" rtlCol="0"/>
          <a:lstStyle/>
          <a:p>
            <a:pPr rtl="1" algn="r" indent="0" marL="0">
              <a:buNone/>
            </a:pPr>
            <a:r>
              <a:rPr lang="en-US" sz="4000" b="1" dirty="0">
                <a:solidFill>
                  <a:srgbClr val="FFFFFF"/>
                </a:solidFill>
              </a:rPr>
              <a:t>النشاط الاستكشافي</a:t>
            </a:r>
            <a:endParaRPr lang="en-US" sz="4000" dirty="0"/>
          </a:p>
        </p:txBody>
      </p:sp>
      <p:sp>
        <p:nvSpPr>
          <p:cNvPr id="6" name="Text 0"/>
          <p:cNvSpPr/>
          <p:nvPr>
            <p:ph idx="101" type="body" hasCustomPrompt="1"/>
          </p:nvPr>
        </p:nvSpPr>
        <p:spPr>
          <a:xfrm>
            <a:off x="548640" y="2697480"/>
            <a:ext cx="6035040" cy="822960"/>
          </a:xfrm>
          <a:prstGeom prst="rect">
            <a:avLst/>
          </a:prstGeom>
          <a:noFill/>
          <a:ln/>
        </p:spPr>
        <p:txBody>
          <a:bodyPr wrap="square" rtlCol="0" anchor="t"/>
          <a:lstStyle/>
          <a:p>
            <a:pPr rtl="1" algn="r" indent="0" marL="0">
              <a:buNone/>
            </a:pPr>
            <a:r>
              <a:rPr lang="en-US" sz="1800" dirty="0">
                <a:solidFill>
                  <a:srgbClr val="CFE3E6"/>
                </a:solidFill>
              </a:rPr>
              <a:t>استراتيجية: التعلّم بالاكتشاف في مجموعات رباعية  •  8 دقائق</a:t>
            </a:r>
            <a:endParaRPr lang="en-US" sz="1800" dirty="0"/>
          </a:p>
          <a:p>
            <a:pPr rtl="1" algn="r" indent="0" marL="0">
              <a:buNone/>
            </a:pPr>
            <a:r>
              <a:rPr lang="en-US" sz="1800" dirty="0">
                <a:solidFill>
                  <a:srgbClr val="CFE3E6"/>
                </a:solidFill>
              </a:rPr>
              <a:t>بطاقة رقم 1 لكل مجموعة</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نشاط: طيّ الورقة</a:t>
            </a:r>
            <a:endParaRPr lang="en-US" sz="3000" dirty="0"/>
          </a:p>
        </p:txBody>
      </p:sp>
      <p:sp>
        <p:nvSpPr>
          <p:cNvPr id="3" name="Shape 1"/>
          <p:cNvSpPr/>
          <p:nvPr/>
        </p:nvSpPr>
        <p:spPr>
          <a:xfrm>
            <a:off x="8366760" y="1060704"/>
            <a:ext cx="292608" cy="292608"/>
          </a:xfrm>
          <a:prstGeom prst="ellipse">
            <a:avLst/>
          </a:prstGeom>
          <a:solidFill>
            <a:srgbClr val="E36414"/>
          </a:solidFill>
          <a:ln w="12700">
            <a:solidFill>
              <a:srgbClr val="E36414"/>
            </a:solidFill>
            <a:prstDash val="solid"/>
          </a:ln>
        </p:spPr>
      </p:sp>
      <p:sp>
        <p:nvSpPr>
          <p:cNvPr id="4" name="Text 2"/>
          <p:cNvSpPr txBox="1"/>
          <p:nvPr/>
        </p:nvSpPr>
        <p:spPr>
          <a:xfrm>
            <a:off x="8366760" y="1060704"/>
            <a:ext cx="292608" cy="292608"/>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1</a:t>
            </a:r>
            <a:endParaRPr lang="ar-LB" sz="1300" dirty="0"/>
          </a:p>
        </p:txBody>
      </p:sp>
      <p:sp>
        <p:nvSpPr>
          <p:cNvPr id="5" name="Text 3"/>
          <p:cNvSpPr txBox="1"/>
          <p:nvPr/>
        </p:nvSpPr>
        <p:spPr>
          <a:xfrm>
            <a:off x="4023360" y="1005840"/>
            <a:ext cx="4251960" cy="402336"/>
          </a:xfrm>
          <a:prstGeom prst="rect">
            <a:avLst/>
          </a:prstGeom>
          <a:noFill/>
          <a:ln/>
        </p:spPr>
        <p:txBody>
          <a:bodyPr wrap="square" lIns="0" tIns="0" rIns="0" bIns="0" rtlCol="0" anchor="ctr"/>
          <a:lstStyle/>
          <a:p>
            <a:pPr rtl="1" algn="r" indent="0" marL="0">
              <a:buNone/>
            </a:pPr>
            <a:r>
              <a:rPr lang="ar-LB" altLang="en-US" sz="1400" dirty="0">
                <a:solidFill>
                  <a:srgbClr val="1B262C"/>
                </a:solidFill>
              </a:rPr>
              <a:t>اطوِ الورقة إلى نصفين، ثم افتحها وعُدّ الأجزاء (الطبقات).</a:t>
            </a:r>
            <a:endParaRPr lang="ar-LB" sz="1400" dirty="0"/>
          </a:p>
        </p:txBody>
      </p:sp>
      <p:sp>
        <p:nvSpPr>
          <p:cNvPr id="6" name="Shape 4"/>
          <p:cNvSpPr/>
          <p:nvPr/>
        </p:nvSpPr>
        <p:spPr>
          <a:xfrm>
            <a:off x="8366760" y="1472184"/>
            <a:ext cx="292608" cy="292608"/>
          </a:xfrm>
          <a:prstGeom prst="ellipse">
            <a:avLst/>
          </a:prstGeom>
          <a:solidFill>
            <a:srgbClr val="E36414"/>
          </a:solidFill>
          <a:ln w="12700">
            <a:solidFill>
              <a:srgbClr val="E36414"/>
            </a:solidFill>
            <a:prstDash val="solid"/>
          </a:ln>
        </p:spPr>
      </p:sp>
      <p:sp>
        <p:nvSpPr>
          <p:cNvPr id="7" name="Text 5"/>
          <p:cNvSpPr txBox="1"/>
          <p:nvPr/>
        </p:nvSpPr>
        <p:spPr>
          <a:xfrm>
            <a:off x="8366760" y="1472184"/>
            <a:ext cx="292608" cy="292608"/>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2</a:t>
            </a:r>
            <a:endParaRPr lang="ar-LB" sz="1300" dirty="0"/>
          </a:p>
        </p:txBody>
      </p:sp>
      <p:sp>
        <p:nvSpPr>
          <p:cNvPr id="8" name="Text 6"/>
          <p:cNvSpPr txBox="1"/>
          <p:nvPr/>
        </p:nvSpPr>
        <p:spPr>
          <a:xfrm>
            <a:off x="4023360" y="1417320"/>
            <a:ext cx="4251960" cy="402336"/>
          </a:xfrm>
          <a:prstGeom prst="rect">
            <a:avLst/>
          </a:prstGeom>
          <a:noFill/>
          <a:ln/>
        </p:spPr>
        <p:txBody>
          <a:bodyPr wrap="square" lIns="0" tIns="0" rIns="0" bIns="0" rtlCol="0" anchor="ctr"/>
          <a:lstStyle/>
          <a:p>
            <a:pPr rtl="1" algn="r" indent="0" marL="0">
              <a:buNone/>
            </a:pPr>
            <a:r>
              <a:rPr lang="ar-LB" altLang="en-US" sz="1400" dirty="0">
                <a:solidFill>
                  <a:srgbClr val="1B262C"/>
                </a:solidFill>
              </a:rPr>
              <a:t>أعد طيّها، واطوِها مرة أخرى، ثم عُدّ من جديد.</a:t>
            </a:r>
            <a:endParaRPr lang="ar-LB" sz="1400" dirty="0"/>
          </a:p>
        </p:txBody>
      </p:sp>
      <p:sp>
        <p:nvSpPr>
          <p:cNvPr id="9" name="Shape 7"/>
          <p:cNvSpPr/>
          <p:nvPr/>
        </p:nvSpPr>
        <p:spPr>
          <a:xfrm>
            <a:off x="8366760" y="1883664"/>
            <a:ext cx="292608" cy="292608"/>
          </a:xfrm>
          <a:prstGeom prst="ellipse">
            <a:avLst/>
          </a:prstGeom>
          <a:solidFill>
            <a:srgbClr val="E36414"/>
          </a:solidFill>
          <a:ln w="12700">
            <a:solidFill>
              <a:srgbClr val="E36414"/>
            </a:solidFill>
            <a:prstDash val="solid"/>
          </a:ln>
        </p:spPr>
      </p:sp>
      <p:sp>
        <p:nvSpPr>
          <p:cNvPr id="10" name="Text 8"/>
          <p:cNvSpPr txBox="1"/>
          <p:nvPr/>
        </p:nvSpPr>
        <p:spPr>
          <a:xfrm>
            <a:off x="8366760" y="1883664"/>
            <a:ext cx="292608" cy="292608"/>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3</a:t>
            </a:r>
            <a:endParaRPr lang="ar-LB" sz="1300" dirty="0"/>
          </a:p>
        </p:txBody>
      </p:sp>
      <p:sp>
        <p:nvSpPr>
          <p:cNvPr id="11" name="Text 9"/>
          <p:cNvSpPr txBox="1"/>
          <p:nvPr/>
        </p:nvSpPr>
        <p:spPr>
          <a:xfrm>
            <a:off x="4023360" y="1828800"/>
            <a:ext cx="4251960" cy="402336"/>
          </a:xfrm>
          <a:prstGeom prst="rect">
            <a:avLst/>
          </a:prstGeom>
          <a:noFill/>
          <a:ln/>
        </p:spPr>
        <p:txBody>
          <a:bodyPr wrap="square" lIns="0" tIns="0" rIns="0" bIns="0" rtlCol="0" anchor="ctr"/>
          <a:lstStyle/>
          <a:p>
            <a:pPr rtl="1" algn="r" indent="0" marL="0">
              <a:buNone/>
            </a:pPr>
            <a:r>
              <a:rPr lang="ar-LB" altLang="en-US" sz="1400" dirty="0">
                <a:solidFill>
                  <a:srgbClr val="1B262C"/>
                </a:solidFill>
              </a:rPr>
              <a:t>سجّلوا النتائج في الجدول على البطاقة رقم 1.</a:t>
            </a:r>
            <a:endParaRPr lang="ar-LB" sz="1400" dirty="0"/>
          </a:p>
        </p:txBody>
      </p:sp>
      <p:sp>
        <p:nvSpPr>
          <p:cNvPr id="12" name="Shape 10"/>
          <p:cNvSpPr/>
          <p:nvPr/>
        </p:nvSpPr>
        <p:spPr>
          <a:xfrm>
            <a:off x="2743200" y="1005840"/>
            <a:ext cx="960120" cy="1005840"/>
          </a:xfrm>
          <a:prstGeom prst="rect">
            <a:avLst/>
          </a:prstGeom>
          <a:solidFill>
            <a:srgbClr val="EAF4F4"/>
          </a:solidFill>
          <a:ln w="15875">
            <a:solidFill>
              <a:srgbClr val="0F8B8D"/>
            </a:solidFill>
            <a:prstDash val="solid"/>
          </a:ln>
        </p:spPr>
      </p:sp>
      <p:sp>
        <p:nvSpPr>
          <p:cNvPr id="13" name="Shape 11"/>
          <p:cNvSpPr/>
          <p:nvPr/>
        </p:nvSpPr>
        <p:spPr>
          <a:xfrm>
            <a:off x="3223260" y="1005840"/>
            <a:ext cx="0" cy="1005840"/>
          </a:xfrm>
          <a:prstGeom prst="line">
            <a:avLst/>
          </a:prstGeom>
          <a:noFill/>
          <a:ln w="12700">
            <a:solidFill>
              <a:srgbClr val="0F8B8D"/>
            </a:solidFill>
            <a:prstDash val="dash"/>
          </a:ln>
        </p:spPr>
      </p:sp>
      <p:sp>
        <p:nvSpPr>
          <p:cNvPr id="14" name="Text 12"/>
          <p:cNvSpPr txBox="1"/>
          <p:nvPr/>
        </p:nvSpPr>
        <p:spPr>
          <a:xfrm>
            <a:off x="2606040" y="2057400"/>
            <a:ext cx="1234440" cy="274320"/>
          </a:xfrm>
          <a:prstGeom prst="rect">
            <a:avLst/>
          </a:prstGeom>
          <a:noFill/>
          <a:ln/>
        </p:spPr>
        <p:txBody>
          <a:bodyPr wrap="square" lIns="0" tIns="0" rIns="0" bIns="0" rtlCol="0" anchor="t"/>
          <a:lstStyle/>
          <a:p>
            <a:pPr rtl="1" algn="ctr" indent="0" marL="0">
              <a:buNone/>
            </a:pPr>
            <a:r>
              <a:rPr lang="ar-LB" altLang="en-US" sz="1100" dirty="0">
                <a:solidFill>
                  <a:srgbClr val="5B6770"/>
                </a:solidFill>
              </a:rPr>
              <a:t>طيّة واحدة ← جزءان</a:t>
            </a:r>
            <a:endParaRPr lang="ar-LB" sz="1100" dirty="0"/>
          </a:p>
        </p:txBody>
      </p:sp>
      <p:sp>
        <p:nvSpPr>
          <p:cNvPr id="15" name="Shape 13"/>
          <p:cNvSpPr/>
          <p:nvPr/>
        </p:nvSpPr>
        <p:spPr>
          <a:xfrm>
            <a:off x="1600200" y="1005840"/>
            <a:ext cx="960120" cy="1005840"/>
          </a:xfrm>
          <a:prstGeom prst="rect">
            <a:avLst/>
          </a:prstGeom>
          <a:solidFill>
            <a:srgbClr val="EAF4F4"/>
          </a:solidFill>
          <a:ln w="15875">
            <a:solidFill>
              <a:srgbClr val="0F8B8D"/>
            </a:solidFill>
            <a:prstDash val="solid"/>
          </a:ln>
        </p:spPr>
      </p:sp>
      <p:sp>
        <p:nvSpPr>
          <p:cNvPr id="16" name="Shape 14"/>
          <p:cNvSpPr/>
          <p:nvPr/>
        </p:nvSpPr>
        <p:spPr>
          <a:xfrm>
            <a:off x="2080260" y="1005840"/>
            <a:ext cx="0" cy="1005840"/>
          </a:xfrm>
          <a:prstGeom prst="line">
            <a:avLst/>
          </a:prstGeom>
          <a:noFill/>
          <a:ln w="12700">
            <a:solidFill>
              <a:srgbClr val="0F8B8D"/>
            </a:solidFill>
            <a:prstDash val="dash"/>
          </a:ln>
        </p:spPr>
      </p:sp>
      <p:sp>
        <p:nvSpPr>
          <p:cNvPr id="17" name="Shape 15"/>
          <p:cNvSpPr/>
          <p:nvPr/>
        </p:nvSpPr>
        <p:spPr>
          <a:xfrm>
            <a:off x="1600200" y="1508760"/>
            <a:ext cx="960120" cy="0"/>
          </a:xfrm>
          <a:prstGeom prst="line">
            <a:avLst/>
          </a:prstGeom>
          <a:noFill/>
          <a:ln w="12700">
            <a:solidFill>
              <a:srgbClr val="0F8B8D"/>
            </a:solidFill>
            <a:prstDash val="dash"/>
          </a:ln>
        </p:spPr>
      </p:sp>
      <p:sp>
        <p:nvSpPr>
          <p:cNvPr id="18" name="Text 16"/>
          <p:cNvSpPr txBox="1"/>
          <p:nvPr/>
        </p:nvSpPr>
        <p:spPr>
          <a:xfrm>
            <a:off x="1463040" y="2057400"/>
            <a:ext cx="1234440" cy="274320"/>
          </a:xfrm>
          <a:prstGeom prst="rect">
            <a:avLst/>
          </a:prstGeom>
          <a:noFill/>
          <a:ln/>
        </p:spPr>
        <p:txBody>
          <a:bodyPr wrap="square" lIns="0" tIns="0" rIns="0" bIns="0" rtlCol="0" anchor="t"/>
          <a:lstStyle/>
          <a:p>
            <a:pPr rtl="1" algn="ctr" indent="0" marL="0">
              <a:buNone/>
            </a:pPr>
            <a:r>
              <a:rPr lang="ar-LB" altLang="en-US" sz="1100" dirty="0">
                <a:solidFill>
                  <a:srgbClr val="5B6770"/>
                </a:solidFill>
              </a:rPr>
              <a:t>طيّتان ← 4 أجزاء</a:t>
            </a:r>
            <a:endParaRPr lang="ar-LB" sz="1100" dirty="0"/>
          </a:p>
        </p:txBody>
      </p:sp>
      <p:sp>
        <p:nvSpPr>
          <p:cNvPr id="19" name="Shape 17"/>
          <p:cNvSpPr/>
          <p:nvPr/>
        </p:nvSpPr>
        <p:spPr>
          <a:xfrm>
            <a:off x="457200" y="1005840"/>
            <a:ext cx="960120" cy="1005840"/>
          </a:xfrm>
          <a:prstGeom prst="rect">
            <a:avLst/>
          </a:prstGeom>
          <a:solidFill>
            <a:srgbClr val="EAF4F4"/>
          </a:solidFill>
          <a:ln w="15875">
            <a:solidFill>
              <a:srgbClr val="0F8B8D"/>
            </a:solidFill>
            <a:prstDash val="solid"/>
          </a:ln>
        </p:spPr>
      </p:sp>
      <p:sp>
        <p:nvSpPr>
          <p:cNvPr id="20" name="Shape 18"/>
          <p:cNvSpPr/>
          <p:nvPr/>
        </p:nvSpPr>
        <p:spPr>
          <a:xfrm>
            <a:off x="697230" y="1005840"/>
            <a:ext cx="0" cy="1005840"/>
          </a:xfrm>
          <a:prstGeom prst="line">
            <a:avLst/>
          </a:prstGeom>
          <a:noFill/>
          <a:ln w="12700">
            <a:solidFill>
              <a:srgbClr val="0F8B8D"/>
            </a:solidFill>
            <a:prstDash val="dash"/>
          </a:ln>
        </p:spPr>
      </p:sp>
      <p:sp>
        <p:nvSpPr>
          <p:cNvPr id="21" name="Shape 19"/>
          <p:cNvSpPr/>
          <p:nvPr/>
        </p:nvSpPr>
        <p:spPr>
          <a:xfrm>
            <a:off x="937260" y="1005840"/>
            <a:ext cx="0" cy="1005840"/>
          </a:xfrm>
          <a:prstGeom prst="line">
            <a:avLst/>
          </a:prstGeom>
          <a:noFill/>
          <a:ln w="12700">
            <a:solidFill>
              <a:srgbClr val="0F8B8D"/>
            </a:solidFill>
            <a:prstDash val="dash"/>
          </a:ln>
        </p:spPr>
      </p:sp>
      <p:sp>
        <p:nvSpPr>
          <p:cNvPr id="22" name="Shape 20"/>
          <p:cNvSpPr/>
          <p:nvPr/>
        </p:nvSpPr>
        <p:spPr>
          <a:xfrm>
            <a:off x="1177290" y="1005840"/>
            <a:ext cx="0" cy="1005840"/>
          </a:xfrm>
          <a:prstGeom prst="line">
            <a:avLst/>
          </a:prstGeom>
          <a:noFill/>
          <a:ln w="12700">
            <a:solidFill>
              <a:srgbClr val="0F8B8D"/>
            </a:solidFill>
            <a:prstDash val="dash"/>
          </a:ln>
        </p:spPr>
      </p:sp>
      <p:sp>
        <p:nvSpPr>
          <p:cNvPr id="23" name="Shape 21"/>
          <p:cNvSpPr/>
          <p:nvPr/>
        </p:nvSpPr>
        <p:spPr>
          <a:xfrm>
            <a:off x="457200" y="1508760"/>
            <a:ext cx="960120" cy="0"/>
          </a:xfrm>
          <a:prstGeom prst="line">
            <a:avLst/>
          </a:prstGeom>
          <a:noFill/>
          <a:ln w="12700">
            <a:solidFill>
              <a:srgbClr val="0F8B8D"/>
            </a:solidFill>
            <a:prstDash val="dash"/>
          </a:ln>
        </p:spPr>
      </p:sp>
      <p:sp>
        <p:nvSpPr>
          <p:cNvPr id="24" name="Text 22"/>
          <p:cNvSpPr txBox="1"/>
          <p:nvPr/>
        </p:nvSpPr>
        <p:spPr>
          <a:xfrm>
            <a:off x="320040" y="2057400"/>
            <a:ext cx="1234440" cy="274320"/>
          </a:xfrm>
          <a:prstGeom prst="rect">
            <a:avLst/>
          </a:prstGeom>
          <a:noFill/>
          <a:ln/>
        </p:spPr>
        <p:txBody>
          <a:bodyPr wrap="square" lIns="0" tIns="0" rIns="0" bIns="0" rtlCol="0" anchor="t"/>
          <a:lstStyle/>
          <a:p>
            <a:pPr rtl="1" algn="ctr" indent="0" marL="0">
              <a:buNone/>
            </a:pPr>
            <a:r>
              <a:rPr lang="ar-LB" altLang="en-US" sz="1100" dirty="0">
                <a:solidFill>
                  <a:srgbClr val="5B6770"/>
                </a:solidFill>
              </a:rPr>
              <a:t>3 طيّات ← 8 أجزاء</a:t>
            </a:r>
            <a:endParaRPr lang="ar-LB" sz="1100" dirty="0"/>
          </a:p>
        </p:txBody>
      </p:sp>
      <p:sp>
        <p:nvSpPr>
          <p:cNvPr id="25" name="Shape 23"/>
          <p:cNvSpPr/>
          <p:nvPr/>
        </p:nvSpPr>
        <p:spPr>
          <a:xfrm>
            <a:off x="7223760" y="2423160"/>
            <a:ext cx="1463040" cy="329184"/>
          </a:xfrm>
          <a:prstGeom prst="rect">
            <a:avLst/>
          </a:prstGeom>
          <a:solidFill>
            <a:srgbClr val="0F4C5C"/>
          </a:solidFill>
          <a:ln w="12700">
            <a:solidFill>
              <a:srgbClr val="FFFFFF"/>
            </a:solidFill>
            <a:prstDash val="solid"/>
          </a:ln>
        </p:spPr>
      </p:sp>
      <p:sp>
        <p:nvSpPr>
          <p:cNvPr id="26" name="Text 24"/>
          <p:cNvSpPr txBox="1"/>
          <p:nvPr/>
        </p:nvSpPr>
        <p:spPr>
          <a:xfrm>
            <a:off x="7223760" y="2423160"/>
            <a:ext cx="1463040" cy="329184"/>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عدد الطيّات</a:t>
            </a:r>
            <a:endParaRPr lang="ar-LB" sz="1300" dirty="0"/>
          </a:p>
        </p:txBody>
      </p:sp>
      <p:sp>
        <p:nvSpPr>
          <p:cNvPr id="27" name="Shape 25"/>
          <p:cNvSpPr/>
          <p:nvPr/>
        </p:nvSpPr>
        <p:spPr>
          <a:xfrm>
            <a:off x="5760720" y="2423160"/>
            <a:ext cx="1463040" cy="329184"/>
          </a:xfrm>
          <a:prstGeom prst="rect">
            <a:avLst/>
          </a:prstGeom>
          <a:solidFill>
            <a:srgbClr val="0F4C5C"/>
          </a:solidFill>
          <a:ln w="12700">
            <a:solidFill>
              <a:srgbClr val="FFFFFF"/>
            </a:solidFill>
            <a:prstDash val="solid"/>
          </a:ln>
        </p:spPr>
      </p:sp>
      <p:sp>
        <p:nvSpPr>
          <p:cNvPr id="28" name="Text 26"/>
          <p:cNvSpPr txBox="1"/>
          <p:nvPr/>
        </p:nvSpPr>
        <p:spPr>
          <a:xfrm>
            <a:off x="5760720" y="2423160"/>
            <a:ext cx="1463040" cy="329184"/>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عدد الطبقات</a:t>
            </a:r>
            <a:endParaRPr lang="ar-LB" sz="1300" dirty="0"/>
          </a:p>
        </p:txBody>
      </p:sp>
      <p:sp>
        <p:nvSpPr>
          <p:cNvPr id="29" name="Shape 27"/>
          <p:cNvSpPr/>
          <p:nvPr/>
        </p:nvSpPr>
        <p:spPr>
          <a:xfrm>
            <a:off x="2743200" y="2423160"/>
            <a:ext cx="3017520" cy="329184"/>
          </a:xfrm>
          <a:prstGeom prst="rect">
            <a:avLst/>
          </a:prstGeom>
          <a:solidFill>
            <a:srgbClr val="0F4C5C"/>
          </a:solidFill>
          <a:ln w="12700">
            <a:solidFill>
              <a:srgbClr val="FFFFFF"/>
            </a:solidFill>
            <a:prstDash val="solid"/>
          </a:ln>
        </p:spPr>
      </p:sp>
      <p:sp>
        <p:nvSpPr>
          <p:cNvPr id="30" name="Text 28"/>
          <p:cNvSpPr txBox="1"/>
          <p:nvPr/>
        </p:nvSpPr>
        <p:spPr>
          <a:xfrm>
            <a:off x="2743200" y="2423160"/>
            <a:ext cx="3017520" cy="329184"/>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ضرب متكرر</a:t>
            </a:r>
            <a:endParaRPr lang="ar-LB" sz="1300" dirty="0"/>
          </a:p>
        </p:txBody>
      </p:sp>
      <p:sp>
        <p:nvSpPr>
          <p:cNvPr id="31" name="Shape 29"/>
          <p:cNvSpPr/>
          <p:nvPr/>
        </p:nvSpPr>
        <p:spPr>
          <a:xfrm>
            <a:off x="457200" y="2423160"/>
            <a:ext cx="2286000" cy="329184"/>
          </a:xfrm>
          <a:prstGeom prst="rect">
            <a:avLst/>
          </a:prstGeom>
          <a:solidFill>
            <a:srgbClr val="0F4C5C"/>
          </a:solidFill>
          <a:ln w="12700">
            <a:solidFill>
              <a:srgbClr val="FFFFFF"/>
            </a:solidFill>
            <a:prstDash val="solid"/>
          </a:ln>
        </p:spPr>
      </p:sp>
      <p:sp>
        <p:nvSpPr>
          <p:cNvPr id="32" name="Text 30"/>
          <p:cNvSpPr txBox="1"/>
          <p:nvPr/>
        </p:nvSpPr>
        <p:spPr>
          <a:xfrm>
            <a:off x="457200" y="2423160"/>
            <a:ext cx="2286000" cy="329184"/>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بالترميز</a:t>
            </a:r>
            <a:endParaRPr lang="ar-LB" sz="1300" dirty="0"/>
          </a:p>
        </p:txBody>
      </p:sp>
      <p:sp>
        <p:nvSpPr>
          <p:cNvPr id="33" name="Shape 31"/>
          <p:cNvSpPr/>
          <p:nvPr/>
        </p:nvSpPr>
        <p:spPr>
          <a:xfrm>
            <a:off x="7223760" y="2752344"/>
            <a:ext cx="1463040" cy="329184"/>
          </a:xfrm>
          <a:prstGeom prst="rect">
            <a:avLst/>
          </a:prstGeom>
          <a:solidFill>
            <a:srgbClr val="FFFFFF"/>
          </a:solidFill>
          <a:ln w="12700">
            <a:solidFill>
              <a:srgbClr val="B9CDD0"/>
            </a:solidFill>
            <a:prstDash val="solid"/>
          </a:ln>
        </p:spPr>
      </p:sp>
      <p:sp>
        <p:nvSpPr>
          <p:cNvPr id="34" name="Text 32"/>
          <p:cNvSpPr txBox="1"/>
          <p:nvPr/>
        </p:nvSpPr>
        <p:spPr>
          <a:xfrm>
            <a:off x="7223760" y="2752344"/>
            <a:ext cx="146304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1</a:t>
            </a:r>
            <a:endParaRPr lang="en-US" sz="1500" dirty="0"/>
          </a:p>
        </p:txBody>
      </p:sp>
      <p:sp>
        <p:nvSpPr>
          <p:cNvPr id="35" name="Shape 33"/>
          <p:cNvSpPr/>
          <p:nvPr/>
        </p:nvSpPr>
        <p:spPr>
          <a:xfrm>
            <a:off x="5760720" y="2752344"/>
            <a:ext cx="1463040" cy="329184"/>
          </a:xfrm>
          <a:prstGeom prst="rect">
            <a:avLst/>
          </a:prstGeom>
          <a:solidFill>
            <a:srgbClr val="FFFFFF"/>
          </a:solidFill>
          <a:ln w="12700">
            <a:solidFill>
              <a:srgbClr val="B9CDD0"/>
            </a:solidFill>
            <a:prstDash val="solid"/>
          </a:ln>
        </p:spPr>
      </p:sp>
      <p:sp>
        <p:nvSpPr>
          <p:cNvPr id="36" name="Text 34"/>
          <p:cNvSpPr txBox="1"/>
          <p:nvPr/>
        </p:nvSpPr>
        <p:spPr>
          <a:xfrm>
            <a:off x="5760720" y="2752344"/>
            <a:ext cx="146304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endParaRPr lang="en-US" sz="1500" dirty="0"/>
          </a:p>
        </p:txBody>
      </p:sp>
      <p:sp>
        <p:nvSpPr>
          <p:cNvPr id="37" name="Shape 35"/>
          <p:cNvSpPr/>
          <p:nvPr/>
        </p:nvSpPr>
        <p:spPr>
          <a:xfrm>
            <a:off x="2743200" y="2752344"/>
            <a:ext cx="3017520" cy="329184"/>
          </a:xfrm>
          <a:prstGeom prst="rect">
            <a:avLst/>
          </a:prstGeom>
          <a:solidFill>
            <a:srgbClr val="FFFFFF"/>
          </a:solidFill>
          <a:ln w="12700">
            <a:solidFill>
              <a:srgbClr val="B9CDD0"/>
            </a:solidFill>
            <a:prstDash val="solid"/>
          </a:ln>
        </p:spPr>
      </p:sp>
      <p:sp>
        <p:nvSpPr>
          <p:cNvPr id="38" name="Text 36"/>
          <p:cNvSpPr txBox="1"/>
          <p:nvPr/>
        </p:nvSpPr>
        <p:spPr>
          <a:xfrm>
            <a:off x="2743200" y="2752344"/>
            <a:ext cx="301752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endParaRPr lang="en-US" sz="1500" dirty="0"/>
          </a:p>
        </p:txBody>
      </p:sp>
      <p:sp>
        <p:nvSpPr>
          <p:cNvPr id="39" name="Shape 37"/>
          <p:cNvSpPr/>
          <p:nvPr/>
        </p:nvSpPr>
        <p:spPr>
          <a:xfrm>
            <a:off x="457200" y="2752344"/>
            <a:ext cx="2286000" cy="329184"/>
          </a:xfrm>
          <a:prstGeom prst="rect">
            <a:avLst/>
          </a:prstGeom>
          <a:solidFill>
            <a:srgbClr val="FFFFFF"/>
          </a:solidFill>
          <a:ln w="12700">
            <a:solidFill>
              <a:srgbClr val="B9CDD0"/>
            </a:solidFill>
            <a:prstDash val="solid"/>
          </a:ln>
        </p:spPr>
      </p:sp>
      <p:sp>
        <p:nvSpPr>
          <p:cNvPr id="40" name="Text 38"/>
          <p:cNvSpPr txBox="1"/>
          <p:nvPr/>
        </p:nvSpPr>
        <p:spPr>
          <a:xfrm>
            <a:off x="457200" y="2752344"/>
            <a:ext cx="228600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r>
              <a:rPr lang="en-US" sz="1500" baseline="30000" dirty="0">
                <a:solidFill>
                  <a:srgbClr val="1B262C"/>
                </a:solidFill>
                <a:latin typeface="Arial" pitchFamily="34" charset="0"/>
                <a:ea typeface="Arial" pitchFamily="34" charset="-122"/>
                <a:cs typeface="Arial" pitchFamily="34" charset="-120"/>
              </a:rPr>
              <a:t>1</a:t>
            </a:r>
            <a:endParaRPr lang="en-US" sz="1500" dirty="0"/>
          </a:p>
        </p:txBody>
      </p:sp>
      <p:sp>
        <p:nvSpPr>
          <p:cNvPr id="41" name="Shape 39"/>
          <p:cNvSpPr/>
          <p:nvPr/>
        </p:nvSpPr>
        <p:spPr>
          <a:xfrm>
            <a:off x="7223760" y="3081528"/>
            <a:ext cx="1463040" cy="329184"/>
          </a:xfrm>
          <a:prstGeom prst="rect">
            <a:avLst/>
          </a:prstGeom>
          <a:solidFill>
            <a:srgbClr val="FFFFFF"/>
          </a:solidFill>
          <a:ln w="12700">
            <a:solidFill>
              <a:srgbClr val="B9CDD0"/>
            </a:solidFill>
            <a:prstDash val="solid"/>
          </a:ln>
        </p:spPr>
      </p:sp>
      <p:sp>
        <p:nvSpPr>
          <p:cNvPr id="42" name="Text 40"/>
          <p:cNvSpPr txBox="1"/>
          <p:nvPr/>
        </p:nvSpPr>
        <p:spPr>
          <a:xfrm>
            <a:off x="7223760" y="3081528"/>
            <a:ext cx="146304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endParaRPr lang="en-US" sz="1500" dirty="0"/>
          </a:p>
        </p:txBody>
      </p:sp>
      <p:sp>
        <p:nvSpPr>
          <p:cNvPr id="43" name="Shape 41"/>
          <p:cNvSpPr/>
          <p:nvPr/>
        </p:nvSpPr>
        <p:spPr>
          <a:xfrm>
            <a:off x="5760720" y="3081528"/>
            <a:ext cx="1463040" cy="329184"/>
          </a:xfrm>
          <a:prstGeom prst="rect">
            <a:avLst/>
          </a:prstGeom>
          <a:solidFill>
            <a:srgbClr val="FFFFFF"/>
          </a:solidFill>
          <a:ln w="12700">
            <a:solidFill>
              <a:srgbClr val="B9CDD0"/>
            </a:solidFill>
            <a:prstDash val="solid"/>
          </a:ln>
        </p:spPr>
      </p:sp>
      <p:sp>
        <p:nvSpPr>
          <p:cNvPr id="44" name="Text 42"/>
          <p:cNvSpPr txBox="1"/>
          <p:nvPr/>
        </p:nvSpPr>
        <p:spPr>
          <a:xfrm>
            <a:off x="5760720" y="3081528"/>
            <a:ext cx="146304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4</a:t>
            </a:r>
            <a:endParaRPr lang="en-US" sz="1500" dirty="0"/>
          </a:p>
        </p:txBody>
      </p:sp>
      <p:sp>
        <p:nvSpPr>
          <p:cNvPr id="45" name="Shape 43"/>
          <p:cNvSpPr/>
          <p:nvPr/>
        </p:nvSpPr>
        <p:spPr>
          <a:xfrm>
            <a:off x="2743200" y="3081528"/>
            <a:ext cx="3017520" cy="329184"/>
          </a:xfrm>
          <a:prstGeom prst="rect">
            <a:avLst/>
          </a:prstGeom>
          <a:solidFill>
            <a:srgbClr val="FFFFFF"/>
          </a:solidFill>
          <a:ln w="12700">
            <a:solidFill>
              <a:srgbClr val="B9CDD0"/>
            </a:solidFill>
            <a:prstDash val="solid"/>
          </a:ln>
        </p:spPr>
      </p:sp>
      <p:sp>
        <p:nvSpPr>
          <p:cNvPr id="46" name="Text 44"/>
          <p:cNvSpPr txBox="1"/>
          <p:nvPr/>
        </p:nvSpPr>
        <p:spPr>
          <a:xfrm>
            <a:off x="2743200" y="3081528"/>
            <a:ext cx="301752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 × 2</a:t>
            </a:r>
            <a:endParaRPr lang="en-US" sz="1500" dirty="0"/>
          </a:p>
        </p:txBody>
      </p:sp>
      <p:sp>
        <p:nvSpPr>
          <p:cNvPr id="47" name="Shape 45"/>
          <p:cNvSpPr/>
          <p:nvPr/>
        </p:nvSpPr>
        <p:spPr>
          <a:xfrm>
            <a:off x="457200" y="3081528"/>
            <a:ext cx="2286000" cy="329184"/>
          </a:xfrm>
          <a:prstGeom prst="rect">
            <a:avLst/>
          </a:prstGeom>
          <a:solidFill>
            <a:srgbClr val="FFFFFF"/>
          </a:solidFill>
          <a:ln w="12700">
            <a:solidFill>
              <a:srgbClr val="B9CDD0"/>
            </a:solidFill>
            <a:prstDash val="solid"/>
          </a:ln>
        </p:spPr>
      </p:sp>
      <p:sp>
        <p:nvSpPr>
          <p:cNvPr id="48" name="Text 46"/>
          <p:cNvSpPr txBox="1"/>
          <p:nvPr/>
        </p:nvSpPr>
        <p:spPr>
          <a:xfrm>
            <a:off x="457200" y="3081528"/>
            <a:ext cx="228600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2</a:t>
            </a:r>
            <a:r>
              <a:rPr lang="en-US" sz="1500" baseline="30000" dirty="0">
                <a:solidFill>
                  <a:srgbClr val="1B262C"/>
                </a:solidFill>
                <a:latin typeface="Arial" pitchFamily="34" charset="0"/>
                <a:ea typeface="Arial" pitchFamily="34" charset="-122"/>
                <a:cs typeface="Arial" pitchFamily="34" charset="-120"/>
              </a:rPr>
              <a:t>2</a:t>
            </a:r>
            <a:endParaRPr lang="en-US" sz="1500" dirty="0"/>
          </a:p>
        </p:txBody>
      </p:sp>
      <p:sp>
        <p:nvSpPr>
          <p:cNvPr id="49" name="Shape 47"/>
          <p:cNvSpPr/>
          <p:nvPr/>
        </p:nvSpPr>
        <p:spPr>
          <a:xfrm>
            <a:off x="7223760" y="3410712"/>
            <a:ext cx="1463040" cy="329184"/>
          </a:xfrm>
          <a:prstGeom prst="rect">
            <a:avLst/>
          </a:prstGeom>
          <a:solidFill>
            <a:srgbClr val="EAF4F4"/>
          </a:solidFill>
          <a:ln w="12700">
            <a:solidFill>
              <a:srgbClr val="B9CDD0"/>
            </a:solidFill>
            <a:prstDash val="solid"/>
          </a:ln>
        </p:spPr>
      </p:sp>
      <p:sp>
        <p:nvSpPr>
          <p:cNvPr id="50" name="Text 48"/>
          <p:cNvSpPr txBox="1"/>
          <p:nvPr/>
        </p:nvSpPr>
        <p:spPr>
          <a:xfrm>
            <a:off x="7223760" y="3410712"/>
            <a:ext cx="146304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3</a:t>
            </a:r>
            <a:endParaRPr lang="en-US" sz="1500" dirty="0"/>
          </a:p>
        </p:txBody>
      </p:sp>
      <p:sp>
        <p:nvSpPr>
          <p:cNvPr id="51" name="Shape 49"/>
          <p:cNvSpPr/>
          <p:nvPr/>
        </p:nvSpPr>
        <p:spPr>
          <a:xfrm>
            <a:off x="5760720" y="3410712"/>
            <a:ext cx="1463040" cy="329184"/>
          </a:xfrm>
          <a:prstGeom prst="rect">
            <a:avLst/>
          </a:prstGeom>
          <a:solidFill>
            <a:srgbClr val="EAF4F4"/>
          </a:solidFill>
          <a:ln w="12700">
            <a:solidFill>
              <a:srgbClr val="B9CDD0"/>
            </a:solidFill>
            <a:prstDash val="solid"/>
          </a:ln>
        </p:spPr>
      </p:sp>
      <p:sp>
        <p:nvSpPr>
          <p:cNvPr id="52" name="Text 50"/>
          <p:cNvSpPr txBox="1"/>
          <p:nvPr/>
        </p:nvSpPr>
        <p:spPr>
          <a:xfrm>
            <a:off x="5760720" y="3410712"/>
            <a:ext cx="146304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53" name="Shape 51"/>
          <p:cNvSpPr/>
          <p:nvPr/>
        </p:nvSpPr>
        <p:spPr>
          <a:xfrm>
            <a:off x="2743200" y="3410712"/>
            <a:ext cx="3017520" cy="329184"/>
          </a:xfrm>
          <a:prstGeom prst="rect">
            <a:avLst/>
          </a:prstGeom>
          <a:solidFill>
            <a:srgbClr val="EAF4F4"/>
          </a:solidFill>
          <a:ln w="12700">
            <a:solidFill>
              <a:srgbClr val="B9CDD0"/>
            </a:solidFill>
            <a:prstDash val="solid"/>
          </a:ln>
        </p:spPr>
      </p:sp>
      <p:sp>
        <p:nvSpPr>
          <p:cNvPr id="54" name="Text 52"/>
          <p:cNvSpPr txBox="1"/>
          <p:nvPr/>
        </p:nvSpPr>
        <p:spPr>
          <a:xfrm>
            <a:off x="2743200" y="3410712"/>
            <a:ext cx="301752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55" name="Shape 53"/>
          <p:cNvSpPr/>
          <p:nvPr/>
        </p:nvSpPr>
        <p:spPr>
          <a:xfrm>
            <a:off x="457200" y="3410712"/>
            <a:ext cx="2286000" cy="329184"/>
          </a:xfrm>
          <a:prstGeom prst="rect">
            <a:avLst/>
          </a:prstGeom>
          <a:solidFill>
            <a:srgbClr val="EAF4F4"/>
          </a:solidFill>
          <a:ln w="12700">
            <a:solidFill>
              <a:srgbClr val="B9CDD0"/>
            </a:solidFill>
            <a:prstDash val="solid"/>
          </a:ln>
        </p:spPr>
      </p:sp>
      <p:sp>
        <p:nvSpPr>
          <p:cNvPr id="56" name="Text 54"/>
          <p:cNvSpPr txBox="1"/>
          <p:nvPr/>
        </p:nvSpPr>
        <p:spPr>
          <a:xfrm>
            <a:off x="457200" y="3410712"/>
            <a:ext cx="228600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57" name="Shape 55"/>
          <p:cNvSpPr/>
          <p:nvPr/>
        </p:nvSpPr>
        <p:spPr>
          <a:xfrm>
            <a:off x="7223760" y="3739896"/>
            <a:ext cx="1463040" cy="329184"/>
          </a:xfrm>
          <a:prstGeom prst="rect">
            <a:avLst/>
          </a:prstGeom>
          <a:solidFill>
            <a:srgbClr val="EAF4F4"/>
          </a:solidFill>
          <a:ln w="12700">
            <a:solidFill>
              <a:srgbClr val="B9CDD0"/>
            </a:solidFill>
            <a:prstDash val="solid"/>
          </a:ln>
        </p:spPr>
      </p:sp>
      <p:sp>
        <p:nvSpPr>
          <p:cNvPr id="58" name="Text 56"/>
          <p:cNvSpPr txBox="1"/>
          <p:nvPr/>
        </p:nvSpPr>
        <p:spPr>
          <a:xfrm>
            <a:off x="7223760" y="3739896"/>
            <a:ext cx="146304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4</a:t>
            </a:r>
            <a:endParaRPr lang="en-US" sz="1500" dirty="0"/>
          </a:p>
        </p:txBody>
      </p:sp>
      <p:sp>
        <p:nvSpPr>
          <p:cNvPr id="59" name="Shape 57"/>
          <p:cNvSpPr/>
          <p:nvPr/>
        </p:nvSpPr>
        <p:spPr>
          <a:xfrm>
            <a:off x="5760720" y="3739896"/>
            <a:ext cx="1463040" cy="329184"/>
          </a:xfrm>
          <a:prstGeom prst="rect">
            <a:avLst/>
          </a:prstGeom>
          <a:solidFill>
            <a:srgbClr val="EAF4F4"/>
          </a:solidFill>
          <a:ln w="12700">
            <a:solidFill>
              <a:srgbClr val="B9CDD0"/>
            </a:solidFill>
            <a:prstDash val="solid"/>
          </a:ln>
        </p:spPr>
      </p:sp>
      <p:sp>
        <p:nvSpPr>
          <p:cNvPr id="60" name="Text 58"/>
          <p:cNvSpPr txBox="1"/>
          <p:nvPr/>
        </p:nvSpPr>
        <p:spPr>
          <a:xfrm>
            <a:off x="5760720" y="3739896"/>
            <a:ext cx="146304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61" name="Shape 59"/>
          <p:cNvSpPr/>
          <p:nvPr/>
        </p:nvSpPr>
        <p:spPr>
          <a:xfrm>
            <a:off x="2743200" y="3739896"/>
            <a:ext cx="3017520" cy="329184"/>
          </a:xfrm>
          <a:prstGeom prst="rect">
            <a:avLst/>
          </a:prstGeom>
          <a:solidFill>
            <a:srgbClr val="EAF4F4"/>
          </a:solidFill>
          <a:ln w="12700">
            <a:solidFill>
              <a:srgbClr val="B9CDD0"/>
            </a:solidFill>
            <a:prstDash val="solid"/>
          </a:ln>
        </p:spPr>
      </p:sp>
      <p:sp>
        <p:nvSpPr>
          <p:cNvPr id="62" name="Text 60"/>
          <p:cNvSpPr txBox="1"/>
          <p:nvPr/>
        </p:nvSpPr>
        <p:spPr>
          <a:xfrm>
            <a:off x="2743200" y="3739896"/>
            <a:ext cx="301752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63" name="Shape 61"/>
          <p:cNvSpPr/>
          <p:nvPr/>
        </p:nvSpPr>
        <p:spPr>
          <a:xfrm>
            <a:off x="457200" y="3739896"/>
            <a:ext cx="2286000" cy="329184"/>
          </a:xfrm>
          <a:prstGeom prst="rect">
            <a:avLst/>
          </a:prstGeom>
          <a:solidFill>
            <a:srgbClr val="EAF4F4"/>
          </a:solidFill>
          <a:ln w="12700">
            <a:solidFill>
              <a:srgbClr val="B9CDD0"/>
            </a:solidFill>
            <a:prstDash val="solid"/>
          </a:ln>
        </p:spPr>
      </p:sp>
      <p:sp>
        <p:nvSpPr>
          <p:cNvPr id="64" name="Text 62"/>
          <p:cNvSpPr txBox="1"/>
          <p:nvPr/>
        </p:nvSpPr>
        <p:spPr>
          <a:xfrm>
            <a:off x="457200" y="3739896"/>
            <a:ext cx="228600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65" name="Shape 63"/>
          <p:cNvSpPr/>
          <p:nvPr/>
        </p:nvSpPr>
        <p:spPr>
          <a:xfrm>
            <a:off x="7223760" y="4069080"/>
            <a:ext cx="1463040" cy="329184"/>
          </a:xfrm>
          <a:prstGeom prst="rect">
            <a:avLst/>
          </a:prstGeom>
          <a:solidFill>
            <a:srgbClr val="EAF4F4"/>
          </a:solidFill>
          <a:ln w="12700">
            <a:solidFill>
              <a:srgbClr val="B9CDD0"/>
            </a:solidFill>
            <a:prstDash val="solid"/>
          </a:ln>
        </p:spPr>
      </p:sp>
      <p:sp>
        <p:nvSpPr>
          <p:cNvPr id="66" name="Text 64"/>
          <p:cNvSpPr txBox="1"/>
          <p:nvPr/>
        </p:nvSpPr>
        <p:spPr>
          <a:xfrm>
            <a:off x="7223760" y="4069080"/>
            <a:ext cx="1463040" cy="329184"/>
          </a:xfrm>
          <a:prstGeom prst="rect">
            <a:avLst/>
          </a:prstGeom>
          <a:noFill/>
          <a:ln/>
        </p:spPr>
        <p:txBody>
          <a:bodyPr wrap="square" lIns="0" tIns="0" rIns="0" bIns="0" rtlCol="0" anchor="ctr"/>
          <a:lstStyle/>
          <a:p>
            <a:pPr rtl="0" algn="ctr" indent="0" marL="0">
              <a:buNone/>
            </a:pPr>
            <a:r>
              <a:rPr lang="en-US" sz="1500" dirty="0">
                <a:solidFill>
                  <a:srgbClr val="1B262C"/>
                </a:solidFill>
                <a:latin typeface="Arial" pitchFamily="34" charset="0"/>
                <a:ea typeface="Arial" pitchFamily="34" charset="-122"/>
                <a:cs typeface="Arial" pitchFamily="34" charset="-120"/>
              </a:rPr>
              <a:t>5</a:t>
            </a:r>
            <a:endParaRPr lang="en-US" sz="1500" dirty="0"/>
          </a:p>
        </p:txBody>
      </p:sp>
      <p:sp>
        <p:nvSpPr>
          <p:cNvPr id="67" name="Shape 65"/>
          <p:cNvSpPr/>
          <p:nvPr/>
        </p:nvSpPr>
        <p:spPr>
          <a:xfrm>
            <a:off x="5760720" y="4069080"/>
            <a:ext cx="1463040" cy="329184"/>
          </a:xfrm>
          <a:prstGeom prst="rect">
            <a:avLst/>
          </a:prstGeom>
          <a:solidFill>
            <a:srgbClr val="EAF4F4"/>
          </a:solidFill>
          <a:ln w="12700">
            <a:solidFill>
              <a:srgbClr val="B9CDD0"/>
            </a:solidFill>
            <a:prstDash val="solid"/>
          </a:ln>
        </p:spPr>
      </p:sp>
      <p:sp>
        <p:nvSpPr>
          <p:cNvPr id="68" name="Text 66"/>
          <p:cNvSpPr txBox="1"/>
          <p:nvPr/>
        </p:nvSpPr>
        <p:spPr>
          <a:xfrm>
            <a:off x="5760720" y="4069080"/>
            <a:ext cx="146304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69" name="Shape 67"/>
          <p:cNvSpPr/>
          <p:nvPr/>
        </p:nvSpPr>
        <p:spPr>
          <a:xfrm>
            <a:off x="2743200" y="4069080"/>
            <a:ext cx="3017520" cy="329184"/>
          </a:xfrm>
          <a:prstGeom prst="rect">
            <a:avLst/>
          </a:prstGeom>
          <a:solidFill>
            <a:srgbClr val="EAF4F4"/>
          </a:solidFill>
          <a:ln w="12700">
            <a:solidFill>
              <a:srgbClr val="B9CDD0"/>
            </a:solidFill>
            <a:prstDash val="solid"/>
          </a:ln>
        </p:spPr>
      </p:sp>
      <p:sp>
        <p:nvSpPr>
          <p:cNvPr id="70" name="Text 68"/>
          <p:cNvSpPr txBox="1"/>
          <p:nvPr/>
        </p:nvSpPr>
        <p:spPr>
          <a:xfrm>
            <a:off x="2743200" y="4069080"/>
            <a:ext cx="301752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71" name="Shape 69"/>
          <p:cNvSpPr/>
          <p:nvPr/>
        </p:nvSpPr>
        <p:spPr>
          <a:xfrm>
            <a:off x="457200" y="4069080"/>
            <a:ext cx="2286000" cy="329184"/>
          </a:xfrm>
          <a:prstGeom prst="rect">
            <a:avLst/>
          </a:prstGeom>
          <a:solidFill>
            <a:srgbClr val="EAF4F4"/>
          </a:solidFill>
          <a:ln w="12700">
            <a:solidFill>
              <a:srgbClr val="B9CDD0"/>
            </a:solidFill>
            <a:prstDash val="solid"/>
          </a:ln>
        </p:spPr>
      </p:sp>
      <p:sp>
        <p:nvSpPr>
          <p:cNvPr id="72" name="Text 70"/>
          <p:cNvSpPr txBox="1"/>
          <p:nvPr/>
        </p:nvSpPr>
        <p:spPr>
          <a:xfrm>
            <a:off x="457200" y="4069080"/>
            <a:ext cx="2286000" cy="329184"/>
          </a:xfrm>
          <a:prstGeom prst="rect">
            <a:avLst/>
          </a:prstGeom>
          <a:noFill/>
          <a:ln/>
        </p:spPr>
        <p:txBody>
          <a:bodyPr wrap="square" lIns="0" tIns="0" rIns="0" bIns="0" rtlCol="0" anchor="ctr"/>
          <a:lstStyle/>
          <a:p>
            <a:pPr rtl="1" algn="ctr" indent="0" marL="0">
              <a:buNone/>
            </a:pPr>
            <a:r>
              <a:rPr lang="ar-LB" altLang="en-US" sz="1500" b="1" dirty="0">
                <a:solidFill>
                  <a:srgbClr val="E36414"/>
                </a:solidFill>
              </a:rPr>
              <a:t>؟</a:t>
            </a:r>
            <a:endParaRPr lang="ar-LB" sz="15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ماذا اكتشفنا؟</a:t>
            </a:r>
            <a:endParaRPr lang="en-US" sz="3000" dirty="0"/>
          </a:p>
        </p:txBody>
      </p:sp>
      <p:sp>
        <p:nvSpPr>
          <p:cNvPr id="3" name="wrong"/>
          <p:cNvSpPr/>
          <p:nvPr/>
        </p:nvSpPr>
        <p:spPr>
          <a:xfrm>
            <a:off x="4709160" y="1005840"/>
            <a:ext cx="3977640" cy="1828800"/>
          </a:xfrm>
          <a:prstGeom prst="roundRect">
            <a:avLst>
              <a:gd name="adj" fmla="val 6000"/>
            </a:avLst>
          </a:prstGeom>
          <a:solidFill>
            <a:srgbClr val="E36414">
              <a:alpha val="12000"/>
            </a:srgbClr>
          </a:solidFill>
          <a:ln w="12700">
            <a:solidFill>
              <a:srgbClr val="E36414">
                <a:alpha val="60000"/>
              </a:srgbClr>
            </a:solidFill>
            <a:prstDash val="solid"/>
          </a:ln>
        </p:spPr>
      </p:sp>
      <p:sp>
        <p:nvSpPr>
          <p:cNvPr id="4" name="right"/>
          <p:cNvSpPr/>
          <p:nvPr/>
        </p:nvSpPr>
        <p:spPr>
          <a:xfrm>
            <a:off x="457200" y="1005840"/>
            <a:ext cx="3977640" cy="1828800"/>
          </a:xfrm>
          <a:prstGeom prst="roundRect">
            <a:avLst>
              <a:gd name="adj" fmla="val 6000"/>
            </a:avLst>
          </a:prstGeom>
          <a:solidFill>
            <a:srgbClr val="2E9E5B">
              <a:alpha val="12000"/>
            </a:srgbClr>
          </a:solidFill>
          <a:ln w="12700">
            <a:solidFill>
              <a:srgbClr val="2E9E5B">
                <a:alpha val="60000"/>
              </a:srgbClr>
            </a:solidFill>
            <a:prstDash val="solid"/>
          </a:ln>
        </p:spPr>
      </p:sp>
      <p:sp>
        <p:nvSpPr>
          <p:cNvPr id="5" name="Text 3"/>
          <p:cNvSpPr txBox="1"/>
          <p:nvPr/>
        </p:nvSpPr>
        <p:spPr>
          <a:xfrm>
            <a:off x="4846320" y="1097280"/>
            <a:ext cx="3703320" cy="365760"/>
          </a:xfrm>
          <a:prstGeom prst="rect">
            <a:avLst/>
          </a:prstGeom>
          <a:noFill/>
          <a:ln/>
        </p:spPr>
        <p:txBody>
          <a:bodyPr wrap="square" lIns="0" tIns="0" rIns="0" bIns="0" rtlCol="0" anchor="t"/>
          <a:lstStyle/>
          <a:p>
            <a:pPr rtl="1" algn="r" indent="0" marL="0">
              <a:buNone/>
            </a:pPr>
            <a:r>
              <a:rPr lang="ar-LB" altLang="en-US" sz="1500" b="1" dirty="0">
                <a:solidFill>
                  <a:srgbClr val="E36414"/>
                </a:solidFill>
              </a:rPr>
              <a:t>بعد 5 طيّات: هل نضرب 2 في 5؟</a:t>
            </a:r>
            <a:endParaRPr lang="ar-LB" sz="1500" dirty="0"/>
          </a:p>
        </p:txBody>
      </p:sp>
      <p:sp>
        <p:nvSpPr>
          <p:cNvPr id="6" name="Text 4"/>
          <p:cNvSpPr txBox="1"/>
          <p:nvPr/>
        </p:nvSpPr>
        <p:spPr>
          <a:xfrm>
            <a:off x="4846320" y="1554480"/>
            <a:ext cx="3703320" cy="502920"/>
          </a:xfrm>
          <a:prstGeom prst="rect">
            <a:avLst/>
          </a:prstGeom>
          <a:noFill/>
          <a:ln/>
        </p:spPr>
        <p:txBody>
          <a:bodyPr wrap="square" lIns="0" tIns="0" rIns="0" bIns="0" rtlCol="0" anchor="ctr"/>
          <a:lstStyle/>
          <a:p>
            <a:pPr rtl="0" algn="ctr" indent="0" marL="0">
              <a:buNone/>
            </a:pPr>
            <a:r>
              <a:rPr lang="en-US" sz="2600" b="1" dirty="0">
                <a:solidFill>
                  <a:srgbClr val="E36414"/>
                </a:solidFill>
                <a:latin typeface="Arial" pitchFamily="34" charset="0"/>
                <a:ea typeface="Arial" pitchFamily="34" charset="-122"/>
                <a:cs typeface="Arial" pitchFamily="34" charset="-120"/>
              </a:rPr>
              <a:t>2 × 5 = 10</a:t>
            </a:r>
            <a:endParaRPr lang="en-US" sz="2600" dirty="0"/>
          </a:p>
        </p:txBody>
      </p:sp>
      <p:sp>
        <p:nvSpPr>
          <p:cNvPr id="7" name="Text 5"/>
          <p:cNvSpPr txBox="1"/>
          <p:nvPr/>
        </p:nvSpPr>
        <p:spPr>
          <a:xfrm>
            <a:off x="4846320" y="2194560"/>
            <a:ext cx="3703320" cy="457200"/>
          </a:xfrm>
          <a:prstGeom prst="rect">
            <a:avLst/>
          </a:prstGeom>
          <a:noFill/>
          <a:ln/>
        </p:spPr>
        <p:txBody>
          <a:bodyPr wrap="square" lIns="0" tIns="0" rIns="0" bIns="0" rtlCol="0" anchor="t"/>
          <a:lstStyle/>
          <a:p>
            <a:pPr rtl="1" algn="ctr" indent="0" marL="0">
              <a:buNone/>
            </a:pPr>
            <a:r>
              <a:rPr lang="ar-LB" altLang="en-US" sz="1400" dirty="0">
                <a:solidFill>
                  <a:srgbClr val="1B262C"/>
                </a:solidFill>
              </a:rPr>
              <a:t>خطأ: هذا جمع متكرر (2 مكرّر 5 مرات جمعًا)</a:t>
            </a:r>
            <a:endParaRPr lang="ar-LB" sz="1400" dirty="0"/>
          </a:p>
        </p:txBody>
      </p:sp>
      <p:sp>
        <p:nvSpPr>
          <p:cNvPr id="8" name="Text 6"/>
          <p:cNvSpPr txBox="1"/>
          <p:nvPr/>
        </p:nvSpPr>
        <p:spPr>
          <a:xfrm>
            <a:off x="594360" y="1097280"/>
            <a:ext cx="3703320" cy="365760"/>
          </a:xfrm>
          <a:prstGeom prst="rect">
            <a:avLst/>
          </a:prstGeom>
          <a:noFill/>
          <a:ln/>
        </p:spPr>
        <p:txBody>
          <a:bodyPr wrap="square" lIns="0" tIns="0" rIns="0" bIns="0" rtlCol="0" anchor="t"/>
          <a:lstStyle/>
          <a:p>
            <a:pPr rtl="1" algn="r" indent="0" marL="0">
              <a:buNone/>
            </a:pPr>
            <a:r>
              <a:rPr lang="ar-LB" altLang="en-US" sz="1500" b="1" dirty="0">
                <a:solidFill>
                  <a:srgbClr val="2E9E5B"/>
                </a:solidFill>
              </a:rPr>
              <a:t>الصحيح: نضرب العدد 2 في نفسه 5 مرات</a:t>
            </a:r>
            <a:endParaRPr lang="ar-LB" sz="1500" dirty="0"/>
          </a:p>
        </p:txBody>
      </p:sp>
      <p:sp>
        <p:nvSpPr>
          <p:cNvPr id="9" name="Text 7"/>
          <p:cNvSpPr txBox="1"/>
          <p:nvPr/>
        </p:nvSpPr>
        <p:spPr>
          <a:xfrm>
            <a:off x="594360" y="1554480"/>
            <a:ext cx="3703320" cy="502920"/>
          </a:xfrm>
          <a:prstGeom prst="rect">
            <a:avLst/>
          </a:prstGeom>
          <a:noFill/>
          <a:ln/>
        </p:spPr>
        <p:txBody>
          <a:bodyPr wrap="square" lIns="0" tIns="0" rIns="0" bIns="0" rtlCol="0" anchor="ctr"/>
          <a:lstStyle/>
          <a:p>
            <a:pPr rtl="0" algn="ctr" indent="0" marL="0">
              <a:buNone/>
            </a:pPr>
            <a:r>
              <a:rPr lang="en-US" sz="2400" b="1" dirty="0">
                <a:solidFill>
                  <a:srgbClr val="2E9E5B"/>
                </a:solidFill>
                <a:latin typeface="Arial" pitchFamily="34" charset="0"/>
                <a:ea typeface="Arial" pitchFamily="34" charset="-122"/>
                <a:cs typeface="Arial" pitchFamily="34" charset="-120"/>
              </a:rPr>
              <a:t>2 × 2 × 2 × 2 × 2 = 32</a:t>
            </a:r>
            <a:endParaRPr lang="en-US" sz="2400" dirty="0"/>
          </a:p>
        </p:txBody>
      </p:sp>
      <p:sp>
        <p:nvSpPr>
          <p:cNvPr id="10" name="Text 8"/>
          <p:cNvSpPr txBox="1"/>
          <p:nvPr/>
        </p:nvSpPr>
        <p:spPr>
          <a:xfrm>
            <a:off x="2377440" y="2240280"/>
            <a:ext cx="1828800" cy="411480"/>
          </a:xfrm>
          <a:prstGeom prst="rect">
            <a:avLst/>
          </a:prstGeom>
          <a:noFill/>
          <a:ln/>
        </p:spPr>
        <p:txBody>
          <a:bodyPr wrap="square" lIns="0" tIns="0" rIns="0" bIns="0" rtlCol="0" anchor="ctr"/>
          <a:lstStyle/>
          <a:p>
            <a:pPr rtl="1" algn="r" indent="0" marL="0">
              <a:buNone/>
            </a:pPr>
            <a:r>
              <a:rPr lang="ar-LB" altLang="en-US" sz="1500" dirty="0">
                <a:solidFill>
                  <a:srgbClr val="1B262C"/>
                </a:solidFill>
              </a:rPr>
              <a:t>نكتبه باختصار:</a:t>
            </a:r>
            <a:endParaRPr lang="ar-LB" sz="1500" dirty="0"/>
          </a:p>
        </p:txBody>
      </p:sp>
      <p:sp>
        <p:nvSpPr>
          <p:cNvPr id="11" name="Text 9"/>
          <p:cNvSpPr txBox="1"/>
          <p:nvPr/>
        </p:nvSpPr>
        <p:spPr>
          <a:xfrm>
            <a:off x="1097280" y="2194560"/>
            <a:ext cx="1280160" cy="502920"/>
          </a:xfrm>
          <a:prstGeom prst="rect">
            <a:avLst/>
          </a:prstGeom>
          <a:noFill/>
          <a:ln/>
        </p:spPr>
        <p:txBody>
          <a:bodyPr wrap="square" lIns="0" tIns="0" rIns="0" bIns="0" rtlCol="0" anchor="ctr"/>
          <a:lstStyle/>
          <a:p>
            <a:pPr rtl="0" algn="ctr" indent="0" marL="0">
              <a:buNone/>
            </a:pPr>
            <a:r>
              <a:rPr lang="en-US" sz="2800" b="1" dirty="0">
                <a:solidFill>
                  <a:srgbClr val="2E9E5B"/>
                </a:solidFill>
                <a:latin typeface="Arial" pitchFamily="34" charset="0"/>
                <a:ea typeface="Arial" pitchFamily="34" charset="-122"/>
                <a:cs typeface="Arial" pitchFamily="34" charset="-120"/>
              </a:rPr>
              <a:t>2</a:t>
            </a:r>
            <a:r>
              <a:rPr lang="en-US" sz="2800" b="1" baseline="30000" dirty="0">
                <a:solidFill>
                  <a:srgbClr val="2E9E5B"/>
                </a:solidFill>
                <a:latin typeface="Arial" pitchFamily="34" charset="0"/>
                <a:ea typeface="Arial" pitchFamily="34" charset="-122"/>
                <a:cs typeface="Arial" pitchFamily="34" charset="-120"/>
              </a:rPr>
              <a:t>5</a:t>
            </a:r>
            <a:endParaRPr lang="en-US" sz="2800" dirty="0"/>
          </a:p>
        </p:txBody>
      </p:sp>
      <p:sp>
        <p:nvSpPr>
          <p:cNvPr id="12" name="reward"/>
          <p:cNvSpPr/>
          <p:nvPr/>
        </p:nvSpPr>
        <p:spPr>
          <a:xfrm>
            <a:off x="457200" y="3063240"/>
            <a:ext cx="8229600" cy="1417320"/>
          </a:xfrm>
          <a:prstGeom prst="roundRect">
            <a:avLst>
              <a:gd name="adj" fmla="val 7742"/>
            </a:avLst>
          </a:prstGeom>
          <a:solidFill>
            <a:srgbClr val="0F4C5C">
              <a:alpha val="8000"/>
            </a:srgbClr>
          </a:solidFill>
          <a:ln w="12700">
            <a:solidFill>
              <a:srgbClr val="0F4C5C">
                <a:alpha val="60000"/>
              </a:srgbClr>
            </a:solidFill>
            <a:prstDash val="solid"/>
          </a:ln>
        </p:spPr>
      </p:sp>
      <p:sp>
        <p:nvSpPr>
          <p:cNvPr id="13" name="Shape 11"/>
          <p:cNvSpPr/>
          <p:nvPr/>
        </p:nvSpPr>
        <p:spPr>
          <a:xfrm>
            <a:off x="8092440" y="3200400"/>
            <a:ext cx="457200" cy="457200"/>
          </a:xfrm>
          <a:prstGeom prst="ellipse">
            <a:avLst/>
          </a:prstGeom>
          <a:solidFill>
            <a:srgbClr val="E36414"/>
          </a:solidFill>
          <a:ln w="12700">
            <a:solidFill>
              <a:srgbClr val="E36414"/>
            </a:solidFill>
            <a:prstDash val="solid"/>
          </a:ln>
        </p:spPr>
      </p:sp>
      <p:pic>
        <p:nvPicPr>
          <p:cNvPr id="14" name="Image 0" descr="preencoded.png">    </p:cNvPr>
          <p:cNvPicPr>
            <a:picLocks noChangeAspect="1"/>
          </p:cNvPicPr>
          <p:nvPr/>
        </p:nvPicPr>
        <p:blipFill>
          <a:blip r:embed="rId1"/>
          <a:stretch>
            <a:fillRect/>
          </a:stretch>
        </p:blipFill>
        <p:spPr>
          <a:xfrm>
            <a:off x="8202168" y="3310128"/>
            <a:ext cx="237744" cy="237744"/>
          </a:xfrm>
          <a:prstGeom prst="rect">
            <a:avLst/>
          </a:prstGeom>
        </p:spPr>
      </p:pic>
      <p:sp>
        <p:nvSpPr>
          <p:cNvPr id="15" name="Text 12"/>
          <p:cNvSpPr txBox="1"/>
          <p:nvPr/>
        </p:nvSpPr>
        <p:spPr>
          <a:xfrm>
            <a:off x="5852160" y="3200400"/>
            <a:ext cx="2148840" cy="457200"/>
          </a:xfrm>
          <a:prstGeom prst="rect">
            <a:avLst/>
          </a:prstGeom>
          <a:noFill/>
          <a:ln/>
        </p:spPr>
        <p:txBody>
          <a:bodyPr wrap="square" lIns="0" tIns="0" rIns="0" bIns="0" rtlCol="0" anchor="ctr"/>
          <a:lstStyle/>
          <a:p>
            <a:pPr rtl="1" algn="r" indent="0" marL="0">
              <a:buNone/>
            </a:pPr>
            <a:r>
              <a:rPr lang="ar-LB" altLang="en-US" sz="1600" b="1" dirty="0">
                <a:solidFill>
                  <a:srgbClr val="0F4C5C"/>
                </a:solidFill>
              </a:rPr>
              <a:t>عودة إلى المكافأة:</a:t>
            </a:r>
            <a:endParaRPr lang="ar-LB" sz="1600" dirty="0"/>
          </a:p>
        </p:txBody>
      </p:sp>
      <p:sp>
        <p:nvSpPr>
          <p:cNvPr id="16" name="Text 13"/>
          <p:cNvSpPr txBox="1"/>
          <p:nvPr/>
        </p:nvSpPr>
        <p:spPr>
          <a:xfrm>
            <a:off x="6675120" y="3703320"/>
            <a:ext cx="1463040" cy="365760"/>
          </a:xfrm>
          <a:prstGeom prst="rect">
            <a:avLst/>
          </a:prstGeom>
          <a:noFill/>
          <a:ln/>
        </p:spPr>
        <p:txBody>
          <a:bodyPr wrap="square" lIns="0" tIns="0" rIns="0" bIns="0" rtlCol="0" anchor="ctr"/>
          <a:lstStyle/>
          <a:p>
            <a:pPr rtl="1" algn="r" indent="0" marL="0">
              <a:buNone/>
            </a:pPr>
            <a:r>
              <a:rPr lang="ar-LB" altLang="en-US" sz="1500" b="1" dirty="0">
                <a:solidFill>
                  <a:srgbClr val="0F8B8D"/>
                </a:solidFill>
              </a:rPr>
              <a:t>العرض (أ)</a:t>
            </a:r>
            <a:endParaRPr lang="ar-LB" sz="1500" dirty="0"/>
          </a:p>
        </p:txBody>
      </p:sp>
      <p:sp>
        <p:nvSpPr>
          <p:cNvPr id="17" name="Text 14"/>
          <p:cNvSpPr txBox="1"/>
          <p:nvPr/>
        </p:nvSpPr>
        <p:spPr>
          <a:xfrm>
            <a:off x="4572000" y="3703320"/>
            <a:ext cx="2011680" cy="365760"/>
          </a:xfrm>
          <a:prstGeom prst="rect">
            <a:avLst/>
          </a:prstGeom>
          <a:noFill/>
          <a:ln/>
        </p:spPr>
        <p:txBody>
          <a:bodyPr wrap="square" lIns="0" tIns="0" rIns="0" bIns="0" rtlCol="0" anchor="ctr"/>
          <a:lstStyle/>
          <a:p>
            <a:pPr rtl="0" algn="ctr" indent="0" marL="0">
              <a:buNone/>
            </a:pPr>
            <a:r>
              <a:rPr lang="en-US" sz="1800" b="1" dirty="0">
                <a:solidFill>
                  <a:srgbClr val="0F8B8D"/>
                </a:solidFill>
                <a:latin typeface="Arial" pitchFamily="34" charset="0"/>
                <a:ea typeface="Arial" pitchFamily="34" charset="-122"/>
                <a:cs typeface="Arial" pitchFamily="34" charset="-120"/>
              </a:rPr>
              <a:t>10 × 2 = 20</a:t>
            </a:r>
            <a:endParaRPr lang="en-US" sz="1800" dirty="0"/>
          </a:p>
        </p:txBody>
      </p:sp>
      <p:sp>
        <p:nvSpPr>
          <p:cNvPr id="18" name="Text 15"/>
          <p:cNvSpPr txBox="1"/>
          <p:nvPr/>
        </p:nvSpPr>
        <p:spPr>
          <a:xfrm>
            <a:off x="3017520" y="3703320"/>
            <a:ext cx="1371600" cy="365760"/>
          </a:xfrm>
          <a:prstGeom prst="rect">
            <a:avLst/>
          </a:prstGeom>
          <a:noFill/>
          <a:ln/>
        </p:spPr>
        <p:txBody>
          <a:bodyPr wrap="square" lIns="0" tIns="0" rIns="0" bIns="0" rtlCol="0" anchor="ctr"/>
          <a:lstStyle/>
          <a:p>
            <a:pPr rtl="1" algn="r" indent="0" marL="0">
              <a:buNone/>
            </a:pPr>
            <a:r>
              <a:rPr lang="ar-LB" altLang="en-US" sz="1500" b="1" dirty="0">
                <a:solidFill>
                  <a:srgbClr val="E36414"/>
                </a:solidFill>
              </a:rPr>
              <a:t>العرض (ب)</a:t>
            </a:r>
            <a:endParaRPr lang="ar-LB" sz="1500" dirty="0"/>
          </a:p>
        </p:txBody>
      </p:sp>
      <p:sp>
        <p:nvSpPr>
          <p:cNvPr id="19" name="Text 16"/>
          <p:cNvSpPr txBox="1"/>
          <p:nvPr/>
        </p:nvSpPr>
        <p:spPr>
          <a:xfrm>
            <a:off x="731520" y="3703320"/>
            <a:ext cx="2194560" cy="365760"/>
          </a:xfrm>
          <a:prstGeom prst="rect">
            <a:avLst/>
          </a:prstGeom>
          <a:noFill/>
          <a:ln/>
        </p:spPr>
        <p:txBody>
          <a:bodyPr wrap="square" lIns="0" tIns="0" rIns="0" bIns="0" rtlCol="0" anchor="ctr"/>
          <a:lstStyle/>
          <a:p>
            <a:pPr rtl="0" algn="ctr" indent="0" marL="0">
              <a:buNone/>
            </a:pPr>
            <a:r>
              <a:rPr lang="en-US" sz="1800" b="1" dirty="0">
                <a:solidFill>
                  <a:srgbClr val="E36414"/>
                </a:solidFill>
                <a:latin typeface="Arial" pitchFamily="34" charset="0"/>
                <a:ea typeface="Arial" pitchFamily="34" charset="-122"/>
                <a:cs typeface="Arial" pitchFamily="34" charset="-120"/>
              </a:rPr>
              <a:t>2</a:t>
            </a:r>
            <a:r>
              <a:rPr lang="en-US" sz="1800" b="1" baseline="30000" dirty="0">
                <a:solidFill>
                  <a:srgbClr val="E36414"/>
                </a:solidFill>
                <a:latin typeface="Arial" pitchFamily="34" charset="0"/>
                <a:ea typeface="Arial" pitchFamily="34" charset="-122"/>
                <a:cs typeface="Arial" pitchFamily="34" charset="-120"/>
              </a:rPr>
              <a:t>10</a:t>
            </a:r>
            <a:r>
              <a:rPr lang="en-US" sz="1800" b="1" dirty="0">
                <a:solidFill>
                  <a:srgbClr val="E36414"/>
                </a:solidFill>
                <a:latin typeface="Arial" pitchFamily="34" charset="0"/>
                <a:ea typeface="Arial" pitchFamily="34" charset="-122"/>
                <a:cs typeface="Arial" pitchFamily="34" charset="-120"/>
              </a:rPr>
              <a:t> = 1024</a:t>
            </a:r>
            <a:endParaRPr lang="en-US" sz="1800" dirty="0"/>
          </a:p>
        </p:txBody>
      </p:sp>
      <p:sp>
        <p:nvSpPr>
          <p:cNvPr id="20" name="Text 17"/>
          <p:cNvSpPr txBox="1"/>
          <p:nvPr/>
        </p:nvSpPr>
        <p:spPr>
          <a:xfrm>
            <a:off x="640080" y="4069080"/>
            <a:ext cx="374904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العرض (ب) أكبر بكثير!</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E36414"/>
          </a:solidFill>
          <a:ln w="12700">
            <a:solidFill>
              <a:srgbClr val="E36414"/>
            </a:solidFill>
            <a:prstDash val="solid"/>
          </a:ln>
        </p:spPr>
      </p:sp>
      <p:pic>
        <p:nvPicPr>
          <p:cNvPr id="3" name="Image 0" descr="preencoded.png">    </p:cNvPr>
          <p:cNvPicPr>
            <a:picLocks noChangeAspect="1"/>
          </p:cNvPicPr>
          <p:nvPr/>
        </p:nvPicPr>
        <p:blipFill>
          <a:blip r:embed="rId1"/>
          <a:stretch>
            <a:fillRect/>
          </a:stretch>
        </p:blipFill>
        <p:spPr>
          <a:xfrm>
            <a:off x="7452360" y="1920240"/>
            <a:ext cx="822960" cy="822960"/>
          </a:xfrm>
          <a:prstGeom prst="rect">
            <a:avLst/>
          </a:prstGeom>
        </p:spPr>
      </p:pic>
      <p:sp>
        <p:nvSpPr>
          <p:cNvPr id="4" name="Text 1"/>
          <p:cNvSpPr txBox="1"/>
          <p:nvPr/>
        </p:nvSpPr>
        <p:spPr>
          <a:xfrm>
            <a:off x="548640" y="1371600"/>
            <a:ext cx="6035040" cy="411480"/>
          </a:xfrm>
          <a:prstGeom prst="rect">
            <a:avLst/>
          </a:prstGeom>
          <a:noFill/>
          <a:ln/>
        </p:spPr>
        <p:txBody>
          <a:bodyPr wrap="square" lIns="0" tIns="0" rIns="0" bIns="0" rtlCol="0" anchor="t"/>
          <a:lstStyle/>
          <a:p>
            <a:pPr rtl="1" algn="r" indent="0" marL="0">
              <a:buNone/>
            </a:pPr>
            <a:r>
              <a:rPr lang="ar-LB" altLang="en-US" sz="1800" b="1" dirty="0">
                <a:solidFill>
                  <a:srgbClr val="E9A23B"/>
                </a:solidFill>
              </a:rPr>
              <a:t>المرحلة 3</a:t>
            </a:r>
            <a:endParaRPr lang="ar-LB" sz="1800" dirty="0"/>
          </a:p>
        </p:txBody>
      </p:sp>
      <p:sp>
        <p:nvSpPr>
          <p:cNvPr id="5" name="Text 0"/>
          <p:cNvSpPr/>
          <p:nvPr>
            <p:ph idx="100" type="title" hasCustomPrompt="1"/>
          </p:nvPr>
        </p:nvSpPr>
        <p:spPr>
          <a:xfrm>
            <a:off x="548640" y="1828800"/>
            <a:ext cx="6035040" cy="822960"/>
          </a:xfrm>
          <a:prstGeom prst="rect">
            <a:avLst/>
          </a:prstGeom>
          <a:noFill/>
          <a:ln/>
        </p:spPr>
        <p:txBody>
          <a:bodyPr wrap="square" rtlCol="0"/>
          <a:lstStyle/>
          <a:p>
            <a:pPr rtl="1" algn="r" indent="0" marL="0">
              <a:buNone/>
            </a:pPr>
            <a:r>
              <a:rPr lang="en-US" sz="4000" b="1" dirty="0">
                <a:solidFill>
                  <a:srgbClr val="FFFFFF"/>
                </a:solidFill>
              </a:rPr>
              <a:t>الشرح والأمثلة</a:t>
            </a:r>
            <a:endParaRPr lang="en-US" sz="4000" dirty="0"/>
          </a:p>
        </p:txBody>
      </p:sp>
      <p:sp>
        <p:nvSpPr>
          <p:cNvPr id="6" name="Text 0"/>
          <p:cNvSpPr/>
          <p:nvPr>
            <p:ph idx="101" type="body" hasCustomPrompt="1"/>
          </p:nvPr>
        </p:nvSpPr>
        <p:spPr>
          <a:xfrm>
            <a:off x="548640" y="2697480"/>
            <a:ext cx="6035040" cy="822960"/>
          </a:xfrm>
          <a:prstGeom prst="rect">
            <a:avLst/>
          </a:prstGeom>
          <a:noFill/>
          <a:ln/>
        </p:spPr>
        <p:txBody>
          <a:bodyPr wrap="square" rtlCol="0" anchor="t"/>
          <a:lstStyle/>
          <a:p>
            <a:pPr rtl="1" algn="r" indent="0" marL="0">
              <a:buNone/>
            </a:pPr>
            <a:r>
              <a:rPr lang="en-US" sz="1800" dirty="0">
                <a:solidFill>
                  <a:srgbClr val="CFE3E6"/>
                </a:solidFill>
              </a:rPr>
              <a:t>استراتيجية: التعليم المباشر مع الأسئلة الموجّهة  •  10 دقائق</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تعريف القوّة</a:t>
            </a:r>
            <a:endParaRPr lang="en-US" sz="3000" dirty="0"/>
          </a:p>
        </p:txBody>
      </p:sp>
      <p:sp>
        <p:nvSpPr>
          <p:cNvPr id="3" name="Shape 1"/>
          <p:cNvSpPr/>
          <p:nvPr/>
        </p:nvSpPr>
        <p:spPr>
          <a:xfrm>
            <a:off x="457200" y="1005840"/>
            <a:ext cx="3657600" cy="2743200"/>
          </a:xfrm>
          <a:prstGeom prst="roundRect">
            <a:avLst>
              <a:gd name="adj" fmla="val 5000"/>
            </a:avLst>
          </a:prstGeom>
          <a:solidFill>
            <a:srgbClr val="EAF4F4"/>
          </a:solidFill>
          <a:ln w="12700">
            <a:solidFill>
              <a:srgbClr val="EAF4F4"/>
            </a:solidFill>
            <a:prstDash val="solid"/>
          </a:ln>
        </p:spPr>
      </p:sp>
      <p:sp>
        <p:nvSpPr>
          <p:cNvPr id="4" name="Text 2"/>
          <p:cNvSpPr txBox="1"/>
          <p:nvPr/>
        </p:nvSpPr>
        <p:spPr>
          <a:xfrm>
            <a:off x="1325880" y="1691640"/>
            <a:ext cx="1097280" cy="1371600"/>
          </a:xfrm>
          <a:prstGeom prst="rect">
            <a:avLst/>
          </a:prstGeom>
          <a:noFill/>
          <a:ln/>
        </p:spPr>
        <p:txBody>
          <a:bodyPr wrap="square" lIns="0" tIns="0" rIns="0" bIns="0" rtlCol="0" anchor="ctr"/>
          <a:lstStyle/>
          <a:p>
            <a:pPr rtl="1" algn="ctr" indent="0" marL="0">
              <a:buNone/>
            </a:pPr>
            <a:r>
              <a:rPr lang="ar-LB" altLang="en-US" sz="9600" b="1" dirty="0">
                <a:solidFill>
                  <a:srgbClr val="0F4C5C"/>
                </a:solidFill>
              </a:rPr>
              <a:t>2</a:t>
            </a:r>
            <a:endParaRPr lang="ar-LB" sz="9600" dirty="0"/>
          </a:p>
        </p:txBody>
      </p:sp>
      <p:sp>
        <p:nvSpPr>
          <p:cNvPr id="5" name="Text 3"/>
          <p:cNvSpPr txBox="1"/>
          <p:nvPr/>
        </p:nvSpPr>
        <p:spPr>
          <a:xfrm>
            <a:off x="2286000" y="1417320"/>
            <a:ext cx="731520" cy="822960"/>
          </a:xfrm>
          <a:prstGeom prst="rect">
            <a:avLst/>
          </a:prstGeom>
          <a:noFill/>
          <a:ln/>
        </p:spPr>
        <p:txBody>
          <a:bodyPr wrap="square" lIns="0" tIns="0" rIns="0" bIns="0" rtlCol="0" anchor="ctr"/>
          <a:lstStyle/>
          <a:p>
            <a:pPr rtl="1" algn="ctr" indent="0" marL="0">
              <a:buNone/>
            </a:pPr>
            <a:r>
              <a:rPr lang="ar-LB" altLang="en-US" sz="5400" b="1" dirty="0">
                <a:solidFill>
                  <a:srgbClr val="E36414"/>
                </a:solidFill>
              </a:rPr>
              <a:t>5</a:t>
            </a:r>
            <a:endParaRPr lang="ar-LB" sz="5400" dirty="0"/>
          </a:p>
        </p:txBody>
      </p:sp>
      <p:sp>
        <p:nvSpPr>
          <p:cNvPr id="6" name="Shape 4"/>
          <p:cNvSpPr/>
          <p:nvPr/>
        </p:nvSpPr>
        <p:spPr>
          <a:xfrm>
            <a:off x="2971800" y="1188720"/>
            <a:ext cx="1005840" cy="292608"/>
          </a:xfrm>
          <a:prstGeom prst="roundRect">
            <a:avLst>
              <a:gd name="adj" fmla="val 50000"/>
            </a:avLst>
          </a:prstGeom>
          <a:solidFill>
            <a:srgbClr val="E36414"/>
          </a:solidFill>
          <a:ln w="12700">
            <a:solidFill>
              <a:srgbClr val="E36414"/>
            </a:solidFill>
            <a:prstDash val="solid"/>
          </a:ln>
        </p:spPr>
      </p:sp>
      <p:sp>
        <p:nvSpPr>
          <p:cNvPr id="7" name="Text 5"/>
          <p:cNvSpPr txBox="1"/>
          <p:nvPr/>
        </p:nvSpPr>
        <p:spPr>
          <a:xfrm>
            <a:off x="2971800" y="1188720"/>
            <a:ext cx="1005840" cy="292608"/>
          </a:xfrm>
          <a:prstGeom prst="rect">
            <a:avLst/>
          </a:prstGeom>
          <a:noFill/>
          <a:ln/>
        </p:spPr>
        <p:txBody>
          <a:bodyPr wrap="square" lIns="0" tIns="0" rIns="0" bIns="0" rtlCol="0" anchor="ctr"/>
          <a:lstStyle/>
          <a:p>
            <a:pPr rtl="1" algn="ctr" indent="0" marL="0">
              <a:buNone/>
            </a:pPr>
            <a:r>
              <a:rPr lang="ar-LB" altLang="en-US" sz="1200" b="1" dirty="0">
                <a:solidFill>
                  <a:srgbClr val="FFFFFF"/>
                </a:solidFill>
              </a:rPr>
              <a:t>الأُس</a:t>
            </a:r>
            <a:endParaRPr lang="ar-LB" sz="1200" dirty="0"/>
          </a:p>
        </p:txBody>
      </p:sp>
      <p:sp>
        <p:nvSpPr>
          <p:cNvPr id="8" name="Shape 6"/>
          <p:cNvSpPr/>
          <p:nvPr/>
        </p:nvSpPr>
        <p:spPr>
          <a:xfrm>
            <a:off x="548640" y="3200400"/>
            <a:ext cx="1005840" cy="292608"/>
          </a:xfrm>
          <a:prstGeom prst="roundRect">
            <a:avLst>
              <a:gd name="adj" fmla="val 50000"/>
            </a:avLst>
          </a:prstGeom>
          <a:solidFill>
            <a:srgbClr val="0F4C5C"/>
          </a:solidFill>
          <a:ln w="12700">
            <a:solidFill>
              <a:srgbClr val="0F4C5C"/>
            </a:solidFill>
            <a:prstDash val="solid"/>
          </a:ln>
        </p:spPr>
      </p:sp>
      <p:sp>
        <p:nvSpPr>
          <p:cNvPr id="9" name="Text 7"/>
          <p:cNvSpPr txBox="1"/>
          <p:nvPr/>
        </p:nvSpPr>
        <p:spPr>
          <a:xfrm>
            <a:off x="548640" y="3200400"/>
            <a:ext cx="1005840" cy="292608"/>
          </a:xfrm>
          <a:prstGeom prst="rect">
            <a:avLst/>
          </a:prstGeom>
          <a:noFill/>
          <a:ln/>
        </p:spPr>
        <p:txBody>
          <a:bodyPr wrap="square" lIns="0" tIns="0" rIns="0" bIns="0" rtlCol="0" anchor="ctr"/>
          <a:lstStyle/>
          <a:p>
            <a:pPr rtl="1" algn="ctr" indent="0" marL="0">
              <a:buNone/>
            </a:pPr>
            <a:r>
              <a:rPr lang="ar-LB" altLang="en-US" sz="1200" b="1" dirty="0">
                <a:solidFill>
                  <a:srgbClr val="FFFFFF"/>
                </a:solidFill>
              </a:rPr>
              <a:t>الأساس</a:t>
            </a:r>
            <a:endParaRPr lang="ar-LB" sz="1200" dirty="0"/>
          </a:p>
        </p:txBody>
      </p:sp>
      <p:sp>
        <p:nvSpPr>
          <p:cNvPr id="10" name="Shape 8"/>
          <p:cNvSpPr/>
          <p:nvPr/>
        </p:nvSpPr>
        <p:spPr>
          <a:xfrm flipV="1">
            <a:off x="1051560" y="2788920"/>
            <a:ext cx="320040" cy="411480"/>
          </a:xfrm>
          <a:prstGeom prst="line">
            <a:avLst/>
          </a:prstGeom>
          <a:noFill/>
          <a:ln w="19050">
            <a:solidFill>
              <a:srgbClr val="0F4C5C"/>
            </a:solidFill>
            <a:prstDash val="solid"/>
            <a:headEnd type="triangle"/>
          </a:ln>
        </p:spPr>
      </p:sp>
      <p:sp>
        <p:nvSpPr>
          <p:cNvPr id="11" name="Shape 9"/>
          <p:cNvSpPr/>
          <p:nvPr/>
        </p:nvSpPr>
        <p:spPr>
          <a:xfrm>
            <a:off x="2834640" y="1481328"/>
            <a:ext cx="228600" cy="0"/>
          </a:xfrm>
          <a:prstGeom prst="line">
            <a:avLst/>
          </a:prstGeom>
          <a:noFill/>
          <a:ln w="19050">
            <a:solidFill>
              <a:srgbClr val="E36414"/>
            </a:solidFill>
            <a:prstDash val="solid"/>
            <a:headEnd type="triangle"/>
          </a:ln>
        </p:spPr>
      </p:sp>
      <p:sp>
        <p:nvSpPr>
          <p:cNvPr id="12" name="Text 10"/>
          <p:cNvSpPr txBox="1"/>
          <p:nvPr/>
        </p:nvSpPr>
        <p:spPr>
          <a:xfrm>
            <a:off x="548640" y="3566160"/>
            <a:ext cx="347472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تُقرأ: 2 أُس 5، أو 2 للقوّة 5</a:t>
            </a:r>
            <a:endParaRPr lang="ar-LB" sz="1300" dirty="0"/>
          </a:p>
        </p:txBody>
      </p:sp>
      <p:sp>
        <p:nvSpPr>
          <p:cNvPr id="13" name="Text 11"/>
          <p:cNvSpPr txBox="1"/>
          <p:nvPr/>
        </p:nvSpPr>
        <p:spPr>
          <a:xfrm>
            <a:off x="4389120" y="1051560"/>
            <a:ext cx="4297680" cy="411480"/>
          </a:xfrm>
          <a:prstGeom prst="rect">
            <a:avLst/>
          </a:prstGeom>
          <a:noFill/>
          <a:ln/>
        </p:spPr>
        <p:txBody>
          <a:bodyPr wrap="square" lIns="0" tIns="0" rIns="0" bIns="0" rtlCol="0" anchor="t"/>
          <a:lstStyle/>
          <a:p>
            <a:pPr rtl="1" algn="r" indent="0" marL="0">
              <a:buNone/>
            </a:pPr>
            <a:r>
              <a:rPr lang="ar-LB" altLang="en-US" sz="1700" b="1" dirty="0">
                <a:solidFill>
                  <a:srgbClr val="E36414"/>
                </a:solidFill>
              </a:rPr>
              <a:t>القوّة </a:t>
            </a:r>
            <a:r>
              <a:rPr lang="ar-LB" altLang="en-US" sz="1700" dirty="0">
                <a:solidFill>
                  <a:srgbClr val="1B262C"/>
                </a:solidFill>
              </a:rPr>
              <a:t>هي ضرب متكرر لعامل واحد في نفسه.</a:t>
            </a:r>
            <a:endParaRPr lang="ar-LB" sz="1700" dirty="0"/>
          </a:p>
        </p:txBody>
      </p:sp>
      <p:sp>
        <p:nvSpPr>
          <p:cNvPr id="14" name="Text 12"/>
          <p:cNvSpPr txBox="1"/>
          <p:nvPr/>
        </p:nvSpPr>
        <p:spPr>
          <a:xfrm>
            <a:off x="4389120" y="1554480"/>
            <a:ext cx="4297680" cy="457200"/>
          </a:xfrm>
          <a:prstGeom prst="rect">
            <a:avLst/>
          </a:prstGeom>
          <a:noFill/>
          <a:ln/>
        </p:spPr>
        <p:txBody>
          <a:bodyPr wrap="square" lIns="0" tIns="0" rIns="0" bIns="0" rtlCol="0" anchor="ctr"/>
          <a:lstStyle/>
          <a:p>
            <a:pPr rtl="0" algn="ctr" indent="0" marL="0">
              <a:buNone/>
            </a:pPr>
            <a:r>
              <a:rPr lang="en-US" sz="2000" b="1" dirty="0">
                <a:solidFill>
                  <a:srgbClr val="0F4C5C"/>
                </a:solidFill>
                <a:latin typeface="Arial" pitchFamily="34" charset="0"/>
                <a:ea typeface="Arial" pitchFamily="34" charset="-122"/>
                <a:cs typeface="Arial" pitchFamily="34" charset="-120"/>
              </a:rPr>
              <a:t>2</a:t>
            </a:r>
            <a:r>
              <a:rPr lang="en-US" sz="2000" b="1" baseline="30000" dirty="0">
                <a:solidFill>
                  <a:srgbClr val="0F4C5C"/>
                </a:solidFill>
                <a:latin typeface="Arial" pitchFamily="34" charset="0"/>
                <a:ea typeface="Arial" pitchFamily="34" charset="-122"/>
                <a:cs typeface="Arial" pitchFamily="34" charset="-120"/>
              </a:rPr>
              <a:t>5</a:t>
            </a:r>
            <a:r>
              <a:rPr lang="en-US" sz="2000" b="1" dirty="0">
                <a:solidFill>
                  <a:srgbClr val="0F4C5C"/>
                </a:solidFill>
                <a:latin typeface="Arial" pitchFamily="34" charset="0"/>
                <a:ea typeface="Arial" pitchFamily="34" charset="-122"/>
                <a:cs typeface="Arial" pitchFamily="34" charset="-120"/>
              </a:rPr>
              <a:t> = 2 × 2 × 2 × 2 × 2 = 32</a:t>
            </a:r>
            <a:endParaRPr lang="en-US" sz="2000" dirty="0"/>
          </a:p>
        </p:txBody>
      </p:sp>
      <p:sp>
        <p:nvSpPr>
          <p:cNvPr id="15" name="Text 13"/>
          <p:cNvSpPr txBox="1"/>
          <p:nvPr/>
        </p:nvSpPr>
        <p:spPr>
          <a:xfrm>
            <a:off x="4389120" y="2148840"/>
            <a:ext cx="4297680" cy="731520"/>
          </a:xfrm>
          <a:prstGeom prst="rect">
            <a:avLst/>
          </a:prstGeom>
          <a:noFill/>
          <a:ln/>
        </p:spPr>
        <p:txBody>
          <a:bodyPr wrap="square" lIns="0" tIns="0" rIns="0" bIns="0" rtlCol="0" anchor="t"/>
          <a:lstStyle/>
          <a:p>
            <a:pPr rtl="1" algn="r" indent="0" marL="0">
              <a:spcAft>
                <a:spcPts val="400"/>
              </a:spcAft>
              <a:buNone/>
            </a:pPr>
            <a:r>
              <a:rPr lang="ar-LB" altLang="en-US" sz="1600" b="1" dirty="0">
                <a:solidFill>
                  <a:srgbClr val="0F4C5C"/>
                </a:solidFill>
              </a:rPr>
              <a:t>الأساس: </a:t>
            </a:r>
            <a:r>
              <a:rPr lang="ar-LB" altLang="en-US" sz="1600" dirty="0">
                <a:solidFill>
                  <a:srgbClr val="1B262C"/>
                </a:solidFill>
              </a:rPr>
              <a:t>العامل الذي يتكرّر.</a:t>
            </a:r>
            <a:endParaRPr lang="ar-LB" sz="1600" dirty="0"/>
          </a:p>
          <a:p>
            <a:pPr rtl="1" algn="r" indent="0" marL="0">
              <a:spcAft>
                <a:spcPts val="400"/>
              </a:spcAft>
              <a:buNone/>
            </a:pPr>
            <a:r>
              <a:rPr lang="ar-LB" altLang="en-US" sz="1600" b="1" dirty="0">
                <a:solidFill>
                  <a:srgbClr val="E36414"/>
                </a:solidFill>
              </a:rPr>
              <a:t>الأُس: </a:t>
            </a:r>
            <a:r>
              <a:rPr lang="ar-LB" altLang="en-US" sz="1600" dirty="0">
                <a:solidFill>
                  <a:srgbClr val="1B262C"/>
                </a:solidFill>
              </a:rPr>
              <a:t>عدد مرات تكرار العامل.</a:t>
            </a:r>
            <a:endParaRPr lang="ar-LB" sz="1600" dirty="0"/>
          </a:p>
        </p:txBody>
      </p:sp>
      <p:sp>
        <p:nvSpPr>
          <p:cNvPr id="16" name="general"/>
          <p:cNvSpPr/>
          <p:nvPr/>
        </p:nvSpPr>
        <p:spPr>
          <a:xfrm>
            <a:off x="4389120" y="3017520"/>
            <a:ext cx="4297680" cy="1143000"/>
          </a:xfrm>
          <a:prstGeom prst="roundRect">
            <a:avLst>
              <a:gd name="adj" fmla="val 9600"/>
            </a:avLst>
          </a:prstGeom>
          <a:solidFill>
            <a:srgbClr val="0F4C5C">
              <a:alpha val="8000"/>
            </a:srgbClr>
          </a:solidFill>
          <a:ln w="12700">
            <a:solidFill>
              <a:srgbClr val="0F4C5C">
                <a:alpha val="60000"/>
              </a:srgbClr>
            </a:solidFill>
            <a:prstDash val="solid"/>
          </a:ln>
        </p:spPr>
      </p:sp>
      <p:sp>
        <p:nvSpPr>
          <p:cNvPr id="17" name="Text 15"/>
          <p:cNvSpPr txBox="1"/>
          <p:nvPr/>
        </p:nvSpPr>
        <p:spPr>
          <a:xfrm>
            <a:off x="4572000" y="3090672"/>
            <a:ext cx="3931920" cy="320040"/>
          </a:xfrm>
          <a:prstGeom prst="rect">
            <a:avLst/>
          </a:prstGeom>
          <a:noFill/>
          <a:ln/>
        </p:spPr>
        <p:txBody>
          <a:bodyPr wrap="square" lIns="0" tIns="0" rIns="0" bIns="0" rtlCol="0" anchor="t"/>
          <a:lstStyle/>
          <a:p>
            <a:pPr rtl="1" algn="r" indent="0" marL="0">
              <a:buNone/>
            </a:pPr>
            <a:r>
              <a:rPr lang="ar-LB" altLang="en-US" sz="1400" b="1" dirty="0">
                <a:solidFill>
                  <a:srgbClr val="0F4C5C"/>
                </a:solidFill>
              </a:rPr>
              <a:t>بشكل عام: (n عامل)</a:t>
            </a:r>
            <a:endParaRPr lang="ar-LB" sz="1400" dirty="0"/>
          </a:p>
        </p:txBody>
      </p:sp>
      <p:sp>
        <p:nvSpPr>
          <p:cNvPr id="18" name="Text 16"/>
          <p:cNvSpPr txBox="1"/>
          <p:nvPr/>
        </p:nvSpPr>
        <p:spPr>
          <a:xfrm>
            <a:off x="4572000" y="3474720"/>
            <a:ext cx="3931920" cy="457200"/>
          </a:xfrm>
          <a:prstGeom prst="rect">
            <a:avLst/>
          </a:prstGeom>
          <a:noFill/>
          <a:ln/>
        </p:spPr>
        <p:txBody>
          <a:bodyPr wrap="square" lIns="0" tIns="0" rIns="0" bIns="0" rtlCol="0" anchor="ctr"/>
          <a:lstStyle/>
          <a:p>
            <a:pPr rtl="0" algn="ctr" indent="0" marL="0">
              <a:buNone/>
            </a:pPr>
            <a:r>
              <a:rPr lang="en-US" sz="2200" b="1" dirty="0">
                <a:solidFill>
                  <a:srgbClr val="1B262C"/>
                </a:solidFill>
                <a:latin typeface="Arial" pitchFamily="34" charset="0"/>
                <a:ea typeface="Arial" pitchFamily="34" charset="-122"/>
                <a:cs typeface="Arial" pitchFamily="34" charset="-120"/>
              </a:rPr>
              <a:t>a</a:t>
            </a:r>
            <a:r>
              <a:rPr lang="en-US" sz="2200" b="1" baseline="30000" dirty="0">
                <a:solidFill>
                  <a:srgbClr val="1B262C"/>
                </a:solidFill>
                <a:latin typeface="Arial" pitchFamily="34" charset="0"/>
                <a:ea typeface="Arial" pitchFamily="34" charset="-122"/>
                <a:cs typeface="Arial" pitchFamily="34" charset="-120"/>
              </a:rPr>
              <a:t>n</a:t>
            </a:r>
            <a:r>
              <a:rPr lang="en-US" sz="2200" b="1" dirty="0">
                <a:solidFill>
                  <a:srgbClr val="1B262C"/>
                </a:solidFill>
                <a:latin typeface="Arial" pitchFamily="34" charset="0"/>
                <a:ea typeface="Arial" pitchFamily="34" charset="-122"/>
                <a:cs typeface="Arial" pitchFamily="34" charset="-120"/>
              </a:rPr>
              <a:t> = a × a × a × ... × a</a:t>
            </a:r>
            <a:endParaRPr lang="en-US" sz="2200" dirty="0"/>
          </a:p>
        </p:txBody>
      </p:sp>
      <p:sp>
        <p:nvSpPr>
          <p:cNvPr id="19" name="Text 17"/>
          <p:cNvSpPr txBox="1"/>
          <p:nvPr/>
        </p:nvSpPr>
        <p:spPr>
          <a:xfrm>
            <a:off x="457200" y="4343400"/>
            <a:ext cx="8229600" cy="320040"/>
          </a:xfrm>
          <a:prstGeom prst="rect">
            <a:avLst/>
          </a:prstGeom>
          <a:noFill/>
          <a:ln/>
        </p:spPr>
        <p:txBody>
          <a:bodyPr wrap="square" lIns="0" tIns="0" rIns="0" bIns="0" rtlCol="0" anchor="t"/>
          <a:lstStyle/>
          <a:p>
            <a:pPr rtl="1" algn="r" indent="0" marL="0">
              <a:buNone/>
            </a:pPr>
            <a:r>
              <a:rPr lang="ar-LB" altLang="en-US" sz="1300" dirty="0">
                <a:solidFill>
                  <a:srgbClr val="5B6770"/>
                </a:solidFill>
              </a:rPr>
              <a:t>حالة خاصة: الأس 1 يعني عاملًا واحدًا، أي a¹ = a</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الفرق بين الضرب والقوّة</a:t>
            </a:r>
            <a:endParaRPr lang="en-US" sz="3000" dirty="0"/>
          </a:p>
        </p:txBody>
      </p:sp>
      <p:sp>
        <p:nvSpPr>
          <p:cNvPr id="3" name="Shape 1"/>
          <p:cNvSpPr/>
          <p:nvPr/>
        </p:nvSpPr>
        <p:spPr>
          <a:xfrm>
            <a:off x="4709160" y="1005840"/>
            <a:ext cx="3977640" cy="457200"/>
          </a:xfrm>
          <a:prstGeom prst="roundRect">
            <a:avLst>
              <a:gd name="adj" fmla="val 20000"/>
            </a:avLst>
          </a:prstGeom>
          <a:solidFill>
            <a:srgbClr val="0F8B8D"/>
          </a:solidFill>
          <a:ln w="12700">
            <a:solidFill>
              <a:srgbClr val="0F8B8D"/>
            </a:solidFill>
            <a:prstDash val="solid"/>
          </a:ln>
        </p:spPr>
      </p:sp>
      <p:sp>
        <p:nvSpPr>
          <p:cNvPr id="4" name="Text 2"/>
          <p:cNvSpPr txBox="1"/>
          <p:nvPr/>
        </p:nvSpPr>
        <p:spPr>
          <a:xfrm>
            <a:off x="4709160" y="1005840"/>
            <a:ext cx="3977640" cy="457200"/>
          </a:xfrm>
          <a:prstGeom prst="rect">
            <a:avLst/>
          </a:prstGeom>
          <a:noFill/>
          <a:ln/>
        </p:spPr>
        <p:txBody>
          <a:bodyPr wrap="square" lIns="0" tIns="0" rIns="0" bIns="0" rtlCol="0" anchor="ctr"/>
          <a:lstStyle/>
          <a:p>
            <a:pPr rtl="1" algn="ctr" indent="0" marL="0">
              <a:buNone/>
            </a:pPr>
            <a:r>
              <a:rPr lang="ar-LB" altLang="en-US" sz="1800" b="1" dirty="0">
                <a:solidFill>
                  <a:srgbClr val="FFFFFF"/>
                </a:solidFill>
              </a:rPr>
              <a:t>الضرب = جمع متكرر</a:t>
            </a:r>
            <a:endParaRPr lang="ar-LB" sz="1800" dirty="0"/>
          </a:p>
        </p:txBody>
      </p:sp>
      <p:sp>
        <p:nvSpPr>
          <p:cNvPr id="5" name="الضرب = جمع متكرر"/>
          <p:cNvSpPr/>
          <p:nvPr/>
        </p:nvSpPr>
        <p:spPr>
          <a:xfrm>
            <a:off x="4709160" y="1508760"/>
            <a:ext cx="3977640" cy="1143000"/>
          </a:xfrm>
          <a:prstGeom prst="roundRect">
            <a:avLst>
              <a:gd name="adj" fmla="val 9600"/>
            </a:avLst>
          </a:prstGeom>
          <a:solidFill>
            <a:srgbClr val="0F8B8D">
              <a:alpha val="10000"/>
            </a:srgbClr>
          </a:solidFill>
          <a:ln w="12700">
            <a:solidFill>
              <a:srgbClr val="0F8B8D">
                <a:alpha val="60000"/>
              </a:srgbClr>
            </a:solidFill>
            <a:prstDash val="solid"/>
          </a:ln>
        </p:spPr>
      </p:sp>
      <p:sp>
        <p:nvSpPr>
          <p:cNvPr id="6" name="Text 4"/>
          <p:cNvSpPr txBox="1"/>
          <p:nvPr/>
        </p:nvSpPr>
        <p:spPr>
          <a:xfrm>
            <a:off x="4800600" y="1600200"/>
            <a:ext cx="3794760" cy="548640"/>
          </a:xfrm>
          <a:prstGeom prst="rect">
            <a:avLst/>
          </a:prstGeom>
          <a:noFill/>
          <a:ln/>
        </p:spPr>
        <p:txBody>
          <a:bodyPr wrap="square" lIns="0" tIns="0" rIns="0" bIns="0" rtlCol="0" anchor="ctr"/>
          <a:lstStyle/>
          <a:p>
            <a:pPr rtl="0" algn="ctr" indent="0" marL="0">
              <a:buNone/>
            </a:pPr>
            <a:r>
              <a:rPr lang="en-US" sz="2000" b="1" dirty="0">
                <a:solidFill>
                  <a:srgbClr val="1B262C"/>
                </a:solidFill>
                <a:latin typeface="Arial" pitchFamily="34" charset="0"/>
                <a:ea typeface="Arial" pitchFamily="34" charset="-122"/>
                <a:cs typeface="Arial" pitchFamily="34" charset="-120"/>
              </a:rPr>
              <a:t>4 × 3 = 3 + 3 + 3 + 3 = 12</a:t>
            </a:r>
            <a:endParaRPr lang="en-US" sz="2000" dirty="0"/>
          </a:p>
        </p:txBody>
      </p:sp>
      <p:sp>
        <p:nvSpPr>
          <p:cNvPr id="7" name="Text 5"/>
          <p:cNvSpPr txBox="1"/>
          <p:nvPr/>
        </p:nvSpPr>
        <p:spPr>
          <a:xfrm>
            <a:off x="4800600" y="2194560"/>
            <a:ext cx="3794760" cy="365760"/>
          </a:xfrm>
          <a:prstGeom prst="rect">
            <a:avLst/>
          </a:prstGeom>
          <a:noFill/>
          <a:ln/>
        </p:spPr>
        <p:txBody>
          <a:bodyPr wrap="square" lIns="0" tIns="0" rIns="0" bIns="0" rtlCol="0" anchor="t"/>
          <a:lstStyle/>
          <a:p>
            <a:pPr rtl="1" algn="ctr" indent="0" marL="0">
              <a:buNone/>
            </a:pPr>
            <a:r>
              <a:rPr lang="ar-LB" altLang="en-US" sz="1400" dirty="0">
                <a:solidFill>
                  <a:srgbClr val="5B6770"/>
                </a:solidFill>
              </a:rPr>
              <a:t>أضفنا العدد 3 أربع مرات</a:t>
            </a:r>
            <a:endParaRPr lang="ar-LB" sz="1400" dirty="0"/>
          </a:p>
        </p:txBody>
      </p:sp>
      <p:sp>
        <p:nvSpPr>
          <p:cNvPr id="8" name="Shape 6"/>
          <p:cNvSpPr/>
          <p:nvPr/>
        </p:nvSpPr>
        <p:spPr>
          <a:xfrm>
            <a:off x="457200" y="1005840"/>
            <a:ext cx="3977640" cy="457200"/>
          </a:xfrm>
          <a:prstGeom prst="roundRect">
            <a:avLst>
              <a:gd name="adj" fmla="val 20000"/>
            </a:avLst>
          </a:prstGeom>
          <a:solidFill>
            <a:srgbClr val="E36414"/>
          </a:solidFill>
          <a:ln w="12700">
            <a:solidFill>
              <a:srgbClr val="E36414"/>
            </a:solidFill>
            <a:prstDash val="solid"/>
          </a:ln>
        </p:spPr>
      </p:sp>
      <p:sp>
        <p:nvSpPr>
          <p:cNvPr id="9" name="Text 7"/>
          <p:cNvSpPr txBox="1"/>
          <p:nvPr/>
        </p:nvSpPr>
        <p:spPr>
          <a:xfrm>
            <a:off x="457200" y="1005840"/>
            <a:ext cx="3977640" cy="457200"/>
          </a:xfrm>
          <a:prstGeom prst="rect">
            <a:avLst/>
          </a:prstGeom>
          <a:noFill/>
          <a:ln/>
        </p:spPr>
        <p:txBody>
          <a:bodyPr wrap="square" lIns="0" tIns="0" rIns="0" bIns="0" rtlCol="0" anchor="ctr"/>
          <a:lstStyle/>
          <a:p>
            <a:pPr rtl="1" algn="ctr" indent="0" marL="0">
              <a:buNone/>
            </a:pPr>
            <a:r>
              <a:rPr lang="ar-LB" altLang="en-US" sz="1800" b="1" dirty="0">
                <a:solidFill>
                  <a:srgbClr val="FFFFFF"/>
                </a:solidFill>
              </a:rPr>
              <a:t>القوّة = ضرب متكرر</a:t>
            </a:r>
            <a:endParaRPr lang="ar-LB" sz="1800" dirty="0"/>
          </a:p>
        </p:txBody>
      </p:sp>
      <p:sp>
        <p:nvSpPr>
          <p:cNvPr id="10" name="القوّة = ضرب متكرر"/>
          <p:cNvSpPr/>
          <p:nvPr/>
        </p:nvSpPr>
        <p:spPr>
          <a:xfrm>
            <a:off x="457200" y="1508760"/>
            <a:ext cx="3977640" cy="1143000"/>
          </a:xfrm>
          <a:prstGeom prst="roundRect">
            <a:avLst>
              <a:gd name="adj" fmla="val 9600"/>
            </a:avLst>
          </a:prstGeom>
          <a:solidFill>
            <a:srgbClr val="E36414">
              <a:alpha val="10000"/>
            </a:srgbClr>
          </a:solidFill>
          <a:ln w="12700">
            <a:solidFill>
              <a:srgbClr val="E36414">
                <a:alpha val="60000"/>
              </a:srgbClr>
            </a:solidFill>
            <a:prstDash val="solid"/>
          </a:ln>
        </p:spPr>
      </p:sp>
      <p:sp>
        <p:nvSpPr>
          <p:cNvPr id="11" name="Text 9"/>
          <p:cNvSpPr txBox="1"/>
          <p:nvPr/>
        </p:nvSpPr>
        <p:spPr>
          <a:xfrm>
            <a:off x="548640" y="1600200"/>
            <a:ext cx="3794760" cy="548640"/>
          </a:xfrm>
          <a:prstGeom prst="rect">
            <a:avLst/>
          </a:prstGeom>
          <a:noFill/>
          <a:ln/>
        </p:spPr>
        <p:txBody>
          <a:bodyPr wrap="square" lIns="0" tIns="0" rIns="0" bIns="0" rtlCol="0" anchor="ctr"/>
          <a:lstStyle/>
          <a:p>
            <a:pPr rtl="0" algn="ctr" indent="0" marL="0">
              <a:buNone/>
            </a:pPr>
            <a:r>
              <a:rPr lang="en-US" sz="2000" b="1" dirty="0">
                <a:solidFill>
                  <a:srgbClr val="1B262C"/>
                </a:solidFill>
                <a:latin typeface="Arial" pitchFamily="34" charset="0"/>
                <a:ea typeface="Arial" pitchFamily="34" charset="-122"/>
                <a:cs typeface="Arial" pitchFamily="34" charset="-120"/>
              </a:rPr>
              <a:t>3</a:t>
            </a:r>
            <a:r>
              <a:rPr lang="en-US" sz="2000" b="1" baseline="30000" dirty="0">
                <a:solidFill>
                  <a:srgbClr val="1B262C"/>
                </a:solidFill>
                <a:latin typeface="Arial" pitchFamily="34" charset="0"/>
                <a:ea typeface="Arial" pitchFamily="34" charset="-122"/>
                <a:cs typeface="Arial" pitchFamily="34" charset="-120"/>
              </a:rPr>
              <a:t>4</a:t>
            </a:r>
            <a:r>
              <a:rPr lang="en-US" sz="2000" b="1" dirty="0">
                <a:solidFill>
                  <a:srgbClr val="1B262C"/>
                </a:solidFill>
                <a:latin typeface="Arial" pitchFamily="34" charset="0"/>
                <a:ea typeface="Arial" pitchFamily="34" charset="-122"/>
                <a:cs typeface="Arial" pitchFamily="34" charset="-120"/>
              </a:rPr>
              <a:t> = 3 × 3 × 3 × 3 = 81</a:t>
            </a:r>
            <a:endParaRPr lang="en-US" sz="2000" dirty="0"/>
          </a:p>
        </p:txBody>
      </p:sp>
      <p:sp>
        <p:nvSpPr>
          <p:cNvPr id="12" name="Text 10"/>
          <p:cNvSpPr txBox="1"/>
          <p:nvPr/>
        </p:nvSpPr>
        <p:spPr>
          <a:xfrm>
            <a:off x="548640" y="2194560"/>
            <a:ext cx="3794760" cy="365760"/>
          </a:xfrm>
          <a:prstGeom prst="rect">
            <a:avLst/>
          </a:prstGeom>
          <a:noFill/>
          <a:ln/>
        </p:spPr>
        <p:txBody>
          <a:bodyPr wrap="square" lIns="0" tIns="0" rIns="0" bIns="0" rtlCol="0" anchor="t"/>
          <a:lstStyle/>
          <a:p>
            <a:pPr rtl="1" algn="ctr" indent="0" marL="0">
              <a:buNone/>
            </a:pPr>
            <a:r>
              <a:rPr lang="ar-LB" altLang="en-US" sz="1400" dirty="0">
                <a:solidFill>
                  <a:srgbClr val="5B6770"/>
                </a:solidFill>
              </a:rPr>
              <a:t>ضربنا العدد 3 في نفسه أربع مرات</a:t>
            </a:r>
            <a:endParaRPr lang="ar-LB" sz="1400" dirty="0"/>
          </a:p>
        </p:txBody>
      </p:sp>
      <p:sp>
        <p:nvSpPr>
          <p:cNvPr id="13" name="order"/>
          <p:cNvSpPr/>
          <p:nvPr/>
        </p:nvSpPr>
        <p:spPr>
          <a:xfrm>
            <a:off x="4709160" y="2880360"/>
            <a:ext cx="3977640" cy="1600200"/>
          </a:xfrm>
          <a:prstGeom prst="roundRect">
            <a:avLst>
              <a:gd name="adj" fmla="val 6857"/>
            </a:avLst>
          </a:prstGeom>
          <a:solidFill>
            <a:srgbClr val="2671B8">
              <a:alpha val="10000"/>
            </a:srgbClr>
          </a:solidFill>
          <a:ln w="12700">
            <a:solidFill>
              <a:srgbClr val="2671B8">
                <a:alpha val="60000"/>
              </a:srgbClr>
            </a:solidFill>
            <a:prstDash val="solid"/>
          </a:ln>
        </p:spPr>
      </p:sp>
      <p:sp>
        <p:nvSpPr>
          <p:cNvPr id="14" name="Text 12"/>
          <p:cNvSpPr txBox="1"/>
          <p:nvPr/>
        </p:nvSpPr>
        <p:spPr>
          <a:xfrm>
            <a:off x="4846320" y="2944368"/>
            <a:ext cx="3703320" cy="347472"/>
          </a:xfrm>
          <a:prstGeom prst="rect">
            <a:avLst/>
          </a:prstGeom>
          <a:noFill/>
          <a:ln/>
        </p:spPr>
        <p:txBody>
          <a:bodyPr wrap="square" lIns="0" tIns="0" rIns="0" bIns="0" rtlCol="0" anchor="t"/>
          <a:lstStyle/>
          <a:p>
            <a:pPr rtl="1" algn="r" indent="0" marL="0">
              <a:buNone/>
            </a:pPr>
            <a:r>
              <a:rPr lang="ar-LB" altLang="en-US" sz="1500" b="1" dirty="0">
                <a:solidFill>
                  <a:srgbClr val="2671B8"/>
                </a:solidFill>
              </a:rPr>
              <a:t>هل الترتيب مهم؟</a:t>
            </a:r>
            <a:endParaRPr lang="ar-LB" sz="1500" dirty="0"/>
          </a:p>
        </p:txBody>
      </p:sp>
      <p:sp>
        <p:nvSpPr>
          <p:cNvPr id="15" name="Text 13"/>
          <p:cNvSpPr txBox="1"/>
          <p:nvPr/>
        </p:nvSpPr>
        <p:spPr>
          <a:xfrm>
            <a:off x="4846320" y="3310128"/>
            <a:ext cx="3703320" cy="411480"/>
          </a:xfrm>
          <a:prstGeom prst="rect">
            <a:avLst/>
          </a:prstGeom>
          <a:noFill/>
          <a:ln/>
        </p:spPr>
        <p:txBody>
          <a:bodyPr wrap="square" lIns="0" tIns="0" rIns="0" bIns="0" rtlCol="0" anchor="ctr"/>
          <a:lstStyle/>
          <a:p>
            <a:pPr rtl="0" algn="ctr" indent="0" marL="0">
              <a:buNone/>
            </a:pPr>
            <a:r>
              <a:rPr lang="en-US" sz="1800" b="1" dirty="0">
                <a:solidFill>
                  <a:srgbClr val="0F8B8D"/>
                </a:solidFill>
                <a:latin typeface="Arial" pitchFamily="34" charset="0"/>
                <a:ea typeface="Arial" pitchFamily="34" charset="-122"/>
                <a:cs typeface="Arial" pitchFamily="34" charset="-120"/>
              </a:rPr>
              <a:t>3 × 4 = 4 × 3 = 12</a:t>
            </a:r>
            <a:endParaRPr lang="en-US" sz="1800" dirty="0"/>
          </a:p>
        </p:txBody>
      </p:sp>
      <p:sp>
        <p:nvSpPr>
          <p:cNvPr id="16" name="Text 14"/>
          <p:cNvSpPr txBox="1"/>
          <p:nvPr/>
        </p:nvSpPr>
        <p:spPr>
          <a:xfrm>
            <a:off x="4846320" y="3721608"/>
            <a:ext cx="3703320" cy="411480"/>
          </a:xfrm>
          <a:prstGeom prst="rect">
            <a:avLst/>
          </a:prstGeom>
          <a:noFill/>
          <a:ln/>
        </p:spPr>
        <p:txBody>
          <a:bodyPr wrap="square" lIns="0" tIns="0" rIns="0" bIns="0" rtlCol="0" anchor="ctr"/>
          <a:lstStyle/>
          <a:p>
            <a:pPr rtl="0" algn="ctr" indent="0" marL="0">
              <a:buNone/>
            </a:pPr>
            <a:r>
              <a:rPr lang="en-US" sz="1800" b="1" dirty="0">
                <a:solidFill>
                  <a:srgbClr val="E36414"/>
                </a:solidFill>
                <a:latin typeface="Arial" pitchFamily="34" charset="0"/>
                <a:ea typeface="Arial" pitchFamily="34" charset="-122"/>
                <a:cs typeface="Arial" pitchFamily="34" charset="-120"/>
              </a:rPr>
              <a:t>3</a:t>
            </a:r>
            <a:r>
              <a:rPr lang="en-US" sz="1800" b="1" baseline="30000" dirty="0">
                <a:solidFill>
                  <a:srgbClr val="E36414"/>
                </a:solidFill>
                <a:latin typeface="Arial" pitchFamily="34" charset="0"/>
                <a:ea typeface="Arial" pitchFamily="34" charset="-122"/>
                <a:cs typeface="Arial" pitchFamily="34" charset="-120"/>
              </a:rPr>
              <a:t>4</a:t>
            </a:r>
            <a:r>
              <a:rPr lang="en-US" sz="1800" b="1" dirty="0">
                <a:solidFill>
                  <a:srgbClr val="E36414"/>
                </a:solidFill>
                <a:latin typeface="Arial" pitchFamily="34" charset="0"/>
                <a:ea typeface="Arial" pitchFamily="34" charset="-122"/>
                <a:cs typeface="Arial" pitchFamily="34" charset="-120"/>
              </a:rPr>
              <a:t> = 81     4</a:t>
            </a:r>
            <a:r>
              <a:rPr lang="en-US" sz="1800" b="1" baseline="30000" dirty="0">
                <a:solidFill>
                  <a:srgbClr val="E36414"/>
                </a:solidFill>
                <a:latin typeface="Arial" pitchFamily="34" charset="0"/>
                <a:ea typeface="Arial" pitchFamily="34" charset="-122"/>
                <a:cs typeface="Arial" pitchFamily="34" charset="-120"/>
              </a:rPr>
              <a:t>3</a:t>
            </a:r>
            <a:r>
              <a:rPr lang="en-US" sz="1800" b="1" dirty="0">
                <a:solidFill>
                  <a:srgbClr val="E36414"/>
                </a:solidFill>
                <a:latin typeface="Arial" pitchFamily="34" charset="0"/>
                <a:ea typeface="Arial" pitchFamily="34" charset="-122"/>
                <a:cs typeface="Arial" pitchFamily="34" charset="-120"/>
              </a:rPr>
              <a:t> = 64</a:t>
            </a:r>
            <a:endParaRPr lang="en-US" sz="1800" dirty="0"/>
          </a:p>
        </p:txBody>
      </p:sp>
      <p:sp>
        <p:nvSpPr>
          <p:cNvPr id="17" name="Text 15"/>
          <p:cNvSpPr txBox="1"/>
          <p:nvPr/>
        </p:nvSpPr>
        <p:spPr>
          <a:xfrm>
            <a:off x="4846320" y="4114800"/>
            <a:ext cx="3703320" cy="320040"/>
          </a:xfrm>
          <a:prstGeom prst="rect">
            <a:avLst/>
          </a:prstGeom>
          <a:noFill/>
          <a:ln/>
        </p:spPr>
        <p:txBody>
          <a:bodyPr wrap="square" lIns="0" tIns="0" rIns="0" bIns="0" rtlCol="0" anchor="t"/>
          <a:lstStyle/>
          <a:p>
            <a:pPr rtl="1" algn="ctr" indent="0" marL="0">
              <a:buNone/>
            </a:pPr>
            <a:r>
              <a:rPr lang="ar-LB" altLang="en-US" sz="1300" dirty="0">
                <a:solidFill>
                  <a:srgbClr val="1B262C"/>
                </a:solidFill>
              </a:rPr>
              <a:t>في القوّة لا يجوز تبديل الأساس والأس</a:t>
            </a:r>
            <a:endParaRPr lang="ar-LB" sz="1300" dirty="0"/>
          </a:p>
        </p:txBody>
      </p:sp>
      <p:sp>
        <p:nvSpPr>
          <p:cNvPr id="18" name="mistake"/>
          <p:cNvSpPr/>
          <p:nvPr/>
        </p:nvSpPr>
        <p:spPr>
          <a:xfrm>
            <a:off x="457200" y="2880360"/>
            <a:ext cx="3977640" cy="1600200"/>
          </a:xfrm>
          <a:prstGeom prst="roundRect">
            <a:avLst>
              <a:gd name="adj" fmla="val 6857"/>
            </a:avLst>
          </a:prstGeom>
          <a:solidFill>
            <a:srgbClr val="E36414">
              <a:alpha val="15000"/>
            </a:srgbClr>
          </a:solidFill>
          <a:ln w="12700">
            <a:solidFill>
              <a:srgbClr val="E36414">
                <a:alpha val="60000"/>
              </a:srgbClr>
            </a:solidFill>
            <a:prstDash val="solid"/>
          </a:ln>
        </p:spPr>
      </p:sp>
      <p:sp>
        <p:nvSpPr>
          <p:cNvPr id="19" name="Shape 17"/>
          <p:cNvSpPr/>
          <p:nvPr/>
        </p:nvSpPr>
        <p:spPr>
          <a:xfrm>
            <a:off x="3840480" y="2971800"/>
            <a:ext cx="411480" cy="411480"/>
          </a:xfrm>
          <a:prstGeom prst="ellipse">
            <a:avLst/>
          </a:prstGeom>
          <a:solidFill>
            <a:srgbClr val="E36414"/>
          </a:solidFill>
          <a:ln w="12700">
            <a:solidFill>
              <a:srgbClr val="E36414"/>
            </a:solidFill>
            <a:prstDash val="solid"/>
          </a:ln>
        </p:spPr>
      </p:sp>
      <p:pic>
        <p:nvPicPr>
          <p:cNvPr id="20" name="Image 0" descr="preencoded.png">    </p:cNvPr>
          <p:cNvPicPr>
            <a:picLocks noChangeAspect="1"/>
          </p:cNvPicPr>
          <p:nvPr/>
        </p:nvPicPr>
        <p:blipFill>
          <a:blip r:embed="rId1"/>
          <a:stretch>
            <a:fillRect/>
          </a:stretch>
        </p:blipFill>
        <p:spPr>
          <a:xfrm>
            <a:off x="3939235" y="3070555"/>
            <a:ext cx="213970" cy="213970"/>
          </a:xfrm>
          <a:prstGeom prst="rect">
            <a:avLst/>
          </a:prstGeom>
        </p:spPr>
      </p:pic>
      <p:sp>
        <p:nvSpPr>
          <p:cNvPr id="21" name="Text 18"/>
          <p:cNvSpPr txBox="1"/>
          <p:nvPr/>
        </p:nvSpPr>
        <p:spPr>
          <a:xfrm>
            <a:off x="594360" y="2971800"/>
            <a:ext cx="3154680" cy="411480"/>
          </a:xfrm>
          <a:prstGeom prst="rect">
            <a:avLst/>
          </a:prstGeom>
          <a:noFill/>
          <a:ln/>
        </p:spPr>
        <p:txBody>
          <a:bodyPr wrap="square" lIns="0" tIns="0" rIns="0" bIns="0" rtlCol="0" anchor="ctr"/>
          <a:lstStyle/>
          <a:p>
            <a:pPr rtl="1" algn="r" indent="0" marL="0">
              <a:buNone/>
            </a:pPr>
            <a:r>
              <a:rPr lang="ar-LB" altLang="en-US" sz="1600" b="1" dirty="0">
                <a:solidFill>
                  <a:srgbClr val="E36414"/>
                </a:solidFill>
              </a:rPr>
              <a:t>خطأ شائع</a:t>
            </a:r>
            <a:endParaRPr lang="ar-LB" sz="1600" dirty="0"/>
          </a:p>
        </p:txBody>
      </p:sp>
      <p:sp>
        <p:nvSpPr>
          <p:cNvPr id="22" name="Text 19"/>
          <p:cNvSpPr txBox="1"/>
          <p:nvPr/>
        </p:nvSpPr>
        <p:spPr>
          <a:xfrm>
            <a:off x="594360" y="3429000"/>
            <a:ext cx="3703320" cy="411480"/>
          </a:xfrm>
          <a:prstGeom prst="rect">
            <a:avLst/>
          </a:prstGeom>
          <a:noFill/>
          <a:ln/>
        </p:spPr>
        <p:txBody>
          <a:bodyPr wrap="square" lIns="0" tIns="0" rIns="0" bIns="0" rtlCol="0" anchor="ctr"/>
          <a:lstStyle/>
          <a:p>
            <a:pPr rtl="0" algn="ctr" indent="0" marL="0">
              <a:buNone/>
            </a:pPr>
            <a:r>
              <a:rPr lang="en-US" sz="2000" b="1" dirty="0">
                <a:solidFill>
                  <a:srgbClr val="B23A0B"/>
                </a:solidFill>
                <a:latin typeface="Arial" pitchFamily="34" charset="0"/>
                <a:ea typeface="Arial" pitchFamily="34" charset="-122"/>
                <a:cs typeface="Arial" pitchFamily="34" charset="-120"/>
              </a:rPr>
              <a:t>5</a:t>
            </a:r>
            <a:r>
              <a:rPr lang="en-US" sz="2000" b="1" baseline="30000" dirty="0">
                <a:solidFill>
                  <a:srgbClr val="B23A0B"/>
                </a:solidFill>
                <a:latin typeface="Arial" pitchFamily="34" charset="0"/>
                <a:ea typeface="Arial" pitchFamily="34" charset="-122"/>
                <a:cs typeface="Arial" pitchFamily="34" charset="-120"/>
              </a:rPr>
              <a:t>2</a:t>
            </a:r>
            <a:r>
              <a:rPr lang="en-US" sz="2000" b="1" dirty="0">
                <a:solidFill>
                  <a:srgbClr val="B23A0B"/>
                </a:solidFill>
                <a:latin typeface="Arial" pitchFamily="34" charset="0"/>
                <a:ea typeface="Arial" pitchFamily="34" charset="-122"/>
                <a:cs typeface="Arial" pitchFamily="34" charset="-120"/>
              </a:rPr>
              <a:t> = 10   ✗</a:t>
            </a:r>
            <a:endParaRPr lang="en-US" sz="2000" dirty="0"/>
          </a:p>
        </p:txBody>
      </p:sp>
      <p:sp>
        <p:nvSpPr>
          <p:cNvPr id="23" name="Text 20"/>
          <p:cNvSpPr txBox="1"/>
          <p:nvPr/>
        </p:nvSpPr>
        <p:spPr>
          <a:xfrm>
            <a:off x="594360" y="3886200"/>
            <a:ext cx="3703320" cy="411480"/>
          </a:xfrm>
          <a:prstGeom prst="rect">
            <a:avLst/>
          </a:prstGeom>
          <a:noFill/>
          <a:ln/>
        </p:spPr>
        <p:txBody>
          <a:bodyPr wrap="square" lIns="0" tIns="0" rIns="0" bIns="0" rtlCol="0" anchor="ctr"/>
          <a:lstStyle/>
          <a:p>
            <a:pPr rtl="0" algn="ctr" indent="0" marL="0">
              <a:buNone/>
            </a:pPr>
            <a:r>
              <a:rPr lang="en-US" sz="2000" b="1" dirty="0">
                <a:solidFill>
                  <a:srgbClr val="2E9E5B"/>
                </a:solidFill>
                <a:latin typeface="Arial" pitchFamily="34" charset="0"/>
                <a:ea typeface="Arial" pitchFamily="34" charset="-122"/>
                <a:cs typeface="Arial" pitchFamily="34" charset="-120"/>
              </a:rPr>
              <a:t>5</a:t>
            </a:r>
            <a:r>
              <a:rPr lang="en-US" sz="2000" b="1" baseline="30000" dirty="0">
                <a:solidFill>
                  <a:srgbClr val="2E9E5B"/>
                </a:solidFill>
                <a:latin typeface="Arial" pitchFamily="34" charset="0"/>
                <a:ea typeface="Arial" pitchFamily="34" charset="-122"/>
                <a:cs typeface="Arial" pitchFamily="34" charset="-120"/>
              </a:rPr>
              <a:t>2</a:t>
            </a:r>
            <a:r>
              <a:rPr lang="en-US" sz="2000" b="1" dirty="0">
                <a:solidFill>
                  <a:srgbClr val="2E9E5B"/>
                </a:solidFill>
                <a:latin typeface="Arial" pitchFamily="34" charset="0"/>
                <a:ea typeface="Arial" pitchFamily="34" charset="-122"/>
                <a:cs typeface="Arial" pitchFamily="34" charset="-120"/>
              </a:rPr>
              <a:t> = 5 × 5 = 25   ✓</a:t>
            </a:r>
            <a:endParaRPr lang="en-US" sz="20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الترميز الأسّي</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t"/>
          <a:lstStyle/>
          <a:p>
            <a:pPr rtl="1" algn="r" indent="0" marL="0">
              <a:buNone/>
            </a:pPr>
            <a:r>
              <a:rPr lang="ar-LB" altLang="en-US" sz="1600" dirty="0">
                <a:solidFill>
                  <a:srgbClr val="5B6770"/>
                </a:solidFill>
              </a:rPr>
              <a:t>نكتب الضرب المتكرر لعامل واحد على شكل قوّة:</a:t>
            </a:r>
            <a:endParaRPr lang="ar-LB" sz="1600" dirty="0"/>
          </a:p>
        </p:txBody>
      </p:sp>
      <p:sp>
        <p:nvSpPr>
          <p:cNvPr id="4" name="n0"/>
          <p:cNvSpPr/>
          <p:nvPr/>
        </p:nvSpPr>
        <p:spPr>
          <a:xfrm>
            <a:off x="457200" y="1371600"/>
            <a:ext cx="8229600" cy="457200"/>
          </a:xfrm>
          <a:prstGeom prst="roundRect">
            <a:avLst>
              <a:gd name="adj" fmla="val 24000"/>
            </a:avLst>
          </a:prstGeom>
          <a:solidFill>
            <a:srgbClr val="0F8B8D">
              <a:alpha val="8000"/>
            </a:srgbClr>
          </a:solidFill>
          <a:ln w="12700">
            <a:solidFill>
              <a:srgbClr val="0F8B8D">
                <a:alpha val="60000"/>
              </a:srgbClr>
            </a:solidFill>
            <a:prstDash val="solid"/>
          </a:ln>
        </p:spPr>
      </p:sp>
      <p:sp>
        <p:nvSpPr>
          <p:cNvPr id="5" name="Text 3"/>
          <p:cNvSpPr txBox="1"/>
          <p:nvPr/>
        </p:nvSpPr>
        <p:spPr>
          <a:xfrm>
            <a:off x="640080" y="1371600"/>
            <a:ext cx="4572000" cy="45720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7 × 7 × 7 = 7</a:t>
            </a:r>
            <a:r>
              <a:rPr lang="en-US" sz="1900" b="1" baseline="30000" dirty="0">
                <a:solidFill>
                  <a:srgbClr val="1B262C"/>
                </a:solidFill>
                <a:latin typeface="Arial" pitchFamily="34" charset="0"/>
                <a:ea typeface="Arial" pitchFamily="34" charset="-122"/>
                <a:cs typeface="Arial" pitchFamily="34" charset="-120"/>
              </a:rPr>
              <a:t>3</a:t>
            </a:r>
            <a:endParaRPr lang="en-US" sz="1900" dirty="0"/>
          </a:p>
        </p:txBody>
      </p:sp>
      <p:sp>
        <p:nvSpPr>
          <p:cNvPr id="6" name="Text 4"/>
          <p:cNvSpPr txBox="1"/>
          <p:nvPr/>
        </p:nvSpPr>
        <p:spPr>
          <a:xfrm>
            <a:off x="5394960" y="1371600"/>
            <a:ext cx="3108960" cy="457200"/>
          </a:xfrm>
          <a:prstGeom prst="rect">
            <a:avLst/>
          </a:prstGeom>
          <a:noFill/>
          <a:ln/>
        </p:spPr>
        <p:txBody>
          <a:bodyPr wrap="square" lIns="0" tIns="0" rIns="0" bIns="0" rtlCol="0" anchor="ctr"/>
          <a:lstStyle/>
          <a:p>
            <a:pPr rtl="1" algn="r" indent="0" marL="0">
              <a:buNone/>
            </a:pPr>
            <a:r>
              <a:rPr lang="ar-LB" altLang="en-US" sz="1400" dirty="0">
                <a:solidFill>
                  <a:srgbClr val="5B6770"/>
                </a:solidFill>
              </a:rPr>
              <a:t>تُقرأ: 7 أس 3، أو مكعّب 7</a:t>
            </a:r>
            <a:endParaRPr lang="ar-LB" sz="1400" dirty="0"/>
          </a:p>
        </p:txBody>
      </p:sp>
      <p:sp>
        <p:nvSpPr>
          <p:cNvPr id="7" name="n1"/>
          <p:cNvSpPr/>
          <p:nvPr/>
        </p:nvSpPr>
        <p:spPr>
          <a:xfrm>
            <a:off x="457200" y="1920240"/>
            <a:ext cx="8229600" cy="457200"/>
          </a:xfrm>
          <a:prstGeom prst="roundRect">
            <a:avLst>
              <a:gd name="adj" fmla="val 24000"/>
            </a:avLst>
          </a:prstGeom>
          <a:solidFill>
            <a:srgbClr val="2671B8">
              <a:alpha val="8000"/>
            </a:srgbClr>
          </a:solidFill>
          <a:ln w="12700">
            <a:solidFill>
              <a:srgbClr val="2671B8">
                <a:alpha val="60000"/>
              </a:srgbClr>
            </a:solidFill>
            <a:prstDash val="solid"/>
          </a:ln>
        </p:spPr>
      </p:sp>
      <p:sp>
        <p:nvSpPr>
          <p:cNvPr id="8" name="Text 6"/>
          <p:cNvSpPr txBox="1"/>
          <p:nvPr/>
        </p:nvSpPr>
        <p:spPr>
          <a:xfrm>
            <a:off x="640080" y="1920240"/>
            <a:ext cx="4572000" cy="45720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6 × 6 = 6</a:t>
            </a:r>
            <a:r>
              <a:rPr lang="en-US" sz="1900" b="1" baseline="30000" dirty="0">
                <a:solidFill>
                  <a:srgbClr val="1B262C"/>
                </a:solidFill>
                <a:latin typeface="Arial" pitchFamily="34" charset="0"/>
                <a:ea typeface="Arial" pitchFamily="34" charset="-122"/>
                <a:cs typeface="Arial" pitchFamily="34" charset="-120"/>
              </a:rPr>
              <a:t>2</a:t>
            </a:r>
            <a:endParaRPr lang="en-US" sz="1900" dirty="0"/>
          </a:p>
        </p:txBody>
      </p:sp>
      <p:sp>
        <p:nvSpPr>
          <p:cNvPr id="9" name="Text 7"/>
          <p:cNvSpPr txBox="1"/>
          <p:nvPr/>
        </p:nvSpPr>
        <p:spPr>
          <a:xfrm>
            <a:off x="5394960" y="1920240"/>
            <a:ext cx="3108960" cy="457200"/>
          </a:xfrm>
          <a:prstGeom prst="rect">
            <a:avLst/>
          </a:prstGeom>
          <a:noFill/>
          <a:ln/>
        </p:spPr>
        <p:txBody>
          <a:bodyPr wrap="square" lIns="0" tIns="0" rIns="0" bIns="0" rtlCol="0" anchor="ctr"/>
          <a:lstStyle/>
          <a:p>
            <a:pPr rtl="1" algn="r" indent="0" marL="0">
              <a:buNone/>
            </a:pPr>
            <a:r>
              <a:rPr lang="ar-LB" altLang="en-US" sz="1400" dirty="0">
                <a:solidFill>
                  <a:srgbClr val="5B6770"/>
                </a:solidFill>
              </a:rPr>
              <a:t>تُقرأ: 6 أس 2، أو مربّع 6</a:t>
            </a:r>
            <a:endParaRPr lang="ar-LB" sz="1400" dirty="0"/>
          </a:p>
        </p:txBody>
      </p:sp>
      <p:sp>
        <p:nvSpPr>
          <p:cNvPr id="10" name="n2"/>
          <p:cNvSpPr/>
          <p:nvPr/>
        </p:nvSpPr>
        <p:spPr>
          <a:xfrm>
            <a:off x="457200" y="2468880"/>
            <a:ext cx="8229600" cy="457200"/>
          </a:xfrm>
          <a:prstGeom prst="roundRect">
            <a:avLst>
              <a:gd name="adj" fmla="val 24000"/>
            </a:avLst>
          </a:prstGeom>
          <a:solidFill>
            <a:srgbClr val="0F8B8D">
              <a:alpha val="8000"/>
            </a:srgbClr>
          </a:solidFill>
          <a:ln w="12700">
            <a:solidFill>
              <a:srgbClr val="0F8B8D">
                <a:alpha val="60000"/>
              </a:srgbClr>
            </a:solidFill>
            <a:prstDash val="solid"/>
          </a:ln>
        </p:spPr>
      </p:sp>
      <p:sp>
        <p:nvSpPr>
          <p:cNvPr id="11" name="Text 9"/>
          <p:cNvSpPr txBox="1"/>
          <p:nvPr/>
        </p:nvSpPr>
        <p:spPr>
          <a:xfrm>
            <a:off x="640080" y="2468880"/>
            <a:ext cx="4572000" cy="45720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10 × 10 × 10 × 10 = 10</a:t>
            </a:r>
            <a:r>
              <a:rPr lang="en-US" sz="1900" b="1" baseline="30000" dirty="0">
                <a:solidFill>
                  <a:srgbClr val="1B262C"/>
                </a:solidFill>
                <a:latin typeface="Arial" pitchFamily="34" charset="0"/>
                <a:ea typeface="Arial" pitchFamily="34" charset="-122"/>
                <a:cs typeface="Arial" pitchFamily="34" charset="-120"/>
              </a:rPr>
              <a:t>4</a:t>
            </a:r>
            <a:endParaRPr lang="en-US" sz="1900" dirty="0"/>
          </a:p>
        </p:txBody>
      </p:sp>
      <p:sp>
        <p:nvSpPr>
          <p:cNvPr id="12" name="Text 10"/>
          <p:cNvSpPr txBox="1"/>
          <p:nvPr/>
        </p:nvSpPr>
        <p:spPr>
          <a:xfrm>
            <a:off x="5394960" y="2468880"/>
            <a:ext cx="3108960" cy="457200"/>
          </a:xfrm>
          <a:prstGeom prst="rect">
            <a:avLst/>
          </a:prstGeom>
          <a:noFill/>
          <a:ln/>
        </p:spPr>
        <p:txBody>
          <a:bodyPr wrap="square" lIns="0" tIns="0" rIns="0" bIns="0" rtlCol="0" anchor="ctr"/>
          <a:lstStyle/>
          <a:p>
            <a:pPr rtl="1" algn="r" indent="0" marL="0">
              <a:buNone/>
            </a:pPr>
            <a:r>
              <a:rPr lang="ar-LB" altLang="en-US" sz="1400" dirty="0">
                <a:solidFill>
                  <a:srgbClr val="5B6770"/>
                </a:solidFill>
              </a:rPr>
              <a:t>يساوي 10000</a:t>
            </a:r>
            <a:endParaRPr lang="ar-LB" sz="1400" dirty="0"/>
          </a:p>
        </p:txBody>
      </p:sp>
      <p:sp>
        <p:nvSpPr>
          <p:cNvPr id="13" name="n3"/>
          <p:cNvSpPr/>
          <p:nvPr/>
        </p:nvSpPr>
        <p:spPr>
          <a:xfrm>
            <a:off x="457200" y="3017520"/>
            <a:ext cx="8229600" cy="457200"/>
          </a:xfrm>
          <a:prstGeom prst="roundRect">
            <a:avLst>
              <a:gd name="adj" fmla="val 24000"/>
            </a:avLst>
          </a:prstGeom>
          <a:solidFill>
            <a:srgbClr val="2671B8">
              <a:alpha val="8000"/>
            </a:srgbClr>
          </a:solidFill>
          <a:ln w="12700">
            <a:solidFill>
              <a:srgbClr val="2671B8">
                <a:alpha val="60000"/>
              </a:srgbClr>
            </a:solidFill>
            <a:prstDash val="solid"/>
          </a:ln>
        </p:spPr>
      </p:sp>
      <p:sp>
        <p:nvSpPr>
          <p:cNvPr id="14" name="Text 12"/>
          <p:cNvSpPr txBox="1"/>
          <p:nvPr/>
        </p:nvSpPr>
        <p:spPr>
          <a:xfrm>
            <a:off x="640080" y="3017520"/>
            <a:ext cx="4572000" cy="45720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a × a × a × a × a = a</a:t>
            </a:r>
            <a:r>
              <a:rPr lang="en-US" sz="1900" b="1" baseline="30000" dirty="0">
                <a:solidFill>
                  <a:srgbClr val="1B262C"/>
                </a:solidFill>
                <a:latin typeface="Arial" pitchFamily="34" charset="0"/>
                <a:ea typeface="Arial" pitchFamily="34" charset="-122"/>
                <a:cs typeface="Arial" pitchFamily="34" charset="-120"/>
              </a:rPr>
              <a:t>5</a:t>
            </a:r>
            <a:endParaRPr lang="en-US" sz="1900" dirty="0"/>
          </a:p>
        </p:txBody>
      </p:sp>
      <p:sp>
        <p:nvSpPr>
          <p:cNvPr id="15" name="Text 13"/>
          <p:cNvSpPr txBox="1"/>
          <p:nvPr/>
        </p:nvSpPr>
        <p:spPr>
          <a:xfrm>
            <a:off x="5394960" y="3017520"/>
            <a:ext cx="3108960" cy="457200"/>
          </a:xfrm>
          <a:prstGeom prst="rect">
            <a:avLst/>
          </a:prstGeom>
          <a:noFill/>
          <a:ln/>
        </p:spPr>
        <p:txBody>
          <a:bodyPr wrap="square" lIns="0" tIns="0" rIns="0" bIns="0" rtlCol="0" anchor="ctr"/>
          <a:lstStyle/>
          <a:p>
            <a:pPr rtl="1" algn="r" indent="0" marL="0">
              <a:buNone/>
            </a:pPr>
            <a:r>
              <a:rPr lang="ar-LB" altLang="en-US" sz="1400" dirty="0">
                <a:solidFill>
                  <a:srgbClr val="5B6770"/>
                </a:solidFill>
              </a:rPr>
              <a:t>الأساس قد يكون حرفًا</a:t>
            </a:r>
            <a:endParaRPr lang="ar-LB" sz="1400" dirty="0"/>
          </a:p>
        </p:txBody>
      </p:sp>
      <p:sp>
        <p:nvSpPr>
          <p:cNvPr id="16" name="n4"/>
          <p:cNvSpPr/>
          <p:nvPr/>
        </p:nvSpPr>
        <p:spPr>
          <a:xfrm>
            <a:off x="457200" y="3566160"/>
            <a:ext cx="8229600" cy="457200"/>
          </a:xfrm>
          <a:prstGeom prst="roundRect">
            <a:avLst>
              <a:gd name="adj" fmla="val 24000"/>
            </a:avLst>
          </a:prstGeom>
          <a:solidFill>
            <a:srgbClr val="0F8B8D">
              <a:alpha val="8000"/>
            </a:srgbClr>
          </a:solidFill>
          <a:ln w="12700">
            <a:solidFill>
              <a:srgbClr val="0F8B8D">
                <a:alpha val="60000"/>
              </a:srgbClr>
            </a:solidFill>
            <a:prstDash val="solid"/>
          </a:ln>
        </p:spPr>
      </p:sp>
      <p:sp>
        <p:nvSpPr>
          <p:cNvPr id="17" name="Text 15"/>
          <p:cNvSpPr txBox="1"/>
          <p:nvPr/>
        </p:nvSpPr>
        <p:spPr>
          <a:xfrm>
            <a:off x="640080" y="3566160"/>
            <a:ext cx="4572000" cy="45720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2 × 2 × 2 × 5 × 5 = 2</a:t>
            </a:r>
            <a:r>
              <a:rPr lang="en-US" sz="1900" b="1" baseline="30000" dirty="0">
                <a:solidFill>
                  <a:srgbClr val="1B262C"/>
                </a:solidFill>
                <a:latin typeface="Arial" pitchFamily="34" charset="0"/>
                <a:ea typeface="Arial" pitchFamily="34" charset="-122"/>
                <a:cs typeface="Arial" pitchFamily="34" charset="-120"/>
              </a:rPr>
              <a:t>3</a:t>
            </a:r>
            <a:r>
              <a:rPr lang="en-US" sz="1900" b="1" dirty="0">
                <a:solidFill>
                  <a:srgbClr val="1B262C"/>
                </a:solidFill>
                <a:latin typeface="Arial" pitchFamily="34" charset="0"/>
                <a:ea typeface="Arial" pitchFamily="34" charset="-122"/>
                <a:cs typeface="Arial" pitchFamily="34" charset="-120"/>
              </a:rPr>
              <a:t> × 5</a:t>
            </a:r>
            <a:r>
              <a:rPr lang="en-US" sz="1900" b="1" baseline="30000" dirty="0">
                <a:solidFill>
                  <a:srgbClr val="1B262C"/>
                </a:solidFill>
                <a:latin typeface="Arial" pitchFamily="34" charset="0"/>
                <a:ea typeface="Arial" pitchFamily="34" charset="-122"/>
                <a:cs typeface="Arial" pitchFamily="34" charset="-120"/>
              </a:rPr>
              <a:t>2</a:t>
            </a:r>
            <a:endParaRPr lang="en-US" sz="1900" dirty="0"/>
          </a:p>
        </p:txBody>
      </p:sp>
      <p:sp>
        <p:nvSpPr>
          <p:cNvPr id="18" name="Text 16"/>
          <p:cNvSpPr txBox="1"/>
          <p:nvPr/>
        </p:nvSpPr>
        <p:spPr>
          <a:xfrm>
            <a:off x="5394960" y="3566160"/>
            <a:ext cx="3108960" cy="457200"/>
          </a:xfrm>
          <a:prstGeom prst="rect">
            <a:avLst/>
          </a:prstGeom>
          <a:noFill/>
          <a:ln/>
        </p:spPr>
        <p:txBody>
          <a:bodyPr wrap="square" lIns="0" tIns="0" rIns="0" bIns="0" rtlCol="0" anchor="ctr"/>
          <a:lstStyle/>
          <a:p>
            <a:pPr rtl="1" algn="r" indent="0" marL="0">
              <a:buNone/>
            </a:pPr>
            <a:r>
              <a:rPr lang="ar-LB" altLang="en-US" sz="1400" dirty="0">
                <a:solidFill>
                  <a:srgbClr val="5B6770"/>
                </a:solidFill>
              </a:rPr>
              <a:t>عاملان مختلفان: قوّتان</a:t>
            </a:r>
            <a:endParaRPr lang="ar-LB" sz="1400" dirty="0"/>
          </a:p>
        </p:txBody>
      </p:sp>
      <p:sp>
        <p:nvSpPr>
          <p:cNvPr id="19" name="Text 17"/>
          <p:cNvSpPr txBox="1"/>
          <p:nvPr/>
        </p:nvSpPr>
        <p:spPr>
          <a:xfrm>
            <a:off x="3931920" y="4206240"/>
            <a:ext cx="4754880" cy="365760"/>
          </a:xfrm>
          <a:prstGeom prst="rect">
            <a:avLst/>
          </a:prstGeom>
          <a:noFill/>
          <a:ln/>
        </p:spPr>
        <p:txBody>
          <a:bodyPr wrap="square" lIns="0" tIns="0" rIns="0" bIns="0" rtlCol="0" anchor="ctr"/>
          <a:lstStyle/>
          <a:p>
            <a:pPr rtl="1" algn="r" indent="0" marL="0">
              <a:buNone/>
            </a:pPr>
            <a:r>
              <a:rPr lang="ar-LB" altLang="en-US" sz="1400" b="1" dirty="0">
                <a:solidFill>
                  <a:srgbClr val="0F4C5C"/>
                </a:solidFill>
              </a:rPr>
              <a:t>والعكس: نكتب القوّة على شكل ضرب متكرر ثم نحسب:</a:t>
            </a:r>
            <a:endParaRPr lang="ar-LB" sz="1400" dirty="0"/>
          </a:p>
        </p:txBody>
      </p:sp>
      <p:sp>
        <p:nvSpPr>
          <p:cNvPr id="20" name="Text 18"/>
          <p:cNvSpPr txBox="1"/>
          <p:nvPr/>
        </p:nvSpPr>
        <p:spPr>
          <a:xfrm>
            <a:off x="457200" y="4206240"/>
            <a:ext cx="3383280" cy="365760"/>
          </a:xfrm>
          <a:prstGeom prst="rect">
            <a:avLst/>
          </a:prstGeom>
          <a:noFill/>
          <a:ln/>
        </p:spPr>
        <p:txBody>
          <a:bodyPr wrap="square" lIns="0" tIns="0" rIns="0" bIns="0" rtlCol="0" anchor="ctr"/>
          <a:lstStyle/>
          <a:p>
            <a:pPr rtl="0" algn="ctr" indent="0" marL="0">
              <a:buNone/>
            </a:pPr>
            <a:r>
              <a:rPr lang="en-US" sz="1800" b="1" dirty="0">
                <a:solidFill>
                  <a:srgbClr val="E36414"/>
                </a:solidFill>
                <a:latin typeface="Arial" pitchFamily="34" charset="0"/>
                <a:ea typeface="Arial" pitchFamily="34" charset="-122"/>
                <a:cs typeface="Arial" pitchFamily="34" charset="-120"/>
              </a:rPr>
              <a:t>4</a:t>
            </a:r>
            <a:r>
              <a:rPr lang="en-US" sz="1800" b="1" baseline="30000" dirty="0">
                <a:solidFill>
                  <a:srgbClr val="E36414"/>
                </a:solidFill>
                <a:latin typeface="Arial" pitchFamily="34" charset="0"/>
                <a:ea typeface="Arial" pitchFamily="34" charset="-122"/>
                <a:cs typeface="Arial" pitchFamily="34" charset="-120"/>
              </a:rPr>
              <a:t>3</a:t>
            </a:r>
            <a:r>
              <a:rPr lang="en-US" sz="1800" b="1" dirty="0">
                <a:solidFill>
                  <a:srgbClr val="E36414"/>
                </a:solidFill>
                <a:latin typeface="Arial" pitchFamily="34" charset="0"/>
                <a:ea typeface="Arial" pitchFamily="34" charset="-122"/>
                <a:cs typeface="Arial" pitchFamily="34" charset="-120"/>
              </a:rPr>
              <a:t> = 4 × 4 × 4 = 64</a:t>
            </a:r>
            <a:endParaRPr lang="en-US" sz="18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القوى في حياتنا اليومية</a:t>
            </a:r>
            <a:endParaRPr lang="en-US" sz="3000" dirty="0"/>
          </a:p>
        </p:txBody>
      </p:sp>
      <p:sp>
        <p:nvSpPr>
          <p:cNvPr id="3" name="life0"/>
          <p:cNvSpPr/>
          <p:nvPr/>
        </p:nvSpPr>
        <p:spPr>
          <a:xfrm>
            <a:off x="4709160" y="1005840"/>
            <a:ext cx="3977640" cy="1600200"/>
          </a:xfrm>
          <a:prstGeom prst="roundRect">
            <a:avLst>
              <a:gd name="adj" fmla="val 6857"/>
            </a:avLst>
          </a:prstGeom>
          <a:solidFill>
            <a:srgbClr val="0F8B8D">
              <a:alpha val="10000"/>
            </a:srgbClr>
          </a:solidFill>
          <a:ln w="12700">
            <a:solidFill>
              <a:srgbClr val="0F8B8D">
                <a:alpha val="60000"/>
              </a:srgbClr>
            </a:solidFill>
            <a:prstDash val="solid"/>
          </a:ln>
        </p:spPr>
      </p:sp>
      <p:sp>
        <p:nvSpPr>
          <p:cNvPr id="4" name="Shape 2"/>
          <p:cNvSpPr/>
          <p:nvPr/>
        </p:nvSpPr>
        <p:spPr>
          <a:xfrm>
            <a:off x="8092440" y="1143000"/>
            <a:ext cx="457200" cy="45720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8202168" y="1252728"/>
            <a:ext cx="237744" cy="237744"/>
          </a:xfrm>
          <a:prstGeom prst="rect">
            <a:avLst/>
          </a:prstGeom>
        </p:spPr>
      </p:pic>
      <p:sp>
        <p:nvSpPr>
          <p:cNvPr id="6" name="Text 3"/>
          <p:cNvSpPr txBox="1"/>
          <p:nvPr/>
        </p:nvSpPr>
        <p:spPr>
          <a:xfrm>
            <a:off x="4846320" y="1115568"/>
            <a:ext cx="3154680" cy="777240"/>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مساحة غرفة مربّعة طول ضلعها 6 أمتار</a:t>
            </a:r>
            <a:endParaRPr lang="ar-LB" sz="1400" dirty="0"/>
          </a:p>
        </p:txBody>
      </p:sp>
      <p:sp>
        <p:nvSpPr>
          <p:cNvPr id="7" name="Text 4"/>
          <p:cNvSpPr txBox="1"/>
          <p:nvPr/>
        </p:nvSpPr>
        <p:spPr>
          <a:xfrm>
            <a:off x="4846320" y="1965960"/>
            <a:ext cx="3703320" cy="502920"/>
          </a:xfrm>
          <a:prstGeom prst="rect">
            <a:avLst/>
          </a:prstGeom>
          <a:noFill/>
          <a:ln/>
        </p:spPr>
        <p:txBody>
          <a:bodyPr wrap="square" lIns="0" tIns="0" rIns="0" bIns="0" rtlCol="0" anchor="ctr"/>
          <a:lstStyle/>
          <a:p>
            <a:pPr rtl="0" algn="ctr" indent="0" marL="0">
              <a:buNone/>
            </a:pPr>
            <a:r>
              <a:rPr lang="en-US" sz="2200" b="1" dirty="0">
                <a:solidFill>
                  <a:srgbClr val="0F8B8D"/>
                </a:solidFill>
                <a:latin typeface="Arial" pitchFamily="34" charset="0"/>
                <a:ea typeface="Arial" pitchFamily="34" charset="-122"/>
                <a:cs typeface="Arial" pitchFamily="34" charset="-120"/>
              </a:rPr>
              <a:t>6</a:t>
            </a:r>
            <a:r>
              <a:rPr lang="en-US" sz="2200" b="1" baseline="30000" dirty="0">
                <a:solidFill>
                  <a:srgbClr val="0F8B8D"/>
                </a:solidFill>
                <a:latin typeface="Arial" pitchFamily="34" charset="0"/>
                <a:ea typeface="Arial" pitchFamily="34" charset="-122"/>
                <a:cs typeface="Arial" pitchFamily="34" charset="-120"/>
              </a:rPr>
              <a:t>2</a:t>
            </a:r>
            <a:r>
              <a:rPr lang="en-US" sz="2200" b="1" dirty="0">
                <a:solidFill>
                  <a:srgbClr val="0F8B8D"/>
                </a:solidFill>
                <a:latin typeface="Arial" pitchFamily="34" charset="0"/>
                <a:ea typeface="Arial" pitchFamily="34" charset="-122"/>
                <a:cs typeface="Arial" pitchFamily="34" charset="-120"/>
              </a:rPr>
              <a:t> = 36 m</a:t>
            </a:r>
            <a:r>
              <a:rPr lang="en-US" sz="2200" b="1" baseline="30000" dirty="0">
                <a:solidFill>
                  <a:srgbClr val="0F8B8D"/>
                </a:solidFill>
                <a:latin typeface="Arial" pitchFamily="34" charset="0"/>
                <a:ea typeface="Arial" pitchFamily="34" charset="-122"/>
                <a:cs typeface="Arial" pitchFamily="34" charset="-120"/>
              </a:rPr>
              <a:t>2</a:t>
            </a:r>
            <a:endParaRPr lang="en-US" sz="2200" dirty="0"/>
          </a:p>
        </p:txBody>
      </p:sp>
      <p:sp>
        <p:nvSpPr>
          <p:cNvPr id="8" name="life1"/>
          <p:cNvSpPr/>
          <p:nvPr/>
        </p:nvSpPr>
        <p:spPr>
          <a:xfrm>
            <a:off x="457200" y="1005840"/>
            <a:ext cx="3977640" cy="1600200"/>
          </a:xfrm>
          <a:prstGeom prst="roundRect">
            <a:avLst>
              <a:gd name="adj" fmla="val 6857"/>
            </a:avLst>
          </a:prstGeom>
          <a:solidFill>
            <a:srgbClr val="2671B8">
              <a:alpha val="10000"/>
            </a:srgbClr>
          </a:solidFill>
          <a:ln w="12700">
            <a:solidFill>
              <a:srgbClr val="2671B8">
                <a:alpha val="60000"/>
              </a:srgbClr>
            </a:solidFill>
            <a:prstDash val="solid"/>
          </a:ln>
        </p:spPr>
      </p:sp>
      <p:sp>
        <p:nvSpPr>
          <p:cNvPr id="9" name="Shape 6"/>
          <p:cNvSpPr/>
          <p:nvPr/>
        </p:nvSpPr>
        <p:spPr>
          <a:xfrm>
            <a:off x="3840480" y="1143000"/>
            <a:ext cx="457200" cy="457200"/>
          </a:xfrm>
          <a:prstGeom prst="ellipse">
            <a:avLst/>
          </a:prstGeom>
          <a:solidFill>
            <a:srgbClr val="2671B8"/>
          </a:solidFill>
          <a:ln w="12700">
            <a:solidFill>
              <a:srgbClr val="2671B8"/>
            </a:solidFill>
            <a:prstDash val="solid"/>
          </a:ln>
        </p:spPr>
      </p:sp>
      <p:pic>
        <p:nvPicPr>
          <p:cNvPr id="10" name="Image 1" descr="preencoded.png">    </p:cNvPr>
          <p:cNvPicPr>
            <a:picLocks noChangeAspect="1"/>
          </p:cNvPicPr>
          <p:nvPr/>
        </p:nvPicPr>
        <p:blipFill>
          <a:blip r:embed="rId2"/>
          <a:stretch>
            <a:fillRect/>
          </a:stretch>
        </p:blipFill>
        <p:spPr>
          <a:xfrm>
            <a:off x="3950208" y="1252728"/>
            <a:ext cx="237744" cy="237744"/>
          </a:xfrm>
          <a:prstGeom prst="rect">
            <a:avLst/>
          </a:prstGeom>
        </p:spPr>
      </p:pic>
      <p:sp>
        <p:nvSpPr>
          <p:cNvPr id="11" name="Text 7"/>
          <p:cNvSpPr txBox="1"/>
          <p:nvPr/>
        </p:nvSpPr>
        <p:spPr>
          <a:xfrm>
            <a:off x="594360" y="1115568"/>
            <a:ext cx="3154680" cy="777240"/>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حجم صندوق مكعّب طول حرفه 5 سم</a:t>
            </a:r>
            <a:endParaRPr lang="ar-LB" sz="1400" dirty="0"/>
          </a:p>
        </p:txBody>
      </p:sp>
      <p:sp>
        <p:nvSpPr>
          <p:cNvPr id="12" name="Text 8"/>
          <p:cNvSpPr txBox="1"/>
          <p:nvPr/>
        </p:nvSpPr>
        <p:spPr>
          <a:xfrm>
            <a:off x="594360" y="1965960"/>
            <a:ext cx="3703320" cy="502920"/>
          </a:xfrm>
          <a:prstGeom prst="rect">
            <a:avLst/>
          </a:prstGeom>
          <a:noFill/>
          <a:ln/>
        </p:spPr>
        <p:txBody>
          <a:bodyPr wrap="square" lIns="0" tIns="0" rIns="0" bIns="0" rtlCol="0" anchor="ctr"/>
          <a:lstStyle/>
          <a:p>
            <a:pPr rtl="0" algn="ctr" indent="0" marL="0">
              <a:buNone/>
            </a:pPr>
            <a:r>
              <a:rPr lang="en-US" sz="2200" b="1" dirty="0">
                <a:solidFill>
                  <a:srgbClr val="2671B8"/>
                </a:solidFill>
                <a:latin typeface="Arial" pitchFamily="34" charset="0"/>
                <a:ea typeface="Arial" pitchFamily="34" charset="-122"/>
                <a:cs typeface="Arial" pitchFamily="34" charset="-120"/>
              </a:rPr>
              <a:t>5</a:t>
            </a:r>
            <a:r>
              <a:rPr lang="en-US" sz="2200" b="1" baseline="30000" dirty="0">
                <a:solidFill>
                  <a:srgbClr val="2671B8"/>
                </a:solidFill>
                <a:latin typeface="Arial" pitchFamily="34" charset="0"/>
                <a:ea typeface="Arial" pitchFamily="34" charset="-122"/>
                <a:cs typeface="Arial" pitchFamily="34" charset="-120"/>
              </a:rPr>
              <a:t>3</a:t>
            </a:r>
            <a:r>
              <a:rPr lang="en-US" sz="2200" b="1" dirty="0">
                <a:solidFill>
                  <a:srgbClr val="2671B8"/>
                </a:solidFill>
                <a:latin typeface="Arial" pitchFamily="34" charset="0"/>
                <a:ea typeface="Arial" pitchFamily="34" charset="-122"/>
                <a:cs typeface="Arial" pitchFamily="34" charset="-120"/>
              </a:rPr>
              <a:t> = 125 cm</a:t>
            </a:r>
            <a:r>
              <a:rPr lang="en-US" sz="2200" b="1" baseline="30000" dirty="0">
                <a:solidFill>
                  <a:srgbClr val="2671B8"/>
                </a:solidFill>
                <a:latin typeface="Arial" pitchFamily="34" charset="0"/>
                <a:ea typeface="Arial" pitchFamily="34" charset="-122"/>
                <a:cs typeface="Arial" pitchFamily="34" charset="-120"/>
              </a:rPr>
              <a:t>3</a:t>
            </a:r>
            <a:endParaRPr lang="en-US" sz="2200" dirty="0"/>
          </a:p>
        </p:txBody>
      </p:sp>
      <p:sp>
        <p:nvSpPr>
          <p:cNvPr id="13" name="life2"/>
          <p:cNvSpPr/>
          <p:nvPr/>
        </p:nvSpPr>
        <p:spPr>
          <a:xfrm>
            <a:off x="4709160" y="2788920"/>
            <a:ext cx="3977640" cy="1600200"/>
          </a:xfrm>
          <a:prstGeom prst="roundRect">
            <a:avLst>
              <a:gd name="adj" fmla="val 6857"/>
            </a:avLst>
          </a:prstGeom>
          <a:solidFill>
            <a:srgbClr val="2E9E5B">
              <a:alpha val="10000"/>
            </a:srgbClr>
          </a:solidFill>
          <a:ln w="12700">
            <a:solidFill>
              <a:srgbClr val="2E9E5B">
                <a:alpha val="60000"/>
              </a:srgbClr>
            </a:solidFill>
            <a:prstDash val="solid"/>
          </a:ln>
        </p:spPr>
      </p:sp>
      <p:sp>
        <p:nvSpPr>
          <p:cNvPr id="14" name="Shape 10"/>
          <p:cNvSpPr/>
          <p:nvPr/>
        </p:nvSpPr>
        <p:spPr>
          <a:xfrm>
            <a:off x="8092440" y="2926080"/>
            <a:ext cx="457200" cy="457200"/>
          </a:xfrm>
          <a:prstGeom prst="ellipse">
            <a:avLst/>
          </a:prstGeom>
          <a:solidFill>
            <a:srgbClr val="2E9E5B"/>
          </a:solidFill>
          <a:ln w="12700">
            <a:solidFill>
              <a:srgbClr val="2E9E5B"/>
            </a:solidFill>
            <a:prstDash val="solid"/>
          </a:ln>
        </p:spPr>
      </p:sp>
      <p:pic>
        <p:nvPicPr>
          <p:cNvPr id="15" name="Image 2" descr="preencoded.png">    </p:cNvPr>
          <p:cNvPicPr>
            <a:picLocks noChangeAspect="1"/>
          </p:cNvPicPr>
          <p:nvPr/>
        </p:nvPicPr>
        <p:blipFill>
          <a:blip r:embed="rId3"/>
          <a:stretch>
            <a:fillRect/>
          </a:stretch>
        </p:blipFill>
        <p:spPr>
          <a:xfrm>
            <a:off x="8202168" y="3035808"/>
            <a:ext cx="237744" cy="237744"/>
          </a:xfrm>
          <a:prstGeom prst="rect">
            <a:avLst/>
          </a:prstGeom>
        </p:spPr>
      </p:pic>
      <p:sp>
        <p:nvSpPr>
          <p:cNvPr id="16" name="Text 11"/>
          <p:cNvSpPr txBox="1"/>
          <p:nvPr/>
        </p:nvSpPr>
        <p:spPr>
          <a:xfrm>
            <a:off x="4846320" y="2898648"/>
            <a:ext cx="3154680" cy="777240"/>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بكتيريا تنقسم إلى اثنتين كل ساعة: كم تصبح بعد 6 ساعات؟</a:t>
            </a:r>
            <a:endParaRPr lang="ar-LB" sz="1400" dirty="0"/>
          </a:p>
        </p:txBody>
      </p:sp>
      <p:sp>
        <p:nvSpPr>
          <p:cNvPr id="17" name="Text 12"/>
          <p:cNvSpPr txBox="1"/>
          <p:nvPr/>
        </p:nvSpPr>
        <p:spPr>
          <a:xfrm>
            <a:off x="4846320" y="3749040"/>
            <a:ext cx="3703320" cy="502920"/>
          </a:xfrm>
          <a:prstGeom prst="rect">
            <a:avLst/>
          </a:prstGeom>
          <a:noFill/>
          <a:ln/>
        </p:spPr>
        <p:txBody>
          <a:bodyPr wrap="square" lIns="0" tIns="0" rIns="0" bIns="0" rtlCol="0" anchor="ctr"/>
          <a:lstStyle/>
          <a:p>
            <a:pPr rtl="0" algn="ctr" indent="0" marL="0">
              <a:buNone/>
            </a:pPr>
            <a:r>
              <a:rPr lang="en-US" sz="2200" b="1" dirty="0">
                <a:solidFill>
                  <a:srgbClr val="2E9E5B"/>
                </a:solidFill>
                <a:latin typeface="Arial" pitchFamily="34" charset="0"/>
                <a:ea typeface="Arial" pitchFamily="34" charset="-122"/>
                <a:cs typeface="Arial" pitchFamily="34" charset="-120"/>
              </a:rPr>
              <a:t>2</a:t>
            </a:r>
            <a:r>
              <a:rPr lang="en-US" sz="2200" b="1" baseline="30000" dirty="0">
                <a:solidFill>
                  <a:srgbClr val="2E9E5B"/>
                </a:solidFill>
                <a:latin typeface="Arial" pitchFamily="34" charset="0"/>
                <a:ea typeface="Arial" pitchFamily="34" charset="-122"/>
                <a:cs typeface="Arial" pitchFamily="34" charset="-120"/>
              </a:rPr>
              <a:t>6</a:t>
            </a:r>
            <a:r>
              <a:rPr lang="en-US" sz="2200" b="1" dirty="0">
                <a:solidFill>
                  <a:srgbClr val="2E9E5B"/>
                </a:solidFill>
                <a:latin typeface="Arial" pitchFamily="34" charset="0"/>
                <a:ea typeface="Arial" pitchFamily="34" charset="-122"/>
                <a:cs typeface="Arial" pitchFamily="34" charset="-120"/>
              </a:rPr>
              <a:t> = 64</a:t>
            </a:r>
            <a:endParaRPr lang="en-US" sz="2200" dirty="0"/>
          </a:p>
        </p:txBody>
      </p:sp>
      <p:sp>
        <p:nvSpPr>
          <p:cNvPr id="18" name="life3"/>
          <p:cNvSpPr/>
          <p:nvPr/>
        </p:nvSpPr>
        <p:spPr>
          <a:xfrm>
            <a:off x="457200" y="2788920"/>
            <a:ext cx="3977640" cy="1600200"/>
          </a:xfrm>
          <a:prstGeom prst="roundRect">
            <a:avLst>
              <a:gd name="adj" fmla="val 6857"/>
            </a:avLst>
          </a:prstGeom>
          <a:solidFill>
            <a:srgbClr val="7B3FA0">
              <a:alpha val="10000"/>
            </a:srgbClr>
          </a:solidFill>
          <a:ln w="12700">
            <a:solidFill>
              <a:srgbClr val="7B3FA0">
                <a:alpha val="60000"/>
              </a:srgbClr>
            </a:solidFill>
            <a:prstDash val="solid"/>
          </a:ln>
        </p:spPr>
      </p:sp>
      <p:sp>
        <p:nvSpPr>
          <p:cNvPr id="19" name="Shape 14"/>
          <p:cNvSpPr/>
          <p:nvPr/>
        </p:nvSpPr>
        <p:spPr>
          <a:xfrm>
            <a:off x="3840480" y="2926080"/>
            <a:ext cx="457200" cy="457200"/>
          </a:xfrm>
          <a:prstGeom prst="ellipse">
            <a:avLst/>
          </a:prstGeom>
          <a:solidFill>
            <a:srgbClr val="7B3FA0"/>
          </a:solidFill>
          <a:ln w="12700">
            <a:solidFill>
              <a:srgbClr val="7B3FA0"/>
            </a:solidFill>
            <a:prstDash val="solid"/>
          </a:ln>
        </p:spPr>
      </p:sp>
      <p:pic>
        <p:nvPicPr>
          <p:cNvPr id="20" name="Image 3" descr="preencoded.png">    </p:cNvPr>
          <p:cNvPicPr>
            <a:picLocks noChangeAspect="1"/>
          </p:cNvPicPr>
          <p:nvPr/>
        </p:nvPicPr>
        <p:blipFill>
          <a:blip r:embed="rId4"/>
          <a:stretch>
            <a:fillRect/>
          </a:stretch>
        </p:blipFill>
        <p:spPr>
          <a:xfrm>
            <a:off x="3950208" y="3035808"/>
            <a:ext cx="237744" cy="237744"/>
          </a:xfrm>
          <a:prstGeom prst="rect">
            <a:avLst/>
          </a:prstGeom>
        </p:spPr>
      </p:pic>
      <p:sp>
        <p:nvSpPr>
          <p:cNvPr id="21" name="Text 15"/>
          <p:cNvSpPr txBox="1"/>
          <p:nvPr/>
        </p:nvSpPr>
        <p:spPr>
          <a:xfrm>
            <a:off x="594360" y="2898648"/>
            <a:ext cx="3154680" cy="777240"/>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كل شخص يرسل رسالة إلى 3 أشخاص جدد: كم شخصًا يستلمها في المرحلة 4؟</a:t>
            </a:r>
            <a:endParaRPr lang="ar-LB" sz="1400" dirty="0"/>
          </a:p>
        </p:txBody>
      </p:sp>
      <p:sp>
        <p:nvSpPr>
          <p:cNvPr id="22" name="Text 16"/>
          <p:cNvSpPr txBox="1"/>
          <p:nvPr/>
        </p:nvSpPr>
        <p:spPr>
          <a:xfrm>
            <a:off x="594360" y="3749040"/>
            <a:ext cx="3703320" cy="502920"/>
          </a:xfrm>
          <a:prstGeom prst="rect">
            <a:avLst/>
          </a:prstGeom>
          <a:noFill/>
          <a:ln/>
        </p:spPr>
        <p:txBody>
          <a:bodyPr wrap="square" lIns="0" tIns="0" rIns="0" bIns="0" rtlCol="0" anchor="ctr"/>
          <a:lstStyle/>
          <a:p>
            <a:pPr rtl="0" algn="ctr" indent="0" marL="0">
              <a:buNone/>
            </a:pPr>
            <a:r>
              <a:rPr lang="en-US" sz="2200" b="1" dirty="0">
                <a:solidFill>
                  <a:srgbClr val="7B3FA0"/>
                </a:solidFill>
                <a:latin typeface="Arial" pitchFamily="34" charset="0"/>
                <a:ea typeface="Arial" pitchFamily="34" charset="-122"/>
                <a:cs typeface="Arial" pitchFamily="34" charset="-120"/>
              </a:rPr>
              <a:t>3</a:t>
            </a:r>
            <a:r>
              <a:rPr lang="en-US" sz="2200" b="1" baseline="30000" dirty="0">
                <a:solidFill>
                  <a:srgbClr val="7B3FA0"/>
                </a:solidFill>
                <a:latin typeface="Arial" pitchFamily="34" charset="0"/>
                <a:ea typeface="Arial" pitchFamily="34" charset="-122"/>
                <a:cs typeface="Arial" pitchFamily="34" charset="-120"/>
              </a:rPr>
              <a:t>4</a:t>
            </a:r>
            <a:r>
              <a:rPr lang="en-US" sz="2200" b="1" dirty="0">
                <a:solidFill>
                  <a:srgbClr val="7B3FA0"/>
                </a:solidFill>
                <a:latin typeface="Arial" pitchFamily="34" charset="0"/>
                <a:ea typeface="Arial" pitchFamily="34" charset="-122"/>
                <a:cs typeface="Arial" pitchFamily="34" charset="-120"/>
              </a:rPr>
              <a:t> = 81</a:t>
            </a:r>
            <a:endParaRPr lang="en-US" sz="22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استكشاف: قوّة القوّة</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t"/>
          <a:lstStyle/>
          <a:p>
            <a:pPr rtl="1" algn="r" indent="0" marL="0">
              <a:buNone/>
            </a:pPr>
            <a:r>
              <a:rPr lang="ar-LB" altLang="en-US" sz="1600" dirty="0">
                <a:solidFill>
                  <a:srgbClr val="5B6770"/>
                </a:solidFill>
              </a:rPr>
              <a:t>ماذا يعني أن نرفع قوّة إلى قوّة؟ لنكتبها على شكل ضرب متكرر:</a:t>
            </a:r>
            <a:endParaRPr lang="ar-LB" sz="1600" dirty="0"/>
          </a:p>
        </p:txBody>
      </p:sp>
      <p:sp>
        <p:nvSpPr>
          <p:cNvPr id="4" name="Shape 2"/>
          <p:cNvSpPr/>
          <p:nvPr/>
        </p:nvSpPr>
        <p:spPr>
          <a:xfrm>
            <a:off x="7452360" y="1371600"/>
            <a:ext cx="1234440" cy="365760"/>
          </a:xfrm>
          <a:prstGeom prst="rect">
            <a:avLst/>
          </a:prstGeom>
          <a:solidFill>
            <a:srgbClr val="0F4C5C"/>
          </a:solidFill>
          <a:ln w="12700">
            <a:solidFill>
              <a:srgbClr val="FFFFFF"/>
            </a:solidFill>
            <a:prstDash val="solid"/>
          </a:ln>
        </p:spPr>
      </p:sp>
      <p:sp>
        <p:nvSpPr>
          <p:cNvPr id="5" name="Text 3"/>
          <p:cNvSpPr txBox="1"/>
          <p:nvPr/>
        </p:nvSpPr>
        <p:spPr>
          <a:xfrm>
            <a:off x="7452360" y="1371600"/>
            <a:ext cx="1234440" cy="365760"/>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القوّة</a:t>
            </a:r>
            <a:endParaRPr lang="ar-LB" sz="1400" dirty="0"/>
          </a:p>
        </p:txBody>
      </p:sp>
      <p:sp>
        <p:nvSpPr>
          <p:cNvPr id="6" name="Shape 4"/>
          <p:cNvSpPr/>
          <p:nvPr/>
        </p:nvSpPr>
        <p:spPr>
          <a:xfrm>
            <a:off x="5486400" y="1371600"/>
            <a:ext cx="1965960" cy="365760"/>
          </a:xfrm>
          <a:prstGeom prst="rect">
            <a:avLst/>
          </a:prstGeom>
          <a:solidFill>
            <a:srgbClr val="0F4C5C"/>
          </a:solidFill>
          <a:ln w="12700">
            <a:solidFill>
              <a:srgbClr val="FFFFFF"/>
            </a:solidFill>
            <a:prstDash val="solid"/>
          </a:ln>
        </p:spPr>
      </p:sp>
      <p:sp>
        <p:nvSpPr>
          <p:cNvPr id="7" name="Text 5"/>
          <p:cNvSpPr txBox="1"/>
          <p:nvPr/>
        </p:nvSpPr>
        <p:spPr>
          <a:xfrm>
            <a:off x="5486400" y="1371600"/>
            <a:ext cx="1965960" cy="365760"/>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معناها</a:t>
            </a:r>
            <a:endParaRPr lang="ar-LB" sz="1400" dirty="0"/>
          </a:p>
        </p:txBody>
      </p:sp>
      <p:sp>
        <p:nvSpPr>
          <p:cNvPr id="8" name="Shape 6"/>
          <p:cNvSpPr/>
          <p:nvPr/>
        </p:nvSpPr>
        <p:spPr>
          <a:xfrm>
            <a:off x="1645920" y="1371600"/>
            <a:ext cx="3840480" cy="365760"/>
          </a:xfrm>
          <a:prstGeom prst="rect">
            <a:avLst/>
          </a:prstGeom>
          <a:solidFill>
            <a:srgbClr val="0F4C5C"/>
          </a:solidFill>
          <a:ln w="12700">
            <a:solidFill>
              <a:srgbClr val="FFFFFF"/>
            </a:solidFill>
            <a:prstDash val="solid"/>
          </a:ln>
        </p:spPr>
      </p:sp>
      <p:sp>
        <p:nvSpPr>
          <p:cNvPr id="9" name="Text 7"/>
          <p:cNvSpPr txBox="1"/>
          <p:nvPr/>
        </p:nvSpPr>
        <p:spPr>
          <a:xfrm>
            <a:off x="1645920" y="1371600"/>
            <a:ext cx="3840480" cy="365760"/>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ضرب متكرر</a:t>
            </a:r>
            <a:endParaRPr lang="ar-LB" sz="1400" dirty="0"/>
          </a:p>
        </p:txBody>
      </p:sp>
      <p:sp>
        <p:nvSpPr>
          <p:cNvPr id="10" name="Shape 8"/>
          <p:cNvSpPr/>
          <p:nvPr/>
        </p:nvSpPr>
        <p:spPr>
          <a:xfrm>
            <a:off x="457200" y="1371600"/>
            <a:ext cx="1188720" cy="365760"/>
          </a:xfrm>
          <a:prstGeom prst="rect">
            <a:avLst/>
          </a:prstGeom>
          <a:solidFill>
            <a:srgbClr val="0F4C5C"/>
          </a:solidFill>
          <a:ln w="12700">
            <a:solidFill>
              <a:srgbClr val="FFFFFF"/>
            </a:solidFill>
            <a:prstDash val="solid"/>
          </a:ln>
        </p:spPr>
      </p:sp>
      <p:sp>
        <p:nvSpPr>
          <p:cNvPr id="11" name="Text 9"/>
          <p:cNvSpPr txBox="1"/>
          <p:nvPr/>
        </p:nvSpPr>
        <p:spPr>
          <a:xfrm>
            <a:off x="457200" y="1371600"/>
            <a:ext cx="1188720" cy="365760"/>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النتيجة</a:t>
            </a:r>
            <a:endParaRPr lang="ar-LB" sz="1400" dirty="0"/>
          </a:p>
        </p:txBody>
      </p:sp>
      <p:sp>
        <p:nvSpPr>
          <p:cNvPr id="12" name="Shape 10"/>
          <p:cNvSpPr/>
          <p:nvPr/>
        </p:nvSpPr>
        <p:spPr>
          <a:xfrm>
            <a:off x="7452360" y="1737360"/>
            <a:ext cx="1234440" cy="502920"/>
          </a:xfrm>
          <a:prstGeom prst="rect">
            <a:avLst/>
          </a:prstGeom>
          <a:solidFill>
            <a:srgbClr val="FFFFFF"/>
          </a:solidFill>
          <a:ln w="12700">
            <a:solidFill>
              <a:srgbClr val="B9CDD0"/>
            </a:solidFill>
            <a:prstDash val="solid"/>
          </a:ln>
        </p:spPr>
      </p:sp>
      <p:sp>
        <p:nvSpPr>
          <p:cNvPr id="13" name="Text 11"/>
          <p:cNvSpPr txBox="1"/>
          <p:nvPr/>
        </p:nvSpPr>
        <p:spPr>
          <a:xfrm>
            <a:off x="7452360" y="1737360"/>
            <a:ext cx="1234440" cy="502920"/>
          </a:xfrm>
          <a:prstGeom prst="rect">
            <a:avLst/>
          </a:prstGeom>
          <a:noFill/>
          <a:ln/>
        </p:spPr>
        <p:txBody>
          <a:bodyPr wrap="square" lIns="0" tIns="0" rIns="0" bIns="0" rtlCol="0" anchor="ctr"/>
          <a:lstStyle/>
          <a:p>
            <a:pPr rtl="0" algn="ctr" indent="0" marL="0">
              <a:buNone/>
            </a:pPr>
            <a:r>
              <a:rPr lang="en-US" sz="1800" b="1" dirty="0">
                <a:solidFill>
                  <a:srgbClr val="1B262C"/>
                </a:solidFill>
                <a:latin typeface="Arial" pitchFamily="34" charset="0"/>
                <a:ea typeface="Arial" pitchFamily="34" charset="-122"/>
                <a:cs typeface="Arial" pitchFamily="34" charset="-120"/>
              </a:rPr>
              <a:t>(2</a:t>
            </a:r>
            <a:r>
              <a:rPr lang="en-US" sz="1800" b="1" baseline="30000" dirty="0">
                <a:solidFill>
                  <a:srgbClr val="1B262C"/>
                </a:solidFill>
                <a:latin typeface="Arial" pitchFamily="34" charset="0"/>
                <a:ea typeface="Arial" pitchFamily="34" charset="-122"/>
                <a:cs typeface="Arial" pitchFamily="34" charset="-120"/>
              </a:rPr>
              <a:t>3</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2</a:t>
            </a:r>
            <a:endParaRPr lang="en-US" sz="1800" dirty="0"/>
          </a:p>
        </p:txBody>
      </p:sp>
      <p:sp>
        <p:nvSpPr>
          <p:cNvPr id="14" name="Shape 12"/>
          <p:cNvSpPr/>
          <p:nvPr/>
        </p:nvSpPr>
        <p:spPr>
          <a:xfrm>
            <a:off x="5486400" y="1737360"/>
            <a:ext cx="1965960" cy="502920"/>
          </a:xfrm>
          <a:prstGeom prst="rect">
            <a:avLst/>
          </a:prstGeom>
          <a:solidFill>
            <a:srgbClr val="FFFFFF"/>
          </a:solidFill>
          <a:ln w="12700">
            <a:solidFill>
              <a:srgbClr val="B9CDD0"/>
            </a:solidFill>
            <a:prstDash val="solid"/>
          </a:ln>
        </p:spPr>
      </p:sp>
      <p:sp>
        <p:nvSpPr>
          <p:cNvPr id="15" name="Text 13"/>
          <p:cNvSpPr txBox="1"/>
          <p:nvPr/>
        </p:nvSpPr>
        <p:spPr>
          <a:xfrm>
            <a:off x="5486400" y="1737360"/>
            <a:ext cx="1965960" cy="502920"/>
          </a:xfrm>
          <a:prstGeom prst="rect">
            <a:avLst/>
          </a:prstGeom>
          <a:noFill/>
          <a:ln/>
        </p:spPr>
        <p:txBody>
          <a:bodyPr wrap="square" lIns="0" tIns="0" rIns="0" bIns="0" rtlCol="0" anchor="ctr"/>
          <a:lstStyle/>
          <a:p>
            <a:pPr rtl="0" algn="ctr" indent="0" marL="0">
              <a:buNone/>
            </a:pPr>
            <a:r>
              <a:rPr lang="en-US" sz="1800" b="1" dirty="0">
                <a:solidFill>
                  <a:srgbClr val="1B262C"/>
                </a:solidFill>
                <a:latin typeface="Arial" pitchFamily="34" charset="0"/>
                <a:ea typeface="Arial" pitchFamily="34" charset="-122"/>
                <a:cs typeface="Arial" pitchFamily="34" charset="-120"/>
              </a:rPr>
              <a:t>2</a:t>
            </a:r>
            <a:r>
              <a:rPr lang="en-US" sz="1800" b="1" baseline="30000" dirty="0">
                <a:solidFill>
                  <a:srgbClr val="1B262C"/>
                </a:solidFill>
                <a:latin typeface="Arial" pitchFamily="34" charset="0"/>
                <a:ea typeface="Arial" pitchFamily="34" charset="-122"/>
                <a:cs typeface="Arial" pitchFamily="34" charset="-120"/>
              </a:rPr>
              <a:t>3</a:t>
            </a:r>
            <a:r>
              <a:rPr lang="en-US" sz="1800" b="1" dirty="0">
                <a:solidFill>
                  <a:srgbClr val="1B262C"/>
                </a:solidFill>
                <a:latin typeface="Arial" pitchFamily="34" charset="0"/>
                <a:ea typeface="Arial" pitchFamily="34" charset="-122"/>
                <a:cs typeface="Arial" pitchFamily="34" charset="-120"/>
              </a:rPr>
              <a:t> × 2</a:t>
            </a:r>
            <a:r>
              <a:rPr lang="en-US" sz="1800" b="1" baseline="30000" dirty="0">
                <a:solidFill>
                  <a:srgbClr val="1B262C"/>
                </a:solidFill>
                <a:latin typeface="Arial" pitchFamily="34" charset="0"/>
                <a:ea typeface="Arial" pitchFamily="34" charset="-122"/>
                <a:cs typeface="Arial" pitchFamily="34" charset="-120"/>
              </a:rPr>
              <a:t>3</a:t>
            </a:r>
            <a:endParaRPr lang="en-US" sz="1800" dirty="0"/>
          </a:p>
        </p:txBody>
      </p:sp>
      <p:sp>
        <p:nvSpPr>
          <p:cNvPr id="16" name="Shape 14"/>
          <p:cNvSpPr/>
          <p:nvPr/>
        </p:nvSpPr>
        <p:spPr>
          <a:xfrm>
            <a:off x="1645920" y="1737360"/>
            <a:ext cx="3840480" cy="502920"/>
          </a:xfrm>
          <a:prstGeom prst="rect">
            <a:avLst/>
          </a:prstGeom>
          <a:solidFill>
            <a:srgbClr val="FFFFFF"/>
          </a:solidFill>
          <a:ln w="12700">
            <a:solidFill>
              <a:srgbClr val="B9CDD0"/>
            </a:solidFill>
            <a:prstDash val="solid"/>
          </a:ln>
        </p:spPr>
      </p:sp>
      <p:sp>
        <p:nvSpPr>
          <p:cNvPr id="17" name="Text 15"/>
          <p:cNvSpPr txBox="1"/>
          <p:nvPr/>
        </p:nvSpPr>
        <p:spPr>
          <a:xfrm>
            <a:off x="1645920" y="1737360"/>
            <a:ext cx="3840480" cy="502920"/>
          </a:xfrm>
          <a:prstGeom prst="rect">
            <a:avLst/>
          </a:prstGeom>
          <a:noFill/>
          <a:ln/>
        </p:spPr>
        <p:txBody>
          <a:bodyPr wrap="square" lIns="0" tIns="0" rIns="0" bIns="0" rtlCol="0" anchor="ctr"/>
          <a:lstStyle/>
          <a:p>
            <a:pPr rtl="0" algn="ctr" indent="0" marL="0">
              <a:buNone/>
            </a:pPr>
            <a:r>
              <a:rPr lang="en-US" sz="1400" dirty="0">
                <a:solidFill>
                  <a:srgbClr val="1B262C"/>
                </a:solidFill>
                <a:latin typeface="Arial" pitchFamily="34" charset="0"/>
                <a:ea typeface="Arial" pitchFamily="34" charset="-122"/>
                <a:cs typeface="Arial" pitchFamily="34" charset="-120"/>
              </a:rPr>
              <a:t>(2 × 2 × 2) × (2 × 2 × 2)</a:t>
            </a:r>
            <a:endParaRPr lang="en-US" sz="1400" dirty="0"/>
          </a:p>
        </p:txBody>
      </p:sp>
      <p:sp>
        <p:nvSpPr>
          <p:cNvPr id="18" name="Shape 16"/>
          <p:cNvSpPr/>
          <p:nvPr/>
        </p:nvSpPr>
        <p:spPr>
          <a:xfrm>
            <a:off x="457200" y="1737360"/>
            <a:ext cx="1188720" cy="502920"/>
          </a:xfrm>
          <a:prstGeom prst="rect">
            <a:avLst/>
          </a:prstGeom>
          <a:solidFill>
            <a:srgbClr val="FDEBDD"/>
          </a:solidFill>
          <a:ln w="12700">
            <a:solidFill>
              <a:srgbClr val="B9CDD0"/>
            </a:solidFill>
            <a:prstDash val="solid"/>
          </a:ln>
        </p:spPr>
      </p:sp>
      <p:sp>
        <p:nvSpPr>
          <p:cNvPr id="19" name="Text 17"/>
          <p:cNvSpPr txBox="1"/>
          <p:nvPr/>
        </p:nvSpPr>
        <p:spPr>
          <a:xfrm>
            <a:off x="457200" y="1737360"/>
            <a:ext cx="1188720" cy="502920"/>
          </a:xfrm>
          <a:prstGeom prst="rect">
            <a:avLst/>
          </a:prstGeom>
          <a:noFill/>
          <a:ln/>
        </p:spPr>
        <p:txBody>
          <a:bodyPr wrap="square" lIns="0" tIns="0" rIns="0" bIns="0" rtlCol="0" anchor="ctr"/>
          <a:lstStyle/>
          <a:p>
            <a:pPr rtl="0" algn="ctr" indent="0" marL="0">
              <a:buNone/>
            </a:pPr>
            <a:r>
              <a:rPr lang="en-US" sz="1800" b="1" dirty="0">
                <a:solidFill>
                  <a:srgbClr val="E36414"/>
                </a:solidFill>
                <a:latin typeface="Arial" pitchFamily="34" charset="0"/>
                <a:ea typeface="Arial" pitchFamily="34" charset="-122"/>
                <a:cs typeface="Arial" pitchFamily="34" charset="-120"/>
              </a:rPr>
              <a:t>2</a:t>
            </a:r>
            <a:r>
              <a:rPr lang="en-US" sz="1800" b="1" baseline="30000" dirty="0">
                <a:solidFill>
                  <a:srgbClr val="E36414"/>
                </a:solidFill>
                <a:latin typeface="Arial" pitchFamily="34" charset="0"/>
                <a:ea typeface="Arial" pitchFamily="34" charset="-122"/>
                <a:cs typeface="Arial" pitchFamily="34" charset="-120"/>
              </a:rPr>
              <a:t>6</a:t>
            </a:r>
            <a:endParaRPr lang="en-US" sz="1800" dirty="0"/>
          </a:p>
        </p:txBody>
      </p:sp>
      <p:sp>
        <p:nvSpPr>
          <p:cNvPr id="20" name="Shape 18"/>
          <p:cNvSpPr/>
          <p:nvPr/>
        </p:nvSpPr>
        <p:spPr>
          <a:xfrm>
            <a:off x="7452360" y="2240280"/>
            <a:ext cx="1234440" cy="502920"/>
          </a:xfrm>
          <a:prstGeom prst="rect">
            <a:avLst/>
          </a:prstGeom>
          <a:solidFill>
            <a:srgbClr val="FFFFFF"/>
          </a:solidFill>
          <a:ln w="12700">
            <a:solidFill>
              <a:srgbClr val="B9CDD0"/>
            </a:solidFill>
            <a:prstDash val="solid"/>
          </a:ln>
        </p:spPr>
      </p:sp>
      <p:sp>
        <p:nvSpPr>
          <p:cNvPr id="21" name="Text 19"/>
          <p:cNvSpPr txBox="1"/>
          <p:nvPr/>
        </p:nvSpPr>
        <p:spPr>
          <a:xfrm>
            <a:off x="7452360" y="2240280"/>
            <a:ext cx="1234440" cy="502920"/>
          </a:xfrm>
          <a:prstGeom prst="rect">
            <a:avLst/>
          </a:prstGeom>
          <a:noFill/>
          <a:ln/>
        </p:spPr>
        <p:txBody>
          <a:bodyPr wrap="square" lIns="0" tIns="0" rIns="0" bIns="0" rtlCol="0" anchor="ctr"/>
          <a:lstStyle/>
          <a:p>
            <a:pPr rtl="0" algn="ctr" indent="0" marL="0">
              <a:buNone/>
            </a:pPr>
            <a:r>
              <a:rPr lang="en-US" sz="1800" b="1" dirty="0">
                <a:solidFill>
                  <a:srgbClr val="1B262C"/>
                </a:solidFill>
                <a:latin typeface="Arial" pitchFamily="34" charset="0"/>
                <a:ea typeface="Arial" pitchFamily="34" charset="-122"/>
                <a:cs typeface="Arial" pitchFamily="34" charset="-120"/>
              </a:rPr>
              <a:t>(5</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3</a:t>
            </a:r>
            <a:endParaRPr lang="en-US" sz="1800" dirty="0"/>
          </a:p>
        </p:txBody>
      </p:sp>
      <p:sp>
        <p:nvSpPr>
          <p:cNvPr id="22" name="Shape 20"/>
          <p:cNvSpPr/>
          <p:nvPr/>
        </p:nvSpPr>
        <p:spPr>
          <a:xfrm>
            <a:off x="5486400" y="2240280"/>
            <a:ext cx="1965960" cy="502920"/>
          </a:xfrm>
          <a:prstGeom prst="rect">
            <a:avLst/>
          </a:prstGeom>
          <a:solidFill>
            <a:srgbClr val="FFFFFF"/>
          </a:solidFill>
          <a:ln w="12700">
            <a:solidFill>
              <a:srgbClr val="B9CDD0"/>
            </a:solidFill>
            <a:prstDash val="solid"/>
          </a:ln>
        </p:spPr>
      </p:sp>
      <p:sp>
        <p:nvSpPr>
          <p:cNvPr id="23" name="Text 21"/>
          <p:cNvSpPr txBox="1"/>
          <p:nvPr/>
        </p:nvSpPr>
        <p:spPr>
          <a:xfrm>
            <a:off x="5486400" y="2240280"/>
            <a:ext cx="1965960" cy="502920"/>
          </a:xfrm>
          <a:prstGeom prst="rect">
            <a:avLst/>
          </a:prstGeom>
          <a:noFill/>
          <a:ln/>
        </p:spPr>
        <p:txBody>
          <a:bodyPr wrap="square" lIns="0" tIns="0" rIns="0" bIns="0" rtlCol="0" anchor="ctr"/>
          <a:lstStyle/>
          <a:p>
            <a:pPr rtl="0" algn="ctr" indent="0" marL="0">
              <a:buNone/>
            </a:pPr>
            <a:r>
              <a:rPr lang="en-US" sz="1800" b="1" dirty="0">
                <a:solidFill>
                  <a:srgbClr val="1B262C"/>
                </a:solidFill>
                <a:latin typeface="Arial" pitchFamily="34" charset="0"/>
                <a:ea typeface="Arial" pitchFamily="34" charset="-122"/>
                <a:cs typeface="Arial" pitchFamily="34" charset="-120"/>
              </a:rPr>
              <a:t>5</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2</a:t>
            </a:r>
            <a:endParaRPr lang="en-US" sz="1800" dirty="0"/>
          </a:p>
        </p:txBody>
      </p:sp>
      <p:sp>
        <p:nvSpPr>
          <p:cNvPr id="24" name="Shape 22"/>
          <p:cNvSpPr/>
          <p:nvPr/>
        </p:nvSpPr>
        <p:spPr>
          <a:xfrm>
            <a:off x="1645920" y="2240280"/>
            <a:ext cx="3840480" cy="502920"/>
          </a:xfrm>
          <a:prstGeom prst="rect">
            <a:avLst/>
          </a:prstGeom>
          <a:solidFill>
            <a:srgbClr val="FFFFFF"/>
          </a:solidFill>
          <a:ln w="12700">
            <a:solidFill>
              <a:srgbClr val="B9CDD0"/>
            </a:solidFill>
            <a:prstDash val="solid"/>
          </a:ln>
        </p:spPr>
      </p:sp>
      <p:sp>
        <p:nvSpPr>
          <p:cNvPr id="25" name="Text 23"/>
          <p:cNvSpPr txBox="1"/>
          <p:nvPr/>
        </p:nvSpPr>
        <p:spPr>
          <a:xfrm>
            <a:off x="1645920" y="2240280"/>
            <a:ext cx="3840480" cy="502920"/>
          </a:xfrm>
          <a:prstGeom prst="rect">
            <a:avLst/>
          </a:prstGeom>
          <a:noFill/>
          <a:ln/>
        </p:spPr>
        <p:txBody>
          <a:bodyPr wrap="square" lIns="0" tIns="0" rIns="0" bIns="0" rtlCol="0" anchor="ctr"/>
          <a:lstStyle/>
          <a:p>
            <a:pPr rtl="0" algn="ctr" indent="0" marL="0">
              <a:buNone/>
            </a:pPr>
            <a:r>
              <a:rPr lang="en-US" sz="1400" dirty="0">
                <a:solidFill>
                  <a:srgbClr val="1B262C"/>
                </a:solidFill>
                <a:latin typeface="Arial" pitchFamily="34" charset="0"/>
                <a:ea typeface="Arial" pitchFamily="34" charset="-122"/>
                <a:cs typeface="Arial" pitchFamily="34" charset="-120"/>
              </a:rPr>
              <a:t>(5 × 5) × (5 × 5) × (5 × 5)</a:t>
            </a:r>
            <a:endParaRPr lang="en-US" sz="1400" dirty="0"/>
          </a:p>
        </p:txBody>
      </p:sp>
      <p:sp>
        <p:nvSpPr>
          <p:cNvPr id="26" name="Shape 24"/>
          <p:cNvSpPr/>
          <p:nvPr/>
        </p:nvSpPr>
        <p:spPr>
          <a:xfrm>
            <a:off x="457200" y="2240280"/>
            <a:ext cx="1188720" cy="502920"/>
          </a:xfrm>
          <a:prstGeom prst="rect">
            <a:avLst/>
          </a:prstGeom>
          <a:solidFill>
            <a:srgbClr val="FDEBDD"/>
          </a:solidFill>
          <a:ln w="12700">
            <a:solidFill>
              <a:srgbClr val="B9CDD0"/>
            </a:solidFill>
            <a:prstDash val="solid"/>
          </a:ln>
        </p:spPr>
      </p:sp>
      <p:sp>
        <p:nvSpPr>
          <p:cNvPr id="27" name="Text 25"/>
          <p:cNvSpPr txBox="1"/>
          <p:nvPr/>
        </p:nvSpPr>
        <p:spPr>
          <a:xfrm>
            <a:off x="457200" y="2240280"/>
            <a:ext cx="1188720" cy="502920"/>
          </a:xfrm>
          <a:prstGeom prst="rect">
            <a:avLst/>
          </a:prstGeom>
          <a:noFill/>
          <a:ln/>
        </p:spPr>
        <p:txBody>
          <a:bodyPr wrap="square" lIns="0" tIns="0" rIns="0" bIns="0" rtlCol="0" anchor="ctr"/>
          <a:lstStyle/>
          <a:p>
            <a:pPr rtl="0" algn="ctr" indent="0" marL="0">
              <a:buNone/>
            </a:pPr>
            <a:r>
              <a:rPr lang="en-US" sz="1800" b="1" dirty="0">
                <a:solidFill>
                  <a:srgbClr val="E36414"/>
                </a:solidFill>
                <a:latin typeface="Arial" pitchFamily="34" charset="0"/>
                <a:ea typeface="Arial" pitchFamily="34" charset="-122"/>
                <a:cs typeface="Arial" pitchFamily="34" charset="-120"/>
              </a:rPr>
              <a:t>5</a:t>
            </a:r>
            <a:r>
              <a:rPr lang="en-US" sz="1800" b="1" baseline="30000" dirty="0">
                <a:solidFill>
                  <a:srgbClr val="E36414"/>
                </a:solidFill>
                <a:latin typeface="Arial" pitchFamily="34" charset="0"/>
                <a:ea typeface="Arial" pitchFamily="34" charset="-122"/>
                <a:cs typeface="Arial" pitchFamily="34" charset="-120"/>
              </a:rPr>
              <a:t>6</a:t>
            </a:r>
            <a:endParaRPr lang="en-US" sz="1800" dirty="0"/>
          </a:p>
        </p:txBody>
      </p:sp>
      <p:sp>
        <p:nvSpPr>
          <p:cNvPr id="28" name="Shape 26"/>
          <p:cNvSpPr/>
          <p:nvPr/>
        </p:nvSpPr>
        <p:spPr>
          <a:xfrm>
            <a:off x="7452360" y="2743200"/>
            <a:ext cx="1234440" cy="502920"/>
          </a:xfrm>
          <a:prstGeom prst="rect">
            <a:avLst/>
          </a:prstGeom>
          <a:solidFill>
            <a:srgbClr val="FFFFFF"/>
          </a:solidFill>
          <a:ln w="12700">
            <a:solidFill>
              <a:srgbClr val="B9CDD0"/>
            </a:solidFill>
            <a:prstDash val="solid"/>
          </a:ln>
        </p:spPr>
      </p:sp>
      <p:sp>
        <p:nvSpPr>
          <p:cNvPr id="29" name="Text 27"/>
          <p:cNvSpPr txBox="1"/>
          <p:nvPr/>
        </p:nvSpPr>
        <p:spPr>
          <a:xfrm>
            <a:off x="7452360" y="2743200"/>
            <a:ext cx="1234440" cy="502920"/>
          </a:xfrm>
          <a:prstGeom prst="rect">
            <a:avLst/>
          </a:prstGeom>
          <a:noFill/>
          <a:ln/>
        </p:spPr>
        <p:txBody>
          <a:bodyPr wrap="square" lIns="0" tIns="0" rIns="0" bIns="0" rtlCol="0" anchor="ctr"/>
          <a:lstStyle/>
          <a:p>
            <a:pPr rtl="0" algn="ctr" indent="0" marL="0">
              <a:buNone/>
            </a:pPr>
            <a:r>
              <a:rPr lang="en-US" sz="1800" b="1" dirty="0">
                <a:solidFill>
                  <a:srgbClr val="1B262C"/>
                </a:solidFill>
                <a:latin typeface="Arial" pitchFamily="34" charset="0"/>
                <a:ea typeface="Arial" pitchFamily="34" charset="-122"/>
                <a:cs typeface="Arial" pitchFamily="34" charset="-120"/>
              </a:rPr>
              <a:t>(a</a:t>
            </a:r>
            <a:r>
              <a:rPr lang="en-US" sz="1800" b="1" baseline="30000" dirty="0">
                <a:solidFill>
                  <a:srgbClr val="1B262C"/>
                </a:solidFill>
                <a:latin typeface="Arial" pitchFamily="34" charset="0"/>
                <a:ea typeface="Arial" pitchFamily="34" charset="-122"/>
                <a:cs typeface="Arial" pitchFamily="34" charset="-120"/>
              </a:rPr>
              <a:t>4</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2</a:t>
            </a:r>
            <a:endParaRPr lang="en-US" sz="1800" dirty="0"/>
          </a:p>
        </p:txBody>
      </p:sp>
      <p:sp>
        <p:nvSpPr>
          <p:cNvPr id="30" name="Shape 28"/>
          <p:cNvSpPr/>
          <p:nvPr/>
        </p:nvSpPr>
        <p:spPr>
          <a:xfrm>
            <a:off x="5486400" y="2743200"/>
            <a:ext cx="1965960" cy="502920"/>
          </a:xfrm>
          <a:prstGeom prst="rect">
            <a:avLst/>
          </a:prstGeom>
          <a:solidFill>
            <a:srgbClr val="FFFFFF"/>
          </a:solidFill>
          <a:ln w="12700">
            <a:solidFill>
              <a:srgbClr val="B9CDD0"/>
            </a:solidFill>
            <a:prstDash val="solid"/>
          </a:ln>
        </p:spPr>
      </p:sp>
      <p:sp>
        <p:nvSpPr>
          <p:cNvPr id="31" name="Text 29"/>
          <p:cNvSpPr txBox="1"/>
          <p:nvPr/>
        </p:nvSpPr>
        <p:spPr>
          <a:xfrm>
            <a:off x="5486400" y="2743200"/>
            <a:ext cx="1965960" cy="502920"/>
          </a:xfrm>
          <a:prstGeom prst="rect">
            <a:avLst/>
          </a:prstGeom>
          <a:noFill/>
          <a:ln/>
        </p:spPr>
        <p:txBody>
          <a:bodyPr wrap="square" lIns="0" tIns="0" rIns="0" bIns="0" rtlCol="0" anchor="ctr"/>
          <a:lstStyle/>
          <a:p>
            <a:pPr rtl="0" algn="ctr" indent="0" marL="0">
              <a:buNone/>
            </a:pPr>
            <a:r>
              <a:rPr lang="en-US" sz="1800" b="1" dirty="0">
                <a:solidFill>
                  <a:srgbClr val="1B262C"/>
                </a:solidFill>
                <a:latin typeface="Arial" pitchFamily="34" charset="0"/>
                <a:ea typeface="Arial" pitchFamily="34" charset="-122"/>
                <a:cs typeface="Arial" pitchFamily="34" charset="-120"/>
              </a:rPr>
              <a:t>a</a:t>
            </a:r>
            <a:r>
              <a:rPr lang="en-US" sz="1800" b="1" baseline="30000" dirty="0">
                <a:solidFill>
                  <a:srgbClr val="1B262C"/>
                </a:solidFill>
                <a:latin typeface="Arial" pitchFamily="34" charset="0"/>
                <a:ea typeface="Arial" pitchFamily="34" charset="-122"/>
                <a:cs typeface="Arial" pitchFamily="34" charset="-120"/>
              </a:rPr>
              <a:t>4</a:t>
            </a:r>
            <a:r>
              <a:rPr lang="en-US" sz="1800" b="1" dirty="0">
                <a:solidFill>
                  <a:srgbClr val="1B262C"/>
                </a:solidFill>
                <a:latin typeface="Arial" pitchFamily="34" charset="0"/>
                <a:ea typeface="Arial" pitchFamily="34" charset="-122"/>
                <a:cs typeface="Arial" pitchFamily="34" charset="-120"/>
              </a:rPr>
              <a:t> × a</a:t>
            </a:r>
            <a:r>
              <a:rPr lang="en-US" sz="1800" b="1" baseline="30000" dirty="0">
                <a:solidFill>
                  <a:srgbClr val="1B262C"/>
                </a:solidFill>
                <a:latin typeface="Arial" pitchFamily="34" charset="0"/>
                <a:ea typeface="Arial" pitchFamily="34" charset="-122"/>
                <a:cs typeface="Arial" pitchFamily="34" charset="-120"/>
              </a:rPr>
              <a:t>4</a:t>
            </a:r>
            <a:endParaRPr lang="en-US" sz="1800" dirty="0"/>
          </a:p>
        </p:txBody>
      </p:sp>
      <p:sp>
        <p:nvSpPr>
          <p:cNvPr id="32" name="Shape 30"/>
          <p:cNvSpPr/>
          <p:nvPr/>
        </p:nvSpPr>
        <p:spPr>
          <a:xfrm>
            <a:off x="1645920" y="2743200"/>
            <a:ext cx="3840480" cy="502920"/>
          </a:xfrm>
          <a:prstGeom prst="rect">
            <a:avLst/>
          </a:prstGeom>
          <a:solidFill>
            <a:srgbClr val="FFFFFF"/>
          </a:solidFill>
          <a:ln w="12700">
            <a:solidFill>
              <a:srgbClr val="B9CDD0"/>
            </a:solidFill>
            <a:prstDash val="solid"/>
          </a:ln>
        </p:spPr>
      </p:sp>
      <p:sp>
        <p:nvSpPr>
          <p:cNvPr id="33" name="Text 31"/>
          <p:cNvSpPr txBox="1"/>
          <p:nvPr/>
        </p:nvSpPr>
        <p:spPr>
          <a:xfrm>
            <a:off x="1645920" y="2743200"/>
            <a:ext cx="3840480" cy="502920"/>
          </a:xfrm>
          <a:prstGeom prst="rect">
            <a:avLst/>
          </a:prstGeom>
          <a:noFill/>
          <a:ln/>
        </p:spPr>
        <p:txBody>
          <a:bodyPr wrap="square" lIns="0" tIns="0" rIns="0" bIns="0" rtlCol="0" anchor="ctr"/>
          <a:lstStyle/>
          <a:p>
            <a:pPr rtl="0" algn="ctr" indent="0" marL="0">
              <a:buNone/>
            </a:pPr>
            <a:r>
              <a:rPr lang="en-US" sz="1400" dirty="0">
                <a:solidFill>
                  <a:srgbClr val="1B262C"/>
                </a:solidFill>
                <a:latin typeface="Arial" pitchFamily="34" charset="0"/>
                <a:ea typeface="Arial" pitchFamily="34" charset="-122"/>
                <a:cs typeface="Arial" pitchFamily="34" charset="-120"/>
              </a:rPr>
              <a:t>(a × a × a × a) × (a × a × a × a)</a:t>
            </a:r>
            <a:endParaRPr lang="en-US" sz="1400" dirty="0"/>
          </a:p>
        </p:txBody>
      </p:sp>
      <p:sp>
        <p:nvSpPr>
          <p:cNvPr id="34" name="Shape 32"/>
          <p:cNvSpPr/>
          <p:nvPr/>
        </p:nvSpPr>
        <p:spPr>
          <a:xfrm>
            <a:off x="457200" y="2743200"/>
            <a:ext cx="1188720" cy="502920"/>
          </a:xfrm>
          <a:prstGeom prst="rect">
            <a:avLst/>
          </a:prstGeom>
          <a:solidFill>
            <a:srgbClr val="FDEBDD"/>
          </a:solidFill>
          <a:ln w="12700">
            <a:solidFill>
              <a:srgbClr val="B9CDD0"/>
            </a:solidFill>
            <a:prstDash val="solid"/>
          </a:ln>
        </p:spPr>
      </p:sp>
      <p:sp>
        <p:nvSpPr>
          <p:cNvPr id="35" name="Text 33"/>
          <p:cNvSpPr txBox="1"/>
          <p:nvPr/>
        </p:nvSpPr>
        <p:spPr>
          <a:xfrm>
            <a:off x="457200" y="2743200"/>
            <a:ext cx="1188720" cy="502920"/>
          </a:xfrm>
          <a:prstGeom prst="rect">
            <a:avLst/>
          </a:prstGeom>
          <a:noFill/>
          <a:ln/>
        </p:spPr>
        <p:txBody>
          <a:bodyPr wrap="square" lIns="0" tIns="0" rIns="0" bIns="0" rtlCol="0" anchor="ctr"/>
          <a:lstStyle/>
          <a:p>
            <a:pPr rtl="0" algn="ctr" indent="0" marL="0">
              <a:buNone/>
            </a:pPr>
            <a:r>
              <a:rPr lang="en-US" sz="1800" b="1" dirty="0">
                <a:solidFill>
                  <a:srgbClr val="E36414"/>
                </a:solidFill>
                <a:latin typeface="Arial" pitchFamily="34" charset="0"/>
                <a:ea typeface="Arial" pitchFamily="34" charset="-122"/>
                <a:cs typeface="Arial" pitchFamily="34" charset="-120"/>
              </a:rPr>
              <a:t>a</a:t>
            </a:r>
            <a:r>
              <a:rPr lang="en-US" sz="1800" b="1" baseline="30000" dirty="0">
                <a:solidFill>
                  <a:srgbClr val="E36414"/>
                </a:solidFill>
                <a:latin typeface="Arial" pitchFamily="34" charset="0"/>
                <a:ea typeface="Arial" pitchFamily="34" charset="-122"/>
                <a:cs typeface="Arial" pitchFamily="34" charset="-120"/>
              </a:rPr>
              <a:t>8</a:t>
            </a:r>
            <a:endParaRPr lang="en-US" sz="1800" dirty="0"/>
          </a:p>
        </p:txBody>
      </p:sp>
      <p:sp>
        <p:nvSpPr>
          <p:cNvPr id="36" name="question"/>
          <p:cNvSpPr/>
          <p:nvPr/>
        </p:nvSpPr>
        <p:spPr>
          <a:xfrm>
            <a:off x="457200" y="3429000"/>
            <a:ext cx="8229600" cy="1051560"/>
          </a:xfrm>
          <a:prstGeom prst="roundRect">
            <a:avLst>
              <a:gd name="adj" fmla="val 10435"/>
            </a:avLst>
          </a:prstGeom>
          <a:solidFill>
            <a:srgbClr val="E36414">
              <a:alpha val="12000"/>
            </a:srgbClr>
          </a:solidFill>
          <a:ln w="12700">
            <a:solidFill>
              <a:srgbClr val="E36414">
                <a:alpha val="60000"/>
              </a:srgbClr>
            </a:solidFill>
            <a:prstDash val="solid"/>
          </a:ln>
        </p:spPr>
      </p:sp>
      <p:sp>
        <p:nvSpPr>
          <p:cNvPr id="37" name="Shape 35"/>
          <p:cNvSpPr/>
          <p:nvPr/>
        </p:nvSpPr>
        <p:spPr>
          <a:xfrm>
            <a:off x="8092440" y="3611880"/>
            <a:ext cx="457200" cy="457200"/>
          </a:xfrm>
          <a:prstGeom prst="ellipse">
            <a:avLst/>
          </a:prstGeom>
          <a:solidFill>
            <a:srgbClr val="E36414"/>
          </a:solidFill>
          <a:ln w="12700">
            <a:solidFill>
              <a:srgbClr val="E36414"/>
            </a:solidFill>
            <a:prstDash val="solid"/>
          </a:ln>
        </p:spPr>
      </p:sp>
      <p:pic>
        <p:nvPicPr>
          <p:cNvPr id="38" name="Image 0" descr="preencoded.png">    </p:cNvPr>
          <p:cNvPicPr>
            <a:picLocks noChangeAspect="1"/>
          </p:cNvPicPr>
          <p:nvPr/>
        </p:nvPicPr>
        <p:blipFill>
          <a:blip r:embed="rId1"/>
          <a:stretch>
            <a:fillRect/>
          </a:stretch>
        </p:blipFill>
        <p:spPr>
          <a:xfrm>
            <a:off x="8202168" y="3721608"/>
            <a:ext cx="237744" cy="237744"/>
          </a:xfrm>
          <a:prstGeom prst="rect">
            <a:avLst/>
          </a:prstGeom>
        </p:spPr>
      </p:pic>
      <p:sp>
        <p:nvSpPr>
          <p:cNvPr id="39" name="Text 36"/>
          <p:cNvSpPr txBox="1"/>
          <p:nvPr/>
        </p:nvSpPr>
        <p:spPr>
          <a:xfrm>
            <a:off x="640080" y="3474720"/>
            <a:ext cx="7315200" cy="457200"/>
          </a:xfrm>
          <a:prstGeom prst="rect">
            <a:avLst/>
          </a:prstGeom>
          <a:noFill/>
          <a:ln/>
        </p:spPr>
        <p:txBody>
          <a:bodyPr wrap="square" lIns="0" tIns="0" rIns="0" bIns="0" rtlCol="0" anchor="ctr"/>
          <a:lstStyle/>
          <a:p>
            <a:pPr rtl="1" algn="r" indent="0" marL="0">
              <a:buNone/>
            </a:pPr>
            <a:r>
              <a:rPr lang="ar-LB" altLang="en-US" sz="1600" b="1" dirty="0">
                <a:solidFill>
                  <a:srgbClr val="1B262C"/>
                </a:solidFill>
              </a:rPr>
              <a:t>سؤال للمجموعات: ما العلاقة بين الأُسّين في القوّة والأُس في النتيجة؟</a:t>
            </a:r>
            <a:endParaRPr lang="ar-LB" sz="1600" dirty="0"/>
          </a:p>
        </p:txBody>
      </p:sp>
      <p:sp>
        <p:nvSpPr>
          <p:cNvPr id="40" name="Text 37"/>
          <p:cNvSpPr txBox="1"/>
          <p:nvPr/>
        </p:nvSpPr>
        <p:spPr>
          <a:xfrm>
            <a:off x="640080" y="3931920"/>
            <a:ext cx="7315200" cy="411480"/>
          </a:xfrm>
          <a:prstGeom prst="rect">
            <a:avLst/>
          </a:prstGeom>
          <a:noFill/>
          <a:ln/>
        </p:spPr>
        <p:txBody>
          <a:bodyPr wrap="square" lIns="0" tIns="0" rIns="0" bIns="0" rtlCol="0" anchor="ctr"/>
          <a:lstStyle/>
          <a:p>
            <a:pPr rtl="0" algn="ctr" indent="0" marL="0">
              <a:buNone/>
            </a:pPr>
            <a:r>
              <a:rPr lang="en-US" sz="1800" b="1" dirty="0">
                <a:solidFill>
                  <a:srgbClr val="0F4C5C"/>
                </a:solidFill>
                <a:latin typeface="Arial" pitchFamily="34" charset="0"/>
                <a:ea typeface="Arial" pitchFamily="34" charset="-122"/>
                <a:cs typeface="Arial" pitchFamily="34" charset="-120"/>
              </a:rPr>
              <a:t>(3 , 2) → 6          (2 , 3) → 6          (4 , 2) → 8</a:t>
            </a:r>
            <a:endParaRPr lang="en-US" sz="18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قاعدة قوّة القوّة</a:t>
            </a:r>
            <a:endParaRPr lang="en-US" sz="3000" dirty="0"/>
          </a:p>
        </p:txBody>
      </p:sp>
      <p:sp>
        <p:nvSpPr>
          <p:cNvPr id="3" name="Shape 1"/>
          <p:cNvSpPr/>
          <p:nvPr/>
        </p:nvSpPr>
        <p:spPr>
          <a:xfrm>
            <a:off x="1828800" y="1005840"/>
            <a:ext cx="5486400" cy="1188720"/>
          </a:xfrm>
          <a:prstGeom prst="roundRect">
            <a:avLst>
              <a:gd name="adj" fmla="val 11538"/>
            </a:avLst>
          </a:prstGeom>
          <a:solidFill>
            <a:srgbClr val="0F4C5C"/>
          </a:solidFill>
          <a:ln w="12700">
            <a:solidFill>
              <a:srgbClr val="0F4C5C"/>
            </a:solidFill>
            <a:prstDash val="solid"/>
          </a:ln>
        </p:spPr>
      </p:sp>
      <p:sp>
        <p:nvSpPr>
          <p:cNvPr id="4" name="Text 2"/>
          <p:cNvSpPr txBox="1"/>
          <p:nvPr/>
        </p:nvSpPr>
        <p:spPr>
          <a:xfrm>
            <a:off x="1828800" y="1005840"/>
            <a:ext cx="5486400" cy="1188720"/>
          </a:xfrm>
          <a:prstGeom prst="rect">
            <a:avLst/>
          </a:prstGeom>
          <a:noFill/>
          <a:ln/>
        </p:spPr>
        <p:txBody>
          <a:bodyPr wrap="square" lIns="0" tIns="0" rIns="0" bIns="0" rtlCol="0" anchor="ctr"/>
          <a:lstStyle/>
          <a:p>
            <a:pPr rtl="0" algn="ctr" indent="0" marL="0">
              <a:buNone/>
            </a:pPr>
            <a:r>
              <a:rPr lang="en-US" sz="4800" b="1" dirty="0">
                <a:solidFill>
                  <a:srgbClr val="FFFFFF"/>
                </a:solidFill>
                <a:latin typeface="Arial" pitchFamily="34" charset="0"/>
                <a:ea typeface="Arial" pitchFamily="34" charset="-122"/>
                <a:cs typeface="Arial" pitchFamily="34" charset="-120"/>
              </a:rPr>
              <a:t>(a</a:t>
            </a:r>
            <a:r>
              <a:rPr lang="en-US" sz="4800" b="1" baseline="30000" dirty="0">
                <a:solidFill>
                  <a:srgbClr val="FFFFFF"/>
                </a:solidFill>
                <a:latin typeface="Arial" pitchFamily="34" charset="0"/>
                <a:ea typeface="Arial" pitchFamily="34" charset="-122"/>
                <a:cs typeface="Arial" pitchFamily="34" charset="-120"/>
              </a:rPr>
              <a:t>m</a:t>
            </a:r>
            <a:r>
              <a:rPr lang="en-US" sz="4800" b="1" dirty="0">
                <a:solidFill>
                  <a:srgbClr val="FFFFFF"/>
                </a:solidFill>
                <a:latin typeface="Arial" pitchFamily="34" charset="0"/>
                <a:ea typeface="Arial" pitchFamily="34" charset="-122"/>
                <a:cs typeface="Arial" pitchFamily="34" charset="-120"/>
              </a:rPr>
              <a:t>)</a:t>
            </a:r>
            <a:r>
              <a:rPr lang="en-US" sz="4800" b="1" baseline="30000" dirty="0">
                <a:solidFill>
                  <a:srgbClr val="FFFFFF"/>
                </a:solidFill>
                <a:latin typeface="Arial" pitchFamily="34" charset="0"/>
                <a:ea typeface="Arial" pitchFamily="34" charset="-122"/>
                <a:cs typeface="Arial" pitchFamily="34" charset="-120"/>
              </a:rPr>
              <a:t>n</a:t>
            </a:r>
            <a:r>
              <a:rPr lang="en-US" sz="4800" b="1" dirty="0">
                <a:solidFill>
                  <a:srgbClr val="FFFFFF"/>
                </a:solidFill>
                <a:latin typeface="Arial" pitchFamily="34" charset="0"/>
                <a:ea typeface="Arial" pitchFamily="34" charset="-122"/>
                <a:cs typeface="Arial" pitchFamily="34" charset="-120"/>
              </a:rPr>
              <a:t> = a</a:t>
            </a:r>
            <a:r>
              <a:rPr lang="en-US" sz="4800" b="1" baseline="30000" dirty="0">
                <a:solidFill>
                  <a:srgbClr val="FFFFFF"/>
                </a:solidFill>
                <a:latin typeface="Arial" pitchFamily="34" charset="0"/>
                <a:ea typeface="Arial" pitchFamily="34" charset="-122"/>
                <a:cs typeface="Arial" pitchFamily="34" charset="-120"/>
              </a:rPr>
              <a:t>m × n</a:t>
            </a:r>
            <a:endParaRPr lang="en-US" sz="4800" dirty="0"/>
          </a:p>
        </p:txBody>
      </p:sp>
      <p:sp>
        <p:nvSpPr>
          <p:cNvPr id="5" name="Text 3"/>
          <p:cNvSpPr txBox="1"/>
          <p:nvPr/>
        </p:nvSpPr>
        <p:spPr>
          <a:xfrm>
            <a:off x="457200" y="2331720"/>
            <a:ext cx="8229600" cy="411480"/>
          </a:xfrm>
          <a:prstGeom prst="rect">
            <a:avLst/>
          </a:prstGeom>
          <a:noFill/>
          <a:ln/>
        </p:spPr>
        <p:txBody>
          <a:bodyPr wrap="square" lIns="0" tIns="0" rIns="0" bIns="0" rtlCol="0" anchor="t"/>
          <a:lstStyle/>
          <a:p>
            <a:pPr rtl="1" algn="ctr" indent="0" marL="0">
              <a:buNone/>
            </a:pPr>
            <a:r>
              <a:rPr lang="ar-LB" altLang="en-US" sz="1800" b="1" dirty="0">
                <a:solidFill>
                  <a:srgbClr val="0F4C5C"/>
                </a:solidFill>
              </a:rPr>
              <a:t>لحساب قوّة القوّة: نُبقي الأساس كما هو، ونضرب الأُسّين.</a:t>
            </a:r>
            <a:endParaRPr lang="ar-LB" sz="1800" dirty="0"/>
          </a:p>
        </p:txBody>
      </p:sp>
      <p:sp>
        <p:nvSpPr>
          <p:cNvPr id="6" name="correct"/>
          <p:cNvSpPr/>
          <p:nvPr/>
        </p:nvSpPr>
        <p:spPr>
          <a:xfrm>
            <a:off x="4709160" y="2926080"/>
            <a:ext cx="3977640" cy="1554480"/>
          </a:xfrm>
          <a:prstGeom prst="roundRect">
            <a:avLst>
              <a:gd name="adj" fmla="val 7059"/>
            </a:avLst>
          </a:prstGeom>
          <a:solidFill>
            <a:srgbClr val="2E9E5B">
              <a:alpha val="12000"/>
            </a:srgbClr>
          </a:solidFill>
          <a:ln w="12700">
            <a:solidFill>
              <a:srgbClr val="2E9E5B">
                <a:alpha val="60000"/>
              </a:srgbClr>
            </a:solidFill>
            <a:prstDash val="solid"/>
          </a:ln>
        </p:spPr>
      </p:sp>
      <p:sp>
        <p:nvSpPr>
          <p:cNvPr id="7" name="Text 5"/>
          <p:cNvSpPr txBox="1"/>
          <p:nvPr/>
        </p:nvSpPr>
        <p:spPr>
          <a:xfrm>
            <a:off x="4846320" y="2999232"/>
            <a:ext cx="3703320" cy="365760"/>
          </a:xfrm>
          <a:prstGeom prst="rect">
            <a:avLst/>
          </a:prstGeom>
          <a:noFill/>
          <a:ln/>
        </p:spPr>
        <p:txBody>
          <a:bodyPr wrap="square" lIns="0" tIns="0" rIns="0" bIns="0" rtlCol="0" anchor="t"/>
          <a:lstStyle/>
          <a:p>
            <a:pPr rtl="1" algn="r" indent="0" marL="0">
              <a:buNone/>
            </a:pPr>
            <a:r>
              <a:rPr lang="ar-LB" altLang="en-US" sz="1600" b="1" dirty="0">
                <a:solidFill>
                  <a:srgbClr val="2E9E5B"/>
                </a:solidFill>
              </a:rPr>
              <a:t>صحيح</a:t>
            </a:r>
            <a:endParaRPr lang="ar-LB" sz="1600" dirty="0"/>
          </a:p>
        </p:txBody>
      </p:sp>
      <p:sp>
        <p:nvSpPr>
          <p:cNvPr id="8" name="Text 6"/>
          <p:cNvSpPr txBox="1"/>
          <p:nvPr/>
        </p:nvSpPr>
        <p:spPr>
          <a:xfrm>
            <a:off x="4846320" y="3474720"/>
            <a:ext cx="3703320" cy="548640"/>
          </a:xfrm>
          <a:prstGeom prst="rect">
            <a:avLst/>
          </a:prstGeom>
          <a:noFill/>
          <a:ln/>
        </p:spPr>
        <p:txBody>
          <a:bodyPr wrap="square" lIns="0" tIns="0" rIns="0" bIns="0" rtlCol="0" anchor="ctr"/>
          <a:lstStyle/>
          <a:p>
            <a:pPr rtl="0" algn="ctr" indent="0" marL="0">
              <a:buNone/>
            </a:pPr>
            <a:r>
              <a:rPr lang="en-US" sz="2000" b="1" dirty="0">
                <a:solidFill>
                  <a:srgbClr val="1B262C"/>
                </a:solidFill>
                <a:latin typeface="Arial" pitchFamily="34" charset="0"/>
                <a:ea typeface="Arial" pitchFamily="34" charset="-122"/>
                <a:cs typeface="Arial" pitchFamily="34" charset="-120"/>
              </a:rPr>
              <a:t>(2</a:t>
            </a:r>
            <a:r>
              <a:rPr lang="en-US" sz="2000" b="1" baseline="30000" dirty="0">
                <a:solidFill>
                  <a:srgbClr val="1B262C"/>
                </a:solidFill>
                <a:latin typeface="Arial" pitchFamily="34" charset="0"/>
                <a:ea typeface="Arial" pitchFamily="34" charset="-122"/>
                <a:cs typeface="Arial" pitchFamily="34" charset="-120"/>
              </a:rPr>
              <a:t>3</a:t>
            </a:r>
            <a:r>
              <a:rPr lang="en-US" sz="2000" b="1" dirty="0">
                <a:solidFill>
                  <a:srgbClr val="1B262C"/>
                </a:solidFill>
                <a:latin typeface="Arial" pitchFamily="34" charset="0"/>
                <a:ea typeface="Arial" pitchFamily="34" charset="-122"/>
                <a:cs typeface="Arial" pitchFamily="34" charset="-120"/>
              </a:rPr>
              <a:t>)</a:t>
            </a:r>
            <a:r>
              <a:rPr lang="en-US" sz="2000" b="1" baseline="30000" dirty="0">
                <a:solidFill>
                  <a:srgbClr val="1B262C"/>
                </a:solidFill>
                <a:latin typeface="Arial" pitchFamily="34" charset="0"/>
                <a:ea typeface="Arial" pitchFamily="34" charset="-122"/>
                <a:cs typeface="Arial" pitchFamily="34" charset="-120"/>
              </a:rPr>
              <a:t>2</a:t>
            </a:r>
            <a:r>
              <a:rPr lang="en-US" sz="2000" b="1" dirty="0">
                <a:solidFill>
                  <a:srgbClr val="1B262C"/>
                </a:solidFill>
                <a:latin typeface="Arial" pitchFamily="34" charset="0"/>
                <a:ea typeface="Arial" pitchFamily="34" charset="-122"/>
                <a:cs typeface="Arial" pitchFamily="34" charset="-120"/>
              </a:rPr>
              <a:t> = 2</a:t>
            </a:r>
            <a:r>
              <a:rPr lang="en-US" sz="2000" b="1" baseline="30000" dirty="0">
                <a:solidFill>
                  <a:srgbClr val="1B262C"/>
                </a:solidFill>
                <a:latin typeface="Arial" pitchFamily="34" charset="0"/>
                <a:ea typeface="Arial" pitchFamily="34" charset="-122"/>
                <a:cs typeface="Arial" pitchFamily="34" charset="-120"/>
              </a:rPr>
              <a:t>3 × 2</a:t>
            </a:r>
            <a:r>
              <a:rPr lang="en-US" sz="2000" b="1" dirty="0">
                <a:solidFill>
                  <a:srgbClr val="1B262C"/>
                </a:solidFill>
                <a:latin typeface="Arial" pitchFamily="34" charset="0"/>
                <a:ea typeface="Arial" pitchFamily="34" charset="-122"/>
                <a:cs typeface="Arial" pitchFamily="34" charset="-120"/>
              </a:rPr>
              <a:t> = 2</a:t>
            </a:r>
            <a:r>
              <a:rPr lang="en-US" sz="2000" b="1" baseline="30000" dirty="0">
                <a:solidFill>
                  <a:srgbClr val="1B262C"/>
                </a:solidFill>
                <a:latin typeface="Arial" pitchFamily="34" charset="0"/>
                <a:ea typeface="Arial" pitchFamily="34" charset="-122"/>
                <a:cs typeface="Arial" pitchFamily="34" charset="-120"/>
              </a:rPr>
              <a:t>6</a:t>
            </a:r>
            <a:r>
              <a:rPr lang="en-US" sz="2000" b="1" dirty="0">
                <a:solidFill>
                  <a:srgbClr val="1B262C"/>
                </a:solidFill>
                <a:latin typeface="Arial" pitchFamily="34" charset="0"/>
                <a:ea typeface="Arial" pitchFamily="34" charset="-122"/>
                <a:cs typeface="Arial" pitchFamily="34" charset="-120"/>
              </a:rPr>
              <a:t> = 64</a:t>
            </a:r>
            <a:endParaRPr lang="en-US" sz="2000" dirty="0"/>
          </a:p>
        </p:txBody>
      </p:sp>
      <p:sp>
        <p:nvSpPr>
          <p:cNvPr id="9" name="Text 7"/>
          <p:cNvSpPr txBox="1"/>
          <p:nvPr/>
        </p:nvSpPr>
        <p:spPr>
          <a:xfrm>
            <a:off x="4846320" y="4023360"/>
            <a:ext cx="370332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تحقّق: 8 × 8 = 64</a:t>
            </a:r>
            <a:endParaRPr lang="ar-LB" sz="1300" dirty="0"/>
          </a:p>
        </p:txBody>
      </p:sp>
      <p:sp>
        <p:nvSpPr>
          <p:cNvPr id="10" name="wrong"/>
          <p:cNvSpPr/>
          <p:nvPr/>
        </p:nvSpPr>
        <p:spPr>
          <a:xfrm>
            <a:off x="457200" y="2926080"/>
            <a:ext cx="3977640" cy="1554480"/>
          </a:xfrm>
          <a:prstGeom prst="roundRect">
            <a:avLst>
              <a:gd name="adj" fmla="val 7059"/>
            </a:avLst>
          </a:prstGeom>
          <a:solidFill>
            <a:srgbClr val="E36414">
              <a:alpha val="15000"/>
            </a:srgbClr>
          </a:solidFill>
          <a:ln w="12700">
            <a:solidFill>
              <a:srgbClr val="E36414">
                <a:alpha val="60000"/>
              </a:srgbClr>
            </a:solidFill>
            <a:prstDash val="solid"/>
          </a:ln>
        </p:spPr>
      </p:sp>
      <p:sp>
        <p:nvSpPr>
          <p:cNvPr id="11" name="Shape 9"/>
          <p:cNvSpPr/>
          <p:nvPr/>
        </p:nvSpPr>
        <p:spPr>
          <a:xfrm>
            <a:off x="3840480" y="3017520"/>
            <a:ext cx="411480" cy="411480"/>
          </a:xfrm>
          <a:prstGeom prst="ellipse">
            <a:avLst/>
          </a:prstGeom>
          <a:solidFill>
            <a:srgbClr val="E36414"/>
          </a:solidFill>
          <a:ln w="12700">
            <a:solidFill>
              <a:srgbClr val="E36414"/>
            </a:solidFill>
            <a:prstDash val="solid"/>
          </a:ln>
        </p:spPr>
      </p:sp>
      <p:pic>
        <p:nvPicPr>
          <p:cNvPr id="12" name="Image 0" descr="preencoded.png">    </p:cNvPr>
          <p:cNvPicPr>
            <a:picLocks noChangeAspect="1"/>
          </p:cNvPicPr>
          <p:nvPr/>
        </p:nvPicPr>
        <p:blipFill>
          <a:blip r:embed="rId1"/>
          <a:stretch>
            <a:fillRect/>
          </a:stretch>
        </p:blipFill>
        <p:spPr>
          <a:xfrm>
            <a:off x="3939235" y="3116275"/>
            <a:ext cx="213970" cy="213970"/>
          </a:xfrm>
          <a:prstGeom prst="rect">
            <a:avLst/>
          </a:prstGeom>
        </p:spPr>
      </p:pic>
      <p:sp>
        <p:nvSpPr>
          <p:cNvPr id="13" name="Text 10"/>
          <p:cNvSpPr txBox="1"/>
          <p:nvPr/>
        </p:nvSpPr>
        <p:spPr>
          <a:xfrm>
            <a:off x="594360" y="2999232"/>
            <a:ext cx="3154680" cy="365760"/>
          </a:xfrm>
          <a:prstGeom prst="rect">
            <a:avLst/>
          </a:prstGeom>
          <a:noFill/>
          <a:ln/>
        </p:spPr>
        <p:txBody>
          <a:bodyPr wrap="square" lIns="0" tIns="0" rIns="0" bIns="0" rtlCol="0" anchor="t"/>
          <a:lstStyle/>
          <a:p>
            <a:pPr rtl="1" algn="r" indent="0" marL="0">
              <a:buNone/>
            </a:pPr>
            <a:r>
              <a:rPr lang="ar-LB" altLang="en-US" sz="1600" b="1" dirty="0">
                <a:solidFill>
                  <a:srgbClr val="E36414"/>
                </a:solidFill>
              </a:rPr>
              <a:t>انتبه: لا نجمع الأُسّين</a:t>
            </a:r>
            <a:endParaRPr lang="ar-LB" sz="1600" dirty="0"/>
          </a:p>
        </p:txBody>
      </p:sp>
      <p:sp>
        <p:nvSpPr>
          <p:cNvPr id="14" name="Text 11"/>
          <p:cNvSpPr txBox="1"/>
          <p:nvPr/>
        </p:nvSpPr>
        <p:spPr>
          <a:xfrm>
            <a:off x="594360" y="3474720"/>
            <a:ext cx="3703320" cy="548640"/>
          </a:xfrm>
          <a:prstGeom prst="rect">
            <a:avLst/>
          </a:prstGeom>
          <a:noFill/>
          <a:ln/>
        </p:spPr>
        <p:txBody>
          <a:bodyPr wrap="square" lIns="0" tIns="0" rIns="0" bIns="0" rtlCol="0" anchor="ctr"/>
          <a:lstStyle/>
          <a:p>
            <a:pPr rtl="0" algn="ctr" indent="0" marL="0">
              <a:buNone/>
            </a:pPr>
            <a:r>
              <a:rPr lang="en-US" sz="2000" b="1" dirty="0">
                <a:solidFill>
                  <a:srgbClr val="B23A0B"/>
                </a:solidFill>
                <a:latin typeface="Arial" pitchFamily="34" charset="0"/>
                <a:ea typeface="Arial" pitchFamily="34" charset="-122"/>
                <a:cs typeface="Arial" pitchFamily="34" charset="-120"/>
              </a:rPr>
              <a:t>(2</a:t>
            </a:r>
            <a:r>
              <a:rPr lang="en-US" sz="2000" b="1" baseline="30000" dirty="0">
                <a:solidFill>
                  <a:srgbClr val="B23A0B"/>
                </a:solidFill>
                <a:latin typeface="Arial" pitchFamily="34" charset="0"/>
                <a:ea typeface="Arial" pitchFamily="34" charset="-122"/>
                <a:cs typeface="Arial" pitchFamily="34" charset="-120"/>
              </a:rPr>
              <a:t>3</a:t>
            </a:r>
            <a:r>
              <a:rPr lang="en-US" sz="2000" b="1" dirty="0">
                <a:solidFill>
                  <a:srgbClr val="B23A0B"/>
                </a:solidFill>
                <a:latin typeface="Arial" pitchFamily="34" charset="0"/>
                <a:ea typeface="Arial" pitchFamily="34" charset="-122"/>
                <a:cs typeface="Arial" pitchFamily="34" charset="-120"/>
              </a:rPr>
              <a:t>)</a:t>
            </a:r>
            <a:r>
              <a:rPr lang="en-US" sz="2000" b="1" baseline="30000" dirty="0">
                <a:solidFill>
                  <a:srgbClr val="B23A0B"/>
                </a:solidFill>
                <a:latin typeface="Arial" pitchFamily="34" charset="0"/>
                <a:ea typeface="Arial" pitchFamily="34" charset="-122"/>
                <a:cs typeface="Arial" pitchFamily="34" charset="-120"/>
              </a:rPr>
              <a:t>2</a:t>
            </a:r>
            <a:r>
              <a:rPr lang="en-US" sz="2000" b="1" dirty="0">
                <a:solidFill>
                  <a:srgbClr val="B23A0B"/>
                </a:solidFill>
                <a:latin typeface="Arial" pitchFamily="34" charset="0"/>
                <a:ea typeface="Arial" pitchFamily="34" charset="-122"/>
                <a:cs typeface="Arial" pitchFamily="34" charset="-120"/>
              </a:rPr>
              <a:t> = 2</a:t>
            </a:r>
            <a:r>
              <a:rPr lang="en-US" sz="2000" b="1" baseline="30000" dirty="0">
                <a:solidFill>
                  <a:srgbClr val="B23A0B"/>
                </a:solidFill>
                <a:latin typeface="Arial" pitchFamily="34" charset="0"/>
                <a:ea typeface="Arial" pitchFamily="34" charset="-122"/>
                <a:cs typeface="Arial" pitchFamily="34" charset="-120"/>
              </a:rPr>
              <a:t>5</a:t>
            </a:r>
            <a:r>
              <a:rPr lang="en-US" sz="2000" b="1" dirty="0">
                <a:solidFill>
                  <a:srgbClr val="B23A0B"/>
                </a:solidFill>
                <a:latin typeface="Arial" pitchFamily="34" charset="0"/>
                <a:ea typeface="Arial" pitchFamily="34" charset="-122"/>
                <a:cs typeface="Arial" pitchFamily="34" charset="-120"/>
              </a:rPr>
              <a:t>   ✗</a:t>
            </a:r>
            <a:endParaRPr lang="en-US" sz="2000" dirty="0"/>
          </a:p>
        </p:txBody>
      </p:sp>
      <p:sp>
        <p:nvSpPr>
          <p:cNvPr id="15" name="Text 12"/>
          <p:cNvSpPr txBox="1"/>
          <p:nvPr/>
        </p:nvSpPr>
        <p:spPr>
          <a:xfrm>
            <a:off x="594360" y="4023360"/>
            <a:ext cx="370332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لأن 2⁵ = 32 وليس 64</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أمثلة محلولة</a:t>
            </a:r>
            <a:endParaRPr lang="en-US" sz="3000" dirty="0"/>
          </a:p>
        </p:txBody>
      </p:sp>
      <p:sp>
        <p:nvSpPr>
          <p:cNvPr id="3" name="ex0"/>
          <p:cNvSpPr/>
          <p:nvPr/>
        </p:nvSpPr>
        <p:spPr>
          <a:xfrm>
            <a:off x="457200" y="1005840"/>
            <a:ext cx="8229600" cy="731520"/>
          </a:xfrm>
          <a:prstGeom prst="roundRect">
            <a:avLst>
              <a:gd name="adj" fmla="val 15000"/>
            </a:avLst>
          </a:prstGeom>
          <a:solidFill>
            <a:srgbClr val="2671B8">
              <a:alpha val="8000"/>
            </a:srgbClr>
          </a:solidFill>
          <a:ln w="12700">
            <a:solidFill>
              <a:srgbClr val="2671B8">
                <a:alpha val="60000"/>
              </a:srgbClr>
            </a:solidFill>
            <a:prstDash val="solid"/>
          </a:ln>
        </p:spPr>
      </p:sp>
      <p:sp>
        <p:nvSpPr>
          <p:cNvPr id="4" name="Shape 2"/>
          <p:cNvSpPr/>
          <p:nvPr/>
        </p:nvSpPr>
        <p:spPr>
          <a:xfrm>
            <a:off x="8183880" y="1188720"/>
            <a:ext cx="365760" cy="365760"/>
          </a:xfrm>
          <a:prstGeom prst="ellipse">
            <a:avLst/>
          </a:prstGeom>
          <a:solidFill>
            <a:srgbClr val="2671B8"/>
          </a:solidFill>
          <a:ln w="12700">
            <a:solidFill>
              <a:srgbClr val="2671B8"/>
            </a:solidFill>
            <a:prstDash val="solid"/>
          </a:ln>
        </p:spPr>
      </p:sp>
      <p:sp>
        <p:nvSpPr>
          <p:cNvPr id="5" name="Text 3"/>
          <p:cNvSpPr txBox="1"/>
          <p:nvPr/>
        </p:nvSpPr>
        <p:spPr>
          <a:xfrm>
            <a:off x="8183880" y="1188720"/>
            <a:ext cx="365760" cy="36576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1</a:t>
            </a:r>
            <a:endParaRPr lang="ar-LB" sz="1500" dirty="0"/>
          </a:p>
        </p:txBody>
      </p:sp>
      <p:sp>
        <p:nvSpPr>
          <p:cNvPr id="6" name="Text 4"/>
          <p:cNvSpPr txBox="1"/>
          <p:nvPr/>
        </p:nvSpPr>
        <p:spPr>
          <a:xfrm>
            <a:off x="640080" y="1005840"/>
            <a:ext cx="4846320" cy="73152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(3</a:t>
            </a:r>
            <a:r>
              <a:rPr lang="en-US" sz="1900" b="1" baseline="30000" dirty="0">
                <a:solidFill>
                  <a:srgbClr val="1B262C"/>
                </a:solidFill>
                <a:latin typeface="Arial" pitchFamily="34" charset="0"/>
                <a:ea typeface="Arial" pitchFamily="34" charset="-122"/>
                <a:cs typeface="Arial" pitchFamily="34" charset="-120"/>
              </a:rPr>
              <a:t>2</a:t>
            </a:r>
            <a:r>
              <a:rPr lang="en-US" sz="1900" b="1" dirty="0">
                <a:solidFill>
                  <a:srgbClr val="1B262C"/>
                </a:solidFill>
                <a:latin typeface="Arial" pitchFamily="34" charset="0"/>
                <a:ea typeface="Arial" pitchFamily="34" charset="-122"/>
                <a:cs typeface="Arial" pitchFamily="34" charset="-120"/>
              </a:rPr>
              <a:t>)</a:t>
            </a:r>
            <a:r>
              <a:rPr lang="en-US" sz="1900" b="1" baseline="30000" dirty="0">
                <a:solidFill>
                  <a:srgbClr val="1B262C"/>
                </a:solidFill>
                <a:latin typeface="Arial" pitchFamily="34" charset="0"/>
                <a:ea typeface="Arial" pitchFamily="34" charset="-122"/>
                <a:cs typeface="Arial" pitchFamily="34" charset="-120"/>
              </a:rPr>
              <a:t>2</a:t>
            </a:r>
            <a:r>
              <a:rPr lang="en-US" sz="1900" b="1" dirty="0">
                <a:solidFill>
                  <a:srgbClr val="1B262C"/>
                </a:solidFill>
                <a:latin typeface="Arial" pitchFamily="34" charset="0"/>
                <a:ea typeface="Arial" pitchFamily="34" charset="-122"/>
                <a:cs typeface="Arial" pitchFamily="34" charset="-120"/>
              </a:rPr>
              <a:t> = 3</a:t>
            </a:r>
            <a:r>
              <a:rPr lang="en-US" sz="1900" b="1" baseline="30000" dirty="0">
                <a:solidFill>
                  <a:srgbClr val="1B262C"/>
                </a:solidFill>
                <a:latin typeface="Arial" pitchFamily="34" charset="0"/>
                <a:ea typeface="Arial" pitchFamily="34" charset="-122"/>
                <a:cs typeface="Arial" pitchFamily="34" charset="-120"/>
              </a:rPr>
              <a:t>2 × 2</a:t>
            </a:r>
            <a:r>
              <a:rPr lang="en-US" sz="1900" b="1" dirty="0">
                <a:solidFill>
                  <a:srgbClr val="1B262C"/>
                </a:solidFill>
                <a:latin typeface="Arial" pitchFamily="34" charset="0"/>
                <a:ea typeface="Arial" pitchFamily="34" charset="-122"/>
                <a:cs typeface="Arial" pitchFamily="34" charset="-120"/>
              </a:rPr>
              <a:t> = 3</a:t>
            </a:r>
            <a:r>
              <a:rPr lang="en-US" sz="1900" b="1" baseline="30000" dirty="0">
                <a:solidFill>
                  <a:srgbClr val="1B262C"/>
                </a:solidFill>
                <a:latin typeface="Arial" pitchFamily="34" charset="0"/>
                <a:ea typeface="Arial" pitchFamily="34" charset="-122"/>
                <a:cs typeface="Arial" pitchFamily="34" charset="-120"/>
              </a:rPr>
              <a:t>4</a:t>
            </a:r>
            <a:r>
              <a:rPr lang="en-US" sz="1900" b="1" dirty="0">
                <a:solidFill>
                  <a:srgbClr val="1B262C"/>
                </a:solidFill>
                <a:latin typeface="Arial" pitchFamily="34" charset="0"/>
                <a:ea typeface="Arial" pitchFamily="34" charset="-122"/>
                <a:cs typeface="Arial" pitchFamily="34" charset="-120"/>
              </a:rPr>
              <a:t> = 81</a:t>
            </a:r>
            <a:endParaRPr lang="en-US" sz="1900" dirty="0"/>
          </a:p>
        </p:txBody>
      </p:sp>
      <p:sp>
        <p:nvSpPr>
          <p:cNvPr id="7" name="Text 5"/>
          <p:cNvSpPr txBox="1"/>
          <p:nvPr/>
        </p:nvSpPr>
        <p:spPr>
          <a:xfrm>
            <a:off x="5577840" y="1005840"/>
            <a:ext cx="2468880" cy="731520"/>
          </a:xfrm>
          <a:prstGeom prst="rect">
            <a:avLst/>
          </a:prstGeom>
          <a:noFill/>
          <a:ln/>
        </p:spPr>
        <p:txBody>
          <a:bodyPr wrap="square" lIns="0" tIns="0" rIns="0" bIns="0" rtlCol="0" anchor="ctr"/>
          <a:lstStyle/>
          <a:p>
            <a:pPr rtl="1" algn="r" indent="0" marL="0">
              <a:buNone/>
            </a:pPr>
            <a:r>
              <a:rPr lang="ar-LB" altLang="en-US" sz="1300" dirty="0">
                <a:solidFill>
                  <a:srgbClr val="5B6770"/>
                </a:solidFill>
              </a:rPr>
              <a:t>تحقّق: 3² = 9 و 9 × 9 = 81</a:t>
            </a:r>
            <a:endParaRPr lang="ar-LB" sz="1300" dirty="0"/>
          </a:p>
        </p:txBody>
      </p:sp>
      <p:sp>
        <p:nvSpPr>
          <p:cNvPr id="8" name="ex1"/>
          <p:cNvSpPr/>
          <p:nvPr/>
        </p:nvSpPr>
        <p:spPr>
          <a:xfrm>
            <a:off x="457200" y="1874520"/>
            <a:ext cx="8229600" cy="731520"/>
          </a:xfrm>
          <a:prstGeom prst="roundRect">
            <a:avLst>
              <a:gd name="adj" fmla="val 15000"/>
            </a:avLst>
          </a:prstGeom>
          <a:solidFill>
            <a:srgbClr val="0F8B8D">
              <a:alpha val="8000"/>
            </a:srgbClr>
          </a:solidFill>
          <a:ln w="12700">
            <a:solidFill>
              <a:srgbClr val="0F8B8D">
                <a:alpha val="60000"/>
              </a:srgbClr>
            </a:solidFill>
            <a:prstDash val="solid"/>
          </a:ln>
        </p:spPr>
      </p:sp>
      <p:sp>
        <p:nvSpPr>
          <p:cNvPr id="9" name="Shape 7"/>
          <p:cNvSpPr/>
          <p:nvPr/>
        </p:nvSpPr>
        <p:spPr>
          <a:xfrm>
            <a:off x="8183880" y="2057400"/>
            <a:ext cx="365760" cy="365760"/>
          </a:xfrm>
          <a:prstGeom prst="ellipse">
            <a:avLst/>
          </a:prstGeom>
          <a:solidFill>
            <a:srgbClr val="0F8B8D"/>
          </a:solidFill>
          <a:ln w="12700">
            <a:solidFill>
              <a:srgbClr val="0F8B8D"/>
            </a:solidFill>
            <a:prstDash val="solid"/>
          </a:ln>
        </p:spPr>
      </p:sp>
      <p:sp>
        <p:nvSpPr>
          <p:cNvPr id="10" name="Text 8"/>
          <p:cNvSpPr txBox="1"/>
          <p:nvPr/>
        </p:nvSpPr>
        <p:spPr>
          <a:xfrm>
            <a:off x="8183880" y="2057400"/>
            <a:ext cx="365760" cy="36576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2</a:t>
            </a:r>
            <a:endParaRPr lang="ar-LB" sz="1500" dirty="0"/>
          </a:p>
        </p:txBody>
      </p:sp>
      <p:sp>
        <p:nvSpPr>
          <p:cNvPr id="11" name="Text 9"/>
          <p:cNvSpPr txBox="1"/>
          <p:nvPr/>
        </p:nvSpPr>
        <p:spPr>
          <a:xfrm>
            <a:off x="640080" y="1874520"/>
            <a:ext cx="4846320" cy="73152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(10</a:t>
            </a:r>
            <a:r>
              <a:rPr lang="en-US" sz="1900" b="1" baseline="30000" dirty="0">
                <a:solidFill>
                  <a:srgbClr val="1B262C"/>
                </a:solidFill>
                <a:latin typeface="Arial" pitchFamily="34" charset="0"/>
                <a:ea typeface="Arial" pitchFamily="34" charset="-122"/>
                <a:cs typeface="Arial" pitchFamily="34" charset="-120"/>
              </a:rPr>
              <a:t>2</a:t>
            </a:r>
            <a:r>
              <a:rPr lang="en-US" sz="1900" b="1" dirty="0">
                <a:solidFill>
                  <a:srgbClr val="1B262C"/>
                </a:solidFill>
                <a:latin typeface="Arial" pitchFamily="34" charset="0"/>
                <a:ea typeface="Arial" pitchFamily="34" charset="-122"/>
                <a:cs typeface="Arial" pitchFamily="34" charset="-120"/>
              </a:rPr>
              <a:t>)</a:t>
            </a:r>
            <a:r>
              <a:rPr lang="en-US" sz="1900" b="1" baseline="30000" dirty="0">
                <a:solidFill>
                  <a:srgbClr val="1B262C"/>
                </a:solidFill>
                <a:latin typeface="Arial" pitchFamily="34" charset="0"/>
                <a:ea typeface="Arial" pitchFamily="34" charset="-122"/>
                <a:cs typeface="Arial" pitchFamily="34" charset="-120"/>
              </a:rPr>
              <a:t>3</a:t>
            </a:r>
            <a:r>
              <a:rPr lang="en-US" sz="1900" b="1" dirty="0">
                <a:solidFill>
                  <a:srgbClr val="1B262C"/>
                </a:solidFill>
                <a:latin typeface="Arial" pitchFamily="34" charset="0"/>
                <a:ea typeface="Arial" pitchFamily="34" charset="-122"/>
                <a:cs typeface="Arial" pitchFamily="34" charset="-120"/>
              </a:rPr>
              <a:t> = 10</a:t>
            </a:r>
            <a:r>
              <a:rPr lang="en-US" sz="1900" b="1" baseline="30000" dirty="0">
                <a:solidFill>
                  <a:srgbClr val="1B262C"/>
                </a:solidFill>
                <a:latin typeface="Arial" pitchFamily="34" charset="0"/>
                <a:ea typeface="Arial" pitchFamily="34" charset="-122"/>
                <a:cs typeface="Arial" pitchFamily="34" charset="-120"/>
              </a:rPr>
              <a:t>2 × 3</a:t>
            </a:r>
            <a:r>
              <a:rPr lang="en-US" sz="1900" b="1" dirty="0">
                <a:solidFill>
                  <a:srgbClr val="1B262C"/>
                </a:solidFill>
                <a:latin typeface="Arial" pitchFamily="34" charset="0"/>
                <a:ea typeface="Arial" pitchFamily="34" charset="-122"/>
                <a:cs typeface="Arial" pitchFamily="34" charset="-120"/>
              </a:rPr>
              <a:t> = 10</a:t>
            </a:r>
            <a:r>
              <a:rPr lang="en-US" sz="1900" b="1" baseline="30000" dirty="0">
                <a:solidFill>
                  <a:srgbClr val="1B262C"/>
                </a:solidFill>
                <a:latin typeface="Arial" pitchFamily="34" charset="0"/>
                <a:ea typeface="Arial" pitchFamily="34" charset="-122"/>
                <a:cs typeface="Arial" pitchFamily="34" charset="-120"/>
              </a:rPr>
              <a:t>6</a:t>
            </a:r>
            <a:r>
              <a:rPr lang="en-US" sz="1900" b="1" dirty="0">
                <a:solidFill>
                  <a:srgbClr val="1B262C"/>
                </a:solidFill>
                <a:latin typeface="Arial" pitchFamily="34" charset="0"/>
                <a:ea typeface="Arial" pitchFamily="34" charset="-122"/>
                <a:cs typeface="Arial" pitchFamily="34" charset="-120"/>
              </a:rPr>
              <a:t> = 1 000 000</a:t>
            </a:r>
            <a:endParaRPr lang="en-US" sz="1900" dirty="0"/>
          </a:p>
        </p:txBody>
      </p:sp>
      <p:sp>
        <p:nvSpPr>
          <p:cNvPr id="12" name="Text 10"/>
          <p:cNvSpPr txBox="1"/>
          <p:nvPr/>
        </p:nvSpPr>
        <p:spPr>
          <a:xfrm>
            <a:off x="5577840" y="1874520"/>
            <a:ext cx="2468880" cy="731520"/>
          </a:xfrm>
          <a:prstGeom prst="rect">
            <a:avLst/>
          </a:prstGeom>
          <a:noFill/>
          <a:ln/>
        </p:spPr>
        <p:txBody>
          <a:bodyPr wrap="square" lIns="0" tIns="0" rIns="0" bIns="0" rtlCol="0" anchor="ctr"/>
          <a:lstStyle/>
          <a:p>
            <a:pPr rtl="1" algn="r" indent="0" marL="0">
              <a:buNone/>
            </a:pPr>
            <a:r>
              <a:rPr lang="ar-LB" altLang="en-US" sz="1300" dirty="0">
                <a:solidFill>
                  <a:srgbClr val="5B6770"/>
                </a:solidFill>
              </a:rPr>
              <a:t>مليون: 1 متبوع بستة أصفار</a:t>
            </a:r>
            <a:endParaRPr lang="ar-LB" sz="1300" dirty="0"/>
          </a:p>
        </p:txBody>
      </p:sp>
      <p:sp>
        <p:nvSpPr>
          <p:cNvPr id="13" name="ex2"/>
          <p:cNvSpPr/>
          <p:nvPr/>
        </p:nvSpPr>
        <p:spPr>
          <a:xfrm>
            <a:off x="457200" y="2743200"/>
            <a:ext cx="8229600" cy="731520"/>
          </a:xfrm>
          <a:prstGeom prst="roundRect">
            <a:avLst>
              <a:gd name="adj" fmla="val 15000"/>
            </a:avLst>
          </a:prstGeom>
          <a:solidFill>
            <a:srgbClr val="2671B8">
              <a:alpha val="8000"/>
            </a:srgbClr>
          </a:solidFill>
          <a:ln w="12700">
            <a:solidFill>
              <a:srgbClr val="2671B8">
                <a:alpha val="60000"/>
              </a:srgbClr>
            </a:solidFill>
            <a:prstDash val="solid"/>
          </a:ln>
        </p:spPr>
      </p:sp>
      <p:sp>
        <p:nvSpPr>
          <p:cNvPr id="14" name="Shape 12"/>
          <p:cNvSpPr/>
          <p:nvPr/>
        </p:nvSpPr>
        <p:spPr>
          <a:xfrm>
            <a:off x="8183880" y="2926080"/>
            <a:ext cx="365760" cy="365760"/>
          </a:xfrm>
          <a:prstGeom prst="ellipse">
            <a:avLst/>
          </a:prstGeom>
          <a:solidFill>
            <a:srgbClr val="2671B8"/>
          </a:solidFill>
          <a:ln w="12700">
            <a:solidFill>
              <a:srgbClr val="2671B8"/>
            </a:solidFill>
            <a:prstDash val="solid"/>
          </a:ln>
        </p:spPr>
      </p:sp>
      <p:sp>
        <p:nvSpPr>
          <p:cNvPr id="15" name="Text 13"/>
          <p:cNvSpPr txBox="1"/>
          <p:nvPr/>
        </p:nvSpPr>
        <p:spPr>
          <a:xfrm>
            <a:off x="8183880" y="2926080"/>
            <a:ext cx="365760" cy="36576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3</a:t>
            </a:r>
            <a:endParaRPr lang="ar-LB" sz="1500" dirty="0"/>
          </a:p>
        </p:txBody>
      </p:sp>
      <p:sp>
        <p:nvSpPr>
          <p:cNvPr id="16" name="Text 14"/>
          <p:cNvSpPr txBox="1"/>
          <p:nvPr/>
        </p:nvSpPr>
        <p:spPr>
          <a:xfrm>
            <a:off x="640080" y="2743200"/>
            <a:ext cx="4846320" cy="73152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(2</a:t>
            </a:r>
            <a:r>
              <a:rPr lang="en-US" sz="1900" b="1" baseline="30000" dirty="0">
                <a:solidFill>
                  <a:srgbClr val="1B262C"/>
                </a:solidFill>
                <a:latin typeface="Arial" pitchFamily="34" charset="0"/>
                <a:ea typeface="Arial" pitchFamily="34" charset="-122"/>
                <a:cs typeface="Arial" pitchFamily="34" charset="-120"/>
              </a:rPr>
              <a:t>5</a:t>
            </a:r>
            <a:r>
              <a:rPr lang="en-US" sz="1900" b="1" dirty="0">
                <a:solidFill>
                  <a:srgbClr val="1B262C"/>
                </a:solidFill>
                <a:latin typeface="Arial" pitchFamily="34" charset="0"/>
                <a:ea typeface="Arial" pitchFamily="34" charset="-122"/>
                <a:cs typeface="Arial" pitchFamily="34" charset="-120"/>
              </a:rPr>
              <a:t>)</a:t>
            </a:r>
            <a:r>
              <a:rPr lang="en-US" sz="1900" b="1" baseline="30000" dirty="0">
                <a:solidFill>
                  <a:srgbClr val="1B262C"/>
                </a:solidFill>
                <a:latin typeface="Arial" pitchFamily="34" charset="0"/>
                <a:ea typeface="Arial" pitchFamily="34" charset="-122"/>
                <a:cs typeface="Arial" pitchFamily="34" charset="-120"/>
              </a:rPr>
              <a:t>2</a:t>
            </a:r>
            <a:r>
              <a:rPr lang="en-US" sz="1900" b="1" dirty="0">
                <a:solidFill>
                  <a:srgbClr val="1B262C"/>
                </a:solidFill>
                <a:latin typeface="Arial" pitchFamily="34" charset="0"/>
                <a:ea typeface="Arial" pitchFamily="34" charset="-122"/>
                <a:cs typeface="Arial" pitchFamily="34" charset="-120"/>
              </a:rPr>
              <a:t> = 2</a:t>
            </a:r>
            <a:r>
              <a:rPr lang="en-US" sz="1900" b="1" baseline="30000" dirty="0">
                <a:solidFill>
                  <a:srgbClr val="1B262C"/>
                </a:solidFill>
                <a:latin typeface="Arial" pitchFamily="34" charset="0"/>
                <a:ea typeface="Arial" pitchFamily="34" charset="-122"/>
                <a:cs typeface="Arial" pitchFamily="34" charset="-120"/>
              </a:rPr>
              <a:t>5 × 2</a:t>
            </a:r>
            <a:r>
              <a:rPr lang="en-US" sz="1900" b="1" dirty="0">
                <a:solidFill>
                  <a:srgbClr val="1B262C"/>
                </a:solidFill>
                <a:latin typeface="Arial" pitchFamily="34" charset="0"/>
                <a:ea typeface="Arial" pitchFamily="34" charset="-122"/>
                <a:cs typeface="Arial" pitchFamily="34" charset="-120"/>
              </a:rPr>
              <a:t> = 2</a:t>
            </a:r>
            <a:r>
              <a:rPr lang="en-US" sz="1900" b="1" baseline="30000" dirty="0">
                <a:solidFill>
                  <a:srgbClr val="1B262C"/>
                </a:solidFill>
                <a:latin typeface="Arial" pitchFamily="34" charset="0"/>
                <a:ea typeface="Arial" pitchFamily="34" charset="-122"/>
                <a:cs typeface="Arial" pitchFamily="34" charset="-120"/>
              </a:rPr>
              <a:t>10</a:t>
            </a:r>
            <a:r>
              <a:rPr lang="en-US" sz="1900" b="1" dirty="0">
                <a:solidFill>
                  <a:srgbClr val="1B262C"/>
                </a:solidFill>
                <a:latin typeface="Arial" pitchFamily="34" charset="0"/>
                <a:ea typeface="Arial" pitchFamily="34" charset="-122"/>
                <a:cs typeface="Arial" pitchFamily="34" charset="-120"/>
              </a:rPr>
              <a:t> = 1024</a:t>
            </a:r>
            <a:endParaRPr lang="en-US" sz="1900" dirty="0"/>
          </a:p>
        </p:txBody>
      </p:sp>
      <p:sp>
        <p:nvSpPr>
          <p:cNvPr id="17" name="Text 15"/>
          <p:cNvSpPr txBox="1"/>
          <p:nvPr/>
        </p:nvSpPr>
        <p:spPr>
          <a:xfrm>
            <a:off x="5577840" y="2743200"/>
            <a:ext cx="2468880" cy="731520"/>
          </a:xfrm>
          <a:prstGeom prst="rect">
            <a:avLst/>
          </a:prstGeom>
          <a:noFill/>
          <a:ln/>
        </p:spPr>
        <p:txBody>
          <a:bodyPr wrap="square" lIns="0" tIns="0" rIns="0" bIns="0" rtlCol="0" anchor="ctr"/>
          <a:lstStyle/>
          <a:p>
            <a:pPr rtl="1" algn="r" indent="0" marL="0">
              <a:buNone/>
            </a:pPr>
            <a:r>
              <a:rPr lang="ar-LB" altLang="en-US" sz="1300" dirty="0">
                <a:solidFill>
                  <a:srgbClr val="5B6770"/>
                </a:solidFill>
              </a:rPr>
              <a:t>تحقّق: 2⁵ = 32 و 32 × 32 = 1024</a:t>
            </a:r>
            <a:endParaRPr lang="ar-LB" sz="1300" dirty="0"/>
          </a:p>
        </p:txBody>
      </p:sp>
      <p:sp>
        <p:nvSpPr>
          <p:cNvPr id="18" name="ex3"/>
          <p:cNvSpPr/>
          <p:nvPr/>
        </p:nvSpPr>
        <p:spPr>
          <a:xfrm>
            <a:off x="457200" y="3611880"/>
            <a:ext cx="8229600" cy="731520"/>
          </a:xfrm>
          <a:prstGeom prst="roundRect">
            <a:avLst>
              <a:gd name="adj" fmla="val 15000"/>
            </a:avLst>
          </a:prstGeom>
          <a:solidFill>
            <a:srgbClr val="0F8B8D">
              <a:alpha val="8000"/>
            </a:srgbClr>
          </a:solidFill>
          <a:ln w="12700">
            <a:solidFill>
              <a:srgbClr val="0F8B8D">
                <a:alpha val="60000"/>
              </a:srgbClr>
            </a:solidFill>
            <a:prstDash val="solid"/>
          </a:ln>
        </p:spPr>
      </p:sp>
      <p:sp>
        <p:nvSpPr>
          <p:cNvPr id="19" name="Shape 17"/>
          <p:cNvSpPr/>
          <p:nvPr/>
        </p:nvSpPr>
        <p:spPr>
          <a:xfrm>
            <a:off x="8183880" y="3794760"/>
            <a:ext cx="365760" cy="365760"/>
          </a:xfrm>
          <a:prstGeom prst="ellipse">
            <a:avLst/>
          </a:prstGeom>
          <a:solidFill>
            <a:srgbClr val="0F8B8D"/>
          </a:solidFill>
          <a:ln w="12700">
            <a:solidFill>
              <a:srgbClr val="0F8B8D"/>
            </a:solidFill>
            <a:prstDash val="solid"/>
          </a:ln>
        </p:spPr>
      </p:sp>
      <p:sp>
        <p:nvSpPr>
          <p:cNvPr id="20" name="Text 18"/>
          <p:cNvSpPr txBox="1"/>
          <p:nvPr/>
        </p:nvSpPr>
        <p:spPr>
          <a:xfrm>
            <a:off x="8183880" y="3794760"/>
            <a:ext cx="365760" cy="36576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4</a:t>
            </a:r>
            <a:endParaRPr lang="ar-LB" sz="1500" dirty="0"/>
          </a:p>
        </p:txBody>
      </p:sp>
      <p:sp>
        <p:nvSpPr>
          <p:cNvPr id="21" name="Text 19"/>
          <p:cNvSpPr txBox="1"/>
          <p:nvPr/>
        </p:nvSpPr>
        <p:spPr>
          <a:xfrm>
            <a:off x="640080" y="3611880"/>
            <a:ext cx="4846320" cy="731520"/>
          </a:xfrm>
          <a:prstGeom prst="rect">
            <a:avLst/>
          </a:prstGeom>
          <a:noFill/>
          <a:ln/>
        </p:spPr>
        <p:txBody>
          <a:bodyPr wrap="square" lIns="0" tIns="0" rIns="0" bIns="0" rtlCol="0" anchor="ctr"/>
          <a:lstStyle/>
          <a:p>
            <a:pPr rtl="0" algn="l" indent="0" marL="0">
              <a:buNone/>
            </a:pPr>
            <a:r>
              <a:rPr lang="en-US" sz="1900" b="1" dirty="0">
                <a:solidFill>
                  <a:srgbClr val="1B262C"/>
                </a:solidFill>
                <a:latin typeface="Arial" pitchFamily="34" charset="0"/>
                <a:ea typeface="Arial" pitchFamily="34" charset="-122"/>
                <a:cs typeface="Arial" pitchFamily="34" charset="-120"/>
              </a:rPr>
              <a:t>(x</a:t>
            </a:r>
            <a:r>
              <a:rPr lang="en-US" sz="1900" b="1" baseline="30000" dirty="0">
                <a:solidFill>
                  <a:srgbClr val="1B262C"/>
                </a:solidFill>
                <a:latin typeface="Arial" pitchFamily="34" charset="0"/>
                <a:ea typeface="Arial" pitchFamily="34" charset="-122"/>
                <a:cs typeface="Arial" pitchFamily="34" charset="-120"/>
              </a:rPr>
              <a:t>4</a:t>
            </a:r>
            <a:r>
              <a:rPr lang="en-US" sz="1900" b="1" dirty="0">
                <a:solidFill>
                  <a:srgbClr val="1B262C"/>
                </a:solidFill>
                <a:latin typeface="Arial" pitchFamily="34" charset="0"/>
                <a:ea typeface="Arial" pitchFamily="34" charset="-122"/>
                <a:cs typeface="Arial" pitchFamily="34" charset="-120"/>
              </a:rPr>
              <a:t>)</a:t>
            </a:r>
            <a:r>
              <a:rPr lang="en-US" sz="1900" b="1" baseline="30000" dirty="0">
                <a:solidFill>
                  <a:srgbClr val="1B262C"/>
                </a:solidFill>
                <a:latin typeface="Arial" pitchFamily="34" charset="0"/>
                <a:ea typeface="Arial" pitchFamily="34" charset="-122"/>
                <a:cs typeface="Arial" pitchFamily="34" charset="-120"/>
              </a:rPr>
              <a:t>3</a:t>
            </a:r>
            <a:r>
              <a:rPr lang="en-US" sz="1900" b="1" dirty="0">
                <a:solidFill>
                  <a:srgbClr val="1B262C"/>
                </a:solidFill>
                <a:latin typeface="Arial" pitchFamily="34" charset="0"/>
                <a:ea typeface="Arial" pitchFamily="34" charset="-122"/>
                <a:cs typeface="Arial" pitchFamily="34" charset="-120"/>
              </a:rPr>
              <a:t> = x</a:t>
            </a:r>
            <a:r>
              <a:rPr lang="en-US" sz="1900" b="1" baseline="30000" dirty="0">
                <a:solidFill>
                  <a:srgbClr val="1B262C"/>
                </a:solidFill>
                <a:latin typeface="Arial" pitchFamily="34" charset="0"/>
                <a:ea typeface="Arial" pitchFamily="34" charset="-122"/>
                <a:cs typeface="Arial" pitchFamily="34" charset="-120"/>
              </a:rPr>
              <a:t>4 × 3</a:t>
            </a:r>
            <a:r>
              <a:rPr lang="en-US" sz="1900" b="1" dirty="0">
                <a:solidFill>
                  <a:srgbClr val="1B262C"/>
                </a:solidFill>
                <a:latin typeface="Arial" pitchFamily="34" charset="0"/>
                <a:ea typeface="Arial" pitchFamily="34" charset="-122"/>
                <a:cs typeface="Arial" pitchFamily="34" charset="-120"/>
              </a:rPr>
              <a:t> = x</a:t>
            </a:r>
            <a:r>
              <a:rPr lang="en-US" sz="1900" b="1" baseline="30000" dirty="0">
                <a:solidFill>
                  <a:srgbClr val="1B262C"/>
                </a:solidFill>
                <a:latin typeface="Arial" pitchFamily="34" charset="0"/>
                <a:ea typeface="Arial" pitchFamily="34" charset="-122"/>
                <a:cs typeface="Arial" pitchFamily="34" charset="-120"/>
              </a:rPr>
              <a:t>12</a:t>
            </a:r>
            <a:endParaRPr lang="en-US" sz="1900" dirty="0"/>
          </a:p>
        </p:txBody>
      </p:sp>
      <p:sp>
        <p:nvSpPr>
          <p:cNvPr id="22" name="Text 20"/>
          <p:cNvSpPr txBox="1"/>
          <p:nvPr/>
        </p:nvSpPr>
        <p:spPr>
          <a:xfrm>
            <a:off x="5577840" y="3611880"/>
            <a:ext cx="2468880" cy="731520"/>
          </a:xfrm>
          <a:prstGeom prst="rect">
            <a:avLst/>
          </a:prstGeom>
          <a:noFill/>
          <a:ln/>
        </p:spPr>
        <p:txBody>
          <a:bodyPr wrap="square" lIns="0" tIns="0" rIns="0" bIns="0" rtlCol="0" anchor="ctr"/>
          <a:lstStyle/>
          <a:p>
            <a:pPr rtl="1" algn="r" indent="0" marL="0">
              <a:buNone/>
            </a:pPr>
            <a:r>
              <a:rPr lang="ar-LB" altLang="en-US" sz="1300" dirty="0">
                <a:solidFill>
                  <a:srgbClr val="5B6770"/>
                </a:solidFill>
              </a:rPr>
              <a:t>الأساس حرف: نكتب الناتج على شكل قوّة</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قوّة القوّة في الحياة</a:t>
            </a:r>
            <a:endParaRPr lang="en-US" sz="3000" dirty="0"/>
          </a:p>
        </p:txBody>
      </p:sp>
      <p:sp>
        <p:nvSpPr>
          <p:cNvPr id="3" name="بلاطة مربّعة طول ضلعها 2³ سم. ما مساحتها؟"/>
          <p:cNvSpPr/>
          <p:nvPr/>
        </p:nvSpPr>
        <p:spPr>
          <a:xfrm>
            <a:off x="4709160" y="1005840"/>
            <a:ext cx="3977640" cy="2743200"/>
          </a:xfrm>
          <a:prstGeom prst="roundRect">
            <a:avLst>
              <a:gd name="adj" fmla="val 4000"/>
            </a:avLst>
          </a:prstGeom>
          <a:solidFill>
            <a:srgbClr val="0F8B8D">
              <a:alpha val="10000"/>
            </a:srgbClr>
          </a:solidFill>
          <a:ln w="12700">
            <a:solidFill>
              <a:srgbClr val="0F8B8D">
                <a:alpha val="60000"/>
              </a:srgbClr>
            </a:solidFill>
            <a:prstDash val="solid"/>
          </a:ln>
        </p:spPr>
      </p:sp>
      <p:sp>
        <p:nvSpPr>
          <p:cNvPr id="4" name="Shape 2"/>
          <p:cNvSpPr/>
          <p:nvPr/>
        </p:nvSpPr>
        <p:spPr>
          <a:xfrm>
            <a:off x="6355080" y="1143000"/>
            <a:ext cx="685800" cy="68580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6519672" y="1307592"/>
            <a:ext cx="356616" cy="356616"/>
          </a:xfrm>
          <a:prstGeom prst="rect">
            <a:avLst/>
          </a:prstGeom>
        </p:spPr>
      </p:pic>
      <p:sp>
        <p:nvSpPr>
          <p:cNvPr id="6" name="Text 3"/>
          <p:cNvSpPr txBox="1"/>
          <p:nvPr/>
        </p:nvSpPr>
        <p:spPr>
          <a:xfrm>
            <a:off x="4892040" y="1920240"/>
            <a:ext cx="3611880" cy="640080"/>
          </a:xfrm>
          <a:prstGeom prst="rect">
            <a:avLst/>
          </a:prstGeom>
          <a:noFill/>
          <a:ln/>
        </p:spPr>
        <p:txBody>
          <a:bodyPr wrap="square" lIns="0" tIns="0" rIns="0" bIns="0" rtlCol="0" anchor="ctr"/>
          <a:lstStyle/>
          <a:p>
            <a:pPr rtl="1" algn="ctr" indent="0" marL="0">
              <a:buNone/>
            </a:pPr>
            <a:r>
              <a:rPr lang="ar-LB" altLang="en-US" sz="1600" b="1" dirty="0">
                <a:solidFill>
                  <a:srgbClr val="1B262C"/>
                </a:solidFill>
              </a:rPr>
              <a:t>بلاطة مربّعة طول ضلعها 2³ سم. ما مساحتها؟</a:t>
            </a:r>
            <a:endParaRPr lang="ar-LB" sz="1600" dirty="0"/>
          </a:p>
        </p:txBody>
      </p:sp>
      <p:sp>
        <p:nvSpPr>
          <p:cNvPr id="7" name="Text 4"/>
          <p:cNvSpPr txBox="1"/>
          <p:nvPr/>
        </p:nvSpPr>
        <p:spPr>
          <a:xfrm>
            <a:off x="4846320" y="2606040"/>
            <a:ext cx="3703320" cy="502920"/>
          </a:xfrm>
          <a:prstGeom prst="rect">
            <a:avLst/>
          </a:prstGeom>
          <a:noFill/>
          <a:ln/>
        </p:spPr>
        <p:txBody>
          <a:bodyPr wrap="square" lIns="0" tIns="0" rIns="0" bIns="0" rtlCol="0" anchor="ctr"/>
          <a:lstStyle/>
          <a:p>
            <a:pPr rtl="0" algn="ctr" indent="0" marL="0">
              <a:buNone/>
            </a:pPr>
            <a:r>
              <a:rPr lang="en-US" sz="2200" b="1" dirty="0">
                <a:solidFill>
                  <a:srgbClr val="0F8B8D"/>
                </a:solidFill>
                <a:latin typeface="Arial" pitchFamily="34" charset="0"/>
                <a:ea typeface="Arial" pitchFamily="34" charset="-122"/>
                <a:cs typeface="Arial" pitchFamily="34" charset="-120"/>
              </a:rPr>
              <a:t>(2</a:t>
            </a:r>
            <a:r>
              <a:rPr lang="en-US" sz="2200" b="1" baseline="30000" dirty="0">
                <a:solidFill>
                  <a:srgbClr val="0F8B8D"/>
                </a:solidFill>
                <a:latin typeface="Arial" pitchFamily="34" charset="0"/>
                <a:ea typeface="Arial" pitchFamily="34" charset="-122"/>
                <a:cs typeface="Arial" pitchFamily="34" charset="-120"/>
              </a:rPr>
              <a:t>3</a:t>
            </a:r>
            <a:r>
              <a:rPr lang="en-US" sz="2200" b="1" dirty="0">
                <a:solidFill>
                  <a:srgbClr val="0F8B8D"/>
                </a:solidFill>
                <a:latin typeface="Arial" pitchFamily="34" charset="0"/>
                <a:ea typeface="Arial" pitchFamily="34" charset="-122"/>
                <a:cs typeface="Arial" pitchFamily="34" charset="-120"/>
              </a:rPr>
              <a:t>)</a:t>
            </a:r>
            <a:r>
              <a:rPr lang="en-US" sz="2200" b="1" baseline="30000" dirty="0">
                <a:solidFill>
                  <a:srgbClr val="0F8B8D"/>
                </a:solidFill>
                <a:latin typeface="Arial" pitchFamily="34" charset="0"/>
                <a:ea typeface="Arial" pitchFamily="34" charset="-122"/>
                <a:cs typeface="Arial" pitchFamily="34" charset="-120"/>
              </a:rPr>
              <a:t>2</a:t>
            </a:r>
            <a:r>
              <a:rPr lang="en-US" sz="2200" b="1" dirty="0">
                <a:solidFill>
                  <a:srgbClr val="0F8B8D"/>
                </a:solidFill>
                <a:latin typeface="Arial" pitchFamily="34" charset="0"/>
                <a:ea typeface="Arial" pitchFamily="34" charset="-122"/>
                <a:cs typeface="Arial" pitchFamily="34" charset="-120"/>
              </a:rPr>
              <a:t> = 2</a:t>
            </a:r>
            <a:r>
              <a:rPr lang="en-US" sz="2200" b="1" baseline="30000" dirty="0">
                <a:solidFill>
                  <a:srgbClr val="0F8B8D"/>
                </a:solidFill>
                <a:latin typeface="Arial" pitchFamily="34" charset="0"/>
                <a:ea typeface="Arial" pitchFamily="34" charset="-122"/>
                <a:cs typeface="Arial" pitchFamily="34" charset="-120"/>
              </a:rPr>
              <a:t>6</a:t>
            </a:r>
            <a:r>
              <a:rPr lang="en-US" sz="2200" b="1" dirty="0">
                <a:solidFill>
                  <a:srgbClr val="0F8B8D"/>
                </a:solidFill>
                <a:latin typeface="Arial" pitchFamily="34" charset="0"/>
                <a:ea typeface="Arial" pitchFamily="34" charset="-122"/>
                <a:cs typeface="Arial" pitchFamily="34" charset="-120"/>
              </a:rPr>
              <a:t> = 64 cm</a:t>
            </a:r>
            <a:r>
              <a:rPr lang="en-US" sz="2200" b="1" baseline="30000" dirty="0">
                <a:solidFill>
                  <a:srgbClr val="0F8B8D"/>
                </a:solidFill>
                <a:latin typeface="Arial" pitchFamily="34" charset="0"/>
                <a:ea typeface="Arial" pitchFamily="34" charset="-122"/>
                <a:cs typeface="Arial" pitchFamily="34" charset="-120"/>
              </a:rPr>
              <a:t>2</a:t>
            </a:r>
            <a:endParaRPr lang="en-US" sz="2200" dirty="0"/>
          </a:p>
        </p:txBody>
      </p:sp>
      <p:sp>
        <p:nvSpPr>
          <p:cNvPr id="8" name="Text 5"/>
          <p:cNvSpPr txBox="1"/>
          <p:nvPr/>
        </p:nvSpPr>
        <p:spPr>
          <a:xfrm>
            <a:off x="4846320" y="3154680"/>
            <a:ext cx="3703320" cy="457200"/>
          </a:xfrm>
          <a:prstGeom prst="rect">
            <a:avLst/>
          </a:prstGeom>
          <a:noFill/>
          <a:ln/>
        </p:spPr>
        <p:txBody>
          <a:bodyPr wrap="square" lIns="0" tIns="0" rIns="0" bIns="0" rtlCol="0" anchor="ctr"/>
          <a:lstStyle/>
          <a:p>
            <a:pPr rtl="1" algn="ctr" indent="0" marL="0">
              <a:buNone/>
            </a:pPr>
            <a:r>
              <a:rPr lang="ar-LB" altLang="en-US" sz="1200" dirty="0">
                <a:solidFill>
                  <a:srgbClr val="5B6770"/>
                </a:solidFill>
              </a:rPr>
              <a:t>تحقّق: الضلع 8 سم، والمساحة 8 × 8 = 64 سم²</a:t>
            </a:r>
            <a:endParaRPr lang="ar-LB" sz="1200" dirty="0"/>
          </a:p>
        </p:txBody>
      </p:sp>
      <p:sp>
        <p:nvSpPr>
          <p:cNvPr id="9" name="علبة مكعّبة طول حرفها 3² سم. ما حجمها؟"/>
          <p:cNvSpPr/>
          <p:nvPr/>
        </p:nvSpPr>
        <p:spPr>
          <a:xfrm>
            <a:off x="457200" y="1005840"/>
            <a:ext cx="3977640" cy="2743200"/>
          </a:xfrm>
          <a:prstGeom prst="roundRect">
            <a:avLst>
              <a:gd name="adj" fmla="val 4000"/>
            </a:avLst>
          </a:prstGeom>
          <a:solidFill>
            <a:srgbClr val="2671B8">
              <a:alpha val="10000"/>
            </a:srgbClr>
          </a:solidFill>
          <a:ln w="12700">
            <a:solidFill>
              <a:srgbClr val="2671B8">
                <a:alpha val="60000"/>
              </a:srgbClr>
            </a:solidFill>
            <a:prstDash val="solid"/>
          </a:ln>
        </p:spPr>
      </p:sp>
      <p:sp>
        <p:nvSpPr>
          <p:cNvPr id="10" name="Shape 7"/>
          <p:cNvSpPr/>
          <p:nvPr/>
        </p:nvSpPr>
        <p:spPr>
          <a:xfrm>
            <a:off x="2103120" y="1143000"/>
            <a:ext cx="685800" cy="685800"/>
          </a:xfrm>
          <a:prstGeom prst="ellipse">
            <a:avLst/>
          </a:prstGeom>
          <a:solidFill>
            <a:srgbClr val="2671B8"/>
          </a:solidFill>
          <a:ln w="12700">
            <a:solidFill>
              <a:srgbClr val="2671B8"/>
            </a:solidFill>
            <a:prstDash val="solid"/>
          </a:ln>
        </p:spPr>
      </p:sp>
      <p:pic>
        <p:nvPicPr>
          <p:cNvPr id="11" name="Image 1" descr="preencoded.png">    </p:cNvPr>
          <p:cNvPicPr>
            <a:picLocks noChangeAspect="1"/>
          </p:cNvPicPr>
          <p:nvPr/>
        </p:nvPicPr>
        <p:blipFill>
          <a:blip r:embed="rId2"/>
          <a:stretch>
            <a:fillRect/>
          </a:stretch>
        </p:blipFill>
        <p:spPr>
          <a:xfrm>
            <a:off x="2267712" y="1307592"/>
            <a:ext cx="356616" cy="356616"/>
          </a:xfrm>
          <a:prstGeom prst="rect">
            <a:avLst/>
          </a:prstGeom>
        </p:spPr>
      </p:pic>
      <p:sp>
        <p:nvSpPr>
          <p:cNvPr id="12" name="Text 8"/>
          <p:cNvSpPr txBox="1"/>
          <p:nvPr/>
        </p:nvSpPr>
        <p:spPr>
          <a:xfrm>
            <a:off x="640080" y="1920240"/>
            <a:ext cx="3611880" cy="640080"/>
          </a:xfrm>
          <a:prstGeom prst="rect">
            <a:avLst/>
          </a:prstGeom>
          <a:noFill/>
          <a:ln/>
        </p:spPr>
        <p:txBody>
          <a:bodyPr wrap="square" lIns="0" tIns="0" rIns="0" bIns="0" rtlCol="0" anchor="ctr"/>
          <a:lstStyle/>
          <a:p>
            <a:pPr rtl="1" algn="ctr" indent="0" marL="0">
              <a:buNone/>
            </a:pPr>
            <a:r>
              <a:rPr lang="ar-LB" altLang="en-US" sz="1600" b="1" dirty="0">
                <a:solidFill>
                  <a:srgbClr val="1B262C"/>
                </a:solidFill>
              </a:rPr>
              <a:t>علبة مكعّبة طول حرفها 3² سم. ما حجمها؟</a:t>
            </a:r>
            <a:endParaRPr lang="ar-LB" sz="1600" dirty="0"/>
          </a:p>
        </p:txBody>
      </p:sp>
      <p:sp>
        <p:nvSpPr>
          <p:cNvPr id="13" name="Text 9"/>
          <p:cNvSpPr txBox="1"/>
          <p:nvPr/>
        </p:nvSpPr>
        <p:spPr>
          <a:xfrm>
            <a:off x="594360" y="2606040"/>
            <a:ext cx="3703320" cy="502920"/>
          </a:xfrm>
          <a:prstGeom prst="rect">
            <a:avLst/>
          </a:prstGeom>
          <a:noFill/>
          <a:ln/>
        </p:spPr>
        <p:txBody>
          <a:bodyPr wrap="square" lIns="0" tIns="0" rIns="0" bIns="0" rtlCol="0" anchor="ctr"/>
          <a:lstStyle/>
          <a:p>
            <a:pPr rtl="0" algn="ctr" indent="0" marL="0">
              <a:buNone/>
            </a:pPr>
            <a:r>
              <a:rPr lang="en-US" sz="2200" b="1" dirty="0">
                <a:solidFill>
                  <a:srgbClr val="2671B8"/>
                </a:solidFill>
                <a:latin typeface="Arial" pitchFamily="34" charset="0"/>
                <a:ea typeface="Arial" pitchFamily="34" charset="-122"/>
                <a:cs typeface="Arial" pitchFamily="34" charset="-120"/>
              </a:rPr>
              <a:t>(3</a:t>
            </a:r>
            <a:r>
              <a:rPr lang="en-US" sz="2200" b="1" baseline="30000" dirty="0">
                <a:solidFill>
                  <a:srgbClr val="2671B8"/>
                </a:solidFill>
                <a:latin typeface="Arial" pitchFamily="34" charset="0"/>
                <a:ea typeface="Arial" pitchFamily="34" charset="-122"/>
                <a:cs typeface="Arial" pitchFamily="34" charset="-120"/>
              </a:rPr>
              <a:t>2</a:t>
            </a:r>
            <a:r>
              <a:rPr lang="en-US" sz="2200" b="1" dirty="0">
                <a:solidFill>
                  <a:srgbClr val="2671B8"/>
                </a:solidFill>
                <a:latin typeface="Arial" pitchFamily="34" charset="0"/>
                <a:ea typeface="Arial" pitchFamily="34" charset="-122"/>
                <a:cs typeface="Arial" pitchFamily="34" charset="-120"/>
              </a:rPr>
              <a:t>)</a:t>
            </a:r>
            <a:r>
              <a:rPr lang="en-US" sz="2200" b="1" baseline="30000" dirty="0">
                <a:solidFill>
                  <a:srgbClr val="2671B8"/>
                </a:solidFill>
                <a:latin typeface="Arial" pitchFamily="34" charset="0"/>
                <a:ea typeface="Arial" pitchFamily="34" charset="-122"/>
                <a:cs typeface="Arial" pitchFamily="34" charset="-120"/>
              </a:rPr>
              <a:t>3</a:t>
            </a:r>
            <a:r>
              <a:rPr lang="en-US" sz="2200" b="1" dirty="0">
                <a:solidFill>
                  <a:srgbClr val="2671B8"/>
                </a:solidFill>
                <a:latin typeface="Arial" pitchFamily="34" charset="0"/>
                <a:ea typeface="Arial" pitchFamily="34" charset="-122"/>
                <a:cs typeface="Arial" pitchFamily="34" charset="-120"/>
              </a:rPr>
              <a:t> = 3</a:t>
            </a:r>
            <a:r>
              <a:rPr lang="en-US" sz="2200" b="1" baseline="30000" dirty="0">
                <a:solidFill>
                  <a:srgbClr val="2671B8"/>
                </a:solidFill>
                <a:latin typeface="Arial" pitchFamily="34" charset="0"/>
                <a:ea typeface="Arial" pitchFamily="34" charset="-122"/>
                <a:cs typeface="Arial" pitchFamily="34" charset="-120"/>
              </a:rPr>
              <a:t>6</a:t>
            </a:r>
            <a:r>
              <a:rPr lang="en-US" sz="2200" b="1" dirty="0">
                <a:solidFill>
                  <a:srgbClr val="2671B8"/>
                </a:solidFill>
                <a:latin typeface="Arial" pitchFamily="34" charset="0"/>
                <a:ea typeface="Arial" pitchFamily="34" charset="-122"/>
                <a:cs typeface="Arial" pitchFamily="34" charset="-120"/>
              </a:rPr>
              <a:t> = 729 cm</a:t>
            </a:r>
            <a:r>
              <a:rPr lang="en-US" sz="2200" b="1" baseline="30000" dirty="0">
                <a:solidFill>
                  <a:srgbClr val="2671B8"/>
                </a:solidFill>
                <a:latin typeface="Arial" pitchFamily="34" charset="0"/>
                <a:ea typeface="Arial" pitchFamily="34" charset="-122"/>
                <a:cs typeface="Arial" pitchFamily="34" charset="-120"/>
              </a:rPr>
              <a:t>3</a:t>
            </a:r>
            <a:endParaRPr lang="en-US" sz="2200" dirty="0"/>
          </a:p>
        </p:txBody>
      </p:sp>
      <p:sp>
        <p:nvSpPr>
          <p:cNvPr id="14" name="Text 10"/>
          <p:cNvSpPr txBox="1"/>
          <p:nvPr/>
        </p:nvSpPr>
        <p:spPr>
          <a:xfrm>
            <a:off x="594360" y="3154680"/>
            <a:ext cx="3703320" cy="457200"/>
          </a:xfrm>
          <a:prstGeom prst="rect">
            <a:avLst/>
          </a:prstGeom>
          <a:noFill/>
          <a:ln/>
        </p:spPr>
        <p:txBody>
          <a:bodyPr wrap="square" lIns="0" tIns="0" rIns="0" bIns="0" rtlCol="0" anchor="ctr"/>
          <a:lstStyle/>
          <a:p>
            <a:pPr rtl="1" algn="ctr" indent="0" marL="0">
              <a:buNone/>
            </a:pPr>
            <a:r>
              <a:rPr lang="ar-LB" altLang="en-US" sz="1200" dirty="0">
                <a:solidFill>
                  <a:srgbClr val="5B6770"/>
                </a:solidFill>
              </a:rPr>
              <a:t>تحقّق: الحرف 9 سم، والحجم 9 × 9 × 9 = 729 سم³</a:t>
            </a:r>
            <a:endParaRPr lang="ar-LB" sz="1200" dirty="0"/>
          </a:p>
        </p:txBody>
      </p:sp>
      <p:sp>
        <p:nvSpPr>
          <p:cNvPr id="15" name="Text 11"/>
          <p:cNvSpPr txBox="1"/>
          <p:nvPr/>
        </p:nvSpPr>
        <p:spPr>
          <a:xfrm>
            <a:off x="457200" y="3977640"/>
            <a:ext cx="8229600" cy="411480"/>
          </a:xfrm>
          <a:prstGeom prst="rect">
            <a:avLst/>
          </a:prstGeom>
          <a:noFill/>
          <a:ln/>
        </p:spPr>
        <p:txBody>
          <a:bodyPr wrap="square" lIns="0" tIns="0" rIns="0" bIns="0" rtlCol="0" anchor="t"/>
          <a:lstStyle/>
          <a:p>
            <a:pPr rtl="1" algn="ctr" indent="0" marL="0">
              <a:buNone/>
            </a:pPr>
            <a:r>
              <a:rPr lang="ar-LB" altLang="en-US" sz="1600" b="1" dirty="0">
                <a:solidFill>
                  <a:srgbClr val="0F4C5C"/>
                </a:solidFill>
              </a:rPr>
              <a:t>مساحة المربع = الضلع²       حجم المكعّب = الحرف³</a:t>
            </a:r>
            <a:endParaRPr lang="ar-LB" sz="16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E36414"/>
          </a:solidFill>
          <a:ln w="12700">
            <a:solidFill>
              <a:srgbClr val="E36414"/>
            </a:solidFill>
            <a:prstDash val="solid"/>
          </a:ln>
        </p:spPr>
      </p:sp>
      <p:pic>
        <p:nvPicPr>
          <p:cNvPr id="3" name="Image 0" descr="preencoded.png">    </p:cNvPr>
          <p:cNvPicPr>
            <a:picLocks noChangeAspect="1"/>
          </p:cNvPicPr>
          <p:nvPr/>
        </p:nvPicPr>
        <p:blipFill>
          <a:blip r:embed="rId1"/>
          <a:stretch>
            <a:fillRect/>
          </a:stretch>
        </p:blipFill>
        <p:spPr>
          <a:xfrm>
            <a:off x="7452360" y="1920240"/>
            <a:ext cx="822960" cy="822960"/>
          </a:xfrm>
          <a:prstGeom prst="rect">
            <a:avLst/>
          </a:prstGeom>
        </p:spPr>
      </p:pic>
      <p:sp>
        <p:nvSpPr>
          <p:cNvPr id="4" name="Text 1"/>
          <p:cNvSpPr txBox="1"/>
          <p:nvPr/>
        </p:nvSpPr>
        <p:spPr>
          <a:xfrm>
            <a:off x="548640" y="1371600"/>
            <a:ext cx="6035040" cy="411480"/>
          </a:xfrm>
          <a:prstGeom prst="rect">
            <a:avLst/>
          </a:prstGeom>
          <a:noFill/>
          <a:ln/>
        </p:spPr>
        <p:txBody>
          <a:bodyPr wrap="square" lIns="0" tIns="0" rIns="0" bIns="0" rtlCol="0" anchor="t"/>
          <a:lstStyle/>
          <a:p>
            <a:pPr rtl="1" algn="r" indent="0" marL="0">
              <a:buNone/>
            </a:pPr>
            <a:r>
              <a:rPr lang="ar-LB" altLang="en-US" sz="1800" b="1" dirty="0">
                <a:solidFill>
                  <a:srgbClr val="E9A23B"/>
                </a:solidFill>
              </a:rPr>
              <a:t>المرحلة 4</a:t>
            </a:r>
            <a:endParaRPr lang="ar-LB" sz="1800" dirty="0"/>
          </a:p>
        </p:txBody>
      </p:sp>
      <p:sp>
        <p:nvSpPr>
          <p:cNvPr id="5" name="Text 0"/>
          <p:cNvSpPr/>
          <p:nvPr>
            <p:ph idx="100" type="title" hasCustomPrompt="1"/>
          </p:nvPr>
        </p:nvSpPr>
        <p:spPr>
          <a:xfrm>
            <a:off x="548640" y="1828800"/>
            <a:ext cx="6035040" cy="822960"/>
          </a:xfrm>
          <a:prstGeom prst="rect">
            <a:avLst/>
          </a:prstGeom>
          <a:noFill/>
          <a:ln/>
        </p:spPr>
        <p:txBody>
          <a:bodyPr wrap="square" rtlCol="0"/>
          <a:lstStyle/>
          <a:p>
            <a:pPr rtl="1" algn="r" indent="0" marL="0">
              <a:buNone/>
            </a:pPr>
            <a:r>
              <a:rPr lang="en-US" sz="4000" b="1" dirty="0">
                <a:solidFill>
                  <a:srgbClr val="FFFFFF"/>
                </a:solidFill>
              </a:rPr>
              <a:t>التطبيق الفردي</a:t>
            </a:r>
            <a:endParaRPr lang="en-US" sz="4000" dirty="0"/>
          </a:p>
        </p:txBody>
      </p:sp>
      <p:sp>
        <p:nvSpPr>
          <p:cNvPr id="6" name="Text 0"/>
          <p:cNvSpPr/>
          <p:nvPr>
            <p:ph idx="101" type="body" hasCustomPrompt="1"/>
          </p:nvPr>
        </p:nvSpPr>
        <p:spPr>
          <a:xfrm>
            <a:off x="548640" y="2697480"/>
            <a:ext cx="6035040" cy="822960"/>
          </a:xfrm>
          <a:prstGeom prst="rect">
            <a:avLst/>
          </a:prstGeom>
          <a:noFill/>
          <a:ln/>
        </p:spPr>
        <p:txBody>
          <a:bodyPr wrap="square" rtlCol="0" anchor="t"/>
          <a:lstStyle/>
          <a:p>
            <a:pPr rtl="1" algn="r" indent="0" marL="0">
              <a:buNone/>
            </a:pPr>
            <a:r>
              <a:rPr lang="en-US" sz="1800" dirty="0">
                <a:solidFill>
                  <a:srgbClr val="CFE3E6"/>
                </a:solidFill>
              </a:rPr>
              <a:t>استراتيجية: الممارسة المستقلة المتدرّجة  •  7 دقائق</a:t>
            </a:r>
            <a:endParaRPr lang="en-US" sz="1800" dirty="0"/>
          </a:p>
          <a:p>
            <a:pPr rtl="1" algn="r" indent="0" marL="0">
              <a:buNone/>
            </a:pPr>
            <a:r>
              <a:rPr lang="en-US" sz="1800" dirty="0">
                <a:solidFill>
                  <a:srgbClr val="CFE3E6"/>
                </a:solidFill>
              </a:rPr>
              <a:t>بطاقة رقم 2 لكل طالب</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أعمل وحدي</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rtl="1" algn="r" indent="0" marL="0">
              <a:buNone/>
            </a:pPr>
            <a:r>
              <a:rPr lang="ar-LB" altLang="en-US" sz="1400" dirty="0">
                <a:solidFill>
                  <a:srgbClr val="5B6770"/>
                </a:solidFill>
              </a:rPr>
              <a:t>ابدأ بالمستوى الأساسي، ثم انتقل إلى ما بعده كلما أنهيت:</a:t>
            </a:r>
            <a:endParaRPr lang="ar-LB" sz="1400" dirty="0"/>
          </a:p>
        </p:txBody>
      </p:sp>
      <p:sp>
        <p:nvSpPr>
          <p:cNvPr id="4" name="أساسي"/>
          <p:cNvSpPr/>
          <p:nvPr/>
        </p:nvSpPr>
        <p:spPr>
          <a:xfrm>
            <a:off x="457200" y="1234440"/>
            <a:ext cx="8229600" cy="1316736"/>
          </a:xfrm>
          <a:prstGeom prst="roundRect">
            <a:avLst>
              <a:gd name="adj" fmla="val 8333"/>
            </a:avLst>
          </a:prstGeom>
          <a:solidFill>
            <a:srgbClr val="2E9E5B">
              <a:alpha val="9000"/>
            </a:srgbClr>
          </a:solidFill>
          <a:ln w="12700">
            <a:solidFill>
              <a:srgbClr val="2E9E5B">
                <a:alpha val="60000"/>
              </a:srgbClr>
            </a:solidFill>
            <a:prstDash val="solid"/>
          </a:ln>
        </p:spPr>
      </p:sp>
      <p:sp>
        <p:nvSpPr>
          <p:cNvPr id="5" name="Shape 3"/>
          <p:cNvSpPr/>
          <p:nvPr/>
        </p:nvSpPr>
        <p:spPr>
          <a:xfrm>
            <a:off x="7589520" y="1325880"/>
            <a:ext cx="960120" cy="292608"/>
          </a:xfrm>
          <a:prstGeom prst="roundRect">
            <a:avLst>
              <a:gd name="adj" fmla="val 50000"/>
            </a:avLst>
          </a:prstGeom>
          <a:solidFill>
            <a:srgbClr val="2E9E5B"/>
          </a:solidFill>
          <a:ln w="12700">
            <a:solidFill>
              <a:srgbClr val="2E9E5B"/>
            </a:solidFill>
            <a:prstDash val="solid"/>
          </a:ln>
        </p:spPr>
      </p:sp>
      <p:sp>
        <p:nvSpPr>
          <p:cNvPr id="6" name="Text 4"/>
          <p:cNvSpPr txBox="1"/>
          <p:nvPr/>
        </p:nvSpPr>
        <p:spPr>
          <a:xfrm>
            <a:off x="7589520" y="1325880"/>
            <a:ext cx="960120" cy="292608"/>
          </a:xfrm>
          <a:prstGeom prst="rect">
            <a:avLst/>
          </a:prstGeom>
          <a:noFill/>
          <a:ln/>
        </p:spPr>
        <p:txBody>
          <a:bodyPr wrap="square" lIns="0" tIns="0" rIns="0" bIns="0" rtlCol="0" anchor="ctr"/>
          <a:lstStyle/>
          <a:p>
            <a:pPr rtl="1" algn="ctr" indent="0" marL="0">
              <a:buNone/>
            </a:pPr>
            <a:r>
              <a:rPr lang="ar-LB" altLang="en-US" sz="1200" b="1" dirty="0">
                <a:solidFill>
                  <a:srgbClr val="FFFFFF"/>
                </a:solidFill>
              </a:rPr>
              <a:t>أساسي</a:t>
            </a:r>
            <a:endParaRPr lang="ar-LB" sz="1200" dirty="0"/>
          </a:p>
        </p:txBody>
      </p:sp>
      <p:sp>
        <p:nvSpPr>
          <p:cNvPr id="7" name="Text 5"/>
          <p:cNvSpPr txBox="1"/>
          <p:nvPr/>
        </p:nvSpPr>
        <p:spPr>
          <a:xfrm>
            <a:off x="4114800" y="1289304"/>
            <a:ext cx="3383280" cy="402336"/>
          </a:xfrm>
          <a:prstGeom prst="rect">
            <a:avLst/>
          </a:prstGeom>
          <a:noFill/>
          <a:ln/>
        </p:spPr>
        <p:txBody>
          <a:bodyPr wrap="square" lIns="0" tIns="0" rIns="0" bIns="0" rtlCol="0" anchor="ctr"/>
          <a:lstStyle/>
          <a:p>
            <a:pPr rtl="1" algn="r" indent="0" marL="0">
              <a:buNone/>
            </a:pPr>
            <a:r>
              <a:rPr lang="ar-LB" altLang="en-US" sz="1500" dirty="0">
                <a:solidFill>
                  <a:srgbClr val="1B262C"/>
                </a:solidFill>
              </a:rPr>
              <a:t>1.  اكتب على شكل قوّة:</a:t>
            </a:r>
            <a:endParaRPr lang="ar-LB" sz="1500" dirty="0"/>
          </a:p>
        </p:txBody>
      </p:sp>
      <p:sp>
        <p:nvSpPr>
          <p:cNvPr id="8" name="Text 6"/>
          <p:cNvSpPr txBox="1"/>
          <p:nvPr/>
        </p:nvSpPr>
        <p:spPr>
          <a:xfrm>
            <a:off x="594360" y="1289304"/>
            <a:ext cx="3474720" cy="402336"/>
          </a:xfrm>
          <a:prstGeom prst="rect">
            <a:avLst/>
          </a:prstGeom>
          <a:noFill/>
          <a:ln/>
        </p:spPr>
        <p:txBody>
          <a:bodyPr wrap="square" lIns="0" tIns="0" rIns="0" bIns="0" rtlCol="0" anchor="ctr"/>
          <a:lstStyle/>
          <a:p>
            <a:pPr rtl="0" algn="ctr" indent="0" marL="0">
              <a:buNone/>
            </a:pPr>
            <a:r>
              <a:rPr lang="en-US" sz="1700" b="1" dirty="0">
                <a:solidFill>
                  <a:srgbClr val="2E9E5B"/>
                </a:solidFill>
                <a:latin typeface="Arial" pitchFamily="34" charset="0"/>
                <a:ea typeface="Arial" pitchFamily="34" charset="-122"/>
                <a:cs typeface="Arial" pitchFamily="34" charset="-120"/>
              </a:rPr>
              <a:t>9 × 9 × 9 × 9</a:t>
            </a:r>
            <a:endParaRPr lang="en-US" sz="1700" dirty="0"/>
          </a:p>
        </p:txBody>
      </p:sp>
      <p:sp>
        <p:nvSpPr>
          <p:cNvPr id="9" name="Text 7"/>
          <p:cNvSpPr txBox="1"/>
          <p:nvPr/>
        </p:nvSpPr>
        <p:spPr>
          <a:xfrm>
            <a:off x="4114800" y="1691640"/>
            <a:ext cx="3383280" cy="402336"/>
          </a:xfrm>
          <a:prstGeom prst="rect">
            <a:avLst/>
          </a:prstGeom>
          <a:noFill/>
          <a:ln/>
        </p:spPr>
        <p:txBody>
          <a:bodyPr wrap="square" lIns="0" tIns="0" rIns="0" bIns="0" rtlCol="0" anchor="ctr"/>
          <a:lstStyle/>
          <a:p>
            <a:pPr rtl="1" algn="r" indent="0" marL="0">
              <a:buNone/>
            </a:pPr>
            <a:r>
              <a:rPr lang="ar-LB" altLang="en-US" sz="1500" dirty="0">
                <a:solidFill>
                  <a:srgbClr val="1B262C"/>
                </a:solidFill>
              </a:rPr>
              <a:t>2.  احسب كلًّا من 4³ و 4 × 3 ثم قارن.</a:t>
            </a:r>
            <a:endParaRPr lang="ar-LB" sz="1500" dirty="0"/>
          </a:p>
        </p:txBody>
      </p:sp>
      <p:sp>
        <p:nvSpPr>
          <p:cNvPr id="10" name="Text 8"/>
          <p:cNvSpPr txBox="1"/>
          <p:nvPr/>
        </p:nvSpPr>
        <p:spPr>
          <a:xfrm>
            <a:off x="4114800" y="2093976"/>
            <a:ext cx="3383280" cy="402336"/>
          </a:xfrm>
          <a:prstGeom prst="rect">
            <a:avLst/>
          </a:prstGeom>
          <a:noFill/>
          <a:ln/>
        </p:spPr>
        <p:txBody>
          <a:bodyPr wrap="square" lIns="0" tIns="0" rIns="0" bIns="0" rtlCol="0" anchor="ctr"/>
          <a:lstStyle/>
          <a:p>
            <a:pPr rtl="1" algn="r" indent="0" marL="0">
              <a:buNone/>
            </a:pPr>
            <a:r>
              <a:rPr lang="ar-LB" altLang="en-US" sz="1500" dirty="0">
                <a:solidFill>
                  <a:srgbClr val="1B262C"/>
                </a:solidFill>
              </a:rPr>
              <a:t>3.  ضع &gt; أو &lt; أو = :</a:t>
            </a:r>
            <a:endParaRPr lang="ar-LB" sz="1500" dirty="0"/>
          </a:p>
        </p:txBody>
      </p:sp>
      <p:sp>
        <p:nvSpPr>
          <p:cNvPr id="11" name="Text 9"/>
          <p:cNvSpPr txBox="1"/>
          <p:nvPr/>
        </p:nvSpPr>
        <p:spPr>
          <a:xfrm>
            <a:off x="594360" y="2093976"/>
            <a:ext cx="3474720" cy="402336"/>
          </a:xfrm>
          <a:prstGeom prst="rect">
            <a:avLst/>
          </a:prstGeom>
          <a:noFill/>
          <a:ln/>
        </p:spPr>
        <p:txBody>
          <a:bodyPr wrap="square" lIns="0" tIns="0" rIns="0" bIns="0" rtlCol="0" anchor="ctr"/>
          <a:lstStyle/>
          <a:p>
            <a:pPr rtl="0" algn="ctr" indent="0" marL="0">
              <a:buNone/>
            </a:pPr>
            <a:r>
              <a:rPr lang="en-US" sz="1700" b="1" dirty="0">
                <a:solidFill>
                  <a:srgbClr val="2E9E5B"/>
                </a:solidFill>
                <a:latin typeface="Arial" pitchFamily="34" charset="0"/>
                <a:ea typeface="Arial" pitchFamily="34" charset="-122"/>
                <a:cs typeface="Arial" pitchFamily="34" charset="-120"/>
              </a:rPr>
              <a:t>2</a:t>
            </a:r>
            <a:r>
              <a:rPr lang="en-US" sz="1700" b="1" baseline="30000" dirty="0">
                <a:solidFill>
                  <a:srgbClr val="2E9E5B"/>
                </a:solidFill>
                <a:latin typeface="Arial" pitchFamily="34" charset="0"/>
                <a:ea typeface="Arial" pitchFamily="34" charset="-122"/>
                <a:cs typeface="Arial" pitchFamily="34" charset="-120"/>
              </a:rPr>
              <a:t>4</a:t>
            </a:r>
            <a:r>
              <a:rPr lang="en-US" sz="1700" b="1" dirty="0">
                <a:solidFill>
                  <a:srgbClr val="2E9E5B"/>
                </a:solidFill>
                <a:latin typeface="Arial" pitchFamily="34" charset="0"/>
                <a:ea typeface="Arial" pitchFamily="34" charset="-122"/>
                <a:cs typeface="Arial" pitchFamily="34" charset="-120"/>
              </a:rPr>
              <a:t> ... 4</a:t>
            </a:r>
            <a:r>
              <a:rPr lang="en-US" sz="1700" b="1" baseline="30000" dirty="0">
                <a:solidFill>
                  <a:srgbClr val="2E9E5B"/>
                </a:solidFill>
                <a:latin typeface="Arial" pitchFamily="34" charset="0"/>
                <a:ea typeface="Arial" pitchFamily="34" charset="-122"/>
                <a:cs typeface="Arial" pitchFamily="34" charset="-120"/>
              </a:rPr>
              <a:t>2</a:t>
            </a:r>
            <a:r>
              <a:rPr lang="en-US" sz="1700" b="1" dirty="0">
                <a:solidFill>
                  <a:srgbClr val="2E9E5B"/>
                </a:solidFill>
                <a:latin typeface="Arial" pitchFamily="34" charset="0"/>
                <a:ea typeface="Arial" pitchFamily="34" charset="-122"/>
                <a:cs typeface="Arial" pitchFamily="34" charset="-120"/>
              </a:rPr>
              <a:t>       3</a:t>
            </a:r>
            <a:r>
              <a:rPr lang="en-US" sz="1700" b="1" baseline="30000" dirty="0">
                <a:solidFill>
                  <a:srgbClr val="2E9E5B"/>
                </a:solidFill>
                <a:latin typeface="Arial" pitchFamily="34" charset="0"/>
                <a:ea typeface="Arial" pitchFamily="34" charset="-122"/>
                <a:cs typeface="Arial" pitchFamily="34" charset="-120"/>
              </a:rPr>
              <a:t>2</a:t>
            </a:r>
            <a:r>
              <a:rPr lang="en-US" sz="1700" b="1" dirty="0">
                <a:solidFill>
                  <a:srgbClr val="2E9E5B"/>
                </a:solidFill>
                <a:latin typeface="Arial" pitchFamily="34" charset="0"/>
                <a:ea typeface="Arial" pitchFamily="34" charset="-122"/>
                <a:cs typeface="Arial" pitchFamily="34" charset="-120"/>
              </a:rPr>
              <a:t> ... 2</a:t>
            </a:r>
            <a:r>
              <a:rPr lang="en-US" sz="1700" b="1" baseline="30000" dirty="0">
                <a:solidFill>
                  <a:srgbClr val="2E9E5B"/>
                </a:solidFill>
                <a:latin typeface="Arial" pitchFamily="34" charset="0"/>
                <a:ea typeface="Arial" pitchFamily="34" charset="-122"/>
                <a:cs typeface="Arial" pitchFamily="34" charset="-120"/>
              </a:rPr>
              <a:t>3</a:t>
            </a:r>
            <a:endParaRPr lang="en-US" sz="1700" dirty="0"/>
          </a:p>
        </p:txBody>
      </p:sp>
      <p:sp>
        <p:nvSpPr>
          <p:cNvPr id="12" name="متوسط"/>
          <p:cNvSpPr/>
          <p:nvPr/>
        </p:nvSpPr>
        <p:spPr>
          <a:xfrm>
            <a:off x="457200" y="2642616"/>
            <a:ext cx="8229600" cy="914400"/>
          </a:xfrm>
          <a:prstGeom prst="roundRect">
            <a:avLst>
              <a:gd name="adj" fmla="val 12000"/>
            </a:avLst>
          </a:prstGeom>
          <a:solidFill>
            <a:srgbClr val="2671B8">
              <a:alpha val="9000"/>
            </a:srgbClr>
          </a:solidFill>
          <a:ln w="12700">
            <a:solidFill>
              <a:srgbClr val="2671B8">
                <a:alpha val="60000"/>
              </a:srgbClr>
            </a:solidFill>
            <a:prstDash val="solid"/>
          </a:ln>
        </p:spPr>
      </p:sp>
      <p:sp>
        <p:nvSpPr>
          <p:cNvPr id="13" name="Shape 11"/>
          <p:cNvSpPr/>
          <p:nvPr/>
        </p:nvSpPr>
        <p:spPr>
          <a:xfrm>
            <a:off x="7589520" y="2734056"/>
            <a:ext cx="960120" cy="292608"/>
          </a:xfrm>
          <a:prstGeom prst="roundRect">
            <a:avLst>
              <a:gd name="adj" fmla="val 50000"/>
            </a:avLst>
          </a:prstGeom>
          <a:solidFill>
            <a:srgbClr val="2671B8"/>
          </a:solidFill>
          <a:ln w="12700">
            <a:solidFill>
              <a:srgbClr val="2671B8"/>
            </a:solidFill>
            <a:prstDash val="solid"/>
          </a:ln>
        </p:spPr>
      </p:sp>
      <p:sp>
        <p:nvSpPr>
          <p:cNvPr id="14" name="Text 12"/>
          <p:cNvSpPr txBox="1"/>
          <p:nvPr/>
        </p:nvSpPr>
        <p:spPr>
          <a:xfrm>
            <a:off x="7589520" y="2734056"/>
            <a:ext cx="960120" cy="292608"/>
          </a:xfrm>
          <a:prstGeom prst="rect">
            <a:avLst/>
          </a:prstGeom>
          <a:noFill/>
          <a:ln/>
        </p:spPr>
        <p:txBody>
          <a:bodyPr wrap="square" lIns="0" tIns="0" rIns="0" bIns="0" rtlCol="0" anchor="ctr"/>
          <a:lstStyle/>
          <a:p>
            <a:pPr rtl="1" algn="ctr" indent="0" marL="0">
              <a:buNone/>
            </a:pPr>
            <a:r>
              <a:rPr lang="ar-LB" altLang="en-US" sz="1200" b="1" dirty="0">
                <a:solidFill>
                  <a:srgbClr val="FFFFFF"/>
                </a:solidFill>
              </a:rPr>
              <a:t>متوسط</a:t>
            </a:r>
            <a:endParaRPr lang="ar-LB" sz="1200" dirty="0"/>
          </a:p>
        </p:txBody>
      </p:sp>
      <p:sp>
        <p:nvSpPr>
          <p:cNvPr id="15" name="Text 13"/>
          <p:cNvSpPr txBox="1"/>
          <p:nvPr/>
        </p:nvSpPr>
        <p:spPr>
          <a:xfrm>
            <a:off x="4114800" y="2697480"/>
            <a:ext cx="3383280" cy="402336"/>
          </a:xfrm>
          <a:prstGeom prst="rect">
            <a:avLst/>
          </a:prstGeom>
          <a:noFill/>
          <a:ln/>
        </p:spPr>
        <p:txBody>
          <a:bodyPr wrap="square" lIns="0" tIns="0" rIns="0" bIns="0" rtlCol="0" anchor="ctr"/>
          <a:lstStyle/>
          <a:p>
            <a:pPr rtl="1" algn="r" indent="0" marL="0">
              <a:buNone/>
            </a:pPr>
            <a:r>
              <a:rPr lang="ar-LB" altLang="en-US" sz="1500" dirty="0">
                <a:solidFill>
                  <a:srgbClr val="1B262C"/>
                </a:solidFill>
              </a:rPr>
              <a:t>4.  اكتب على شكل قوّة واحدة:</a:t>
            </a:r>
            <a:endParaRPr lang="ar-LB" sz="1500" dirty="0"/>
          </a:p>
        </p:txBody>
      </p:sp>
      <p:sp>
        <p:nvSpPr>
          <p:cNvPr id="16" name="Text 14"/>
          <p:cNvSpPr txBox="1"/>
          <p:nvPr/>
        </p:nvSpPr>
        <p:spPr>
          <a:xfrm>
            <a:off x="594360" y="2697480"/>
            <a:ext cx="3474720" cy="402336"/>
          </a:xfrm>
          <a:prstGeom prst="rect">
            <a:avLst/>
          </a:prstGeom>
          <a:noFill/>
          <a:ln/>
        </p:spPr>
        <p:txBody>
          <a:bodyPr wrap="square" lIns="0" tIns="0" rIns="0" bIns="0" rtlCol="0" anchor="ctr"/>
          <a:lstStyle/>
          <a:p>
            <a:pPr rtl="0" algn="ctr" indent="0" marL="0">
              <a:buNone/>
            </a:pPr>
            <a:r>
              <a:rPr lang="en-US" sz="1700" b="1" dirty="0">
                <a:solidFill>
                  <a:srgbClr val="2671B8"/>
                </a:solidFill>
                <a:latin typeface="Arial" pitchFamily="34" charset="0"/>
                <a:ea typeface="Arial" pitchFamily="34" charset="-122"/>
                <a:cs typeface="Arial" pitchFamily="34" charset="-120"/>
              </a:rPr>
              <a:t>(7</a:t>
            </a:r>
            <a:r>
              <a:rPr lang="en-US" sz="1700" b="1" baseline="30000" dirty="0">
                <a:solidFill>
                  <a:srgbClr val="2671B8"/>
                </a:solidFill>
                <a:latin typeface="Arial" pitchFamily="34" charset="0"/>
                <a:ea typeface="Arial" pitchFamily="34" charset="-122"/>
                <a:cs typeface="Arial" pitchFamily="34" charset="-120"/>
              </a:rPr>
              <a:t>2</a:t>
            </a:r>
            <a:r>
              <a:rPr lang="en-US" sz="1700" b="1" dirty="0">
                <a:solidFill>
                  <a:srgbClr val="2671B8"/>
                </a:solidFill>
                <a:latin typeface="Arial" pitchFamily="34" charset="0"/>
                <a:ea typeface="Arial" pitchFamily="34" charset="-122"/>
                <a:cs typeface="Arial" pitchFamily="34" charset="-120"/>
              </a:rPr>
              <a:t>)</a:t>
            </a:r>
            <a:r>
              <a:rPr lang="en-US" sz="1700" b="1" baseline="30000" dirty="0">
                <a:solidFill>
                  <a:srgbClr val="2671B8"/>
                </a:solidFill>
                <a:latin typeface="Arial" pitchFamily="34" charset="0"/>
                <a:ea typeface="Arial" pitchFamily="34" charset="-122"/>
                <a:cs typeface="Arial" pitchFamily="34" charset="-120"/>
              </a:rPr>
              <a:t>5</a:t>
            </a:r>
            <a:r>
              <a:rPr lang="en-US" sz="1700" b="1" dirty="0">
                <a:solidFill>
                  <a:srgbClr val="2671B8"/>
                </a:solidFill>
                <a:latin typeface="Arial" pitchFamily="34" charset="0"/>
                <a:ea typeface="Arial" pitchFamily="34" charset="-122"/>
                <a:cs typeface="Arial" pitchFamily="34" charset="-120"/>
              </a:rPr>
              <a:t>        (a</a:t>
            </a:r>
            <a:r>
              <a:rPr lang="en-US" sz="1700" b="1" baseline="30000" dirty="0">
                <a:solidFill>
                  <a:srgbClr val="2671B8"/>
                </a:solidFill>
                <a:latin typeface="Arial" pitchFamily="34" charset="0"/>
                <a:ea typeface="Arial" pitchFamily="34" charset="-122"/>
                <a:cs typeface="Arial" pitchFamily="34" charset="-120"/>
              </a:rPr>
              <a:t>3</a:t>
            </a:r>
            <a:r>
              <a:rPr lang="en-US" sz="1700" b="1" dirty="0">
                <a:solidFill>
                  <a:srgbClr val="2671B8"/>
                </a:solidFill>
                <a:latin typeface="Arial" pitchFamily="34" charset="0"/>
                <a:ea typeface="Arial" pitchFamily="34" charset="-122"/>
                <a:cs typeface="Arial" pitchFamily="34" charset="-120"/>
              </a:rPr>
              <a:t>)</a:t>
            </a:r>
            <a:r>
              <a:rPr lang="en-US" sz="1700" b="1" baseline="30000" dirty="0">
                <a:solidFill>
                  <a:srgbClr val="2671B8"/>
                </a:solidFill>
                <a:latin typeface="Arial" pitchFamily="34" charset="0"/>
                <a:ea typeface="Arial" pitchFamily="34" charset="-122"/>
                <a:cs typeface="Arial" pitchFamily="34" charset="-120"/>
              </a:rPr>
              <a:t>4</a:t>
            </a:r>
            <a:endParaRPr lang="en-US" sz="1700" dirty="0"/>
          </a:p>
        </p:txBody>
      </p:sp>
      <p:sp>
        <p:nvSpPr>
          <p:cNvPr id="17" name="Text 15"/>
          <p:cNvSpPr txBox="1"/>
          <p:nvPr/>
        </p:nvSpPr>
        <p:spPr>
          <a:xfrm>
            <a:off x="4114800" y="3099816"/>
            <a:ext cx="3383280" cy="402336"/>
          </a:xfrm>
          <a:prstGeom prst="rect">
            <a:avLst/>
          </a:prstGeom>
          <a:noFill/>
          <a:ln/>
        </p:spPr>
        <p:txBody>
          <a:bodyPr wrap="square" lIns="0" tIns="0" rIns="0" bIns="0" rtlCol="0" anchor="ctr"/>
          <a:lstStyle/>
          <a:p>
            <a:pPr rtl="1" algn="r" indent="0" marL="0">
              <a:buNone/>
            </a:pPr>
            <a:r>
              <a:rPr lang="ar-LB" altLang="en-US" sz="1500" dirty="0">
                <a:solidFill>
                  <a:srgbClr val="1B262C"/>
                </a:solidFill>
              </a:rPr>
              <a:t>5.  احسب:</a:t>
            </a:r>
            <a:endParaRPr lang="ar-LB" sz="1500" dirty="0"/>
          </a:p>
        </p:txBody>
      </p:sp>
      <p:sp>
        <p:nvSpPr>
          <p:cNvPr id="18" name="Text 16"/>
          <p:cNvSpPr txBox="1"/>
          <p:nvPr/>
        </p:nvSpPr>
        <p:spPr>
          <a:xfrm>
            <a:off x="594360" y="3099816"/>
            <a:ext cx="3474720" cy="402336"/>
          </a:xfrm>
          <a:prstGeom prst="rect">
            <a:avLst/>
          </a:prstGeom>
          <a:noFill/>
          <a:ln/>
        </p:spPr>
        <p:txBody>
          <a:bodyPr wrap="square" lIns="0" tIns="0" rIns="0" bIns="0" rtlCol="0" anchor="ctr"/>
          <a:lstStyle/>
          <a:p>
            <a:pPr rtl="0" algn="ctr" indent="0" marL="0">
              <a:buNone/>
            </a:pPr>
            <a:r>
              <a:rPr lang="en-US" sz="1700" b="1" dirty="0">
                <a:solidFill>
                  <a:srgbClr val="2671B8"/>
                </a:solidFill>
                <a:latin typeface="Arial" pitchFamily="34" charset="0"/>
                <a:ea typeface="Arial" pitchFamily="34" charset="-122"/>
                <a:cs typeface="Arial" pitchFamily="34" charset="-120"/>
              </a:rPr>
              <a:t>(2</a:t>
            </a:r>
            <a:r>
              <a:rPr lang="en-US" sz="1700" b="1" baseline="30000" dirty="0">
                <a:solidFill>
                  <a:srgbClr val="2671B8"/>
                </a:solidFill>
                <a:latin typeface="Arial" pitchFamily="34" charset="0"/>
                <a:ea typeface="Arial" pitchFamily="34" charset="-122"/>
                <a:cs typeface="Arial" pitchFamily="34" charset="-120"/>
              </a:rPr>
              <a:t>2</a:t>
            </a:r>
            <a:r>
              <a:rPr lang="en-US" sz="1700" b="1" dirty="0">
                <a:solidFill>
                  <a:srgbClr val="2671B8"/>
                </a:solidFill>
                <a:latin typeface="Arial" pitchFamily="34" charset="0"/>
                <a:ea typeface="Arial" pitchFamily="34" charset="-122"/>
                <a:cs typeface="Arial" pitchFamily="34" charset="-120"/>
              </a:rPr>
              <a:t>)</a:t>
            </a:r>
            <a:r>
              <a:rPr lang="en-US" sz="1700" b="1" baseline="30000" dirty="0">
                <a:solidFill>
                  <a:srgbClr val="2671B8"/>
                </a:solidFill>
                <a:latin typeface="Arial" pitchFamily="34" charset="0"/>
                <a:ea typeface="Arial" pitchFamily="34" charset="-122"/>
                <a:cs typeface="Arial" pitchFamily="34" charset="-120"/>
              </a:rPr>
              <a:t>3</a:t>
            </a:r>
            <a:endParaRPr lang="en-US" sz="1700" dirty="0"/>
          </a:p>
        </p:txBody>
      </p:sp>
      <p:sp>
        <p:nvSpPr>
          <p:cNvPr id="19" name="متقدّم"/>
          <p:cNvSpPr/>
          <p:nvPr/>
        </p:nvSpPr>
        <p:spPr>
          <a:xfrm>
            <a:off x="457200" y="3648456"/>
            <a:ext cx="8229600" cy="914400"/>
          </a:xfrm>
          <a:prstGeom prst="roundRect">
            <a:avLst>
              <a:gd name="adj" fmla="val 12000"/>
            </a:avLst>
          </a:prstGeom>
          <a:solidFill>
            <a:srgbClr val="7B3FA0">
              <a:alpha val="9000"/>
            </a:srgbClr>
          </a:solidFill>
          <a:ln w="12700">
            <a:solidFill>
              <a:srgbClr val="7B3FA0">
                <a:alpha val="60000"/>
              </a:srgbClr>
            </a:solidFill>
            <a:prstDash val="solid"/>
          </a:ln>
        </p:spPr>
      </p:sp>
      <p:sp>
        <p:nvSpPr>
          <p:cNvPr id="20" name="Shape 18"/>
          <p:cNvSpPr/>
          <p:nvPr/>
        </p:nvSpPr>
        <p:spPr>
          <a:xfrm>
            <a:off x="7589520" y="3739896"/>
            <a:ext cx="960120" cy="292608"/>
          </a:xfrm>
          <a:prstGeom prst="roundRect">
            <a:avLst>
              <a:gd name="adj" fmla="val 50000"/>
            </a:avLst>
          </a:prstGeom>
          <a:solidFill>
            <a:srgbClr val="7B3FA0"/>
          </a:solidFill>
          <a:ln w="12700">
            <a:solidFill>
              <a:srgbClr val="7B3FA0"/>
            </a:solidFill>
            <a:prstDash val="solid"/>
          </a:ln>
        </p:spPr>
      </p:sp>
      <p:sp>
        <p:nvSpPr>
          <p:cNvPr id="21" name="Text 19"/>
          <p:cNvSpPr txBox="1"/>
          <p:nvPr/>
        </p:nvSpPr>
        <p:spPr>
          <a:xfrm>
            <a:off x="7589520" y="3739896"/>
            <a:ext cx="960120" cy="292608"/>
          </a:xfrm>
          <a:prstGeom prst="rect">
            <a:avLst/>
          </a:prstGeom>
          <a:noFill/>
          <a:ln/>
        </p:spPr>
        <p:txBody>
          <a:bodyPr wrap="square" lIns="0" tIns="0" rIns="0" bIns="0" rtlCol="0" anchor="ctr"/>
          <a:lstStyle/>
          <a:p>
            <a:pPr rtl="1" algn="ctr" indent="0" marL="0">
              <a:buNone/>
            </a:pPr>
            <a:r>
              <a:rPr lang="ar-LB" altLang="en-US" sz="1200" b="1" dirty="0">
                <a:solidFill>
                  <a:srgbClr val="FFFFFF"/>
                </a:solidFill>
              </a:rPr>
              <a:t>متقدّم</a:t>
            </a:r>
            <a:endParaRPr lang="ar-LB" sz="1200" dirty="0"/>
          </a:p>
        </p:txBody>
      </p:sp>
      <p:sp>
        <p:nvSpPr>
          <p:cNvPr id="22" name="Text 20"/>
          <p:cNvSpPr txBox="1"/>
          <p:nvPr/>
        </p:nvSpPr>
        <p:spPr>
          <a:xfrm>
            <a:off x="4114800" y="3703320"/>
            <a:ext cx="3383280" cy="402336"/>
          </a:xfrm>
          <a:prstGeom prst="rect">
            <a:avLst/>
          </a:prstGeom>
          <a:noFill/>
          <a:ln/>
        </p:spPr>
        <p:txBody>
          <a:bodyPr wrap="square" lIns="0" tIns="0" rIns="0" bIns="0" rtlCol="0" anchor="ctr"/>
          <a:lstStyle/>
          <a:p>
            <a:pPr rtl="1" algn="r" indent="0" marL="0">
              <a:buNone/>
            </a:pPr>
            <a:r>
              <a:rPr lang="ar-LB" altLang="en-US" sz="1500" dirty="0">
                <a:solidFill>
                  <a:srgbClr val="1B262C"/>
                </a:solidFill>
              </a:rPr>
              <a:t>6.  أوجد العدد الناقص:</a:t>
            </a:r>
            <a:endParaRPr lang="ar-LB" sz="1500" dirty="0"/>
          </a:p>
        </p:txBody>
      </p:sp>
      <p:sp>
        <p:nvSpPr>
          <p:cNvPr id="23" name="Text 21"/>
          <p:cNvSpPr txBox="1"/>
          <p:nvPr/>
        </p:nvSpPr>
        <p:spPr>
          <a:xfrm>
            <a:off x="594360" y="3703320"/>
            <a:ext cx="3474720" cy="402336"/>
          </a:xfrm>
          <a:prstGeom prst="rect">
            <a:avLst/>
          </a:prstGeom>
          <a:noFill/>
          <a:ln/>
        </p:spPr>
        <p:txBody>
          <a:bodyPr wrap="square" lIns="0" tIns="0" rIns="0" bIns="0" rtlCol="0" anchor="ctr"/>
          <a:lstStyle/>
          <a:p>
            <a:pPr rtl="0" algn="ctr" indent="0" marL="0">
              <a:buNone/>
            </a:pPr>
            <a:r>
              <a:rPr lang="en-US" sz="1700" b="1" dirty="0">
                <a:solidFill>
                  <a:srgbClr val="7B3FA0"/>
                </a:solidFill>
                <a:latin typeface="Arial" pitchFamily="34" charset="0"/>
                <a:ea typeface="Arial" pitchFamily="34" charset="-122"/>
                <a:cs typeface="Arial" pitchFamily="34" charset="-120"/>
              </a:rPr>
              <a:t>(5</a:t>
            </a:r>
            <a:r>
              <a:rPr lang="en-US" sz="1700" b="1" baseline="30000" dirty="0">
                <a:solidFill>
                  <a:srgbClr val="7B3FA0"/>
                </a:solidFill>
                <a:latin typeface="Arial" pitchFamily="34" charset="0"/>
                <a:ea typeface="Arial" pitchFamily="34" charset="-122"/>
                <a:cs typeface="Arial" pitchFamily="34" charset="-120"/>
              </a:rPr>
              <a:t>?</a:t>
            </a:r>
            <a:r>
              <a:rPr lang="en-US" sz="1700" b="1" dirty="0">
                <a:solidFill>
                  <a:srgbClr val="7B3FA0"/>
                </a:solidFill>
                <a:latin typeface="Arial" pitchFamily="34" charset="0"/>
                <a:ea typeface="Arial" pitchFamily="34" charset="-122"/>
                <a:cs typeface="Arial" pitchFamily="34" charset="-120"/>
              </a:rPr>
              <a:t>)</a:t>
            </a:r>
            <a:r>
              <a:rPr lang="en-US" sz="1700" b="1" baseline="30000" dirty="0">
                <a:solidFill>
                  <a:srgbClr val="7B3FA0"/>
                </a:solidFill>
                <a:latin typeface="Arial" pitchFamily="34" charset="0"/>
                <a:ea typeface="Arial" pitchFamily="34" charset="-122"/>
                <a:cs typeface="Arial" pitchFamily="34" charset="-120"/>
              </a:rPr>
              <a:t>3</a:t>
            </a:r>
            <a:r>
              <a:rPr lang="en-US" sz="1700" b="1" dirty="0">
                <a:solidFill>
                  <a:srgbClr val="7B3FA0"/>
                </a:solidFill>
                <a:latin typeface="Arial" pitchFamily="34" charset="0"/>
                <a:ea typeface="Arial" pitchFamily="34" charset="-122"/>
                <a:cs typeface="Arial" pitchFamily="34" charset="-120"/>
              </a:rPr>
              <a:t> = 5</a:t>
            </a:r>
            <a:r>
              <a:rPr lang="en-US" sz="1700" b="1" baseline="30000" dirty="0">
                <a:solidFill>
                  <a:srgbClr val="7B3FA0"/>
                </a:solidFill>
                <a:latin typeface="Arial" pitchFamily="34" charset="0"/>
                <a:ea typeface="Arial" pitchFamily="34" charset="-122"/>
                <a:cs typeface="Arial" pitchFamily="34" charset="-120"/>
              </a:rPr>
              <a:t>12</a:t>
            </a:r>
            <a:r>
              <a:rPr lang="en-US" sz="1700" b="1" dirty="0">
                <a:solidFill>
                  <a:srgbClr val="7B3FA0"/>
                </a:solidFill>
                <a:latin typeface="Arial" pitchFamily="34" charset="0"/>
                <a:ea typeface="Arial" pitchFamily="34" charset="-122"/>
                <a:cs typeface="Arial" pitchFamily="34" charset="-120"/>
              </a:rPr>
              <a:t>       (3</a:t>
            </a:r>
            <a:r>
              <a:rPr lang="en-US" sz="1700" b="1" baseline="30000" dirty="0">
                <a:solidFill>
                  <a:srgbClr val="7B3FA0"/>
                </a:solidFill>
                <a:latin typeface="Arial" pitchFamily="34" charset="0"/>
                <a:ea typeface="Arial" pitchFamily="34" charset="-122"/>
                <a:cs typeface="Arial" pitchFamily="34" charset="-120"/>
              </a:rPr>
              <a:t>2</a:t>
            </a:r>
            <a:r>
              <a:rPr lang="en-US" sz="1700" b="1" dirty="0">
                <a:solidFill>
                  <a:srgbClr val="7B3FA0"/>
                </a:solidFill>
                <a:latin typeface="Arial" pitchFamily="34" charset="0"/>
                <a:ea typeface="Arial" pitchFamily="34" charset="-122"/>
                <a:cs typeface="Arial" pitchFamily="34" charset="-120"/>
              </a:rPr>
              <a:t>)</a:t>
            </a:r>
            <a:r>
              <a:rPr lang="en-US" sz="1700" b="1" baseline="30000" dirty="0">
                <a:solidFill>
                  <a:srgbClr val="7B3FA0"/>
                </a:solidFill>
                <a:latin typeface="Arial" pitchFamily="34" charset="0"/>
                <a:ea typeface="Arial" pitchFamily="34" charset="-122"/>
                <a:cs typeface="Arial" pitchFamily="34" charset="-120"/>
              </a:rPr>
              <a:t>?</a:t>
            </a:r>
            <a:r>
              <a:rPr lang="en-US" sz="1700" b="1" dirty="0">
                <a:solidFill>
                  <a:srgbClr val="7B3FA0"/>
                </a:solidFill>
                <a:latin typeface="Arial" pitchFamily="34" charset="0"/>
                <a:ea typeface="Arial" pitchFamily="34" charset="-122"/>
                <a:cs typeface="Arial" pitchFamily="34" charset="-120"/>
              </a:rPr>
              <a:t> = 3</a:t>
            </a:r>
            <a:r>
              <a:rPr lang="en-US" sz="1700" b="1" baseline="30000" dirty="0">
                <a:solidFill>
                  <a:srgbClr val="7B3FA0"/>
                </a:solidFill>
                <a:latin typeface="Arial" pitchFamily="34" charset="0"/>
                <a:ea typeface="Arial" pitchFamily="34" charset="-122"/>
                <a:cs typeface="Arial" pitchFamily="34" charset="-120"/>
              </a:rPr>
              <a:t>10</a:t>
            </a:r>
            <a:endParaRPr lang="en-US" sz="1700" dirty="0"/>
          </a:p>
        </p:txBody>
      </p:sp>
      <p:sp>
        <p:nvSpPr>
          <p:cNvPr id="24" name="Text 22"/>
          <p:cNvSpPr txBox="1"/>
          <p:nvPr/>
        </p:nvSpPr>
        <p:spPr>
          <a:xfrm>
            <a:off x="4114800" y="4105656"/>
            <a:ext cx="3383280" cy="402336"/>
          </a:xfrm>
          <a:prstGeom prst="rect">
            <a:avLst/>
          </a:prstGeom>
          <a:noFill/>
          <a:ln/>
        </p:spPr>
        <p:txBody>
          <a:bodyPr wrap="square" lIns="0" tIns="0" rIns="0" bIns="0" rtlCol="0" anchor="ctr"/>
          <a:lstStyle/>
          <a:p>
            <a:pPr rtl="1" algn="r" indent="0" marL="0">
              <a:buNone/>
            </a:pPr>
            <a:r>
              <a:rPr lang="ar-LB" altLang="en-US" sz="1500" dirty="0">
                <a:solidFill>
                  <a:srgbClr val="1B262C"/>
                </a:solidFill>
              </a:rPr>
              <a:t>7.  اكتب 2¹² على شكل قوّة قوّة بطريقتين.</a:t>
            </a:r>
            <a:endParaRPr lang="ar-LB" sz="15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حلول التطبيق الفردي</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t"/>
          <a:lstStyle/>
          <a:p>
            <a:pPr rtl="1" algn="r" indent="0" marL="0">
              <a:buNone/>
            </a:pPr>
            <a:r>
              <a:rPr lang="ar-LB" altLang="en-US" sz="1400" dirty="0">
                <a:solidFill>
                  <a:srgbClr val="5B6770"/>
                </a:solidFill>
              </a:rPr>
              <a:t>صحّح بنفسك ثم قارن مع زميلك:</a:t>
            </a:r>
            <a:endParaRPr lang="ar-LB" sz="1400" dirty="0"/>
          </a:p>
        </p:txBody>
      </p:sp>
      <p:sp>
        <p:nvSpPr>
          <p:cNvPr id="4" name="sol1"/>
          <p:cNvSpPr/>
          <p:nvPr/>
        </p:nvSpPr>
        <p:spPr>
          <a:xfrm>
            <a:off x="457200" y="1234440"/>
            <a:ext cx="8229600" cy="402336"/>
          </a:xfrm>
          <a:prstGeom prst="roundRect">
            <a:avLst>
              <a:gd name="adj" fmla="val 27273"/>
            </a:avLst>
          </a:prstGeom>
          <a:solidFill>
            <a:srgbClr val="2E9E5B">
              <a:alpha val="9000"/>
            </a:srgbClr>
          </a:solidFill>
          <a:ln w="12700">
            <a:solidFill>
              <a:srgbClr val="2E9E5B">
                <a:alpha val="60000"/>
              </a:srgbClr>
            </a:solidFill>
            <a:prstDash val="solid"/>
          </a:ln>
        </p:spPr>
      </p:sp>
      <p:sp>
        <p:nvSpPr>
          <p:cNvPr id="5" name="Shape 3"/>
          <p:cNvSpPr/>
          <p:nvPr/>
        </p:nvSpPr>
        <p:spPr>
          <a:xfrm>
            <a:off x="8211312" y="1280160"/>
            <a:ext cx="310896" cy="310896"/>
          </a:xfrm>
          <a:prstGeom prst="ellipse">
            <a:avLst/>
          </a:prstGeom>
          <a:solidFill>
            <a:srgbClr val="2E9E5B"/>
          </a:solidFill>
          <a:ln w="12700">
            <a:solidFill>
              <a:srgbClr val="2E9E5B"/>
            </a:solidFill>
            <a:prstDash val="solid"/>
          </a:ln>
        </p:spPr>
      </p:sp>
      <p:sp>
        <p:nvSpPr>
          <p:cNvPr id="6" name="Text 4"/>
          <p:cNvSpPr txBox="1"/>
          <p:nvPr/>
        </p:nvSpPr>
        <p:spPr>
          <a:xfrm>
            <a:off x="8211312" y="1280160"/>
            <a:ext cx="310896" cy="310896"/>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1</a:t>
            </a:r>
            <a:endParaRPr lang="ar-LB" sz="1300" dirty="0"/>
          </a:p>
        </p:txBody>
      </p:sp>
      <p:sp>
        <p:nvSpPr>
          <p:cNvPr id="7" name="Text 5"/>
          <p:cNvSpPr txBox="1"/>
          <p:nvPr/>
        </p:nvSpPr>
        <p:spPr>
          <a:xfrm>
            <a:off x="640080" y="1234440"/>
            <a:ext cx="7406640" cy="402336"/>
          </a:xfrm>
          <a:prstGeom prst="rect">
            <a:avLst/>
          </a:prstGeom>
          <a:noFill/>
          <a:ln/>
        </p:spPr>
        <p:txBody>
          <a:bodyPr wrap="square" lIns="0" tIns="0" rIns="0" bIns="0" rtlCol="0" anchor="ctr"/>
          <a:lstStyle/>
          <a:p>
            <a:pPr rtl="0" algn="r" indent="0" marL="0">
              <a:buNone/>
            </a:pPr>
            <a:r>
              <a:rPr lang="en-US" sz="1700" b="1" dirty="0">
                <a:solidFill>
                  <a:srgbClr val="1B262C"/>
                </a:solidFill>
                <a:latin typeface="Arial" pitchFamily="34" charset="0"/>
                <a:ea typeface="Arial" pitchFamily="34" charset="-122"/>
                <a:cs typeface="Arial" pitchFamily="34" charset="-120"/>
              </a:rPr>
              <a:t>9</a:t>
            </a:r>
            <a:r>
              <a:rPr lang="en-US" sz="1700" b="1" baseline="30000" dirty="0">
                <a:solidFill>
                  <a:srgbClr val="1B262C"/>
                </a:solidFill>
                <a:latin typeface="Arial" pitchFamily="34" charset="0"/>
                <a:ea typeface="Arial" pitchFamily="34" charset="-122"/>
                <a:cs typeface="Arial" pitchFamily="34" charset="-120"/>
              </a:rPr>
              <a:t>4</a:t>
            </a:r>
            <a:endParaRPr lang="en-US" sz="1700" dirty="0"/>
          </a:p>
        </p:txBody>
      </p:sp>
      <p:sp>
        <p:nvSpPr>
          <p:cNvPr id="8" name="sol2"/>
          <p:cNvSpPr/>
          <p:nvPr/>
        </p:nvSpPr>
        <p:spPr>
          <a:xfrm>
            <a:off x="457200" y="1709928"/>
            <a:ext cx="8229600" cy="402336"/>
          </a:xfrm>
          <a:prstGeom prst="roundRect">
            <a:avLst>
              <a:gd name="adj" fmla="val 27273"/>
            </a:avLst>
          </a:prstGeom>
          <a:solidFill>
            <a:srgbClr val="2E9E5B">
              <a:alpha val="9000"/>
            </a:srgbClr>
          </a:solidFill>
          <a:ln w="12700">
            <a:solidFill>
              <a:srgbClr val="2E9E5B">
                <a:alpha val="60000"/>
              </a:srgbClr>
            </a:solidFill>
            <a:prstDash val="solid"/>
          </a:ln>
        </p:spPr>
      </p:sp>
      <p:sp>
        <p:nvSpPr>
          <p:cNvPr id="9" name="Shape 7"/>
          <p:cNvSpPr/>
          <p:nvPr/>
        </p:nvSpPr>
        <p:spPr>
          <a:xfrm>
            <a:off x="8211312" y="1755648"/>
            <a:ext cx="310896" cy="310896"/>
          </a:xfrm>
          <a:prstGeom prst="ellipse">
            <a:avLst/>
          </a:prstGeom>
          <a:solidFill>
            <a:srgbClr val="2E9E5B"/>
          </a:solidFill>
          <a:ln w="12700">
            <a:solidFill>
              <a:srgbClr val="2E9E5B"/>
            </a:solidFill>
            <a:prstDash val="solid"/>
          </a:ln>
        </p:spPr>
      </p:sp>
      <p:sp>
        <p:nvSpPr>
          <p:cNvPr id="10" name="Text 8"/>
          <p:cNvSpPr txBox="1"/>
          <p:nvPr/>
        </p:nvSpPr>
        <p:spPr>
          <a:xfrm>
            <a:off x="8211312" y="1755648"/>
            <a:ext cx="310896" cy="310896"/>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2</a:t>
            </a:r>
            <a:endParaRPr lang="ar-LB" sz="1300" dirty="0"/>
          </a:p>
        </p:txBody>
      </p:sp>
      <p:sp>
        <p:nvSpPr>
          <p:cNvPr id="11" name="Text 9"/>
          <p:cNvSpPr txBox="1"/>
          <p:nvPr/>
        </p:nvSpPr>
        <p:spPr>
          <a:xfrm>
            <a:off x="640080" y="1709928"/>
            <a:ext cx="7406640" cy="402336"/>
          </a:xfrm>
          <a:prstGeom prst="rect">
            <a:avLst/>
          </a:prstGeom>
          <a:noFill/>
          <a:ln/>
        </p:spPr>
        <p:txBody>
          <a:bodyPr wrap="square" lIns="0" tIns="0" rIns="0" bIns="0" rtlCol="0" anchor="ctr"/>
          <a:lstStyle/>
          <a:p>
            <a:pPr algn="r" indent="0" marL="0">
              <a:buNone/>
            </a:pPr>
            <a:r>
              <a:rPr lang="en-US" sz="1700" b="1" dirty="0">
                <a:solidFill>
                  <a:srgbClr val="1B262C"/>
                </a:solidFill>
                <a:latin typeface="Arial" pitchFamily="34" charset="0"/>
                <a:ea typeface="Arial" pitchFamily="34" charset="-122"/>
                <a:cs typeface="Arial" pitchFamily="34" charset="-120"/>
              </a:rPr>
              <a:t>4</a:t>
            </a:r>
            <a:r>
              <a:rPr lang="en-US" sz="1700" b="1" baseline="30000" dirty="0">
                <a:solidFill>
                  <a:srgbClr val="1B262C"/>
                </a:solidFill>
                <a:latin typeface="Arial" pitchFamily="34" charset="0"/>
                <a:ea typeface="Arial" pitchFamily="34" charset="-122"/>
                <a:cs typeface="Arial" pitchFamily="34" charset="-120"/>
              </a:rPr>
              <a:t>3</a:t>
            </a:r>
            <a:r>
              <a:rPr lang="en-US" sz="1700" b="1" dirty="0">
                <a:solidFill>
                  <a:srgbClr val="1B262C"/>
                </a:solidFill>
                <a:latin typeface="Arial" pitchFamily="34" charset="0"/>
                <a:ea typeface="Arial" pitchFamily="34" charset="-122"/>
                <a:cs typeface="Arial" pitchFamily="34" charset="-120"/>
              </a:rPr>
              <a:t> = 64   ،   4 × 3 = 12</a:t>
            </a:r>
            <a:endParaRPr lang="en-US" sz="1700" dirty="0"/>
          </a:p>
        </p:txBody>
      </p:sp>
      <p:sp>
        <p:nvSpPr>
          <p:cNvPr id="12" name="sol3"/>
          <p:cNvSpPr/>
          <p:nvPr/>
        </p:nvSpPr>
        <p:spPr>
          <a:xfrm>
            <a:off x="457200" y="2185416"/>
            <a:ext cx="8229600" cy="402336"/>
          </a:xfrm>
          <a:prstGeom prst="roundRect">
            <a:avLst>
              <a:gd name="adj" fmla="val 27273"/>
            </a:avLst>
          </a:prstGeom>
          <a:solidFill>
            <a:srgbClr val="2E9E5B">
              <a:alpha val="9000"/>
            </a:srgbClr>
          </a:solidFill>
          <a:ln w="12700">
            <a:solidFill>
              <a:srgbClr val="2E9E5B">
                <a:alpha val="60000"/>
              </a:srgbClr>
            </a:solidFill>
            <a:prstDash val="solid"/>
          </a:ln>
        </p:spPr>
      </p:sp>
      <p:sp>
        <p:nvSpPr>
          <p:cNvPr id="13" name="Shape 11"/>
          <p:cNvSpPr/>
          <p:nvPr/>
        </p:nvSpPr>
        <p:spPr>
          <a:xfrm>
            <a:off x="8211312" y="2231136"/>
            <a:ext cx="310896" cy="310896"/>
          </a:xfrm>
          <a:prstGeom prst="ellipse">
            <a:avLst/>
          </a:prstGeom>
          <a:solidFill>
            <a:srgbClr val="2E9E5B"/>
          </a:solidFill>
          <a:ln w="12700">
            <a:solidFill>
              <a:srgbClr val="2E9E5B"/>
            </a:solidFill>
            <a:prstDash val="solid"/>
          </a:ln>
        </p:spPr>
      </p:sp>
      <p:sp>
        <p:nvSpPr>
          <p:cNvPr id="14" name="Text 12"/>
          <p:cNvSpPr txBox="1"/>
          <p:nvPr/>
        </p:nvSpPr>
        <p:spPr>
          <a:xfrm>
            <a:off x="8211312" y="2231136"/>
            <a:ext cx="310896" cy="310896"/>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3</a:t>
            </a:r>
            <a:endParaRPr lang="ar-LB" sz="1300" dirty="0"/>
          </a:p>
        </p:txBody>
      </p:sp>
      <p:sp>
        <p:nvSpPr>
          <p:cNvPr id="15" name="Text 13"/>
          <p:cNvSpPr txBox="1"/>
          <p:nvPr/>
        </p:nvSpPr>
        <p:spPr>
          <a:xfrm>
            <a:off x="640080" y="2185416"/>
            <a:ext cx="7406640" cy="402336"/>
          </a:xfrm>
          <a:prstGeom prst="rect">
            <a:avLst/>
          </a:prstGeom>
          <a:noFill/>
          <a:ln/>
        </p:spPr>
        <p:txBody>
          <a:bodyPr wrap="square" lIns="0" tIns="0" rIns="0" bIns="0" rtlCol="0" anchor="ctr"/>
          <a:lstStyle/>
          <a:p>
            <a:pPr algn="r" indent="0" marL="0">
              <a:buNone/>
            </a:pPr>
            <a:r>
              <a:rPr lang="en-US" sz="1700" b="1" dirty="0">
                <a:solidFill>
                  <a:srgbClr val="1B262C"/>
                </a:solidFill>
                <a:latin typeface="Arial" pitchFamily="34" charset="0"/>
                <a:ea typeface="Arial" pitchFamily="34" charset="-122"/>
                <a:cs typeface="Arial" pitchFamily="34" charset="-120"/>
              </a:rPr>
              <a:t>2</a:t>
            </a:r>
            <a:r>
              <a:rPr lang="en-US" sz="1700" b="1" baseline="30000" dirty="0">
                <a:solidFill>
                  <a:srgbClr val="1B262C"/>
                </a:solidFill>
                <a:latin typeface="Arial" pitchFamily="34" charset="0"/>
                <a:ea typeface="Arial" pitchFamily="34" charset="-122"/>
                <a:cs typeface="Arial" pitchFamily="34" charset="-120"/>
              </a:rPr>
              <a:t>4</a:t>
            </a:r>
            <a:r>
              <a:rPr lang="en-US" sz="1700" b="1" dirty="0">
                <a:solidFill>
                  <a:srgbClr val="1B262C"/>
                </a:solidFill>
                <a:latin typeface="Arial" pitchFamily="34" charset="0"/>
                <a:ea typeface="Arial" pitchFamily="34" charset="-122"/>
                <a:cs typeface="Arial" pitchFamily="34" charset="-120"/>
              </a:rPr>
              <a:t> = 4</a:t>
            </a:r>
            <a:r>
              <a:rPr lang="en-US" sz="1700" b="1" baseline="30000" dirty="0">
                <a:solidFill>
                  <a:srgbClr val="1B262C"/>
                </a:solidFill>
                <a:latin typeface="Arial" pitchFamily="34" charset="0"/>
                <a:ea typeface="Arial" pitchFamily="34" charset="-122"/>
                <a:cs typeface="Arial" pitchFamily="34" charset="-120"/>
              </a:rPr>
              <a:t>2</a:t>
            </a:r>
            <a:r>
              <a:rPr lang="en-US" sz="1700" b="1" dirty="0">
                <a:solidFill>
                  <a:srgbClr val="1B262C"/>
                </a:solidFill>
                <a:latin typeface="Arial" pitchFamily="34" charset="0"/>
                <a:ea typeface="Arial" pitchFamily="34" charset="-122"/>
                <a:cs typeface="Arial" pitchFamily="34" charset="-120"/>
              </a:rPr>
              <a:t>  (16 = 16)   ،   3</a:t>
            </a:r>
            <a:r>
              <a:rPr lang="en-US" sz="1700" b="1" baseline="30000" dirty="0">
                <a:solidFill>
                  <a:srgbClr val="1B262C"/>
                </a:solidFill>
                <a:latin typeface="Arial" pitchFamily="34" charset="0"/>
                <a:ea typeface="Arial" pitchFamily="34" charset="-122"/>
                <a:cs typeface="Arial" pitchFamily="34" charset="-120"/>
              </a:rPr>
              <a:t>2</a:t>
            </a:r>
            <a:r>
              <a:rPr lang="en-US" sz="1700" b="1" dirty="0">
                <a:solidFill>
                  <a:srgbClr val="1B262C"/>
                </a:solidFill>
                <a:latin typeface="Arial" pitchFamily="34" charset="0"/>
                <a:ea typeface="Arial" pitchFamily="34" charset="-122"/>
                <a:cs typeface="Arial" pitchFamily="34" charset="-120"/>
              </a:rPr>
              <a:t> &gt; 2</a:t>
            </a:r>
            <a:r>
              <a:rPr lang="en-US" sz="1700" b="1" baseline="30000" dirty="0">
                <a:solidFill>
                  <a:srgbClr val="1B262C"/>
                </a:solidFill>
                <a:latin typeface="Arial" pitchFamily="34" charset="0"/>
                <a:ea typeface="Arial" pitchFamily="34" charset="-122"/>
                <a:cs typeface="Arial" pitchFamily="34" charset="-120"/>
              </a:rPr>
              <a:t>3</a:t>
            </a:r>
            <a:r>
              <a:rPr lang="en-US" sz="1700" b="1" dirty="0">
                <a:solidFill>
                  <a:srgbClr val="1B262C"/>
                </a:solidFill>
                <a:latin typeface="Arial" pitchFamily="34" charset="0"/>
                <a:ea typeface="Arial" pitchFamily="34" charset="-122"/>
                <a:cs typeface="Arial" pitchFamily="34" charset="-120"/>
              </a:rPr>
              <a:t>  (9 &gt; 8)</a:t>
            </a:r>
            <a:endParaRPr lang="en-US" sz="1700" dirty="0"/>
          </a:p>
        </p:txBody>
      </p:sp>
      <p:sp>
        <p:nvSpPr>
          <p:cNvPr id="16" name="sol4"/>
          <p:cNvSpPr/>
          <p:nvPr/>
        </p:nvSpPr>
        <p:spPr>
          <a:xfrm>
            <a:off x="457200" y="2660904"/>
            <a:ext cx="8229600" cy="402336"/>
          </a:xfrm>
          <a:prstGeom prst="roundRect">
            <a:avLst>
              <a:gd name="adj" fmla="val 27273"/>
            </a:avLst>
          </a:prstGeom>
          <a:solidFill>
            <a:srgbClr val="2671B8">
              <a:alpha val="9000"/>
            </a:srgbClr>
          </a:solidFill>
          <a:ln w="12700">
            <a:solidFill>
              <a:srgbClr val="2671B8">
                <a:alpha val="60000"/>
              </a:srgbClr>
            </a:solidFill>
            <a:prstDash val="solid"/>
          </a:ln>
        </p:spPr>
      </p:sp>
      <p:sp>
        <p:nvSpPr>
          <p:cNvPr id="17" name="Shape 15"/>
          <p:cNvSpPr/>
          <p:nvPr/>
        </p:nvSpPr>
        <p:spPr>
          <a:xfrm>
            <a:off x="8211312" y="2706624"/>
            <a:ext cx="310896" cy="310896"/>
          </a:xfrm>
          <a:prstGeom prst="ellipse">
            <a:avLst/>
          </a:prstGeom>
          <a:solidFill>
            <a:srgbClr val="2671B8"/>
          </a:solidFill>
          <a:ln w="12700">
            <a:solidFill>
              <a:srgbClr val="2671B8"/>
            </a:solidFill>
            <a:prstDash val="solid"/>
          </a:ln>
        </p:spPr>
      </p:sp>
      <p:sp>
        <p:nvSpPr>
          <p:cNvPr id="18" name="Text 16"/>
          <p:cNvSpPr txBox="1"/>
          <p:nvPr/>
        </p:nvSpPr>
        <p:spPr>
          <a:xfrm>
            <a:off x="8211312" y="2706624"/>
            <a:ext cx="310896" cy="310896"/>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4</a:t>
            </a:r>
            <a:endParaRPr lang="ar-LB" sz="1300" dirty="0"/>
          </a:p>
        </p:txBody>
      </p:sp>
      <p:sp>
        <p:nvSpPr>
          <p:cNvPr id="19" name="Text 17"/>
          <p:cNvSpPr txBox="1"/>
          <p:nvPr/>
        </p:nvSpPr>
        <p:spPr>
          <a:xfrm>
            <a:off x="640080" y="2660904"/>
            <a:ext cx="7406640" cy="402336"/>
          </a:xfrm>
          <a:prstGeom prst="rect">
            <a:avLst/>
          </a:prstGeom>
          <a:noFill/>
          <a:ln/>
        </p:spPr>
        <p:txBody>
          <a:bodyPr wrap="square" lIns="0" tIns="0" rIns="0" bIns="0" rtlCol="0" anchor="ctr"/>
          <a:lstStyle/>
          <a:p>
            <a:pPr algn="r" indent="0" marL="0">
              <a:buNone/>
            </a:pPr>
            <a:r>
              <a:rPr lang="en-US" sz="1700" b="1" dirty="0">
                <a:solidFill>
                  <a:srgbClr val="1B262C"/>
                </a:solidFill>
                <a:latin typeface="Arial" pitchFamily="34" charset="0"/>
                <a:ea typeface="Arial" pitchFamily="34" charset="-122"/>
                <a:cs typeface="Arial" pitchFamily="34" charset="-120"/>
              </a:rPr>
              <a:t>(7</a:t>
            </a:r>
            <a:r>
              <a:rPr lang="en-US" sz="1700" b="1" baseline="30000" dirty="0">
                <a:solidFill>
                  <a:srgbClr val="1B262C"/>
                </a:solidFill>
                <a:latin typeface="Arial" pitchFamily="34" charset="0"/>
                <a:ea typeface="Arial" pitchFamily="34" charset="-122"/>
                <a:cs typeface="Arial" pitchFamily="34" charset="-120"/>
              </a:rPr>
              <a:t>2</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5</a:t>
            </a:r>
            <a:r>
              <a:rPr lang="en-US" sz="1700" b="1" dirty="0">
                <a:solidFill>
                  <a:srgbClr val="1B262C"/>
                </a:solidFill>
                <a:latin typeface="Arial" pitchFamily="34" charset="0"/>
                <a:ea typeface="Arial" pitchFamily="34" charset="-122"/>
                <a:cs typeface="Arial" pitchFamily="34" charset="-120"/>
              </a:rPr>
              <a:t> = 7</a:t>
            </a:r>
            <a:r>
              <a:rPr lang="en-US" sz="1700" b="1" baseline="30000" dirty="0">
                <a:solidFill>
                  <a:srgbClr val="1B262C"/>
                </a:solidFill>
                <a:latin typeface="Arial" pitchFamily="34" charset="0"/>
                <a:ea typeface="Arial" pitchFamily="34" charset="-122"/>
                <a:cs typeface="Arial" pitchFamily="34" charset="-120"/>
              </a:rPr>
              <a:t>10</a:t>
            </a:r>
            <a:r>
              <a:rPr lang="en-US" sz="1700" b="1" dirty="0">
                <a:solidFill>
                  <a:srgbClr val="1B262C"/>
                </a:solidFill>
                <a:latin typeface="Arial" pitchFamily="34" charset="0"/>
                <a:ea typeface="Arial" pitchFamily="34" charset="-122"/>
                <a:cs typeface="Arial" pitchFamily="34" charset="-120"/>
              </a:rPr>
              <a:t>   ،   (a</a:t>
            </a:r>
            <a:r>
              <a:rPr lang="en-US" sz="1700" b="1" baseline="30000" dirty="0">
                <a:solidFill>
                  <a:srgbClr val="1B262C"/>
                </a:solidFill>
                <a:latin typeface="Arial" pitchFamily="34" charset="0"/>
                <a:ea typeface="Arial" pitchFamily="34" charset="-122"/>
                <a:cs typeface="Arial" pitchFamily="34" charset="-120"/>
              </a:rPr>
              <a:t>3</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4</a:t>
            </a:r>
            <a:r>
              <a:rPr lang="en-US" sz="1700" b="1" dirty="0">
                <a:solidFill>
                  <a:srgbClr val="1B262C"/>
                </a:solidFill>
                <a:latin typeface="Arial" pitchFamily="34" charset="0"/>
                <a:ea typeface="Arial" pitchFamily="34" charset="-122"/>
                <a:cs typeface="Arial" pitchFamily="34" charset="-120"/>
              </a:rPr>
              <a:t> = a</a:t>
            </a:r>
            <a:r>
              <a:rPr lang="en-US" sz="1700" b="1" baseline="30000" dirty="0">
                <a:solidFill>
                  <a:srgbClr val="1B262C"/>
                </a:solidFill>
                <a:latin typeface="Arial" pitchFamily="34" charset="0"/>
                <a:ea typeface="Arial" pitchFamily="34" charset="-122"/>
                <a:cs typeface="Arial" pitchFamily="34" charset="-120"/>
              </a:rPr>
              <a:t>12</a:t>
            </a:r>
            <a:endParaRPr lang="en-US" sz="1700" dirty="0"/>
          </a:p>
        </p:txBody>
      </p:sp>
      <p:sp>
        <p:nvSpPr>
          <p:cNvPr id="20" name="sol5"/>
          <p:cNvSpPr/>
          <p:nvPr/>
        </p:nvSpPr>
        <p:spPr>
          <a:xfrm>
            <a:off x="457200" y="3136392"/>
            <a:ext cx="8229600" cy="402336"/>
          </a:xfrm>
          <a:prstGeom prst="roundRect">
            <a:avLst>
              <a:gd name="adj" fmla="val 27273"/>
            </a:avLst>
          </a:prstGeom>
          <a:solidFill>
            <a:srgbClr val="2671B8">
              <a:alpha val="9000"/>
            </a:srgbClr>
          </a:solidFill>
          <a:ln w="12700">
            <a:solidFill>
              <a:srgbClr val="2671B8">
                <a:alpha val="60000"/>
              </a:srgbClr>
            </a:solidFill>
            <a:prstDash val="solid"/>
          </a:ln>
        </p:spPr>
      </p:sp>
      <p:sp>
        <p:nvSpPr>
          <p:cNvPr id="21" name="Shape 19"/>
          <p:cNvSpPr/>
          <p:nvPr/>
        </p:nvSpPr>
        <p:spPr>
          <a:xfrm>
            <a:off x="8211312" y="3182112"/>
            <a:ext cx="310896" cy="310896"/>
          </a:xfrm>
          <a:prstGeom prst="ellipse">
            <a:avLst/>
          </a:prstGeom>
          <a:solidFill>
            <a:srgbClr val="2671B8"/>
          </a:solidFill>
          <a:ln w="12700">
            <a:solidFill>
              <a:srgbClr val="2671B8"/>
            </a:solidFill>
            <a:prstDash val="solid"/>
          </a:ln>
        </p:spPr>
      </p:sp>
      <p:sp>
        <p:nvSpPr>
          <p:cNvPr id="22" name="Text 20"/>
          <p:cNvSpPr txBox="1"/>
          <p:nvPr/>
        </p:nvSpPr>
        <p:spPr>
          <a:xfrm>
            <a:off x="8211312" y="3182112"/>
            <a:ext cx="310896" cy="310896"/>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5</a:t>
            </a:r>
            <a:endParaRPr lang="ar-LB" sz="1300" dirty="0"/>
          </a:p>
        </p:txBody>
      </p:sp>
      <p:sp>
        <p:nvSpPr>
          <p:cNvPr id="23" name="Text 21"/>
          <p:cNvSpPr txBox="1"/>
          <p:nvPr/>
        </p:nvSpPr>
        <p:spPr>
          <a:xfrm>
            <a:off x="640080" y="3136392"/>
            <a:ext cx="7406640" cy="402336"/>
          </a:xfrm>
          <a:prstGeom prst="rect">
            <a:avLst/>
          </a:prstGeom>
          <a:noFill/>
          <a:ln/>
        </p:spPr>
        <p:txBody>
          <a:bodyPr wrap="square" lIns="0" tIns="0" rIns="0" bIns="0" rtlCol="0" anchor="ctr"/>
          <a:lstStyle/>
          <a:p>
            <a:pPr rtl="0" algn="r" indent="0" marL="0">
              <a:buNone/>
            </a:pPr>
            <a:r>
              <a:rPr lang="en-US" sz="1700" b="1" dirty="0">
                <a:solidFill>
                  <a:srgbClr val="1B262C"/>
                </a:solidFill>
                <a:latin typeface="Arial" pitchFamily="34" charset="0"/>
                <a:ea typeface="Arial" pitchFamily="34" charset="-122"/>
                <a:cs typeface="Arial" pitchFamily="34" charset="-120"/>
              </a:rPr>
              <a:t>(2</a:t>
            </a:r>
            <a:r>
              <a:rPr lang="en-US" sz="1700" b="1" baseline="30000" dirty="0">
                <a:solidFill>
                  <a:srgbClr val="1B262C"/>
                </a:solidFill>
                <a:latin typeface="Arial" pitchFamily="34" charset="0"/>
                <a:ea typeface="Arial" pitchFamily="34" charset="-122"/>
                <a:cs typeface="Arial" pitchFamily="34" charset="-120"/>
              </a:rPr>
              <a:t>2</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3</a:t>
            </a:r>
            <a:r>
              <a:rPr lang="en-US" sz="1700" b="1" dirty="0">
                <a:solidFill>
                  <a:srgbClr val="1B262C"/>
                </a:solidFill>
                <a:latin typeface="Arial" pitchFamily="34" charset="0"/>
                <a:ea typeface="Arial" pitchFamily="34" charset="-122"/>
                <a:cs typeface="Arial" pitchFamily="34" charset="-120"/>
              </a:rPr>
              <a:t> = 2</a:t>
            </a:r>
            <a:r>
              <a:rPr lang="en-US" sz="1700" b="1" baseline="30000" dirty="0">
                <a:solidFill>
                  <a:srgbClr val="1B262C"/>
                </a:solidFill>
                <a:latin typeface="Arial" pitchFamily="34" charset="0"/>
                <a:ea typeface="Arial" pitchFamily="34" charset="-122"/>
                <a:cs typeface="Arial" pitchFamily="34" charset="-120"/>
              </a:rPr>
              <a:t>6</a:t>
            </a:r>
            <a:r>
              <a:rPr lang="en-US" sz="1700" b="1" dirty="0">
                <a:solidFill>
                  <a:srgbClr val="1B262C"/>
                </a:solidFill>
                <a:latin typeface="Arial" pitchFamily="34" charset="0"/>
                <a:ea typeface="Arial" pitchFamily="34" charset="-122"/>
                <a:cs typeface="Arial" pitchFamily="34" charset="-120"/>
              </a:rPr>
              <a:t> = 64</a:t>
            </a:r>
            <a:endParaRPr lang="en-US" sz="1700" dirty="0"/>
          </a:p>
        </p:txBody>
      </p:sp>
      <p:sp>
        <p:nvSpPr>
          <p:cNvPr id="24" name="sol6"/>
          <p:cNvSpPr/>
          <p:nvPr/>
        </p:nvSpPr>
        <p:spPr>
          <a:xfrm>
            <a:off x="457200" y="3611880"/>
            <a:ext cx="8229600" cy="402336"/>
          </a:xfrm>
          <a:prstGeom prst="roundRect">
            <a:avLst>
              <a:gd name="adj" fmla="val 27273"/>
            </a:avLst>
          </a:prstGeom>
          <a:solidFill>
            <a:srgbClr val="7B3FA0">
              <a:alpha val="9000"/>
            </a:srgbClr>
          </a:solidFill>
          <a:ln w="12700">
            <a:solidFill>
              <a:srgbClr val="7B3FA0">
                <a:alpha val="60000"/>
              </a:srgbClr>
            </a:solidFill>
            <a:prstDash val="solid"/>
          </a:ln>
        </p:spPr>
      </p:sp>
      <p:sp>
        <p:nvSpPr>
          <p:cNvPr id="25" name="Shape 23"/>
          <p:cNvSpPr/>
          <p:nvPr/>
        </p:nvSpPr>
        <p:spPr>
          <a:xfrm>
            <a:off x="8211312" y="3657600"/>
            <a:ext cx="310896" cy="310896"/>
          </a:xfrm>
          <a:prstGeom prst="ellipse">
            <a:avLst/>
          </a:prstGeom>
          <a:solidFill>
            <a:srgbClr val="7B3FA0"/>
          </a:solidFill>
          <a:ln w="12700">
            <a:solidFill>
              <a:srgbClr val="7B3FA0"/>
            </a:solidFill>
            <a:prstDash val="solid"/>
          </a:ln>
        </p:spPr>
      </p:sp>
      <p:sp>
        <p:nvSpPr>
          <p:cNvPr id="26" name="Text 24"/>
          <p:cNvSpPr txBox="1"/>
          <p:nvPr/>
        </p:nvSpPr>
        <p:spPr>
          <a:xfrm>
            <a:off x="8211312" y="3657600"/>
            <a:ext cx="310896" cy="310896"/>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6</a:t>
            </a:r>
            <a:endParaRPr lang="ar-LB" sz="1300" dirty="0"/>
          </a:p>
        </p:txBody>
      </p:sp>
      <p:sp>
        <p:nvSpPr>
          <p:cNvPr id="27" name="Text 25"/>
          <p:cNvSpPr txBox="1"/>
          <p:nvPr/>
        </p:nvSpPr>
        <p:spPr>
          <a:xfrm>
            <a:off x="640080" y="3611880"/>
            <a:ext cx="7406640" cy="402336"/>
          </a:xfrm>
          <a:prstGeom prst="rect">
            <a:avLst/>
          </a:prstGeom>
          <a:noFill/>
          <a:ln/>
        </p:spPr>
        <p:txBody>
          <a:bodyPr wrap="square" lIns="0" tIns="0" rIns="0" bIns="0" rtlCol="0" anchor="ctr"/>
          <a:lstStyle/>
          <a:p>
            <a:pPr algn="r" indent="0" marL="0">
              <a:buNone/>
            </a:pPr>
            <a:r>
              <a:rPr lang="en-US" sz="1700" b="1" dirty="0">
                <a:solidFill>
                  <a:srgbClr val="1B262C"/>
                </a:solidFill>
                <a:latin typeface="Arial" pitchFamily="34" charset="0"/>
                <a:ea typeface="Arial" pitchFamily="34" charset="-122"/>
                <a:cs typeface="Arial" pitchFamily="34" charset="-120"/>
              </a:rPr>
              <a:t>(5</a:t>
            </a:r>
            <a:r>
              <a:rPr lang="en-US" sz="1700" b="1" baseline="30000" dirty="0">
                <a:solidFill>
                  <a:srgbClr val="1B262C"/>
                </a:solidFill>
                <a:latin typeface="Arial" pitchFamily="34" charset="0"/>
                <a:ea typeface="Arial" pitchFamily="34" charset="-122"/>
                <a:cs typeface="Arial" pitchFamily="34" charset="-120"/>
              </a:rPr>
              <a:t>4</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3</a:t>
            </a:r>
            <a:r>
              <a:rPr lang="en-US" sz="1700" b="1" dirty="0">
                <a:solidFill>
                  <a:srgbClr val="1B262C"/>
                </a:solidFill>
                <a:latin typeface="Arial" pitchFamily="34" charset="0"/>
                <a:ea typeface="Arial" pitchFamily="34" charset="-122"/>
                <a:cs typeface="Arial" pitchFamily="34" charset="-120"/>
              </a:rPr>
              <a:t> = 5</a:t>
            </a:r>
            <a:r>
              <a:rPr lang="en-US" sz="1700" b="1" baseline="30000" dirty="0">
                <a:solidFill>
                  <a:srgbClr val="1B262C"/>
                </a:solidFill>
                <a:latin typeface="Arial" pitchFamily="34" charset="0"/>
                <a:ea typeface="Arial" pitchFamily="34" charset="-122"/>
                <a:cs typeface="Arial" pitchFamily="34" charset="-120"/>
              </a:rPr>
              <a:t>12</a:t>
            </a:r>
            <a:r>
              <a:rPr lang="en-US" sz="1700" b="1" dirty="0">
                <a:solidFill>
                  <a:srgbClr val="1B262C"/>
                </a:solidFill>
                <a:latin typeface="Arial" pitchFamily="34" charset="0"/>
                <a:ea typeface="Arial" pitchFamily="34" charset="-122"/>
                <a:cs typeface="Arial" pitchFamily="34" charset="-120"/>
              </a:rPr>
              <a:t>   ،   (3</a:t>
            </a:r>
            <a:r>
              <a:rPr lang="en-US" sz="1700" b="1" baseline="30000" dirty="0">
                <a:solidFill>
                  <a:srgbClr val="1B262C"/>
                </a:solidFill>
                <a:latin typeface="Arial" pitchFamily="34" charset="0"/>
                <a:ea typeface="Arial" pitchFamily="34" charset="-122"/>
                <a:cs typeface="Arial" pitchFamily="34" charset="-120"/>
              </a:rPr>
              <a:t>2</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5</a:t>
            </a:r>
            <a:r>
              <a:rPr lang="en-US" sz="1700" b="1" dirty="0">
                <a:solidFill>
                  <a:srgbClr val="1B262C"/>
                </a:solidFill>
                <a:latin typeface="Arial" pitchFamily="34" charset="0"/>
                <a:ea typeface="Arial" pitchFamily="34" charset="-122"/>
                <a:cs typeface="Arial" pitchFamily="34" charset="-120"/>
              </a:rPr>
              <a:t> = 3</a:t>
            </a:r>
            <a:r>
              <a:rPr lang="en-US" sz="1700" b="1" baseline="30000" dirty="0">
                <a:solidFill>
                  <a:srgbClr val="1B262C"/>
                </a:solidFill>
                <a:latin typeface="Arial" pitchFamily="34" charset="0"/>
                <a:ea typeface="Arial" pitchFamily="34" charset="-122"/>
                <a:cs typeface="Arial" pitchFamily="34" charset="-120"/>
              </a:rPr>
              <a:t>10</a:t>
            </a:r>
            <a:endParaRPr lang="en-US" sz="1700" dirty="0"/>
          </a:p>
        </p:txBody>
      </p:sp>
      <p:sp>
        <p:nvSpPr>
          <p:cNvPr id="28" name="sol7"/>
          <p:cNvSpPr/>
          <p:nvPr/>
        </p:nvSpPr>
        <p:spPr>
          <a:xfrm>
            <a:off x="457200" y="4087368"/>
            <a:ext cx="8229600" cy="402336"/>
          </a:xfrm>
          <a:prstGeom prst="roundRect">
            <a:avLst>
              <a:gd name="adj" fmla="val 27273"/>
            </a:avLst>
          </a:prstGeom>
          <a:solidFill>
            <a:srgbClr val="7B3FA0">
              <a:alpha val="9000"/>
            </a:srgbClr>
          </a:solidFill>
          <a:ln w="12700">
            <a:solidFill>
              <a:srgbClr val="7B3FA0">
                <a:alpha val="60000"/>
              </a:srgbClr>
            </a:solidFill>
            <a:prstDash val="solid"/>
          </a:ln>
        </p:spPr>
      </p:sp>
      <p:sp>
        <p:nvSpPr>
          <p:cNvPr id="29" name="Shape 27"/>
          <p:cNvSpPr/>
          <p:nvPr/>
        </p:nvSpPr>
        <p:spPr>
          <a:xfrm>
            <a:off x="8211312" y="4133088"/>
            <a:ext cx="310896" cy="310896"/>
          </a:xfrm>
          <a:prstGeom prst="ellipse">
            <a:avLst/>
          </a:prstGeom>
          <a:solidFill>
            <a:srgbClr val="7B3FA0"/>
          </a:solidFill>
          <a:ln w="12700">
            <a:solidFill>
              <a:srgbClr val="7B3FA0"/>
            </a:solidFill>
            <a:prstDash val="solid"/>
          </a:ln>
        </p:spPr>
      </p:sp>
      <p:sp>
        <p:nvSpPr>
          <p:cNvPr id="30" name="Text 28"/>
          <p:cNvSpPr txBox="1"/>
          <p:nvPr/>
        </p:nvSpPr>
        <p:spPr>
          <a:xfrm>
            <a:off x="8211312" y="4133088"/>
            <a:ext cx="310896" cy="310896"/>
          </a:xfrm>
          <a:prstGeom prst="rect">
            <a:avLst/>
          </a:prstGeom>
          <a:noFill/>
          <a:ln/>
        </p:spPr>
        <p:txBody>
          <a:bodyPr wrap="square" lIns="0" tIns="0" rIns="0" bIns="0" rtlCol="0" anchor="ctr"/>
          <a:lstStyle/>
          <a:p>
            <a:pPr rtl="1" algn="ctr" indent="0" marL="0">
              <a:buNone/>
            </a:pPr>
            <a:r>
              <a:rPr lang="ar-LB" altLang="en-US" sz="1300" b="1" dirty="0">
                <a:solidFill>
                  <a:srgbClr val="FFFFFF"/>
                </a:solidFill>
              </a:rPr>
              <a:t>7</a:t>
            </a:r>
            <a:endParaRPr lang="ar-LB" sz="1300" dirty="0"/>
          </a:p>
        </p:txBody>
      </p:sp>
      <p:sp>
        <p:nvSpPr>
          <p:cNvPr id="31" name="Text 29"/>
          <p:cNvSpPr txBox="1"/>
          <p:nvPr/>
        </p:nvSpPr>
        <p:spPr>
          <a:xfrm>
            <a:off x="640080" y="4087368"/>
            <a:ext cx="7406640" cy="402336"/>
          </a:xfrm>
          <a:prstGeom prst="rect">
            <a:avLst/>
          </a:prstGeom>
          <a:noFill/>
          <a:ln/>
        </p:spPr>
        <p:txBody>
          <a:bodyPr wrap="square" lIns="0" tIns="0" rIns="0" bIns="0" rtlCol="0" anchor="ctr"/>
          <a:lstStyle/>
          <a:p>
            <a:pPr rtl="0" algn="r" indent="0" marL="0">
              <a:buNone/>
            </a:pPr>
            <a:r>
              <a:rPr lang="en-US" sz="1700" b="1" dirty="0">
                <a:solidFill>
                  <a:srgbClr val="1B262C"/>
                </a:solidFill>
                <a:latin typeface="Arial" pitchFamily="34" charset="0"/>
                <a:ea typeface="Arial" pitchFamily="34" charset="-122"/>
                <a:cs typeface="Arial" pitchFamily="34" charset="-120"/>
              </a:rPr>
              <a:t>2</a:t>
            </a:r>
            <a:r>
              <a:rPr lang="en-US" sz="1700" b="1" baseline="30000" dirty="0">
                <a:solidFill>
                  <a:srgbClr val="1B262C"/>
                </a:solidFill>
                <a:latin typeface="Arial" pitchFamily="34" charset="0"/>
                <a:ea typeface="Arial" pitchFamily="34" charset="-122"/>
                <a:cs typeface="Arial" pitchFamily="34" charset="-120"/>
              </a:rPr>
              <a:t>12</a:t>
            </a:r>
            <a:r>
              <a:rPr lang="en-US" sz="1700" b="1" dirty="0">
                <a:solidFill>
                  <a:srgbClr val="1B262C"/>
                </a:solidFill>
                <a:latin typeface="Arial" pitchFamily="34" charset="0"/>
                <a:ea typeface="Arial" pitchFamily="34" charset="-122"/>
                <a:cs typeface="Arial" pitchFamily="34" charset="-120"/>
              </a:rPr>
              <a:t> = (2</a:t>
            </a:r>
            <a:r>
              <a:rPr lang="en-US" sz="1700" b="1" baseline="30000" dirty="0">
                <a:solidFill>
                  <a:srgbClr val="1B262C"/>
                </a:solidFill>
                <a:latin typeface="Arial" pitchFamily="34" charset="0"/>
                <a:ea typeface="Arial" pitchFamily="34" charset="-122"/>
                <a:cs typeface="Arial" pitchFamily="34" charset="-120"/>
              </a:rPr>
              <a:t>3</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4</a:t>
            </a:r>
            <a:r>
              <a:rPr lang="en-US" sz="1700" b="1" dirty="0">
                <a:solidFill>
                  <a:srgbClr val="1B262C"/>
                </a:solidFill>
                <a:latin typeface="Arial" pitchFamily="34" charset="0"/>
                <a:ea typeface="Arial" pitchFamily="34" charset="-122"/>
                <a:cs typeface="Arial" pitchFamily="34" charset="-120"/>
              </a:rPr>
              <a:t> = (2</a:t>
            </a:r>
            <a:r>
              <a:rPr lang="en-US" sz="1700" b="1" baseline="30000" dirty="0">
                <a:solidFill>
                  <a:srgbClr val="1B262C"/>
                </a:solidFill>
                <a:latin typeface="Arial" pitchFamily="34" charset="0"/>
                <a:ea typeface="Arial" pitchFamily="34" charset="-122"/>
                <a:cs typeface="Arial" pitchFamily="34" charset="-120"/>
              </a:rPr>
              <a:t>4</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3</a:t>
            </a:r>
            <a:r>
              <a:rPr lang="en-US" sz="1700" b="1" dirty="0">
                <a:solidFill>
                  <a:srgbClr val="1B262C"/>
                </a:solidFill>
                <a:latin typeface="Arial" pitchFamily="34" charset="0"/>
                <a:ea typeface="Arial" pitchFamily="34" charset="-122"/>
                <a:cs typeface="Arial" pitchFamily="34" charset="-120"/>
              </a:rPr>
              <a:t> = (2</a:t>
            </a:r>
            <a:r>
              <a:rPr lang="en-US" sz="1700" b="1" baseline="30000" dirty="0">
                <a:solidFill>
                  <a:srgbClr val="1B262C"/>
                </a:solidFill>
                <a:latin typeface="Arial" pitchFamily="34" charset="0"/>
                <a:ea typeface="Arial" pitchFamily="34" charset="-122"/>
                <a:cs typeface="Arial" pitchFamily="34" charset="-120"/>
              </a:rPr>
              <a:t>2</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6</a:t>
            </a:r>
            <a:r>
              <a:rPr lang="en-US" sz="1700" b="1" dirty="0">
                <a:solidFill>
                  <a:srgbClr val="1B262C"/>
                </a:solidFill>
                <a:latin typeface="Arial" pitchFamily="34" charset="0"/>
                <a:ea typeface="Arial" pitchFamily="34" charset="-122"/>
                <a:cs typeface="Arial" pitchFamily="34" charset="-120"/>
              </a:rPr>
              <a:t> = (2</a:t>
            </a:r>
            <a:r>
              <a:rPr lang="en-US" sz="1700" b="1" baseline="30000" dirty="0">
                <a:solidFill>
                  <a:srgbClr val="1B262C"/>
                </a:solidFill>
                <a:latin typeface="Arial" pitchFamily="34" charset="0"/>
                <a:ea typeface="Arial" pitchFamily="34" charset="-122"/>
                <a:cs typeface="Arial" pitchFamily="34" charset="-120"/>
              </a:rPr>
              <a:t>6</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2</a:t>
            </a:r>
            <a:endParaRPr lang="en-US" sz="17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E36414"/>
          </a:solidFill>
          <a:ln w="12700">
            <a:solidFill>
              <a:srgbClr val="E36414"/>
            </a:solidFill>
            <a:prstDash val="solid"/>
          </a:ln>
        </p:spPr>
      </p:sp>
      <p:pic>
        <p:nvPicPr>
          <p:cNvPr id="3" name="Image 0" descr="preencoded.png">    </p:cNvPr>
          <p:cNvPicPr>
            <a:picLocks noChangeAspect="1"/>
          </p:cNvPicPr>
          <p:nvPr/>
        </p:nvPicPr>
        <p:blipFill>
          <a:blip r:embed="rId1"/>
          <a:stretch>
            <a:fillRect/>
          </a:stretch>
        </p:blipFill>
        <p:spPr>
          <a:xfrm>
            <a:off x="7452360" y="1920240"/>
            <a:ext cx="822960" cy="822960"/>
          </a:xfrm>
          <a:prstGeom prst="rect">
            <a:avLst/>
          </a:prstGeom>
        </p:spPr>
      </p:pic>
      <p:sp>
        <p:nvSpPr>
          <p:cNvPr id="4" name="Text 1"/>
          <p:cNvSpPr txBox="1"/>
          <p:nvPr/>
        </p:nvSpPr>
        <p:spPr>
          <a:xfrm>
            <a:off x="548640" y="1371600"/>
            <a:ext cx="6035040" cy="411480"/>
          </a:xfrm>
          <a:prstGeom prst="rect">
            <a:avLst/>
          </a:prstGeom>
          <a:noFill/>
          <a:ln/>
        </p:spPr>
        <p:txBody>
          <a:bodyPr wrap="square" lIns="0" tIns="0" rIns="0" bIns="0" rtlCol="0" anchor="t"/>
          <a:lstStyle/>
          <a:p>
            <a:pPr rtl="1" algn="r" indent="0" marL="0">
              <a:buNone/>
            </a:pPr>
            <a:r>
              <a:rPr lang="ar-LB" altLang="en-US" sz="1800" b="1" dirty="0">
                <a:solidFill>
                  <a:srgbClr val="E9A23B"/>
                </a:solidFill>
              </a:rPr>
              <a:t>المرحلة 5</a:t>
            </a:r>
            <a:endParaRPr lang="ar-LB" sz="1800" dirty="0"/>
          </a:p>
        </p:txBody>
      </p:sp>
      <p:sp>
        <p:nvSpPr>
          <p:cNvPr id="5" name="Text 0"/>
          <p:cNvSpPr/>
          <p:nvPr>
            <p:ph idx="100" type="title" hasCustomPrompt="1"/>
          </p:nvPr>
        </p:nvSpPr>
        <p:spPr>
          <a:xfrm>
            <a:off x="548640" y="1828800"/>
            <a:ext cx="6035040" cy="822960"/>
          </a:xfrm>
          <a:prstGeom prst="rect">
            <a:avLst/>
          </a:prstGeom>
          <a:noFill/>
          <a:ln/>
        </p:spPr>
        <p:txBody>
          <a:bodyPr wrap="square" rtlCol="0"/>
          <a:lstStyle/>
          <a:p>
            <a:pPr rtl="1" algn="r" indent="0" marL="0">
              <a:buNone/>
            </a:pPr>
            <a:r>
              <a:rPr lang="en-US" sz="4000" b="1" dirty="0">
                <a:solidFill>
                  <a:srgbClr val="FFFFFF"/>
                </a:solidFill>
              </a:rPr>
              <a:t>التطبيق الجماعي التمايزي</a:t>
            </a:r>
            <a:endParaRPr lang="en-US" sz="4000" dirty="0"/>
          </a:p>
        </p:txBody>
      </p:sp>
      <p:sp>
        <p:nvSpPr>
          <p:cNvPr id="6" name="Text 0"/>
          <p:cNvSpPr/>
          <p:nvPr>
            <p:ph idx="101" type="body" hasCustomPrompt="1"/>
          </p:nvPr>
        </p:nvSpPr>
        <p:spPr>
          <a:xfrm>
            <a:off x="548640" y="2697480"/>
            <a:ext cx="6035040" cy="822960"/>
          </a:xfrm>
          <a:prstGeom prst="rect">
            <a:avLst/>
          </a:prstGeom>
          <a:noFill/>
          <a:ln/>
        </p:spPr>
        <p:txBody>
          <a:bodyPr wrap="square" rtlCol="0" anchor="t"/>
          <a:lstStyle/>
          <a:p>
            <a:pPr rtl="1" algn="r" indent="0" marL="0">
              <a:buNone/>
            </a:pPr>
            <a:r>
              <a:rPr lang="en-US" sz="1800" dirty="0">
                <a:solidFill>
                  <a:srgbClr val="CFE3E6"/>
                </a:solidFill>
              </a:rPr>
              <a:t>استراتيجية: التعلّم التعاوني بالأدوار + المجموعات المرنة  •  10 دقائق</a:t>
            </a:r>
            <a:endParaRPr lang="en-US" sz="1800" dirty="0"/>
          </a:p>
          <a:p>
            <a:pPr rtl="1" algn="r" indent="0" marL="0">
              <a:buNone/>
            </a:pPr>
            <a:r>
              <a:rPr lang="en-US" sz="1800" dirty="0">
                <a:solidFill>
                  <a:srgbClr val="CFE3E6"/>
                </a:solidFill>
              </a:rPr>
              <a:t>بطاقات المجموعات: الخضراء، الزرقاء، البنفسجية</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ثلاث مجموعات… ثلاثة تحدّيات</a:t>
            </a:r>
            <a:endParaRPr lang="en-US" sz="3000" dirty="0"/>
          </a:p>
        </p:txBody>
      </p:sp>
      <p:sp>
        <p:nvSpPr>
          <p:cNvPr id="3" name="المجموعة الخضراء"/>
          <p:cNvSpPr/>
          <p:nvPr/>
        </p:nvSpPr>
        <p:spPr>
          <a:xfrm>
            <a:off x="5989320" y="1005840"/>
            <a:ext cx="2606040" cy="3108960"/>
          </a:xfrm>
          <a:prstGeom prst="roundRect">
            <a:avLst>
              <a:gd name="adj" fmla="val 4211"/>
            </a:avLst>
          </a:prstGeom>
          <a:solidFill>
            <a:srgbClr val="2E9E5B">
              <a:alpha val="10000"/>
            </a:srgbClr>
          </a:solidFill>
          <a:ln w="12700">
            <a:solidFill>
              <a:srgbClr val="2E9E5B">
                <a:alpha val="60000"/>
              </a:srgbClr>
            </a:solidFill>
            <a:prstDash val="solid"/>
          </a:ln>
        </p:spPr>
      </p:sp>
      <p:sp>
        <p:nvSpPr>
          <p:cNvPr id="4" name="Shape 2"/>
          <p:cNvSpPr/>
          <p:nvPr/>
        </p:nvSpPr>
        <p:spPr>
          <a:xfrm>
            <a:off x="6995160" y="1097280"/>
            <a:ext cx="548640" cy="548640"/>
          </a:xfrm>
          <a:prstGeom prst="ellipse">
            <a:avLst/>
          </a:prstGeom>
          <a:solidFill>
            <a:srgbClr val="2E9E5B"/>
          </a:solidFill>
          <a:ln w="12700">
            <a:solidFill>
              <a:srgbClr val="2E9E5B"/>
            </a:solidFill>
            <a:prstDash val="solid"/>
          </a:ln>
        </p:spPr>
      </p:sp>
      <p:pic>
        <p:nvPicPr>
          <p:cNvPr id="5" name="Image 0" descr="preencoded.png">    </p:cNvPr>
          <p:cNvPicPr>
            <a:picLocks noChangeAspect="1"/>
          </p:cNvPicPr>
          <p:nvPr/>
        </p:nvPicPr>
        <p:blipFill>
          <a:blip r:embed="rId1"/>
          <a:stretch>
            <a:fillRect/>
          </a:stretch>
        </p:blipFill>
        <p:spPr>
          <a:xfrm>
            <a:off x="7126834" y="1228954"/>
            <a:ext cx="285293" cy="285293"/>
          </a:xfrm>
          <a:prstGeom prst="rect">
            <a:avLst/>
          </a:prstGeom>
        </p:spPr>
      </p:pic>
      <p:sp>
        <p:nvSpPr>
          <p:cNvPr id="6" name="Text 3"/>
          <p:cNvSpPr txBox="1"/>
          <p:nvPr/>
        </p:nvSpPr>
        <p:spPr>
          <a:xfrm>
            <a:off x="6080760" y="1691640"/>
            <a:ext cx="2423160" cy="365760"/>
          </a:xfrm>
          <a:prstGeom prst="rect">
            <a:avLst/>
          </a:prstGeom>
          <a:noFill/>
          <a:ln/>
        </p:spPr>
        <p:txBody>
          <a:bodyPr wrap="square" lIns="0" tIns="0" rIns="0" bIns="0" rtlCol="0" anchor="t"/>
          <a:lstStyle/>
          <a:p>
            <a:pPr rtl="1" algn="ctr" indent="0" marL="0">
              <a:buNone/>
            </a:pPr>
            <a:r>
              <a:rPr lang="ar-LB" altLang="en-US" sz="1700" b="1" dirty="0">
                <a:solidFill>
                  <a:srgbClr val="2E9E5B"/>
                </a:solidFill>
              </a:rPr>
              <a:t>المجموعة الخضراء</a:t>
            </a:r>
            <a:endParaRPr lang="ar-LB" sz="1700" dirty="0"/>
          </a:p>
        </p:txBody>
      </p:sp>
      <p:sp>
        <p:nvSpPr>
          <p:cNvPr id="7" name="Text 4"/>
          <p:cNvSpPr txBox="1"/>
          <p:nvPr/>
        </p:nvSpPr>
        <p:spPr>
          <a:xfrm>
            <a:off x="6080760" y="2029968"/>
            <a:ext cx="242316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ترسيخ المفهوم</a:t>
            </a:r>
            <a:endParaRPr lang="ar-LB" sz="1300" dirty="0"/>
          </a:p>
        </p:txBody>
      </p:sp>
      <p:sp>
        <p:nvSpPr>
          <p:cNvPr id="8" name="Text 5"/>
          <p:cNvSpPr txBox="1"/>
          <p:nvPr/>
        </p:nvSpPr>
        <p:spPr>
          <a:xfrm>
            <a:off x="6126480" y="2423160"/>
            <a:ext cx="2331720" cy="1600200"/>
          </a:xfrm>
          <a:prstGeom prst="rect">
            <a:avLst/>
          </a:prstGeom>
          <a:noFill/>
          <a:ln/>
        </p:spPr>
        <p:txBody>
          <a:bodyPr wrap="square" lIns="0" tIns="0" rIns="0" bIns="0" rtlCol="0" anchor="t"/>
          <a:lstStyle/>
          <a:p>
            <a:pPr rtl="1" algn="r" marL="152400" indent="-152400">
              <a:spcAft>
                <a:spcPts val="600"/>
              </a:spcAft>
              <a:buSzPct val="100000"/>
              <a:buChar char="•"/>
            </a:pPr>
            <a:r>
              <a:rPr lang="ar-LB" altLang="en-US" sz="1300" dirty="0">
                <a:solidFill>
                  <a:srgbClr val="1B262C"/>
                </a:solidFill>
              </a:rPr>
              <a:t>مطابقة بطاقات: ضرب متكرر، قوّة، قيمة</a:t>
            </a:r>
            <a:endParaRPr lang="ar-LB" sz="1300" dirty="0"/>
          </a:p>
          <a:p>
            <a:pPr rtl="1" algn="r" marL="152400" indent="-152400">
              <a:spcAft>
                <a:spcPts val="600"/>
              </a:spcAft>
              <a:buSzPct val="100000"/>
              <a:buChar char="•"/>
            </a:pPr>
            <a:r>
              <a:rPr lang="ar-LB" altLang="en-US" sz="1300" dirty="0">
                <a:solidFill>
                  <a:srgbClr val="1B262C"/>
                </a:solidFill>
              </a:rPr>
              <a:t>تصنيف: جمع متكرر أم ضرب؟</a:t>
            </a:r>
            <a:endParaRPr lang="ar-LB" sz="1300" dirty="0"/>
          </a:p>
          <a:p>
            <a:pPr rtl="1" algn="r" marL="152400" indent="-152400">
              <a:spcAft>
                <a:spcPts val="600"/>
              </a:spcAft>
              <a:buSzPct val="100000"/>
              <a:buChar char="•"/>
            </a:pPr>
            <a:r>
              <a:rPr lang="ar-LB" altLang="en-US" sz="1300" dirty="0">
                <a:solidFill>
                  <a:srgbClr val="1B262C"/>
                </a:solidFill>
              </a:rPr>
              <a:t>جدول قوّة القوّة الموجَّه</a:t>
            </a:r>
            <a:endParaRPr lang="ar-LB" sz="1300" dirty="0"/>
          </a:p>
        </p:txBody>
      </p:sp>
      <p:sp>
        <p:nvSpPr>
          <p:cNvPr id="9" name="المجموعة الزرقاء"/>
          <p:cNvSpPr/>
          <p:nvPr/>
        </p:nvSpPr>
        <p:spPr>
          <a:xfrm>
            <a:off x="3246120" y="1005840"/>
            <a:ext cx="2606040" cy="3108960"/>
          </a:xfrm>
          <a:prstGeom prst="roundRect">
            <a:avLst>
              <a:gd name="adj" fmla="val 4211"/>
            </a:avLst>
          </a:prstGeom>
          <a:solidFill>
            <a:srgbClr val="2671B8">
              <a:alpha val="10000"/>
            </a:srgbClr>
          </a:solidFill>
          <a:ln w="12700">
            <a:solidFill>
              <a:srgbClr val="2671B8">
                <a:alpha val="60000"/>
              </a:srgbClr>
            </a:solidFill>
            <a:prstDash val="solid"/>
          </a:ln>
        </p:spPr>
      </p:sp>
      <p:sp>
        <p:nvSpPr>
          <p:cNvPr id="10" name="Shape 7"/>
          <p:cNvSpPr/>
          <p:nvPr/>
        </p:nvSpPr>
        <p:spPr>
          <a:xfrm>
            <a:off x="4251960" y="1097280"/>
            <a:ext cx="548640" cy="548640"/>
          </a:xfrm>
          <a:prstGeom prst="ellipse">
            <a:avLst/>
          </a:prstGeom>
          <a:solidFill>
            <a:srgbClr val="2671B8"/>
          </a:solidFill>
          <a:ln w="12700">
            <a:solidFill>
              <a:srgbClr val="2671B8"/>
            </a:solidFill>
            <a:prstDash val="solid"/>
          </a:ln>
        </p:spPr>
      </p:sp>
      <p:pic>
        <p:nvPicPr>
          <p:cNvPr id="11" name="Image 1" descr="preencoded.png">    </p:cNvPr>
          <p:cNvPicPr>
            <a:picLocks noChangeAspect="1"/>
          </p:cNvPicPr>
          <p:nvPr/>
        </p:nvPicPr>
        <p:blipFill>
          <a:blip r:embed="rId2"/>
          <a:stretch>
            <a:fillRect/>
          </a:stretch>
        </p:blipFill>
        <p:spPr>
          <a:xfrm>
            <a:off x="4383634" y="1228954"/>
            <a:ext cx="285293" cy="285293"/>
          </a:xfrm>
          <a:prstGeom prst="rect">
            <a:avLst/>
          </a:prstGeom>
        </p:spPr>
      </p:pic>
      <p:sp>
        <p:nvSpPr>
          <p:cNvPr id="12" name="Text 8"/>
          <p:cNvSpPr txBox="1"/>
          <p:nvPr/>
        </p:nvSpPr>
        <p:spPr>
          <a:xfrm>
            <a:off x="3337560" y="1691640"/>
            <a:ext cx="2423160" cy="365760"/>
          </a:xfrm>
          <a:prstGeom prst="rect">
            <a:avLst/>
          </a:prstGeom>
          <a:noFill/>
          <a:ln/>
        </p:spPr>
        <p:txBody>
          <a:bodyPr wrap="square" lIns="0" tIns="0" rIns="0" bIns="0" rtlCol="0" anchor="t"/>
          <a:lstStyle/>
          <a:p>
            <a:pPr rtl="1" algn="ctr" indent="0" marL="0">
              <a:buNone/>
            </a:pPr>
            <a:r>
              <a:rPr lang="ar-LB" altLang="en-US" sz="1700" b="1" dirty="0">
                <a:solidFill>
                  <a:srgbClr val="2671B8"/>
                </a:solidFill>
              </a:rPr>
              <a:t>المجموعة الزرقاء</a:t>
            </a:r>
            <a:endParaRPr lang="ar-LB" sz="1700" dirty="0"/>
          </a:p>
        </p:txBody>
      </p:sp>
      <p:sp>
        <p:nvSpPr>
          <p:cNvPr id="13" name="Text 9"/>
          <p:cNvSpPr txBox="1"/>
          <p:nvPr/>
        </p:nvSpPr>
        <p:spPr>
          <a:xfrm>
            <a:off x="3337560" y="2029968"/>
            <a:ext cx="242316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تمكّن وتطبيق</a:t>
            </a:r>
            <a:endParaRPr lang="ar-LB" sz="1300" dirty="0"/>
          </a:p>
        </p:txBody>
      </p:sp>
      <p:sp>
        <p:nvSpPr>
          <p:cNvPr id="14" name="Text 10"/>
          <p:cNvSpPr txBox="1"/>
          <p:nvPr/>
        </p:nvSpPr>
        <p:spPr>
          <a:xfrm>
            <a:off x="3383280" y="2423160"/>
            <a:ext cx="2331720" cy="1600200"/>
          </a:xfrm>
          <a:prstGeom prst="rect">
            <a:avLst/>
          </a:prstGeom>
          <a:noFill/>
          <a:ln/>
        </p:spPr>
        <p:txBody>
          <a:bodyPr wrap="square" lIns="0" tIns="0" rIns="0" bIns="0" rtlCol="0" anchor="t"/>
          <a:lstStyle/>
          <a:p>
            <a:pPr rtl="1" algn="r" marL="152400" indent="-152400">
              <a:spcAft>
                <a:spcPts val="600"/>
              </a:spcAft>
              <a:buSzPct val="100000"/>
              <a:buChar char="•"/>
            </a:pPr>
            <a:r>
              <a:rPr lang="ar-LB" altLang="en-US" sz="1300" dirty="0">
                <a:solidFill>
                  <a:srgbClr val="1B262C"/>
                </a:solidFill>
              </a:rPr>
              <a:t>كتابة قوّة واحدة ثم الحساب</a:t>
            </a:r>
            <a:endParaRPr lang="ar-LB" sz="1300" dirty="0"/>
          </a:p>
          <a:p>
            <a:pPr rtl="1" algn="r" marL="152400" indent="-152400">
              <a:spcAft>
                <a:spcPts val="600"/>
              </a:spcAft>
              <a:buSzPct val="100000"/>
              <a:buChar char="•"/>
            </a:pPr>
            <a:r>
              <a:rPr lang="ar-LB" altLang="en-US" sz="1300" dirty="0">
                <a:solidFill>
                  <a:srgbClr val="1B262C"/>
                </a:solidFill>
              </a:rPr>
              <a:t>صح أم خطأ مع التصحيح</a:t>
            </a:r>
            <a:endParaRPr lang="ar-LB" sz="1300" dirty="0"/>
          </a:p>
          <a:p>
            <a:pPr rtl="1" algn="r" marL="152400" indent="-152400">
              <a:spcAft>
                <a:spcPts val="600"/>
              </a:spcAft>
              <a:buSzPct val="100000"/>
              <a:buChar char="•"/>
            </a:pPr>
            <a:r>
              <a:rPr lang="ar-LB" altLang="en-US" sz="1300" dirty="0">
                <a:solidFill>
                  <a:srgbClr val="1B262C"/>
                </a:solidFill>
              </a:rPr>
              <a:t>مسألة حياتية: مساحة مزرعة</a:t>
            </a:r>
            <a:endParaRPr lang="ar-LB" sz="1300" dirty="0"/>
          </a:p>
        </p:txBody>
      </p:sp>
      <p:sp>
        <p:nvSpPr>
          <p:cNvPr id="15" name="المجموعة البنفسجية"/>
          <p:cNvSpPr/>
          <p:nvPr/>
        </p:nvSpPr>
        <p:spPr>
          <a:xfrm>
            <a:off x="502920" y="1005840"/>
            <a:ext cx="2606040" cy="3108960"/>
          </a:xfrm>
          <a:prstGeom prst="roundRect">
            <a:avLst>
              <a:gd name="adj" fmla="val 4211"/>
            </a:avLst>
          </a:prstGeom>
          <a:solidFill>
            <a:srgbClr val="7B3FA0">
              <a:alpha val="10000"/>
            </a:srgbClr>
          </a:solidFill>
          <a:ln w="12700">
            <a:solidFill>
              <a:srgbClr val="7B3FA0">
                <a:alpha val="60000"/>
              </a:srgbClr>
            </a:solidFill>
            <a:prstDash val="solid"/>
          </a:ln>
        </p:spPr>
      </p:sp>
      <p:sp>
        <p:nvSpPr>
          <p:cNvPr id="16" name="Shape 12"/>
          <p:cNvSpPr/>
          <p:nvPr/>
        </p:nvSpPr>
        <p:spPr>
          <a:xfrm>
            <a:off x="1508760" y="1097280"/>
            <a:ext cx="548640" cy="548640"/>
          </a:xfrm>
          <a:prstGeom prst="ellipse">
            <a:avLst/>
          </a:prstGeom>
          <a:solidFill>
            <a:srgbClr val="7B3FA0"/>
          </a:solidFill>
          <a:ln w="12700">
            <a:solidFill>
              <a:srgbClr val="7B3FA0"/>
            </a:solidFill>
            <a:prstDash val="solid"/>
          </a:ln>
        </p:spPr>
      </p:sp>
      <p:pic>
        <p:nvPicPr>
          <p:cNvPr id="17" name="Image 2" descr="preencoded.png">    </p:cNvPr>
          <p:cNvPicPr>
            <a:picLocks noChangeAspect="1"/>
          </p:cNvPicPr>
          <p:nvPr/>
        </p:nvPicPr>
        <p:blipFill>
          <a:blip r:embed="rId3"/>
          <a:stretch>
            <a:fillRect/>
          </a:stretch>
        </p:blipFill>
        <p:spPr>
          <a:xfrm>
            <a:off x="1640434" y="1228954"/>
            <a:ext cx="285293" cy="285293"/>
          </a:xfrm>
          <a:prstGeom prst="rect">
            <a:avLst/>
          </a:prstGeom>
        </p:spPr>
      </p:pic>
      <p:sp>
        <p:nvSpPr>
          <p:cNvPr id="18" name="Text 13"/>
          <p:cNvSpPr txBox="1"/>
          <p:nvPr/>
        </p:nvSpPr>
        <p:spPr>
          <a:xfrm>
            <a:off x="594360" y="1691640"/>
            <a:ext cx="2423160" cy="365760"/>
          </a:xfrm>
          <a:prstGeom prst="rect">
            <a:avLst/>
          </a:prstGeom>
          <a:noFill/>
          <a:ln/>
        </p:spPr>
        <p:txBody>
          <a:bodyPr wrap="square" lIns="0" tIns="0" rIns="0" bIns="0" rtlCol="0" anchor="t"/>
          <a:lstStyle/>
          <a:p>
            <a:pPr rtl="1" algn="ctr" indent="0" marL="0">
              <a:buNone/>
            </a:pPr>
            <a:r>
              <a:rPr lang="ar-LB" altLang="en-US" sz="1700" b="1" dirty="0">
                <a:solidFill>
                  <a:srgbClr val="7B3FA0"/>
                </a:solidFill>
              </a:rPr>
              <a:t>المجموعة البنفسجية</a:t>
            </a:r>
            <a:endParaRPr lang="ar-LB" sz="1700" dirty="0"/>
          </a:p>
        </p:txBody>
      </p:sp>
      <p:sp>
        <p:nvSpPr>
          <p:cNvPr id="19" name="Text 14"/>
          <p:cNvSpPr txBox="1"/>
          <p:nvPr/>
        </p:nvSpPr>
        <p:spPr>
          <a:xfrm>
            <a:off x="594360" y="2029968"/>
            <a:ext cx="242316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إثراء وتحدٍّ</a:t>
            </a:r>
            <a:endParaRPr lang="ar-LB" sz="1300" dirty="0"/>
          </a:p>
        </p:txBody>
      </p:sp>
      <p:sp>
        <p:nvSpPr>
          <p:cNvPr id="20" name="Text 15"/>
          <p:cNvSpPr txBox="1"/>
          <p:nvPr/>
        </p:nvSpPr>
        <p:spPr>
          <a:xfrm>
            <a:off x="640080" y="2423160"/>
            <a:ext cx="2331720" cy="1600200"/>
          </a:xfrm>
          <a:prstGeom prst="rect">
            <a:avLst/>
          </a:prstGeom>
          <a:noFill/>
          <a:ln/>
        </p:spPr>
        <p:txBody>
          <a:bodyPr wrap="square" lIns="0" tIns="0" rIns="0" bIns="0" rtlCol="0" anchor="t"/>
          <a:lstStyle/>
          <a:p>
            <a:pPr rtl="1" algn="r" marL="152400" indent="-152400">
              <a:spcAft>
                <a:spcPts val="600"/>
              </a:spcAft>
              <a:buSzPct val="100000"/>
              <a:buChar char="•"/>
            </a:pPr>
            <a:r>
              <a:rPr lang="ar-LB" altLang="en-US" sz="1300" dirty="0">
                <a:solidFill>
                  <a:srgbClr val="1B262C"/>
                </a:solidFill>
              </a:rPr>
              <a:t>إيجاد الأسس الناقصة</a:t>
            </a:r>
            <a:endParaRPr lang="ar-LB" sz="1300" dirty="0"/>
          </a:p>
          <a:p>
            <a:pPr rtl="1" algn="r" marL="152400" indent="-152400">
              <a:spcAft>
                <a:spcPts val="600"/>
              </a:spcAft>
              <a:buSzPct val="100000"/>
              <a:buChar char="•"/>
            </a:pPr>
            <a:r>
              <a:rPr lang="ar-LB" altLang="en-US" sz="1300" dirty="0">
                <a:solidFill>
                  <a:srgbClr val="1B262C"/>
                </a:solidFill>
              </a:rPr>
              <a:t>مقارنة دون آلة حاسبة</a:t>
            </a:r>
            <a:endParaRPr lang="ar-LB" sz="1300" dirty="0"/>
          </a:p>
          <a:p>
            <a:pPr rtl="1" algn="r" marL="152400" indent="-152400">
              <a:spcAft>
                <a:spcPts val="600"/>
              </a:spcAft>
              <a:buSzPct val="100000"/>
              <a:buChar char="•"/>
            </a:pPr>
            <a:r>
              <a:rPr lang="ar-LB" altLang="en-US" sz="1300" dirty="0">
                <a:solidFill>
                  <a:srgbClr val="1B262C"/>
                </a:solidFill>
              </a:rPr>
              <a:t>اكتشف الخطأ + مسألة حجم</a:t>
            </a:r>
            <a:endParaRPr lang="ar-LB" sz="1300" dirty="0"/>
          </a:p>
        </p:txBody>
      </p:sp>
      <p:sp>
        <p:nvSpPr>
          <p:cNvPr id="21" name="Text 16"/>
          <p:cNvSpPr txBox="1"/>
          <p:nvPr/>
        </p:nvSpPr>
        <p:spPr>
          <a:xfrm>
            <a:off x="457200" y="4206240"/>
            <a:ext cx="8229600" cy="411480"/>
          </a:xfrm>
          <a:prstGeom prst="rect">
            <a:avLst/>
          </a:prstGeom>
          <a:noFill/>
          <a:ln/>
        </p:spPr>
        <p:txBody>
          <a:bodyPr wrap="square" lIns="0" tIns="0" rIns="0" bIns="0" rtlCol="0" anchor="ctr"/>
          <a:lstStyle/>
          <a:p>
            <a:pPr rtl="1" algn="ctr" indent="0" marL="0">
              <a:buNone/>
            </a:pPr>
            <a:r>
              <a:rPr lang="ar-LB" altLang="en-US" sz="1300" b="1" dirty="0">
                <a:solidFill>
                  <a:srgbClr val="0F4C5C"/>
                </a:solidFill>
              </a:rPr>
              <a:t>الأدوار: القارئ • الكاتب • المدقّق • المتحدّث   |   من ينهي مبكرًا ينتقل إلى البطاقة التالية</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كيف نراعي الفروق الفردية؟</a:t>
            </a:r>
            <a:endParaRPr lang="en-US" sz="3000" dirty="0"/>
          </a:p>
        </p:txBody>
      </p:sp>
      <p:sp>
        <p:nvSpPr>
          <p:cNvPr id="3" name="يحتاج دعمًا"/>
          <p:cNvSpPr/>
          <p:nvPr/>
        </p:nvSpPr>
        <p:spPr>
          <a:xfrm>
            <a:off x="457200" y="1005840"/>
            <a:ext cx="8229600" cy="1005840"/>
          </a:xfrm>
          <a:prstGeom prst="roundRect">
            <a:avLst>
              <a:gd name="adj" fmla="val 10909"/>
            </a:avLst>
          </a:prstGeom>
          <a:solidFill>
            <a:srgbClr val="2E9E5B">
              <a:alpha val="9000"/>
            </a:srgbClr>
          </a:solidFill>
          <a:ln w="12700">
            <a:solidFill>
              <a:srgbClr val="2E9E5B">
                <a:alpha val="60000"/>
              </a:srgbClr>
            </a:solidFill>
            <a:prstDash val="solid"/>
          </a:ln>
        </p:spPr>
      </p:sp>
      <p:sp>
        <p:nvSpPr>
          <p:cNvPr id="4" name="Shape 2"/>
          <p:cNvSpPr/>
          <p:nvPr/>
        </p:nvSpPr>
        <p:spPr>
          <a:xfrm>
            <a:off x="6949440" y="1143000"/>
            <a:ext cx="1600200" cy="731520"/>
          </a:xfrm>
          <a:prstGeom prst="roundRect">
            <a:avLst>
              <a:gd name="adj" fmla="val 12500"/>
            </a:avLst>
          </a:prstGeom>
          <a:solidFill>
            <a:srgbClr val="2E9E5B"/>
          </a:solidFill>
          <a:ln w="12700">
            <a:solidFill>
              <a:srgbClr val="2E9E5B"/>
            </a:solidFill>
            <a:prstDash val="solid"/>
          </a:ln>
        </p:spPr>
      </p:sp>
      <p:sp>
        <p:nvSpPr>
          <p:cNvPr id="5" name="Text 3"/>
          <p:cNvSpPr txBox="1"/>
          <p:nvPr/>
        </p:nvSpPr>
        <p:spPr>
          <a:xfrm>
            <a:off x="6949440" y="1143000"/>
            <a:ext cx="1600200" cy="731520"/>
          </a:xfrm>
          <a:prstGeom prst="rect">
            <a:avLst/>
          </a:prstGeom>
          <a:noFill/>
          <a:ln/>
        </p:spPr>
        <p:txBody>
          <a:bodyPr wrap="square" lIns="0" tIns="0" rIns="0" bIns="0" rtlCol="0" anchor="ctr"/>
          <a:lstStyle/>
          <a:p>
            <a:pPr rtl="1" algn="ctr" indent="0" marL="0">
              <a:buNone/>
            </a:pPr>
            <a:r>
              <a:rPr lang="ar-LB" altLang="en-US" sz="1600" b="1" dirty="0">
                <a:solidFill>
                  <a:srgbClr val="FFFFFF"/>
                </a:solidFill>
              </a:rPr>
              <a:t>يحتاج دعمًا</a:t>
            </a:r>
            <a:endParaRPr lang="ar-LB" sz="1600" dirty="0"/>
          </a:p>
        </p:txBody>
      </p:sp>
      <p:sp>
        <p:nvSpPr>
          <p:cNvPr id="6" name="Text 4"/>
          <p:cNvSpPr txBox="1"/>
          <p:nvPr/>
        </p:nvSpPr>
        <p:spPr>
          <a:xfrm>
            <a:off x="640080" y="1051560"/>
            <a:ext cx="6126480" cy="914400"/>
          </a:xfrm>
          <a:prstGeom prst="rect">
            <a:avLst/>
          </a:prstGeom>
          <a:noFill/>
          <a:ln/>
        </p:spPr>
        <p:txBody>
          <a:bodyPr wrap="square" lIns="0" tIns="0" rIns="0" bIns="0" rtlCol="0" anchor="ctr"/>
          <a:lstStyle/>
          <a:p>
            <a:pPr rtl="1" algn="r" marL="152400" indent="-152400">
              <a:buSzPct val="100000"/>
              <a:buChar char="•"/>
            </a:pPr>
            <a:r>
              <a:rPr lang="ar-LB" altLang="en-US" sz="1400" dirty="0">
                <a:solidFill>
                  <a:srgbClr val="1B262C"/>
                </a:solidFill>
              </a:rPr>
              <a:t>أدوات محسوسة: طيّ الورق وبطاقات المطابقة</a:t>
            </a:r>
            <a:endParaRPr lang="ar-LB" sz="1400" dirty="0"/>
          </a:p>
          <a:p>
            <a:pPr rtl="1" algn="r" marL="152400" indent="-152400">
              <a:buSzPct val="100000"/>
              <a:buChar char="•"/>
            </a:pPr>
            <a:r>
              <a:rPr lang="ar-LB" altLang="en-US" sz="1400" dirty="0">
                <a:solidFill>
                  <a:srgbClr val="1B262C"/>
                </a:solidFill>
              </a:rPr>
              <a:t>جداول نصف مكتملة وخطوات موجّهة</a:t>
            </a:r>
            <a:endParaRPr lang="ar-LB" sz="1400" dirty="0"/>
          </a:p>
          <a:p>
            <a:pPr rtl="1" algn="r" marL="152400" indent="-152400">
              <a:buSzPct val="100000"/>
              <a:buChar char="•"/>
            </a:pPr>
            <a:r>
              <a:rPr lang="ar-LB" altLang="en-US" sz="1400" dirty="0">
                <a:solidFill>
                  <a:srgbClr val="1B262C"/>
                </a:solidFill>
              </a:rPr>
              <a:t>دعم مباشر من المعلم أو زميل خبير</a:t>
            </a:r>
            <a:endParaRPr lang="ar-LB" sz="1400" dirty="0"/>
          </a:p>
        </p:txBody>
      </p:sp>
      <p:sp>
        <p:nvSpPr>
          <p:cNvPr id="7" name="متمكّن"/>
          <p:cNvSpPr/>
          <p:nvPr/>
        </p:nvSpPr>
        <p:spPr>
          <a:xfrm>
            <a:off x="457200" y="2148840"/>
            <a:ext cx="8229600" cy="1005840"/>
          </a:xfrm>
          <a:prstGeom prst="roundRect">
            <a:avLst>
              <a:gd name="adj" fmla="val 10909"/>
            </a:avLst>
          </a:prstGeom>
          <a:solidFill>
            <a:srgbClr val="2671B8">
              <a:alpha val="9000"/>
            </a:srgbClr>
          </a:solidFill>
          <a:ln w="12700">
            <a:solidFill>
              <a:srgbClr val="2671B8">
                <a:alpha val="60000"/>
              </a:srgbClr>
            </a:solidFill>
            <a:prstDash val="solid"/>
          </a:ln>
        </p:spPr>
      </p:sp>
      <p:sp>
        <p:nvSpPr>
          <p:cNvPr id="8" name="Shape 6"/>
          <p:cNvSpPr/>
          <p:nvPr/>
        </p:nvSpPr>
        <p:spPr>
          <a:xfrm>
            <a:off x="6949440" y="2286000"/>
            <a:ext cx="1600200" cy="731520"/>
          </a:xfrm>
          <a:prstGeom prst="roundRect">
            <a:avLst>
              <a:gd name="adj" fmla="val 12500"/>
            </a:avLst>
          </a:prstGeom>
          <a:solidFill>
            <a:srgbClr val="2671B8"/>
          </a:solidFill>
          <a:ln w="12700">
            <a:solidFill>
              <a:srgbClr val="2671B8"/>
            </a:solidFill>
            <a:prstDash val="solid"/>
          </a:ln>
        </p:spPr>
      </p:sp>
      <p:sp>
        <p:nvSpPr>
          <p:cNvPr id="9" name="Text 7"/>
          <p:cNvSpPr txBox="1"/>
          <p:nvPr/>
        </p:nvSpPr>
        <p:spPr>
          <a:xfrm>
            <a:off x="6949440" y="2286000"/>
            <a:ext cx="1600200" cy="731520"/>
          </a:xfrm>
          <a:prstGeom prst="rect">
            <a:avLst/>
          </a:prstGeom>
          <a:noFill/>
          <a:ln/>
        </p:spPr>
        <p:txBody>
          <a:bodyPr wrap="square" lIns="0" tIns="0" rIns="0" bIns="0" rtlCol="0" anchor="ctr"/>
          <a:lstStyle/>
          <a:p>
            <a:pPr rtl="1" algn="ctr" indent="0" marL="0">
              <a:buNone/>
            </a:pPr>
            <a:r>
              <a:rPr lang="ar-LB" altLang="en-US" sz="1600" b="1" dirty="0">
                <a:solidFill>
                  <a:srgbClr val="FFFFFF"/>
                </a:solidFill>
              </a:rPr>
              <a:t>متمكّن</a:t>
            </a:r>
            <a:endParaRPr lang="ar-LB" sz="1600" dirty="0"/>
          </a:p>
        </p:txBody>
      </p:sp>
      <p:sp>
        <p:nvSpPr>
          <p:cNvPr id="10" name="Text 8"/>
          <p:cNvSpPr txBox="1"/>
          <p:nvPr/>
        </p:nvSpPr>
        <p:spPr>
          <a:xfrm>
            <a:off x="640080" y="2194560"/>
            <a:ext cx="6126480" cy="914400"/>
          </a:xfrm>
          <a:prstGeom prst="rect">
            <a:avLst/>
          </a:prstGeom>
          <a:noFill/>
          <a:ln/>
        </p:spPr>
        <p:txBody>
          <a:bodyPr wrap="square" lIns="0" tIns="0" rIns="0" bIns="0" rtlCol="0" anchor="ctr"/>
          <a:lstStyle/>
          <a:p>
            <a:pPr rtl="1" algn="r" marL="152400" indent="-152400">
              <a:buSzPct val="100000"/>
              <a:buChar char="•"/>
            </a:pPr>
            <a:r>
              <a:rPr lang="ar-LB" altLang="en-US" sz="1400" dirty="0">
                <a:solidFill>
                  <a:srgbClr val="1B262C"/>
                </a:solidFill>
              </a:rPr>
              <a:t>تطبيق مباشر للقاعدة</a:t>
            </a:r>
            <a:endParaRPr lang="ar-LB" sz="1400" dirty="0"/>
          </a:p>
          <a:p>
            <a:pPr rtl="1" algn="r" marL="152400" indent="-152400">
              <a:buSzPct val="100000"/>
              <a:buChar char="•"/>
            </a:pPr>
            <a:r>
              <a:rPr lang="ar-LB" altLang="en-US" sz="1400" dirty="0">
                <a:solidFill>
                  <a:srgbClr val="1B262C"/>
                </a:solidFill>
              </a:rPr>
              <a:t>اكتشاف الأخطاء وتصحيحها</a:t>
            </a:r>
            <a:endParaRPr lang="ar-LB" sz="1400" dirty="0"/>
          </a:p>
          <a:p>
            <a:pPr rtl="1" algn="r" marL="152400" indent="-152400">
              <a:buSzPct val="100000"/>
              <a:buChar char="•"/>
            </a:pPr>
            <a:r>
              <a:rPr lang="ar-LB" altLang="en-US" sz="1400" dirty="0">
                <a:solidFill>
                  <a:srgbClr val="1B262C"/>
                </a:solidFill>
              </a:rPr>
              <a:t>مسائل حياتية من خطوة أو خطوتين</a:t>
            </a:r>
            <a:endParaRPr lang="ar-LB" sz="1400" dirty="0"/>
          </a:p>
        </p:txBody>
      </p:sp>
      <p:sp>
        <p:nvSpPr>
          <p:cNvPr id="11" name="متفوّق"/>
          <p:cNvSpPr/>
          <p:nvPr/>
        </p:nvSpPr>
        <p:spPr>
          <a:xfrm>
            <a:off x="457200" y="3291840"/>
            <a:ext cx="8229600" cy="1005840"/>
          </a:xfrm>
          <a:prstGeom prst="roundRect">
            <a:avLst>
              <a:gd name="adj" fmla="val 10909"/>
            </a:avLst>
          </a:prstGeom>
          <a:solidFill>
            <a:srgbClr val="7B3FA0">
              <a:alpha val="9000"/>
            </a:srgbClr>
          </a:solidFill>
          <a:ln w="12700">
            <a:solidFill>
              <a:srgbClr val="7B3FA0">
                <a:alpha val="60000"/>
              </a:srgbClr>
            </a:solidFill>
            <a:prstDash val="solid"/>
          </a:ln>
        </p:spPr>
      </p:sp>
      <p:sp>
        <p:nvSpPr>
          <p:cNvPr id="12" name="Shape 10"/>
          <p:cNvSpPr/>
          <p:nvPr/>
        </p:nvSpPr>
        <p:spPr>
          <a:xfrm>
            <a:off x="6949440" y="3429000"/>
            <a:ext cx="1600200" cy="731520"/>
          </a:xfrm>
          <a:prstGeom prst="roundRect">
            <a:avLst>
              <a:gd name="adj" fmla="val 12500"/>
            </a:avLst>
          </a:prstGeom>
          <a:solidFill>
            <a:srgbClr val="7B3FA0"/>
          </a:solidFill>
          <a:ln w="12700">
            <a:solidFill>
              <a:srgbClr val="7B3FA0"/>
            </a:solidFill>
            <a:prstDash val="solid"/>
          </a:ln>
        </p:spPr>
      </p:sp>
      <p:sp>
        <p:nvSpPr>
          <p:cNvPr id="13" name="Text 11"/>
          <p:cNvSpPr txBox="1"/>
          <p:nvPr/>
        </p:nvSpPr>
        <p:spPr>
          <a:xfrm>
            <a:off x="6949440" y="3429000"/>
            <a:ext cx="1600200" cy="731520"/>
          </a:xfrm>
          <a:prstGeom prst="rect">
            <a:avLst/>
          </a:prstGeom>
          <a:noFill/>
          <a:ln/>
        </p:spPr>
        <p:txBody>
          <a:bodyPr wrap="square" lIns="0" tIns="0" rIns="0" bIns="0" rtlCol="0" anchor="ctr"/>
          <a:lstStyle/>
          <a:p>
            <a:pPr rtl="1" algn="ctr" indent="0" marL="0">
              <a:buNone/>
            </a:pPr>
            <a:r>
              <a:rPr lang="ar-LB" altLang="en-US" sz="1600" b="1" dirty="0">
                <a:solidFill>
                  <a:srgbClr val="FFFFFF"/>
                </a:solidFill>
              </a:rPr>
              <a:t>متفوّق</a:t>
            </a:r>
            <a:endParaRPr lang="ar-LB" sz="1600" dirty="0"/>
          </a:p>
        </p:txBody>
      </p:sp>
      <p:sp>
        <p:nvSpPr>
          <p:cNvPr id="14" name="Text 12"/>
          <p:cNvSpPr txBox="1"/>
          <p:nvPr/>
        </p:nvSpPr>
        <p:spPr>
          <a:xfrm>
            <a:off x="640080" y="3337560"/>
            <a:ext cx="6126480" cy="914400"/>
          </a:xfrm>
          <a:prstGeom prst="rect">
            <a:avLst/>
          </a:prstGeom>
          <a:noFill/>
          <a:ln/>
        </p:spPr>
        <p:txBody>
          <a:bodyPr wrap="square" lIns="0" tIns="0" rIns="0" bIns="0" rtlCol="0" anchor="ctr"/>
          <a:lstStyle/>
          <a:p>
            <a:pPr rtl="1" algn="r" marL="152400" indent="-152400">
              <a:buSzPct val="100000"/>
              <a:buChar char="•"/>
            </a:pPr>
            <a:r>
              <a:rPr lang="ar-LB" altLang="en-US" sz="1400" dirty="0">
                <a:solidFill>
                  <a:srgbClr val="1B262C"/>
                </a:solidFill>
              </a:rPr>
              <a:t>مسائل مفتوحة متعددة الحلول</a:t>
            </a:r>
            <a:endParaRPr lang="ar-LB" sz="1400" dirty="0"/>
          </a:p>
          <a:p>
            <a:pPr rtl="1" algn="r" marL="152400" indent="-152400">
              <a:buSzPct val="100000"/>
              <a:buChar char="•"/>
            </a:pPr>
            <a:r>
              <a:rPr lang="ar-LB" altLang="en-US" sz="1400" dirty="0">
                <a:solidFill>
                  <a:srgbClr val="1B262C"/>
                </a:solidFill>
              </a:rPr>
              <a:t>تبرير ومقارنة دون حساب</a:t>
            </a:r>
            <a:endParaRPr lang="ar-LB" sz="1400" dirty="0"/>
          </a:p>
          <a:p>
            <a:pPr rtl="1" algn="r" marL="152400" indent="-152400">
              <a:buSzPct val="100000"/>
              <a:buChar char="•"/>
            </a:pPr>
            <a:r>
              <a:rPr lang="ar-LB" altLang="en-US" sz="1400" dirty="0">
                <a:solidFill>
                  <a:srgbClr val="1B262C"/>
                </a:solidFill>
              </a:rPr>
              <a:t>يصبح «خبيرًا» يساعد زملاءه</a:t>
            </a:r>
            <a:endParaRPr lang="ar-LB" sz="1400" dirty="0"/>
          </a:p>
        </p:txBody>
      </p:sp>
      <p:sp>
        <p:nvSpPr>
          <p:cNvPr id="15" name="Text 13"/>
          <p:cNvSpPr txBox="1"/>
          <p:nvPr/>
        </p:nvSpPr>
        <p:spPr>
          <a:xfrm>
            <a:off x="457200" y="4434840"/>
            <a:ext cx="8229600" cy="320040"/>
          </a:xfrm>
          <a:prstGeom prst="rect">
            <a:avLst/>
          </a:prstGeom>
          <a:noFill/>
          <a:ln/>
        </p:spPr>
        <p:txBody>
          <a:bodyPr wrap="square" lIns="0" tIns="0" rIns="0" bIns="0" rtlCol="0" anchor="t"/>
          <a:lstStyle/>
          <a:p>
            <a:pPr rtl="1" algn="ctr" indent="0" marL="0">
              <a:buNone/>
            </a:pPr>
            <a:r>
              <a:rPr lang="ar-LB" altLang="en-US" sz="1300" dirty="0">
                <a:solidFill>
                  <a:srgbClr val="5B6770"/>
                </a:solidFill>
              </a:rPr>
              <a:t>أنماط التعلّم: بصري (ألوان وجداول) • حركي (طيّ وقص) • سمعي/لفظي (شرح الزميل)</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حلول بطاقات المجموعات</a:t>
            </a:r>
            <a:endParaRPr lang="en-US" sz="3000" dirty="0"/>
          </a:p>
        </p:txBody>
      </p:sp>
      <p:sp>
        <p:nvSpPr>
          <p:cNvPr id="3" name="الخضراء"/>
          <p:cNvSpPr/>
          <p:nvPr/>
        </p:nvSpPr>
        <p:spPr>
          <a:xfrm>
            <a:off x="5989320" y="960120"/>
            <a:ext cx="2606040" cy="3657600"/>
          </a:xfrm>
          <a:prstGeom prst="roundRect">
            <a:avLst>
              <a:gd name="adj" fmla="val 4211"/>
            </a:avLst>
          </a:prstGeom>
          <a:solidFill>
            <a:srgbClr val="2E9E5B">
              <a:alpha val="9000"/>
            </a:srgbClr>
          </a:solidFill>
          <a:ln w="12700">
            <a:solidFill>
              <a:srgbClr val="2E9E5B">
                <a:alpha val="60000"/>
              </a:srgbClr>
            </a:solidFill>
            <a:prstDash val="solid"/>
          </a:ln>
        </p:spPr>
      </p:sp>
      <p:sp>
        <p:nvSpPr>
          <p:cNvPr id="4" name="Text 2"/>
          <p:cNvSpPr txBox="1"/>
          <p:nvPr/>
        </p:nvSpPr>
        <p:spPr>
          <a:xfrm>
            <a:off x="5989320" y="1005840"/>
            <a:ext cx="2606040" cy="365760"/>
          </a:xfrm>
          <a:prstGeom prst="rect">
            <a:avLst/>
          </a:prstGeom>
          <a:noFill/>
          <a:ln/>
        </p:spPr>
        <p:txBody>
          <a:bodyPr wrap="square" lIns="0" tIns="0" rIns="0" bIns="0" rtlCol="0" anchor="t"/>
          <a:lstStyle/>
          <a:p>
            <a:pPr rtl="1" algn="ctr" indent="0" marL="0">
              <a:buNone/>
            </a:pPr>
            <a:r>
              <a:rPr lang="ar-LB" altLang="en-US" sz="1600" b="1" dirty="0">
                <a:solidFill>
                  <a:srgbClr val="2E9E5B"/>
                </a:solidFill>
              </a:rPr>
              <a:t>الخضراء</a:t>
            </a:r>
            <a:endParaRPr lang="ar-LB" sz="1600" dirty="0"/>
          </a:p>
        </p:txBody>
      </p:sp>
      <p:sp>
        <p:nvSpPr>
          <p:cNvPr id="5" name="Text 3"/>
          <p:cNvSpPr txBox="1"/>
          <p:nvPr/>
        </p:nvSpPr>
        <p:spPr>
          <a:xfrm>
            <a:off x="6035040" y="1417320"/>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3 + 3 + 3 + 3 = 4 × 3 = 12</a:t>
            </a:r>
            <a:endParaRPr lang="en-US" sz="1200" dirty="0"/>
          </a:p>
        </p:txBody>
      </p:sp>
      <p:sp>
        <p:nvSpPr>
          <p:cNvPr id="6" name="Text 4"/>
          <p:cNvSpPr txBox="1"/>
          <p:nvPr/>
        </p:nvSpPr>
        <p:spPr>
          <a:xfrm>
            <a:off x="6035040" y="1810512"/>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3 × 3 × 3 × 3 = 3</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 = 81</a:t>
            </a:r>
            <a:endParaRPr lang="en-US" sz="1200" dirty="0"/>
          </a:p>
        </p:txBody>
      </p:sp>
      <p:sp>
        <p:nvSpPr>
          <p:cNvPr id="7" name="Text 5"/>
          <p:cNvSpPr txBox="1"/>
          <p:nvPr/>
        </p:nvSpPr>
        <p:spPr>
          <a:xfrm>
            <a:off x="6035040" y="2203704"/>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5 × 5 × 5 = 5</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 = 125</a:t>
            </a:r>
            <a:endParaRPr lang="en-US" sz="1200" dirty="0"/>
          </a:p>
        </p:txBody>
      </p:sp>
      <p:sp>
        <p:nvSpPr>
          <p:cNvPr id="8" name="Text 6"/>
          <p:cNvSpPr txBox="1"/>
          <p:nvPr/>
        </p:nvSpPr>
        <p:spPr>
          <a:xfrm>
            <a:off x="6035040" y="2596896"/>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2 × 2 × 2 × 2 × 2 × 2 = 2</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 = 64</a:t>
            </a:r>
            <a:endParaRPr lang="en-US" sz="1200" dirty="0"/>
          </a:p>
        </p:txBody>
      </p:sp>
      <p:sp>
        <p:nvSpPr>
          <p:cNvPr id="9" name="Text 7"/>
          <p:cNvSpPr txBox="1"/>
          <p:nvPr/>
        </p:nvSpPr>
        <p:spPr>
          <a:xfrm>
            <a:off x="6035040" y="2990088"/>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10 × 10 = 10</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100</a:t>
            </a:r>
            <a:endParaRPr lang="en-US" sz="1200" dirty="0"/>
          </a:p>
        </p:txBody>
      </p:sp>
      <p:sp>
        <p:nvSpPr>
          <p:cNvPr id="10" name="Text 8"/>
          <p:cNvSpPr txBox="1"/>
          <p:nvPr/>
        </p:nvSpPr>
        <p:spPr>
          <a:xfrm>
            <a:off x="6035040" y="3383280"/>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(2</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2</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 = 16</a:t>
            </a:r>
            <a:endParaRPr lang="en-US" sz="1200" dirty="0"/>
          </a:p>
        </p:txBody>
      </p:sp>
      <p:sp>
        <p:nvSpPr>
          <p:cNvPr id="11" name="Text 9"/>
          <p:cNvSpPr txBox="1"/>
          <p:nvPr/>
        </p:nvSpPr>
        <p:spPr>
          <a:xfrm>
            <a:off x="6035040" y="3776472"/>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(3</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3</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 = 81</a:t>
            </a:r>
            <a:endParaRPr lang="en-US" sz="1200" dirty="0"/>
          </a:p>
        </p:txBody>
      </p:sp>
      <p:sp>
        <p:nvSpPr>
          <p:cNvPr id="12" name="Text 10"/>
          <p:cNvSpPr txBox="1"/>
          <p:nvPr/>
        </p:nvSpPr>
        <p:spPr>
          <a:xfrm>
            <a:off x="6035040" y="4169664"/>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(10</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10</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 = 1 000 000</a:t>
            </a:r>
            <a:endParaRPr lang="en-US" sz="1200" dirty="0"/>
          </a:p>
        </p:txBody>
      </p:sp>
      <p:sp>
        <p:nvSpPr>
          <p:cNvPr id="13" name="الزرقاء"/>
          <p:cNvSpPr/>
          <p:nvPr/>
        </p:nvSpPr>
        <p:spPr>
          <a:xfrm>
            <a:off x="3246120" y="960120"/>
            <a:ext cx="2606040" cy="3657600"/>
          </a:xfrm>
          <a:prstGeom prst="roundRect">
            <a:avLst>
              <a:gd name="adj" fmla="val 4211"/>
            </a:avLst>
          </a:prstGeom>
          <a:solidFill>
            <a:srgbClr val="2671B8">
              <a:alpha val="9000"/>
            </a:srgbClr>
          </a:solidFill>
          <a:ln w="12700">
            <a:solidFill>
              <a:srgbClr val="2671B8">
                <a:alpha val="60000"/>
              </a:srgbClr>
            </a:solidFill>
            <a:prstDash val="solid"/>
          </a:ln>
        </p:spPr>
      </p:sp>
      <p:sp>
        <p:nvSpPr>
          <p:cNvPr id="14" name="Text 12"/>
          <p:cNvSpPr txBox="1"/>
          <p:nvPr/>
        </p:nvSpPr>
        <p:spPr>
          <a:xfrm>
            <a:off x="3246120" y="1005840"/>
            <a:ext cx="2606040" cy="365760"/>
          </a:xfrm>
          <a:prstGeom prst="rect">
            <a:avLst/>
          </a:prstGeom>
          <a:noFill/>
          <a:ln/>
        </p:spPr>
        <p:txBody>
          <a:bodyPr wrap="square" lIns="0" tIns="0" rIns="0" bIns="0" rtlCol="0" anchor="t"/>
          <a:lstStyle/>
          <a:p>
            <a:pPr rtl="1" algn="ctr" indent="0" marL="0">
              <a:buNone/>
            </a:pPr>
            <a:r>
              <a:rPr lang="ar-LB" altLang="en-US" sz="1600" b="1" dirty="0">
                <a:solidFill>
                  <a:srgbClr val="2671B8"/>
                </a:solidFill>
              </a:rPr>
              <a:t>الزرقاء</a:t>
            </a:r>
            <a:endParaRPr lang="ar-LB" sz="1600" dirty="0"/>
          </a:p>
        </p:txBody>
      </p:sp>
      <p:sp>
        <p:nvSpPr>
          <p:cNvPr id="15" name="Text 13"/>
          <p:cNvSpPr txBox="1"/>
          <p:nvPr/>
        </p:nvSpPr>
        <p:spPr>
          <a:xfrm>
            <a:off x="3291840" y="1417320"/>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(2</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2</a:t>
            </a:r>
            <a:r>
              <a:rPr lang="en-US" sz="1200" b="1" baseline="30000" dirty="0">
                <a:solidFill>
                  <a:srgbClr val="1B262C"/>
                </a:solidFill>
                <a:latin typeface="Arial" pitchFamily="34" charset="0"/>
                <a:ea typeface="Arial" pitchFamily="34" charset="-122"/>
                <a:cs typeface="Arial" pitchFamily="34" charset="-120"/>
              </a:rPr>
              <a:t>8</a:t>
            </a:r>
            <a:r>
              <a:rPr lang="en-US" sz="1200" b="1" dirty="0">
                <a:solidFill>
                  <a:srgbClr val="1B262C"/>
                </a:solidFill>
                <a:latin typeface="Arial" pitchFamily="34" charset="0"/>
                <a:ea typeface="Arial" pitchFamily="34" charset="-122"/>
                <a:cs typeface="Arial" pitchFamily="34" charset="-120"/>
              </a:rPr>
              <a:t> = 256</a:t>
            </a:r>
            <a:endParaRPr lang="en-US" sz="1200" dirty="0"/>
          </a:p>
        </p:txBody>
      </p:sp>
      <p:sp>
        <p:nvSpPr>
          <p:cNvPr id="16" name="Text 14"/>
          <p:cNvSpPr txBox="1"/>
          <p:nvPr/>
        </p:nvSpPr>
        <p:spPr>
          <a:xfrm>
            <a:off x="3291840" y="1810512"/>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(10</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 = 10</a:t>
            </a:r>
            <a:r>
              <a:rPr lang="en-US" sz="1200" b="1" baseline="30000" dirty="0">
                <a:solidFill>
                  <a:srgbClr val="1B262C"/>
                </a:solidFill>
                <a:latin typeface="Arial" pitchFamily="34" charset="0"/>
                <a:ea typeface="Arial" pitchFamily="34" charset="-122"/>
                <a:cs typeface="Arial" pitchFamily="34" charset="-120"/>
              </a:rPr>
              <a:t>8</a:t>
            </a:r>
            <a:r>
              <a:rPr lang="en-US" sz="1200" b="1" dirty="0">
                <a:solidFill>
                  <a:srgbClr val="1B262C"/>
                </a:solidFill>
                <a:latin typeface="Arial" pitchFamily="34" charset="0"/>
                <a:ea typeface="Arial" pitchFamily="34" charset="-122"/>
                <a:cs typeface="Arial" pitchFamily="34" charset="-120"/>
              </a:rPr>
              <a:t> = 100 000 000</a:t>
            </a:r>
            <a:endParaRPr lang="en-US" sz="1200" dirty="0"/>
          </a:p>
        </p:txBody>
      </p:sp>
      <p:sp>
        <p:nvSpPr>
          <p:cNvPr id="17" name="Text 15"/>
          <p:cNvSpPr txBox="1"/>
          <p:nvPr/>
        </p:nvSpPr>
        <p:spPr>
          <a:xfrm>
            <a:off x="3291840" y="2203704"/>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(3</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3</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 = 729</a:t>
            </a:r>
            <a:endParaRPr lang="en-US" sz="1200" dirty="0"/>
          </a:p>
        </p:txBody>
      </p:sp>
      <p:sp>
        <p:nvSpPr>
          <p:cNvPr id="18" name="Text 16"/>
          <p:cNvSpPr txBox="1"/>
          <p:nvPr/>
        </p:nvSpPr>
        <p:spPr>
          <a:xfrm>
            <a:off x="3291840" y="2596896"/>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(4</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 = 4</a:t>
            </a:r>
            <a:r>
              <a:rPr lang="en-US" sz="1200" b="1" baseline="30000" dirty="0">
                <a:solidFill>
                  <a:srgbClr val="1B262C"/>
                </a:solidFill>
                <a:latin typeface="Arial" pitchFamily="34" charset="0"/>
                <a:ea typeface="Arial" pitchFamily="34" charset="-122"/>
                <a:cs typeface="Arial" pitchFamily="34" charset="-120"/>
              </a:rPr>
              <a:t>5</a:t>
            </a:r>
            <a:r>
              <a:rPr lang="en-US" sz="1200" b="1" dirty="0">
                <a:solidFill>
                  <a:srgbClr val="1B262C"/>
                </a:solidFill>
                <a:latin typeface="Arial" pitchFamily="34" charset="0"/>
                <a:ea typeface="Arial" pitchFamily="34" charset="-122"/>
                <a:cs typeface="Arial" pitchFamily="34" charset="-120"/>
              </a:rPr>
              <a:t>  ✗ → 4</a:t>
            </a:r>
            <a:r>
              <a:rPr lang="en-US" sz="1200" b="1" baseline="30000" dirty="0">
                <a:solidFill>
                  <a:srgbClr val="1B262C"/>
                </a:solidFill>
                <a:latin typeface="Arial" pitchFamily="34" charset="0"/>
                <a:ea typeface="Arial" pitchFamily="34" charset="-122"/>
                <a:cs typeface="Arial" pitchFamily="34" charset="-120"/>
              </a:rPr>
              <a:t>6</a:t>
            </a:r>
            <a:endParaRPr lang="en-US" sz="1200" dirty="0"/>
          </a:p>
        </p:txBody>
      </p:sp>
      <p:sp>
        <p:nvSpPr>
          <p:cNvPr id="19" name="Text 17"/>
          <p:cNvSpPr txBox="1"/>
          <p:nvPr/>
        </p:nvSpPr>
        <p:spPr>
          <a:xfrm>
            <a:off x="3291840" y="2990088"/>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6</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12  ✗ → 36</a:t>
            </a:r>
            <a:endParaRPr lang="en-US" sz="1200" dirty="0"/>
          </a:p>
        </p:txBody>
      </p:sp>
      <p:sp>
        <p:nvSpPr>
          <p:cNvPr id="20" name="Text 18"/>
          <p:cNvSpPr txBox="1"/>
          <p:nvPr/>
        </p:nvSpPr>
        <p:spPr>
          <a:xfrm>
            <a:off x="3291840" y="3383280"/>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(a</a:t>
            </a:r>
            <a:r>
              <a:rPr lang="en-US" sz="1200" b="1" baseline="30000" dirty="0">
                <a:solidFill>
                  <a:srgbClr val="1B262C"/>
                </a:solidFill>
                <a:latin typeface="Arial" pitchFamily="34" charset="0"/>
                <a:ea typeface="Arial" pitchFamily="34" charset="-122"/>
                <a:cs typeface="Arial" pitchFamily="34" charset="-120"/>
              </a:rPr>
              <a:t>5</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a</a:t>
            </a:r>
            <a:r>
              <a:rPr lang="en-US" sz="1200" b="1" baseline="30000" dirty="0">
                <a:solidFill>
                  <a:srgbClr val="1B262C"/>
                </a:solidFill>
                <a:latin typeface="Arial" pitchFamily="34" charset="0"/>
                <a:ea typeface="Arial" pitchFamily="34" charset="-122"/>
                <a:cs typeface="Arial" pitchFamily="34" charset="-120"/>
              </a:rPr>
              <a:t>10</a:t>
            </a:r>
            <a:r>
              <a:rPr lang="en-US" sz="1200" b="1" dirty="0">
                <a:solidFill>
                  <a:srgbClr val="1B262C"/>
                </a:solidFill>
                <a:latin typeface="Arial" pitchFamily="34" charset="0"/>
                <a:ea typeface="Arial" pitchFamily="34" charset="-122"/>
                <a:cs typeface="Arial" pitchFamily="34" charset="-120"/>
              </a:rPr>
              <a:t>  ✓</a:t>
            </a:r>
            <a:endParaRPr lang="en-US" sz="1200" dirty="0"/>
          </a:p>
        </p:txBody>
      </p:sp>
      <p:sp>
        <p:nvSpPr>
          <p:cNvPr id="21" name="Text 19"/>
          <p:cNvSpPr txBox="1"/>
          <p:nvPr/>
        </p:nvSpPr>
        <p:spPr>
          <a:xfrm>
            <a:off x="3291840" y="3776472"/>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(10</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10</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 = 10 000 m</a:t>
            </a:r>
            <a:r>
              <a:rPr lang="en-US" sz="1200" b="1" baseline="30000" dirty="0">
                <a:solidFill>
                  <a:srgbClr val="1B262C"/>
                </a:solidFill>
                <a:latin typeface="Arial" pitchFamily="34" charset="0"/>
                <a:ea typeface="Arial" pitchFamily="34" charset="-122"/>
                <a:cs typeface="Arial" pitchFamily="34" charset="-120"/>
              </a:rPr>
              <a:t>2</a:t>
            </a:r>
            <a:endParaRPr lang="en-US" sz="1200" dirty="0"/>
          </a:p>
        </p:txBody>
      </p:sp>
      <p:sp>
        <p:nvSpPr>
          <p:cNvPr id="22" name="البنفسجية"/>
          <p:cNvSpPr/>
          <p:nvPr/>
        </p:nvSpPr>
        <p:spPr>
          <a:xfrm>
            <a:off x="502920" y="960120"/>
            <a:ext cx="2606040" cy="3657600"/>
          </a:xfrm>
          <a:prstGeom prst="roundRect">
            <a:avLst>
              <a:gd name="adj" fmla="val 4211"/>
            </a:avLst>
          </a:prstGeom>
          <a:solidFill>
            <a:srgbClr val="7B3FA0">
              <a:alpha val="9000"/>
            </a:srgbClr>
          </a:solidFill>
          <a:ln w="12700">
            <a:solidFill>
              <a:srgbClr val="7B3FA0">
                <a:alpha val="60000"/>
              </a:srgbClr>
            </a:solidFill>
            <a:prstDash val="solid"/>
          </a:ln>
        </p:spPr>
      </p:sp>
      <p:sp>
        <p:nvSpPr>
          <p:cNvPr id="23" name="Text 21"/>
          <p:cNvSpPr txBox="1"/>
          <p:nvPr/>
        </p:nvSpPr>
        <p:spPr>
          <a:xfrm>
            <a:off x="502920" y="1005840"/>
            <a:ext cx="2606040" cy="365760"/>
          </a:xfrm>
          <a:prstGeom prst="rect">
            <a:avLst/>
          </a:prstGeom>
          <a:noFill/>
          <a:ln/>
        </p:spPr>
        <p:txBody>
          <a:bodyPr wrap="square" lIns="0" tIns="0" rIns="0" bIns="0" rtlCol="0" anchor="t"/>
          <a:lstStyle/>
          <a:p>
            <a:pPr rtl="1" algn="ctr" indent="0" marL="0">
              <a:buNone/>
            </a:pPr>
            <a:r>
              <a:rPr lang="ar-LB" altLang="en-US" sz="1600" b="1" dirty="0">
                <a:solidFill>
                  <a:srgbClr val="7B3FA0"/>
                </a:solidFill>
              </a:rPr>
              <a:t>البنفسجية</a:t>
            </a:r>
            <a:endParaRPr lang="ar-LB" sz="1600" dirty="0"/>
          </a:p>
        </p:txBody>
      </p:sp>
      <p:sp>
        <p:nvSpPr>
          <p:cNvPr id="24" name="Text 22"/>
          <p:cNvSpPr txBox="1"/>
          <p:nvPr/>
        </p:nvSpPr>
        <p:spPr>
          <a:xfrm>
            <a:off x="548640" y="1417320"/>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(2</a:t>
            </a:r>
            <a:r>
              <a:rPr lang="en-US" sz="1200" b="1" baseline="30000" dirty="0">
                <a:solidFill>
                  <a:srgbClr val="1B262C"/>
                </a:solidFill>
                <a:latin typeface="Arial" pitchFamily="34" charset="0"/>
                <a:ea typeface="Arial" pitchFamily="34" charset="-122"/>
                <a:cs typeface="Arial" pitchFamily="34" charset="-120"/>
              </a:rPr>
              <a:t>5</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 = 2</a:t>
            </a:r>
            <a:r>
              <a:rPr lang="en-US" sz="1200" b="1" baseline="30000" dirty="0">
                <a:solidFill>
                  <a:srgbClr val="1B262C"/>
                </a:solidFill>
                <a:latin typeface="Arial" pitchFamily="34" charset="0"/>
                <a:ea typeface="Arial" pitchFamily="34" charset="-122"/>
                <a:cs typeface="Arial" pitchFamily="34" charset="-120"/>
              </a:rPr>
              <a:t>15</a:t>
            </a:r>
            <a:endParaRPr lang="en-US" sz="1200" dirty="0"/>
          </a:p>
        </p:txBody>
      </p:sp>
      <p:sp>
        <p:nvSpPr>
          <p:cNvPr id="25" name="Text 23"/>
          <p:cNvSpPr txBox="1"/>
          <p:nvPr/>
        </p:nvSpPr>
        <p:spPr>
          <a:xfrm>
            <a:off x="548640" y="1810512"/>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(3</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81</a:t>
            </a:r>
            <a:endParaRPr lang="en-US" sz="1200" dirty="0"/>
          </a:p>
        </p:txBody>
      </p:sp>
      <p:sp>
        <p:nvSpPr>
          <p:cNvPr id="26" name="Text 24"/>
          <p:cNvSpPr txBox="1"/>
          <p:nvPr/>
        </p:nvSpPr>
        <p:spPr>
          <a:xfrm>
            <a:off x="548640" y="2203704"/>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(x</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 , (x</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 , (x</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 , (x</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3</a:t>
            </a:r>
            <a:endParaRPr lang="en-US" sz="1200" dirty="0"/>
          </a:p>
        </p:txBody>
      </p:sp>
      <p:sp>
        <p:nvSpPr>
          <p:cNvPr id="27" name="Text 25"/>
          <p:cNvSpPr txBox="1"/>
          <p:nvPr/>
        </p:nvSpPr>
        <p:spPr>
          <a:xfrm>
            <a:off x="548640" y="2596896"/>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(2</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4</a:t>
            </a:r>
            <a:r>
              <a:rPr lang="en-US" sz="1200" b="1" dirty="0">
                <a:solidFill>
                  <a:srgbClr val="1B262C"/>
                </a:solidFill>
                <a:latin typeface="Arial" pitchFamily="34" charset="0"/>
                <a:ea typeface="Arial" pitchFamily="34" charset="-122"/>
                <a:cs typeface="Arial" pitchFamily="34" charset="-120"/>
              </a:rPr>
              <a:t> = 2</a:t>
            </a:r>
            <a:r>
              <a:rPr lang="en-US" sz="1200" b="1" baseline="30000" dirty="0">
                <a:solidFill>
                  <a:srgbClr val="1B262C"/>
                </a:solidFill>
                <a:latin typeface="Arial" pitchFamily="34" charset="0"/>
                <a:ea typeface="Arial" pitchFamily="34" charset="-122"/>
                <a:cs typeface="Arial" pitchFamily="34" charset="-120"/>
              </a:rPr>
              <a:t>12</a:t>
            </a:r>
            <a:r>
              <a:rPr lang="en-US" sz="1200" b="1" dirty="0">
                <a:solidFill>
                  <a:srgbClr val="1B262C"/>
                </a:solidFill>
                <a:latin typeface="Arial" pitchFamily="34" charset="0"/>
                <a:ea typeface="Arial" pitchFamily="34" charset="-122"/>
                <a:cs typeface="Arial" pitchFamily="34" charset="-120"/>
              </a:rPr>
              <a:t> , (4</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 = 4</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 = 2</a:t>
            </a:r>
            <a:r>
              <a:rPr lang="en-US" sz="1200" b="1" baseline="30000" dirty="0">
                <a:solidFill>
                  <a:srgbClr val="1B262C"/>
                </a:solidFill>
                <a:latin typeface="Arial" pitchFamily="34" charset="0"/>
                <a:ea typeface="Arial" pitchFamily="34" charset="-122"/>
                <a:cs typeface="Arial" pitchFamily="34" charset="-120"/>
              </a:rPr>
              <a:t>12</a:t>
            </a:r>
            <a:endParaRPr lang="en-US" sz="1200" dirty="0"/>
          </a:p>
        </p:txBody>
      </p:sp>
      <p:sp>
        <p:nvSpPr>
          <p:cNvPr id="28" name="Text 26"/>
          <p:cNvSpPr txBox="1"/>
          <p:nvPr/>
        </p:nvSpPr>
        <p:spPr>
          <a:xfrm>
            <a:off x="594360" y="2990088"/>
            <a:ext cx="2423160" cy="365760"/>
          </a:xfrm>
          <a:prstGeom prst="rect">
            <a:avLst/>
          </a:prstGeom>
          <a:noFill/>
          <a:ln/>
        </p:spPr>
        <p:txBody>
          <a:bodyPr wrap="square" lIns="0" tIns="0" rIns="0" bIns="0" rtlCol="0" anchor="ctr"/>
          <a:lstStyle/>
          <a:p>
            <a:pPr rtl="1" algn="ctr" indent="0" marL="0">
              <a:buNone/>
            </a:pPr>
            <a:r>
              <a:rPr lang="ar-LB" altLang="en-US" sz="1200" dirty="0">
                <a:solidFill>
                  <a:srgbClr val="1B262C"/>
                </a:solidFill>
              </a:rPr>
              <a:t>إذن متساويتان</a:t>
            </a:r>
            <a:endParaRPr lang="ar-LB" sz="1200" dirty="0"/>
          </a:p>
        </p:txBody>
      </p:sp>
      <p:sp>
        <p:nvSpPr>
          <p:cNvPr id="29" name="Text 27"/>
          <p:cNvSpPr txBox="1"/>
          <p:nvPr/>
        </p:nvSpPr>
        <p:spPr>
          <a:xfrm>
            <a:off x="548640" y="3383280"/>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(3</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 = 3</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 = 729</a:t>
            </a:r>
            <a:endParaRPr lang="en-US" sz="1200" dirty="0"/>
          </a:p>
        </p:txBody>
      </p:sp>
      <p:sp>
        <p:nvSpPr>
          <p:cNvPr id="30" name="Text 28"/>
          <p:cNvSpPr txBox="1"/>
          <p:nvPr/>
        </p:nvSpPr>
        <p:spPr>
          <a:xfrm>
            <a:off x="548640" y="3776472"/>
            <a:ext cx="2514600" cy="365760"/>
          </a:xfrm>
          <a:prstGeom prst="rect">
            <a:avLst/>
          </a:prstGeom>
          <a:noFill/>
          <a:ln/>
        </p:spPr>
        <p:txBody>
          <a:bodyPr wrap="square" lIns="0" tIns="0" rIns="0" bIns="0" rtlCol="0" anchor="ctr"/>
          <a:lstStyle/>
          <a:p>
            <a:pPr rtl="0" algn="ctr" indent="0" marL="0">
              <a:buNone/>
            </a:pPr>
            <a:r>
              <a:rPr lang="en-US" sz="1200" b="1" dirty="0">
                <a:solidFill>
                  <a:srgbClr val="1B262C"/>
                </a:solidFill>
                <a:latin typeface="Arial" pitchFamily="34" charset="0"/>
                <a:ea typeface="Arial" pitchFamily="34" charset="-122"/>
                <a:cs typeface="Arial" pitchFamily="34" charset="-120"/>
              </a:rPr>
              <a:t>(2</a:t>
            </a:r>
            <a:r>
              <a:rPr lang="en-US" sz="1200" b="1" baseline="30000" dirty="0">
                <a:solidFill>
                  <a:srgbClr val="1B262C"/>
                </a:solidFill>
                <a:latin typeface="Arial" pitchFamily="34" charset="0"/>
                <a:ea typeface="Arial" pitchFamily="34" charset="-122"/>
                <a:cs typeface="Arial" pitchFamily="34" charset="-120"/>
              </a:rPr>
              <a:t>2</a:t>
            </a:r>
            <a:r>
              <a:rPr lang="en-US" sz="1200" b="1" dirty="0">
                <a:solidFill>
                  <a:srgbClr val="1B262C"/>
                </a:solidFill>
                <a:latin typeface="Arial" pitchFamily="34" charset="0"/>
                <a:ea typeface="Arial" pitchFamily="34" charset="-122"/>
                <a:cs typeface="Arial" pitchFamily="34" charset="-120"/>
              </a:rPr>
              <a:t>)</a:t>
            </a:r>
            <a:r>
              <a:rPr lang="en-US" sz="1200" b="1" baseline="30000" dirty="0">
                <a:solidFill>
                  <a:srgbClr val="1B262C"/>
                </a:solidFill>
                <a:latin typeface="Arial" pitchFamily="34" charset="0"/>
                <a:ea typeface="Arial" pitchFamily="34" charset="-122"/>
                <a:cs typeface="Arial" pitchFamily="34" charset="-120"/>
              </a:rPr>
              <a:t>3</a:t>
            </a:r>
            <a:r>
              <a:rPr lang="en-US" sz="1200" b="1" dirty="0">
                <a:solidFill>
                  <a:srgbClr val="1B262C"/>
                </a:solidFill>
                <a:latin typeface="Arial" pitchFamily="34" charset="0"/>
                <a:ea typeface="Arial" pitchFamily="34" charset="-122"/>
                <a:cs typeface="Arial" pitchFamily="34" charset="-120"/>
              </a:rPr>
              <a:t> = 2</a:t>
            </a:r>
            <a:r>
              <a:rPr lang="en-US" sz="1200" b="1" baseline="30000" dirty="0">
                <a:solidFill>
                  <a:srgbClr val="1B262C"/>
                </a:solidFill>
                <a:latin typeface="Arial" pitchFamily="34" charset="0"/>
                <a:ea typeface="Arial" pitchFamily="34" charset="-122"/>
                <a:cs typeface="Arial" pitchFamily="34" charset="-120"/>
              </a:rPr>
              <a:t>6</a:t>
            </a:r>
            <a:r>
              <a:rPr lang="en-US" sz="1200" b="1" dirty="0">
                <a:solidFill>
                  <a:srgbClr val="1B262C"/>
                </a:solidFill>
                <a:latin typeface="Arial" pitchFamily="34" charset="0"/>
                <a:ea typeface="Arial" pitchFamily="34" charset="-122"/>
                <a:cs typeface="Arial" pitchFamily="34" charset="-120"/>
              </a:rPr>
              <a:t> = 64 cm</a:t>
            </a:r>
            <a:r>
              <a:rPr lang="en-US" sz="1200" b="1" baseline="30000" dirty="0">
                <a:solidFill>
                  <a:srgbClr val="1B262C"/>
                </a:solidFill>
                <a:latin typeface="Arial" pitchFamily="34" charset="0"/>
                <a:ea typeface="Arial" pitchFamily="34" charset="-122"/>
                <a:cs typeface="Arial" pitchFamily="34" charset="-120"/>
              </a:rPr>
              <a:t>3</a:t>
            </a:r>
            <a:endParaRPr lang="en-US" sz="12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6949440" y="1417320"/>
            <a:ext cx="1828800" cy="1828800"/>
          </a:xfrm>
          <a:prstGeom prst="ellipse">
            <a:avLst/>
          </a:prstGeom>
          <a:solidFill>
            <a:srgbClr val="E36414"/>
          </a:solidFill>
          <a:ln w="12700">
            <a:solidFill>
              <a:srgbClr val="E36414"/>
            </a:solidFill>
            <a:prstDash val="solid"/>
          </a:ln>
        </p:spPr>
      </p:sp>
      <p:pic>
        <p:nvPicPr>
          <p:cNvPr id="3" name="Image 0" descr="preencoded.png">    </p:cNvPr>
          <p:cNvPicPr>
            <a:picLocks noChangeAspect="1"/>
          </p:cNvPicPr>
          <p:nvPr/>
        </p:nvPicPr>
        <p:blipFill>
          <a:blip r:embed="rId1"/>
          <a:stretch>
            <a:fillRect/>
          </a:stretch>
        </p:blipFill>
        <p:spPr>
          <a:xfrm>
            <a:off x="7452360" y="1920240"/>
            <a:ext cx="822960" cy="822960"/>
          </a:xfrm>
          <a:prstGeom prst="rect">
            <a:avLst/>
          </a:prstGeom>
        </p:spPr>
      </p:pic>
      <p:sp>
        <p:nvSpPr>
          <p:cNvPr id="4" name="Text 1"/>
          <p:cNvSpPr txBox="1"/>
          <p:nvPr/>
        </p:nvSpPr>
        <p:spPr>
          <a:xfrm>
            <a:off x="548640" y="1371600"/>
            <a:ext cx="6035040" cy="411480"/>
          </a:xfrm>
          <a:prstGeom prst="rect">
            <a:avLst/>
          </a:prstGeom>
          <a:noFill/>
          <a:ln/>
        </p:spPr>
        <p:txBody>
          <a:bodyPr wrap="square" lIns="0" tIns="0" rIns="0" bIns="0" rtlCol="0" anchor="t"/>
          <a:lstStyle/>
          <a:p>
            <a:pPr rtl="1" algn="r" indent="0" marL="0">
              <a:buNone/>
            </a:pPr>
            <a:r>
              <a:rPr lang="ar-LB" altLang="en-US" sz="1800" b="1" dirty="0">
                <a:solidFill>
                  <a:srgbClr val="E9A23B"/>
                </a:solidFill>
              </a:rPr>
              <a:t>المرحلة 6</a:t>
            </a:r>
            <a:endParaRPr lang="ar-LB" sz="1800" dirty="0"/>
          </a:p>
        </p:txBody>
      </p:sp>
      <p:sp>
        <p:nvSpPr>
          <p:cNvPr id="5" name="Text 0"/>
          <p:cNvSpPr/>
          <p:nvPr>
            <p:ph idx="100" type="title" hasCustomPrompt="1"/>
          </p:nvPr>
        </p:nvSpPr>
        <p:spPr>
          <a:xfrm>
            <a:off x="548640" y="1828800"/>
            <a:ext cx="6035040" cy="822960"/>
          </a:xfrm>
          <a:prstGeom prst="rect">
            <a:avLst/>
          </a:prstGeom>
          <a:noFill/>
          <a:ln/>
        </p:spPr>
        <p:txBody>
          <a:bodyPr wrap="square" rtlCol="0"/>
          <a:lstStyle/>
          <a:p>
            <a:pPr rtl="1" algn="r" indent="0" marL="0">
              <a:buNone/>
            </a:pPr>
            <a:r>
              <a:rPr lang="en-US" sz="4000" b="1" dirty="0">
                <a:solidFill>
                  <a:srgbClr val="FFFFFF"/>
                </a:solidFill>
              </a:rPr>
              <a:t>التقييم وتناقل المعرفة</a:t>
            </a:r>
            <a:endParaRPr lang="en-US" sz="4000" dirty="0"/>
          </a:p>
        </p:txBody>
      </p:sp>
      <p:sp>
        <p:nvSpPr>
          <p:cNvPr id="6" name="Text 0"/>
          <p:cNvSpPr/>
          <p:nvPr>
            <p:ph idx="101" type="body" hasCustomPrompt="1"/>
          </p:nvPr>
        </p:nvSpPr>
        <p:spPr>
          <a:xfrm>
            <a:off x="548640" y="2697480"/>
            <a:ext cx="6035040" cy="822960"/>
          </a:xfrm>
          <a:prstGeom prst="rect">
            <a:avLst/>
          </a:prstGeom>
          <a:noFill/>
          <a:ln/>
        </p:spPr>
        <p:txBody>
          <a:bodyPr wrap="square" rtlCol="0" anchor="t"/>
          <a:lstStyle/>
          <a:p>
            <a:pPr rtl="1" algn="r" indent="0" marL="0">
              <a:buNone/>
            </a:pPr>
            <a:r>
              <a:rPr lang="en-US" sz="1800" dirty="0">
                <a:solidFill>
                  <a:srgbClr val="CFE3E6"/>
                </a:solidFill>
              </a:rPr>
              <a:t>استراتيجية: «اسأل ثلاثة قبل المعلم» + تقييم الأقران  •  8 دقائق</a:t>
            </a:r>
            <a:endParaRPr lang="en-US" sz="1800" dirty="0"/>
          </a:p>
          <a:p>
            <a:pPr rtl="1" algn="r" indent="0" marL="0">
              <a:buNone/>
            </a:pPr>
            <a:r>
              <a:rPr lang="en-US" sz="1800" dirty="0">
                <a:solidFill>
                  <a:srgbClr val="CFE3E6"/>
                </a:solidFill>
              </a:rPr>
              <a:t>بطاقة التقييم (بطاقة الخروج) لكل طالب</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تناقل المعرفة: اسأل ثلاثة قبل المعلم</a:t>
            </a:r>
            <a:endParaRPr lang="en-US" sz="3000" dirty="0"/>
          </a:p>
        </p:txBody>
      </p:sp>
      <p:sp>
        <p:nvSpPr>
          <p:cNvPr id="3" name="أحلّ وحدي"/>
          <p:cNvSpPr/>
          <p:nvPr/>
        </p:nvSpPr>
        <p:spPr>
          <a:xfrm>
            <a:off x="6629400" y="1005840"/>
            <a:ext cx="1920240" cy="2743200"/>
          </a:xfrm>
          <a:prstGeom prst="roundRect">
            <a:avLst>
              <a:gd name="adj" fmla="val 5714"/>
            </a:avLst>
          </a:prstGeom>
          <a:solidFill>
            <a:srgbClr val="0F8B8D">
              <a:alpha val="10000"/>
            </a:srgbClr>
          </a:solidFill>
          <a:ln w="12700">
            <a:solidFill>
              <a:srgbClr val="0F8B8D">
                <a:alpha val="60000"/>
              </a:srgbClr>
            </a:solidFill>
            <a:prstDash val="solid"/>
          </a:ln>
        </p:spPr>
      </p:sp>
      <p:sp>
        <p:nvSpPr>
          <p:cNvPr id="4" name="Shape 2"/>
          <p:cNvSpPr/>
          <p:nvPr/>
        </p:nvSpPr>
        <p:spPr>
          <a:xfrm>
            <a:off x="7269480" y="1143000"/>
            <a:ext cx="640080" cy="64008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7423099" y="1296619"/>
            <a:ext cx="332842" cy="332842"/>
          </a:xfrm>
          <a:prstGeom prst="rect">
            <a:avLst/>
          </a:prstGeom>
        </p:spPr>
      </p:pic>
      <p:sp>
        <p:nvSpPr>
          <p:cNvPr id="6" name="Text 3"/>
          <p:cNvSpPr txBox="1"/>
          <p:nvPr/>
        </p:nvSpPr>
        <p:spPr>
          <a:xfrm>
            <a:off x="6720840" y="1874520"/>
            <a:ext cx="1737360" cy="365760"/>
          </a:xfrm>
          <a:prstGeom prst="rect">
            <a:avLst/>
          </a:prstGeom>
          <a:noFill/>
          <a:ln/>
        </p:spPr>
        <p:txBody>
          <a:bodyPr wrap="square" lIns="0" tIns="0" rIns="0" bIns="0" rtlCol="0" anchor="t"/>
          <a:lstStyle/>
          <a:p>
            <a:pPr rtl="1" algn="ctr" indent="0" marL="0">
              <a:buNone/>
            </a:pPr>
            <a:r>
              <a:rPr lang="ar-LB" altLang="en-US" sz="1600" b="1" dirty="0">
                <a:solidFill>
                  <a:srgbClr val="0F4C5C"/>
                </a:solidFill>
              </a:rPr>
              <a:t>1. أحلّ وحدي</a:t>
            </a:r>
            <a:endParaRPr lang="ar-LB" sz="1600" dirty="0"/>
          </a:p>
        </p:txBody>
      </p:sp>
      <p:sp>
        <p:nvSpPr>
          <p:cNvPr id="7" name="Text 4"/>
          <p:cNvSpPr txBox="1"/>
          <p:nvPr/>
        </p:nvSpPr>
        <p:spPr>
          <a:xfrm>
            <a:off x="6739128" y="2286000"/>
            <a:ext cx="1700784" cy="1371600"/>
          </a:xfrm>
          <a:prstGeom prst="rect">
            <a:avLst/>
          </a:prstGeom>
          <a:noFill/>
          <a:ln/>
        </p:spPr>
        <p:txBody>
          <a:bodyPr wrap="square" lIns="0" tIns="0" rIns="0" bIns="0" rtlCol="0" anchor="t"/>
          <a:lstStyle/>
          <a:p>
            <a:pPr rtl="1" algn="ctr" indent="0" marL="0">
              <a:buNone/>
            </a:pPr>
            <a:r>
              <a:rPr lang="ar-LB" altLang="en-US" sz="1300" dirty="0">
                <a:solidFill>
                  <a:srgbClr val="1B262C"/>
                </a:solidFill>
              </a:rPr>
              <a:t>أحلّ بطاقة التقييم دون مساعدة (4 دقائق).</a:t>
            </a:r>
            <a:endParaRPr lang="ar-LB" sz="1300" dirty="0"/>
          </a:p>
        </p:txBody>
      </p:sp>
      <p:sp>
        <p:nvSpPr>
          <p:cNvPr id="8" name="Shape 5"/>
          <p:cNvSpPr/>
          <p:nvPr/>
        </p:nvSpPr>
        <p:spPr>
          <a:xfrm flipH="1">
            <a:off x="6501384" y="2377440"/>
            <a:ext cx="109728" cy="0"/>
          </a:xfrm>
          <a:prstGeom prst="line">
            <a:avLst/>
          </a:prstGeom>
          <a:noFill/>
          <a:ln w="25400">
            <a:solidFill>
              <a:srgbClr val="5B6770"/>
            </a:solidFill>
            <a:prstDash val="solid"/>
            <a:tailEnd type="triangle"/>
          </a:ln>
        </p:spPr>
      </p:sp>
      <p:sp>
        <p:nvSpPr>
          <p:cNvPr id="9" name="أبادل ورقتي"/>
          <p:cNvSpPr/>
          <p:nvPr/>
        </p:nvSpPr>
        <p:spPr>
          <a:xfrm>
            <a:off x="4572000" y="1005840"/>
            <a:ext cx="1920240" cy="2743200"/>
          </a:xfrm>
          <a:prstGeom prst="roundRect">
            <a:avLst>
              <a:gd name="adj" fmla="val 5714"/>
            </a:avLst>
          </a:prstGeom>
          <a:solidFill>
            <a:srgbClr val="0F8B8D">
              <a:alpha val="10000"/>
            </a:srgbClr>
          </a:solidFill>
          <a:ln w="12700">
            <a:solidFill>
              <a:srgbClr val="0F8B8D">
                <a:alpha val="60000"/>
              </a:srgbClr>
            </a:solidFill>
            <a:prstDash val="solid"/>
          </a:ln>
        </p:spPr>
      </p:sp>
      <p:sp>
        <p:nvSpPr>
          <p:cNvPr id="10" name="Shape 7"/>
          <p:cNvSpPr/>
          <p:nvPr/>
        </p:nvSpPr>
        <p:spPr>
          <a:xfrm>
            <a:off x="5212080" y="1143000"/>
            <a:ext cx="640080" cy="640080"/>
          </a:xfrm>
          <a:prstGeom prst="ellipse">
            <a:avLst/>
          </a:prstGeom>
          <a:solidFill>
            <a:srgbClr val="0F8B8D"/>
          </a:solidFill>
          <a:ln w="12700">
            <a:solidFill>
              <a:srgbClr val="0F8B8D"/>
            </a:solidFill>
            <a:prstDash val="solid"/>
          </a:ln>
        </p:spPr>
      </p:sp>
      <p:pic>
        <p:nvPicPr>
          <p:cNvPr id="11" name="Image 1" descr="preencoded.png">    </p:cNvPr>
          <p:cNvPicPr>
            <a:picLocks noChangeAspect="1"/>
          </p:cNvPicPr>
          <p:nvPr/>
        </p:nvPicPr>
        <p:blipFill>
          <a:blip r:embed="rId2"/>
          <a:stretch>
            <a:fillRect/>
          </a:stretch>
        </p:blipFill>
        <p:spPr>
          <a:xfrm>
            <a:off x="5365699" y="1296619"/>
            <a:ext cx="332842" cy="332842"/>
          </a:xfrm>
          <a:prstGeom prst="rect">
            <a:avLst/>
          </a:prstGeom>
        </p:spPr>
      </p:pic>
      <p:sp>
        <p:nvSpPr>
          <p:cNvPr id="12" name="Text 8"/>
          <p:cNvSpPr txBox="1"/>
          <p:nvPr/>
        </p:nvSpPr>
        <p:spPr>
          <a:xfrm>
            <a:off x="4663440" y="1874520"/>
            <a:ext cx="1737360" cy="365760"/>
          </a:xfrm>
          <a:prstGeom prst="rect">
            <a:avLst/>
          </a:prstGeom>
          <a:noFill/>
          <a:ln/>
        </p:spPr>
        <p:txBody>
          <a:bodyPr wrap="square" lIns="0" tIns="0" rIns="0" bIns="0" rtlCol="0" anchor="t"/>
          <a:lstStyle/>
          <a:p>
            <a:pPr rtl="1" algn="ctr" indent="0" marL="0">
              <a:buNone/>
            </a:pPr>
            <a:r>
              <a:rPr lang="ar-LB" altLang="en-US" sz="1600" b="1" dirty="0">
                <a:solidFill>
                  <a:srgbClr val="0F4C5C"/>
                </a:solidFill>
              </a:rPr>
              <a:t>2. أبادل ورقتي</a:t>
            </a:r>
            <a:endParaRPr lang="ar-LB" sz="1600" dirty="0"/>
          </a:p>
        </p:txBody>
      </p:sp>
      <p:sp>
        <p:nvSpPr>
          <p:cNvPr id="13" name="Text 9"/>
          <p:cNvSpPr txBox="1"/>
          <p:nvPr/>
        </p:nvSpPr>
        <p:spPr>
          <a:xfrm>
            <a:off x="4681728" y="2286000"/>
            <a:ext cx="1700784" cy="1371600"/>
          </a:xfrm>
          <a:prstGeom prst="rect">
            <a:avLst/>
          </a:prstGeom>
          <a:noFill/>
          <a:ln/>
        </p:spPr>
        <p:txBody>
          <a:bodyPr wrap="square" lIns="0" tIns="0" rIns="0" bIns="0" rtlCol="0" anchor="t"/>
          <a:lstStyle/>
          <a:p>
            <a:pPr rtl="1" algn="ctr" indent="0" marL="0">
              <a:buNone/>
            </a:pPr>
            <a:r>
              <a:rPr lang="ar-LB" altLang="en-US" sz="1300" dirty="0">
                <a:solidFill>
                  <a:srgbClr val="1B262C"/>
                </a:solidFill>
              </a:rPr>
              <a:t>أتبادل الورقة مع زميلي، فيضع ✓ أو ؟ بجانب كل إجابة.</a:t>
            </a:r>
            <a:endParaRPr lang="ar-LB" sz="1300" dirty="0"/>
          </a:p>
        </p:txBody>
      </p:sp>
      <p:sp>
        <p:nvSpPr>
          <p:cNvPr id="14" name="Shape 10"/>
          <p:cNvSpPr/>
          <p:nvPr/>
        </p:nvSpPr>
        <p:spPr>
          <a:xfrm flipH="1">
            <a:off x="4443984" y="2377440"/>
            <a:ext cx="109728" cy="0"/>
          </a:xfrm>
          <a:prstGeom prst="line">
            <a:avLst/>
          </a:prstGeom>
          <a:noFill/>
          <a:ln w="25400">
            <a:solidFill>
              <a:srgbClr val="5B6770"/>
            </a:solidFill>
            <a:prstDash val="solid"/>
            <a:tailEnd type="triangle"/>
          </a:ln>
        </p:spPr>
      </p:sp>
      <p:sp>
        <p:nvSpPr>
          <p:cNvPr id="15" name="نشرح ونتحقّق"/>
          <p:cNvSpPr/>
          <p:nvPr/>
        </p:nvSpPr>
        <p:spPr>
          <a:xfrm>
            <a:off x="2514600" y="1005840"/>
            <a:ext cx="1920240" cy="2743200"/>
          </a:xfrm>
          <a:prstGeom prst="roundRect">
            <a:avLst>
              <a:gd name="adj" fmla="val 5714"/>
            </a:avLst>
          </a:prstGeom>
          <a:solidFill>
            <a:srgbClr val="0F8B8D">
              <a:alpha val="10000"/>
            </a:srgbClr>
          </a:solidFill>
          <a:ln w="12700">
            <a:solidFill>
              <a:srgbClr val="0F8B8D">
                <a:alpha val="60000"/>
              </a:srgbClr>
            </a:solidFill>
            <a:prstDash val="solid"/>
          </a:ln>
        </p:spPr>
      </p:sp>
      <p:sp>
        <p:nvSpPr>
          <p:cNvPr id="16" name="Shape 12"/>
          <p:cNvSpPr/>
          <p:nvPr/>
        </p:nvSpPr>
        <p:spPr>
          <a:xfrm>
            <a:off x="3154680" y="1143000"/>
            <a:ext cx="640080" cy="640080"/>
          </a:xfrm>
          <a:prstGeom prst="ellipse">
            <a:avLst/>
          </a:prstGeom>
          <a:solidFill>
            <a:srgbClr val="0F8B8D"/>
          </a:solidFill>
          <a:ln w="12700">
            <a:solidFill>
              <a:srgbClr val="0F8B8D"/>
            </a:solidFill>
            <a:prstDash val="solid"/>
          </a:ln>
        </p:spPr>
      </p:sp>
      <p:pic>
        <p:nvPicPr>
          <p:cNvPr id="17" name="Image 2" descr="preencoded.png">    </p:cNvPr>
          <p:cNvPicPr>
            <a:picLocks noChangeAspect="1"/>
          </p:cNvPicPr>
          <p:nvPr/>
        </p:nvPicPr>
        <p:blipFill>
          <a:blip r:embed="rId3"/>
          <a:stretch>
            <a:fillRect/>
          </a:stretch>
        </p:blipFill>
        <p:spPr>
          <a:xfrm>
            <a:off x="3308299" y="1296619"/>
            <a:ext cx="332842" cy="332842"/>
          </a:xfrm>
          <a:prstGeom prst="rect">
            <a:avLst/>
          </a:prstGeom>
        </p:spPr>
      </p:pic>
      <p:sp>
        <p:nvSpPr>
          <p:cNvPr id="18" name="Text 13"/>
          <p:cNvSpPr txBox="1"/>
          <p:nvPr/>
        </p:nvSpPr>
        <p:spPr>
          <a:xfrm>
            <a:off x="2606040" y="1874520"/>
            <a:ext cx="1737360" cy="365760"/>
          </a:xfrm>
          <a:prstGeom prst="rect">
            <a:avLst/>
          </a:prstGeom>
          <a:noFill/>
          <a:ln/>
        </p:spPr>
        <p:txBody>
          <a:bodyPr wrap="square" lIns="0" tIns="0" rIns="0" bIns="0" rtlCol="0" anchor="t"/>
          <a:lstStyle/>
          <a:p>
            <a:pPr rtl="1" algn="ctr" indent="0" marL="0">
              <a:buNone/>
            </a:pPr>
            <a:r>
              <a:rPr lang="ar-LB" altLang="en-US" sz="1600" b="1" dirty="0">
                <a:solidFill>
                  <a:srgbClr val="0F4C5C"/>
                </a:solidFill>
              </a:rPr>
              <a:t>3. نشرح ونتحقّق</a:t>
            </a:r>
            <a:endParaRPr lang="ar-LB" sz="1600" dirty="0"/>
          </a:p>
        </p:txBody>
      </p:sp>
      <p:sp>
        <p:nvSpPr>
          <p:cNvPr id="19" name="Text 14"/>
          <p:cNvSpPr txBox="1"/>
          <p:nvPr/>
        </p:nvSpPr>
        <p:spPr>
          <a:xfrm>
            <a:off x="2624328" y="2286000"/>
            <a:ext cx="1700784" cy="1371600"/>
          </a:xfrm>
          <a:prstGeom prst="rect">
            <a:avLst/>
          </a:prstGeom>
          <a:noFill/>
          <a:ln/>
        </p:spPr>
        <p:txBody>
          <a:bodyPr wrap="square" lIns="0" tIns="0" rIns="0" bIns="0" rtlCol="0" anchor="t"/>
          <a:lstStyle/>
          <a:p>
            <a:pPr rtl="1" algn="ctr" indent="0" marL="0">
              <a:buNone/>
            </a:pPr>
            <a:r>
              <a:rPr lang="ar-LB" altLang="en-US" sz="1300" dirty="0">
                <a:solidFill>
                  <a:srgbClr val="1B262C"/>
                </a:solidFill>
              </a:rPr>
              <a:t>عند الاختلاف يشرح كلٌّ منا طريقته؛ وإن بقي الخلاف نسأل زميلًا ثالثًا ثم رابعًا.</a:t>
            </a:r>
            <a:endParaRPr lang="ar-LB" sz="1300" dirty="0"/>
          </a:p>
        </p:txBody>
      </p:sp>
      <p:sp>
        <p:nvSpPr>
          <p:cNvPr id="20" name="Shape 15"/>
          <p:cNvSpPr/>
          <p:nvPr/>
        </p:nvSpPr>
        <p:spPr>
          <a:xfrm flipH="1">
            <a:off x="2386584" y="2377440"/>
            <a:ext cx="109728" cy="0"/>
          </a:xfrm>
          <a:prstGeom prst="line">
            <a:avLst/>
          </a:prstGeom>
          <a:noFill/>
          <a:ln w="25400">
            <a:solidFill>
              <a:srgbClr val="5B6770"/>
            </a:solidFill>
            <a:prstDash val="solid"/>
            <a:tailEnd type="triangle"/>
          </a:ln>
        </p:spPr>
      </p:sp>
      <p:sp>
        <p:nvSpPr>
          <p:cNvPr id="21" name="ثم المعلم"/>
          <p:cNvSpPr/>
          <p:nvPr/>
        </p:nvSpPr>
        <p:spPr>
          <a:xfrm>
            <a:off x="457200" y="1005840"/>
            <a:ext cx="1920240" cy="2743200"/>
          </a:xfrm>
          <a:prstGeom prst="roundRect">
            <a:avLst>
              <a:gd name="adj" fmla="val 5714"/>
            </a:avLst>
          </a:prstGeom>
          <a:solidFill>
            <a:srgbClr val="E36414">
              <a:alpha val="10000"/>
            </a:srgbClr>
          </a:solidFill>
          <a:ln w="12700">
            <a:solidFill>
              <a:srgbClr val="E36414">
                <a:alpha val="60000"/>
              </a:srgbClr>
            </a:solidFill>
            <a:prstDash val="solid"/>
          </a:ln>
        </p:spPr>
      </p:sp>
      <p:sp>
        <p:nvSpPr>
          <p:cNvPr id="22" name="Shape 17"/>
          <p:cNvSpPr/>
          <p:nvPr/>
        </p:nvSpPr>
        <p:spPr>
          <a:xfrm>
            <a:off x="1097280" y="1143000"/>
            <a:ext cx="640080" cy="640080"/>
          </a:xfrm>
          <a:prstGeom prst="ellipse">
            <a:avLst/>
          </a:prstGeom>
          <a:solidFill>
            <a:srgbClr val="E36414"/>
          </a:solidFill>
          <a:ln w="12700">
            <a:solidFill>
              <a:srgbClr val="E36414"/>
            </a:solidFill>
            <a:prstDash val="solid"/>
          </a:ln>
        </p:spPr>
      </p:sp>
      <p:pic>
        <p:nvPicPr>
          <p:cNvPr id="23" name="Image 3" descr="preencoded.png">    </p:cNvPr>
          <p:cNvPicPr>
            <a:picLocks noChangeAspect="1"/>
          </p:cNvPicPr>
          <p:nvPr/>
        </p:nvPicPr>
        <p:blipFill>
          <a:blip r:embed="rId4"/>
          <a:stretch>
            <a:fillRect/>
          </a:stretch>
        </p:blipFill>
        <p:spPr>
          <a:xfrm>
            <a:off x="1250899" y="1296619"/>
            <a:ext cx="332842" cy="332842"/>
          </a:xfrm>
          <a:prstGeom prst="rect">
            <a:avLst/>
          </a:prstGeom>
        </p:spPr>
      </p:pic>
      <p:sp>
        <p:nvSpPr>
          <p:cNvPr id="24" name="Text 18"/>
          <p:cNvSpPr txBox="1"/>
          <p:nvPr/>
        </p:nvSpPr>
        <p:spPr>
          <a:xfrm>
            <a:off x="548640" y="1874520"/>
            <a:ext cx="1737360" cy="365760"/>
          </a:xfrm>
          <a:prstGeom prst="rect">
            <a:avLst/>
          </a:prstGeom>
          <a:noFill/>
          <a:ln/>
        </p:spPr>
        <p:txBody>
          <a:bodyPr wrap="square" lIns="0" tIns="0" rIns="0" bIns="0" rtlCol="0" anchor="t"/>
          <a:lstStyle/>
          <a:p>
            <a:pPr rtl="1" algn="ctr" indent="0" marL="0">
              <a:buNone/>
            </a:pPr>
            <a:r>
              <a:rPr lang="ar-LB" altLang="en-US" sz="1600" b="1" dirty="0">
                <a:solidFill>
                  <a:srgbClr val="0F4C5C"/>
                </a:solidFill>
              </a:rPr>
              <a:t>4. ثم المعلم</a:t>
            </a:r>
            <a:endParaRPr lang="ar-LB" sz="1600" dirty="0"/>
          </a:p>
        </p:txBody>
      </p:sp>
      <p:sp>
        <p:nvSpPr>
          <p:cNvPr id="25" name="Text 19"/>
          <p:cNvSpPr txBox="1"/>
          <p:nvPr/>
        </p:nvSpPr>
        <p:spPr>
          <a:xfrm>
            <a:off x="566928" y="2286000"/>
            <a:ext cx="1700784" cy="1371600"/>
          </a:xfrm>
          <a:prstGeom prst="rect">
            <a:avLst/>
          </a:prstGeom>
          <a:noFill/>
          <a:ln/>
        </p:spPr>
        <p:txBody>
          <a:bodyPr wrap="square" lIns="0" tIns="0" rIns="0" bIns="0" rtlCol="0" anchor="t"/>
          <a:lstStyle/>
          <a:p>
            <a:pPr rtl="1" algn="ctr" indent="0" marL="0">
              <a:buNone/>
            </a:pPr>
            <a:r>
              <a:rPr lang="ar-LB" altLang="en-US" sz="1300" dirty="0">
                <a:solidFill>
                  <a:srgbClr val="1B262C"/>
                </a:solidFill>
              </a:rPr>
              <a:t>نستشير المعلم فقط إذا لم نصل إلى اتفاق بعد سؤال ثلاثة زملاء.</a:t>
            </a:r>
            <a:endParaRPr lang="ar-LB" sz="1300" dirty="0"/>
          </a:p>
        </p:txBody>
      </p:sp>
      <p:sp>
        <p:nvSpPr>
          <p:cNvPr id="26" name="expert"/>
          <p:cNvSpPr/>
          <p:nvPr/>
        </p:nvSpPr>
        <p:spPr>
          <a:xfrm>
            <a:off x="457200" y="3931920"/>
            <a:ext cx="8229600" cy="640080"/>
          </a:xfrm>
          <a:prstGeom prst="roundRect">
            <a:avLst>
              <a:gd name="adj" fmla="val 17143"/>
            </a:avLst>
          </a:prstGeom>
          <a:solidFill>
            <a:srgbClr val="E9A23B">
              <a:alpha val="20000"/>
            </a:srgbClr>
          </a:solidFill>
          <a:ln w="12700">
            <a:solidFill>
              <a:srgbClr val="E9A23B">
                <a:alpha val="60000"/>
              </a:srgbClr>
            </a:solidFill>
            <a:prstDash val="solid"/>
          </a:ln>
        </p:spPr>
      </p:sp>
      <p:sp>
        <p:nvSpPr>
          <p:cNvPr id="27" name="Shape 21"/>
          <p:cNvSpPr/>
          <p:nvPr/>
        </p:nvSpPr>
        <p:spPr>
          <a:xfrm>
            <a:off x="8092440" y="4023360"/>
            <a:ext cx="457200" cy="457200"/>
          </a:xfrm>
          <a:prstGeom prst="ellipse">
            <a:avLst/>
          </a:prstGeom>
          <a:solidFill>
            <a:srgbClr val="E9A23B"/>
          </a:solidFill>
          <a:ln w="12700">
            <a:solidFill>
              <a:srgbClr val="E9A23B"/>
            </a:solidFill>
            <a:prstDash val="solid"/>
          </a:ln>
        </p:spPr>
      </p:sp>
      <p:pic>
        <p:nvPicPr>
          <p:cNvPr id="28" name="Image 4" descr="preencoded.png">    </p:cNvPr>
          <p:cNvPicPr>
            <a:picLocks noChangeAspect="1"/>
          </p:cNvPicPr>
          <p:nvPr/>
        </p:nvPicPr>
        <p:blipFill>
          <a:blip r:embed="rId5"/>
          <a:stretch>
            <a:fillRect/>
          </a:stretch>
        </p:blipFill>
        <p:spPr>
          <a:xfrm>
            <a:off x="8202168" y="4133088"/>
            <a:ext cx="237744" cy="237744"/>
          </a:xfrm>
          <a:prstGeom prst="rect">
            <a:avLst/>
          </a:prstGeom>
        </p:spPr>
      </p:pic>
      <p:sp>
        <p:nvSpPr>
          <p:cNvPr id="29" name="Text 22"/>
          <p:cNvSpPr txBox="1"/>
          <p:nvPr/>
        </p:nvSpPr>
        <p:spPr>
          <a:xfrm>
            <a:off x="640080" y="3931920"/>
            <a:ext cx="7315200" cy="640080"/>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الطالب الذي يتأكّد من صحة حلّه يصبح «خبيرًا» ويساعد زملاءه بالشرح لا بإعطاء الإجابة.</a:t>
            </a:r>
            <a:endParaRPr lang="ar-LB" sz="14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بطاقة التقييم</a:t>
            </a:r>
            <a:endParaRPr lang="en-US" sz="3000" dirty="0"/>
          </a:p>
        </p:txBody>
      </p:sp>
      <p:sp>
        <p:nvSpPr>
          <p:cNvPr id="3" name="ev1"/>
          <p:cNvSpPr/>
          <p:nvPr/>
        </p:nvSpPr>
        <p:spPr>
          <a:xfrm>
            <a:off x="457200" y="960120"/>
            <a:ext cx="8229600" cy="621792"/>
          </a:xfrm>
          <a:prstGeom prst="roundRect">
            <a:avLst>
              <a:gd name="adj" fmla="val 17647"/>
            </a:avLst>
          </a:prstGeom>
          <a:solidFill>
            <a:srgbClr val="0F8B8D">
              <a:alpha val="8000"/>
            </a:srgbClr>
          </a:solidFill>
          <a:ln w="12700">
            <a:solidFill>
              <a:srgbClr val="0F8B8D">
                <a:alpha val="60000"/>
              </a:srgbClr>
            </a:solidFill>
            <a:prstDash val="solid"/>
          </a:ln>
        </p:spPr>
      </p:sp>
      <p:sp>
        <p:nvSpPr>
          <p:cNvPr id="4" name="Shape 2"/>
          <p:cNvSpPr/>
          <p:nvPr/>
        </p:nvSpPr>
        <p:spPr>
          <a:xfrm>
            <a:off x="8211312" y="1097280"/>
            <a:ext cx="347472" cy="347472"/>
          </a:xfrm>
          <a:prstGeom prst="ellipse">
            <a:avLst/>
          </a:prstGeom>
          <a:solidFill>
            <a:srgbClr val="0F4C5C"/>
          </a:solidFill>
          <a:ln w="12700">
            <a:solidFill>
              <a:srgbClr val="0F4C5C"/>
            </a:solidFill>
            <a:prstDash val="solid"/>
          </a:ln>
        </p:spPr>
      </p:sp>
      <p:sp>
        <p:nvSpPr>
          <p:cNvPr id="5" name="Text 3"/>
          <p:cNvSpPr txBox="1"/>
          <p:nvPr/>
        </p:nvSpPr>
        <p:spPr>
          <a:xfrm>
            <a:off x="8211312" y="1097280"/>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1</a:t>
            </a:r>
            <a:endParaRPr lang="ar-LB" sz="1400" dirty="0"/>
          </a:p>
        </p:txBody>
      </p:sp>
      <p:sp>
        <p:nvSpPr>
          <p:cNvPr id="6" name="Shape 4"/>
          <p:cNvSpPr/>
          <p:nvPr/>
        </p:nvSpPr>
        <p:spPr>
          <a:xfrm>
            <a:off x="7178040" y="1124712"/>
            <a:ext cx="914400" cy="292608"/>
          </a:xfrm>
          <a:prstGeom prst="roundRect">
            <a:avLst>
              <a:gd name="adj" fmla="val 50000"/>
            </a:avLst>
          </a:prstGeom>
          <a:solidFill>
            <a:srgbClr val="E36414"/>
          </a:solidFill>
          <a:ln w="12700">
            <a:solidFill>
              <a:srgbClr val="E36414"/>
            </a:solidFill>
            <a:prstDash val="solid"/>
          </a:ln>
        </p:spPr>
      </p:sp>
      <p:sp>
        <p:nvSpPr>
          <p:cNvPr id="7" name="Text 5"/>
          <p:cNvSpPr txBox="1"/>
          <p:nvPr/>
        </p:nvSpPr>
        <p:spPr>
          <a:xfrm>
            <a:off x="7178040" y="1124712"/>
            <a:ext cx="914400" cy="292608"/>
          </a:xfrm>
          <a:prstGeom prst="rect">
            <a:avLst/>
          </a:prstGeom>
          <a:noFill/>
          <a:ln/>
        </p:spPr>
        <p:txBody>
          <a:bodyPr wrap="square" lIns="0" tIns="0" rIns="0" bIns="0" rtlCol="0" anchor="ctr"/>
          <a:lstStyle/>
          <a:p>
            <a:pPr rtl="1" algn="ctr" indent="0" marL="0">
              <a:buNone/>
            </a:pPr>
            <a:r>
              <a:rPr lang="ar-LB" altLang="en-US" sz="1100" b="1" dirty="0">
                <a:solidFill>
                  <a:srgbClr val="FFFFFF"/>
                </a:solidFill>
              </a:rPr>
              <a:t>الهدف 1</a:t>
            </a:r>
            <a:endParaRPr lang="ar-LB" sz="1100" dirty="0"/>
          </a:p>
        </p:txBody>
      </p:sp>
      <p:sp>
        <p:nvSpPr>
          <p:cNvPr id="8" name="Text 6"/>
          <p:cNvSpPr txBox="1"/>
          <p:nvPr/>
        </p:nvSpPr>
        <p:spPr>
          <a:xfrm>
            <a:off x="3749040" y="960120"/>
            <a:ext cx="3337560" cy="621792"/>
          </a:xfrm>
          <a:prstGeom prst="rect">
            <a:avLst/>
          </a:prstGeom>
          <a:noFill/>
          <a:ln/>
        </p:spPr>
        <p:txBody>
          <a:bodyPr wrap="square" lIns="0" tIns="0" rIns="0" bIns="0" rtlCol="0" anchor="ctr"/>
          <a:lstStyle/>
          <a:p>
            <a:pPr rtl="1" algn="r" indent="0" marL="0">
              <a:buNone/>
            </a:pPr>
            <a:r>
              <a:rPr lang="ar-LB" altLang="en-US" sz="1500" dirty="0">
                <a:solidFill>
                  <a:srgbClr val="1B262C"/>
                </a:solidFill>
              </a:rPr>
              <a:t>أيّهما يساوي 6³: (أ) أم (ب)؟ اشرح.</a:t>
            </a:r>
            <a:endParaRPr lang="ar-LB" sz="1500" dirty="0"/>
          </a:p>
        </p:txBody>
      </p:sp>
      <p:sp>
        <p:nvSpPr>
          <p:cNvPr id="9" name="Text 7"/>
          <p:cNvSpPr txBox="1"/>
          <p:nvPr/>
        </p:nvSpPr>
        <p:spPr>
          <a:xfrm>
            <a:off x="3108960" y="960120"/>
            <a:ext cx="457200" cy="621792"/>
          </a:xfrm>
          <a:prstGeom prst="rect">
            <a:avLst/>
          </a:prstGeom>
          <a:noFill/>
          <a:ln/>
        </p:spPr>
        <p:txBody>
          <a:bodyPr wrap="square" lIns="0" tIns="0" rIns="0" bIns="0" rtlCol="0" anchor="ctr"/>
          <a:lstStyle/>
          <a:p>
            <a:pPr rtl="1" algn="r" indent="0" marL="0">
              <a:buNone/>
            </a:pPr>
            <a:r>
              <a:rPr lang="ar-LB" altLang="en-US" sz="1500" b="1" dirty="0">
                <a:solidFill>
                  <a:srgbClr val="E36414"/>
                </a:solidFill>
              </a:rPr>
              <a:t>(أ)</a:t>
            </a:r>
            <a:endParaRPr lang="ar-LB" sz="1500" dirty="0"/>
          </a:p>
        </p:txBody>
      </p:sp>
      <p:sp>
        <p:nvSpPr>
          <p:cNvPr id="10" name="Text 8"/>
          <p:cNvSpPr txBox="1"/>
          <p:nvPr/>
        </p:nvSpPr>
        <p:spPr>
          <a:xfrm>
            <a:off x="2103120" y="960120"/>
            <a:ext cx="1005840" cy="621792"/>
          </a:xfrm>
          <a:prstGeom prst="rect">
            <a:avLst/>
          </a:prstGeom>
          <a:noFill/>
          <a:ln/>
        </p:spPr>
        <p:txBody>
          <a:bodyPr wrap="square" lIns="0" tIns="0" rIns="0" bIns="0" rtlCol="0" anchor="ctr"/>
          <a:lstStyle/>
          <a:p>
            <a:pPr rtl="0" algn="ctr" indent="0" marL="0">
              <a:buNone/>
            </a:pPr>
            <a:r>
              <a:rPr lang="en-US" sz="1600" b="1" dirty="0">
                <a:solidFill>
                  <a:srgbClr val="0F4C5C"/>
                </a:solidFill>
                <a:latin typeface="Arial" pitchFamily="34" charset="0"/>
                <a:ea typeface="Arial" pitchFamily="34" charset="-122"/>
                <a:cs typeface="Arial" pitchFamily="34" charset="-120"/>
              </a:rPr>
              <a:t>6 × 3</a:t>
            </a:r>
            <a:endParaRPr lang="en-US" sz="1600" dirty="0"/>
          </a:p>
        </p:txBody>
      </p:sp>
      <p:sp>
        <p:nvSpPr>
          <p:cNvPr id="11" name="Text 9"/>
          <p:cNvSpPr txBox="1"/>
          <p:nvPr/>
        </p:nvSpPr>
        <p:spPr>
          <a:xfrm>
            <a:off x="1600200" y="960120"/>
            <a:ext cx="457200" cy="621792"/>
          </a:xfrm>
          <a:prstGeom prst="rect">
            <a:avLst/>
          </a:prstGeom>
          <a:noFill/>
          <a:ln/>
        </p:spPr>
        <p:txBody>
          <a:bodyPr wrap="square" lIns="0" tIns="0" rIns="0" bIns="0" rtlCol="0" anchor="ctr"/>
          <a:lstStyle/>
          <a:p>
            <a:pPr rtl="1" algn="r" indent="0" marL="0">
              <a:buNone/>
            </a:pPr>
            <a:r>
              <a:rPr lang="ar-LB" altLang="en-US" sz="1500" b="1" dirty="0">
                <a:solidFill>
                  <a:srgbClr val="E36414"/>
                </a:solidFill>
              </a:rPr>
              <a:t>(ب)</a:t>
            </a:r>
            <a:endParaRPr lang="ar-LB" sz="1500" dirty="0"/>
          </a:p>
        </p:txBody>
      </p:sp>
      <p:sp>
        <p:nvSpPr>
          <p:cNvPr id="12" name="Text 10"/>
          <p:cNvSpPr txBox="1"/>
          <p:nvPr/>
        </p:nvSpPr>
        <p:spPr>
          <a:xfrm>
            <a:off x="457200" y="960120"/>
            <a:ext cx="1143000" cy="621792"/>
          </a:xfrm>
          <a:prstGeom prst="rect">
            <a:avLst/>
          </a:prstGeom>
          <a:noFill/>
          <a:ln/>
        </p:spPr>
        <p:txBody>
          <a:bodyPr wrap="square" lIns="0" tIns="0" rIns="0" bIns="0" rtlCol="0" anchor="ctr"/>
          <a:lstStyle/>
          <a:p>
            <a:pPr rtl="0" algn="ctr" indent="0" marL="0">
              <a:buNone/>
            </a:pPr>
            <a:r>
              <a:rPr lang="en-US" sz="1600" b="1" dirty="0">
                <a:solidFill>
                  <a:srgbClr val="0F4C5C"/>
                </a:solidFill>
                <a:latin typeface="Arial" pitchFamily="34" charset="0"/>
                <a:ea typeface="Arial" pitchFamily="34" charset="-122"/>
                <a:cs typeface="Arial" pitchFamily="34" charset="-120"/>
              </a:rPr>
              <a:t>6 × 6 × 6</a:t>
            </a:r>
            <a:endParaRPr lang="en-US" sz="1600" dirty="0"/>
          </a:p>
        </p:txBody>
      </p:sp>
      <p:sp>
        <p:nvSpPr>
          <p:cNvPr id="13" name="ev2"/>
          <p:cNvSpPr/>
          <p:nvPr/>
        </p:nvSpPr>
        <p:spPr>
          <a:xfrm>
            <a:off x="457200" y="1691640"/>
            <a:ext cx="8229600" cy="621792"/>
          </a:xfrm>
          <a:prstGeom prst="roundRect">
            <a:avLst>
              <a:gd name="adj" fmla="val 17647"/>
            </a:avLst>
          </a:prstGeom>
          <a:solidFill>
            <a:srgbClr val="0F8B8D">
              <a:alpha val="8000"/>
            </a:srgbClr>
          </a:solidFill>
          <a:ln w="12700">
            <a:solidFill>
              <a:srgbClr val="0F8B8D">
                <a:alpha val="60000"/>
              </a:srgbClr>
            </a:solidFill>
            <a:prstDash val="solid"/>
          </a:ln>
        </p:spPr>
      </p:sp>
      <p:sp>
        <p:nvSpPr>
          <p:cNvPr id="14" name="Shape 12"/>
          <p:cNvSpPr/>
          <p:nvPr/>
        </p:nvSpPr>
        <p:spPr>
          <a:xfrm>
            <a:off x="8211312" y="1828800"/>
            <a:ext cx="347472" cy="347472"/>
          </a:xfrm>
          <a:prstGeom prst="ellipse">
            <a:avLst/>
          </a:prstGeom>
          <a:solidFill>
            <a:srgbClr val="0F4C5C"/>
          </a:solidFill>
          <a:ln w="12700">
            <a:solidFill>
              <a:srgbClr val="0F4C5C"/>
            </a:solidFill>
            <a:prstDash val="solid"/>
          </a:ln>
        </p:spPr>
      </p:sp>
      <p:sp>
        <p:nvSpPr>
          <p:cNvPr id="15" name="Text 13"/>
          <p:cNvSpPr txBox="1"/>
          <p:nvPr/>
        </p:nvSpPr>
        <p:spPr>
          <a:xfrm>
            <a:off x="8211312" y="1828800"/>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2</a:t>
            </a:r>
            <a:endParaRPr lang="ar-LB" sz="1400" dirty="0"/>
          </a:p>
        </p:txBody>
      </p:sp>
      <p:sp>
        <p:nvSpPr>
          <p:cNvPr id="16" name="Shape 14"/>
          <p:cNvSpPr/>
          <p:nvPr/>
        </p:nvSpPr>
        <p:spPr>
          <a:xfrm>
            <a:off x="7178040" y="1856232"/>
            <a:ext cx="914400" cy="292608"/>
          </a:xfrm>
          <a:prstGeom prst="roundRect">
            <a:avLst>
              <a:gd name="adj" fmla="val 50000"/>
            </a:avLst>
          </a:prstGeom>
          <a:solidFill>
            <a:srgbClr val="E36414"/>
          </a:solidFill>
          <a:ln w="12700">
            <a:solidFill>
              <a:srgbClr val="E36414"/>
            </a:solidFill>
            <a:prstDash val="solid"/>
          </a:ln>
        </p:spPr>
      </p:sp>
      <p:sp>
        <p:nvSpPr>
          <p:cNvPr id="17" name="Text 15"/>
          <p:cNvSpPr txBox="1"/>
          <p:nvPr/>
        </p:nvSpPr>
        <p:spPr>
          <a:xfrm>
            <a:off x="7178040" y="1856232"/>
            <a:ext cx="914400" cy="292608"/>
          </a:xfrm>
          <a:prstGeom prst="rect">
            <a:avLst/>
          </a:prstGeom>
          <a:noFill/>
          <a:ln/>
        </p:spPr>
        <p:txBody>
          <a:bodyPr wrap="square" lIns="0" tIns="0" rIns="0" bIns="0" rtlCol="0" anchor="ctr"/>
          <a:lstStyle/>
          <a:p>
            <a:pPr rtl="1" algn="ctr" indent="0" marL="0">
              <a:buNone/>
            </a:pPr>
            <a:r>
              <a:rPr lang="ar-LB" altLang="en-US" sz="1100" b="1" dirty="0">
                <a:solidFill>
                  <a:srgbClr val="FFFFFF"/>
                </a:solidFill>
              </a:rPr>
              <a:t>الهدف 2</a:t>
            </a:r>
            <a:endParaRPr lang="ar-LB" sz="1100" dirty="0"/>
          </a:p>
        </p:txBody>
      </p:sp>
      <p:sp>
        <p:nvSpPr>
          <p:cNvPr id="18" name="Text 16"/>
          <p:cNvSpPr txBox="1"/>
          <p:nvPr/>
        </p:nvSpPr>
        <p:spPr>
          <a:xfrm>
            <a:off x="3749040" y="1691640"/>
            <a:ext cx="3337560" cy="621792"/>
          </a:xfrm>
          <a:prstGeom prst="rect">
            <a:avLst/>
          </a:prstGeom>
          <a:noFill/>
          <a:ln/>
        </p:spPr>
        <p:txBody>
          <a:bodyPr wrap="square" lIns="0" tIns="0" rIns="0" bIns="0" rtlCol="0" anchor="ctr"/>
          <a:lstStyle/>
          <a:p>
            <a:pPr rtl="1" algn="r" indent="0" marL="0">
              <a:buNone/>
            </a:pPr>
            <a:r>
              <a:rPr lang="ar-LB" altLang="en-US" sz="1500" dirty="0">
                <a:solidFill>
                  <a:srgbClr val="1B262C"/>
                </a:solidFill>
              </a:rPr>
              <a:t>اكتب بالترميز الأسّي:</a:t>
            </a:r>
            <a:endParaRPr lang="ar-LB" sz="1500" dirty="0"/>
          </a:p>
        </p:txBody>
      </p:sp>
      <p:sp>
        <p:nvSpPr>
          <p:cNvPr id="19" name="Text 17"/>
          <p:cNvSpPr txBox="1"/>
          <p:nvPr/>
        </p:nvSpPr>
        <p:spPr>
          <a:xfrm>
            <a:off x="548640" y="1691640"/>
            <a:ext cx="3154680" cy="621792"/>
          </a:xfrm>
          <a:prstGeom prst="rect">
            <a:avLst/>
          </a:prstGeom>
          <a:noFill/>
          <a:ln/>
        </p:spPr>
        <p:txBody>
          <a:bodyPr wrap="square" lIns="0" tIns="0" rIns="0" bIns="0" rtlCol="0" anchor="ctr"/>
          <a:lstStyle/>
          <a:p>
            <a:pPr rtl="0" algn="ctr" indent="0" marL="0">
              <a:buNone/>
            </a:pPr>
            <a:r>
              <a:rPr lang="en-US" sz="1600" b="1" dirty="0">
                <a:solidFill>
                  <a:srgbClr val="0F4C5C"/>
                </a:solidFill>
                <a:latin typeface="Arial" pitchFamily="34" charset="0"/>
                <a:ea typeface="Arial" pitchFamily="34" charset="-122"/>
                <a:cs typeface="Arial" pitchFamily="34" charset="-120"/>
              </a:rPr>
              <a:t>8 × 8 × 8 × 8 × 8        y × y × y</a:t>
            </a:r>
            <a:endParaRPr lang="en-US" sz="1600" dirty="0"/>
          </a:p>
        </p:txBody>
      </p:sp>
      <p:sp>
        <p:nvSpPr>
          <p:cNvPr id="20" name="ev3"/>
          <p:cNvSpPr/>
          <p:nvPr/>
        </p:nvSpPr>
        <p:spPr>
          <a:xfrm>
            <a:off x="457200" y="2423160"/>
            <a:ext cx="8229600" cy="621792"/>
          </a:xfrm>
          <a:prstGeom prst="roundRect">
            <a:avLst>
              <a:gd name="adj" fmla="val 17647"/>
            </a:avLst>
          </a:prstGeom>
          <a:solidFill>
            <a:srgbClr val="0F8B8D">
              <a:alpha val="8000"/>
            </a:srgbClr>
          </a:solidFill>
          <a:ln w="12700">
            <a:solidFill>
              <a:srgbClr val="0F8B8D">
                <a:alpha val="60000"/>
              </a:srgbClr>
            </a:solidFill>
            <a:prstDash val="solid"/>
          </a:ln>
        </p:spPr>
      </p:sp>
      <p:sp>
        <p:nvSpPr>
          <p:cNvPr id="21" name="Shape 19"/>
          <p:cNvSpPr/>
          <p:nvPr/>
        </p:nvSpPr>
        <p:spPr>
          <a:xfrm>
            <a:off x="8211312" y="2560320"/>
            <a:ext cx="347472" cy="347472"/>
          </a:xfrm>
          <a:prstGeom prst="ellipse">
            <a:avLst/>
          </a:prstGeom>
          <a:solidFill>
            <a:srgbClr val="0F4C5C"/>
          </a:solidFill>
          <a:ln w="12700">
            <a:solidFill>
              <a:srgbClr val="0F4C5C"/>
            </a:solidFill>
            <a:prstDash val="solid"/>
          </a:ln>
        </p:spPr>
      </p:sp>
      <p:sp>
        <p:nvSpPr>
          <p:cNvPr id="22" name="Text 20"/>
          <p:cNvSpPr txBox="1"/>
          <p:nvPr/>
        </p:nvSpPr>
        <p:spPr>
          <a:xfrm>
            <a:off x="8211312" y="2560320"/>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3</a:t>
            </a:r>
            <a:endParaRPr lang="ar-LB" sz="1400" dirty="0"/>
          </a:p>
        </p:txBody>
      </p:sp>
      <p:sp>
        <p:nvSpPr>
          <p:cNvPr id="23" name="Shape 21"/>
          <p:cNvSpPr/>
          <p:nvPr/>
        </p:nvSpPr>
        <p:spPr>
          <a:xfrm>
            <a:off x="7178040" y="2587752"/>
            <a:ext cx="914400" cy="292608"/>
          </a:xfrm>
          <a:prstGeom prst="roundRect">
            <a:avLst>
              <a:gd name="adj" fmla="val 50000"/>
            </a:avLst>
          </a:prstGeom>
          <a:solidFill>
            <a:srgbClr val="E36414"/>
          </a:solidFill>
          <a:ln w="12700">
            <a:solidFill>
              <a:srgbClr val="E36414"/>
            </a:solidFill>
            <a:prstDash val="solid"/>
          </a:ln>
        </p:spPr>
      </p:sp>
      <p:sp>
        <p:nvSpPr>
          <p:cNvPr id="24" name="Text 22"/>
          <p:cNvSpPr txBox="1"/>
          <p:nvPr/>
        </p:nvSpPr>
        <p:spPr>
          <a:xfrm>
            <a:off x="7178040" y="2587752"/>
            <a:ext cx="914400" cy="292608"/>
          </a:xfrm>
          <a:prstGeom prst="rect">
            <a:avLst/>
          </a:prstGeom>
          <a:noFill/>
          <a:ln/>
        </p:spPr>
        <p:txBody>
          <a:bodyPr wrap="square" lIns="0" tIns="0" rIns="0" bIns="0" rtlCol="0" anchor="ctr"/>
          <a:lstStyle/>
          <a:p>
            <a:pPr rtl="1" algn="ctr" indent="0" marL="0">
              <a:buNone/>
            </a:pPr>
            <a:r>
              <a:rPr lang="ar-LB" altLang="en-US" sz="1100" b="1" dirty="0">
                <a:solidFill>
                  <a:srgbClr val="FFFFFF"/>
                </a:solidFill>
              </a:rPr>
              <a:t>الهدف 3</a:t>
            </a:r>
            <a:endParaRPr lang="ar-LB" sz="1100" dirty="0"/>
          </a:p>
        </p:txBody>
      </p:sp>
      <p:sp>
        <p:nvSpPr>
          <p:cNvPr id="25" name="Text 23"/>
          <p:cNvSpPr txBox="1"/>
          <p:nvPr/>
        </p:nvSpPr>
        <p:spPr>
          <a:xfrm>
            <a:off x="3749040" y="2423160"/>
            <a:ext cx="3337560" cy="621792"/>
          </a:xfrm>
          <a:prstGeom prst="rect">
            <a:avLst/>
          </a:prstGeom>
          <a:noFill/>
          <a:ln/>
        </p:spPr>
        <p:txBody>
          <a:bodyPr wrap="square" lIns="0" tIns="0" rIns="0" bIns="0" rtlCol="0" anchor="ctr"/>
          <a:lstStyle/>
          <a:p>
            <a:pPr rtl="1" algn="r" indent="0" marL="0">
              <a:buNone/>
            </a:pPr>
            <a:r>
              <a:rPr lang="ar-LB" altLang="en-US" sz="1500" dirty="0">
                <a:solidFill>
                  <a:srgbClr val="1B262C"/>
                </a:solidFill>
              </a:rPr>
              <a:t>اكتب على شكل قوّة واحدة:</a:t>
            </a:r>
            <a:endParaRPr lang="ar-LB" sz="1500" dirty="0"/>
          </a:p>
        </p:txBody>
      </p:sp>
      <p:sp>
        <p:nvSpPr>
          <p:cNvPr id="26" name="Text 24"/>
          <p:cNvSpPr txBox="1"/>
          <p:nvPr/>
        </p:nvSpPr>
        <p:spPr>
          <a:xfrm>
            <a:off x="548640" y="2423160"/>
            <a:ext cx="3154680" cy="621792"/>
          </a:xfrm>
          <a:prstGeom prst="rect">
            <a:avLst/>
          </a:prstGeom>
          <a:noFill/>
          <a:ln/>
        </p:spPr>
        <p:txBody>
          <a:bodyPr wrap="square" lIns="0" tIns="0" rIns="0" bIns="0" rtlCol="0" anchor="ctr"/>
          <a:lstStyle/>
          <a:p>
            <a:pPr rtl="0" algn="ctr" indent="0" marL="0">
              <a:buNone/>
            </a:pPr>
            <a:r>
              <a:rPr lang="en-US" sz="1600" b="1" dirty="0">
                <a:solidFill>
                  <a:srgbClr val="0F4C5C"/>
                </a:solidFill>
                <a:latin typeface="Arial" pitchFamily="34" charset="0"/>
                <a:ea typeface="Arial" pitchFamily="34" charset="-122"/>
                <a:cs typeface="Arial" pitchFamily="34" charset="-120"/>
              </a:rPr>
              <a:t>(5</a:t>
            </a:r>
            <a:r>
              <a:rPr lang="en-US" sz="1600" b="1" baseline="30000" dirty="0">
                <a:solidFill>
                  <a:srgbClr val="0F4C5C"/>
                </a:solidFill>
                <a:latin typeface="Arial" pitchFamily="34" charset="0"/>
                <a:ea typeface="Arial" pitchFamily="34" charset="-122"/>
                <a:cs typeface="Arial" pitchFamily="34" charset="-120"/>
              </a:rPr>
              <a:t>3</a:t>
            </a:r>
            <a:r>
              <a:rPr lang="en-US" sz="1600" b="1" dirty="0">
                <a:solidFill>
                  <a:srgbClr val="0F4C5C"/>
                </a:solidFill>
                <a:latin typeface="Arial" pitchFamily="34" charset="0"/>
                <a:ea typeface="Arial" pitchFamily="34" charset="-122"/>
                <a:cs typeface="Arial" pitchFamily="34" charset="-120"/>
              </a:rPr>
              <a:t>)</a:t>
            </a:r>
            <a:r>
              <a:rPr lang="en-US" sz="1600" b="1" baseline="30000" dirty="0">
                <a:solidFill>
                  <a:srgbClr val="0F4C5C"/>
                </a:solidFill>
                <a:latin typeface="Arial" pitchFamily="34" charset="0"/>
                <a:ea typeface="Arial" pitchFamily="34" charset="-122"/>
                <a:cs typeface="Arial" pitchFamily="34" charset="-120"/>
              </a:rPr>
              <a:t>4</a:t>
            </a:r>
            <a:r>
              <a:rPr lang="en-US" sz="1600" b="1" dirty="0">
                <a:solidFill>
                  <a:srgbClr val="0F4C5C"/>
                </a:solidFill>
                <a:latin typeface="Arial" pitchFamily="34" charset="0"/>
                <a:ea typeface="Arial" pitchFamily="34" charset="-122"/>
                <a:cs typeface="Arial" pitchFamily="34" charset="-120"/>
              </a:rPr>
              <a:t>          (b</a:t>
            </a:r>
            <a:r>
              <a:rPr lang="en-US" sz="1600" b="1" baseline="30000" dirty="0">
                <a:solidFill>
                  <a:srgbClr val="0F4C5C"/>
                </a:solidFill>
                <a:latin typeface="Arial" pitchFamily="34" charset="0"/>
                <a:ea typeface="Arial" pitchFamily="34" charset="-122"/>
                <a:cs typeface="Arial" pitchFamily="34" charset="-120"/>
              </a:rPr>
              <a:t>2</a:t>
            </a:r>
            <a:r>
              <a:rPr lang="en-US" sz="1600" b="1" dirty="0">
                <a:solidFill>
                  <a:srgbClr val="0F4C5C"/>
                </a:solidFill>
                <a:latin typeface="Arial" pitchFamily="34" charset="0"/>
                <a:ea typeface="Arial" pitchFamily="34" charset="-122"/>
                <a:cs typeface="Arial" pitchFamily="34" charset="-120"/>
              </a:rPr>
              <a:t>)</a:t>
            </a:r>
            <a:r>
              <a:rPr lang="en-US" sz="1600" b="1" baseline="30000" dirty="0">
                <a:solidFill>
                  <a:srgbClr val="0F4C5C"/>
                </a:solidFill>
                <a:latin typeface="Arial" pitchFamily="34" charset="0"/>
                <a:ea typeface="Arial" pitchFamily="34" charset="-122"/>
                <a:cs typeface="Arial" pitchFamily="34" charset="-120"/>
              </a:rPr>
              <a:t>7</a:t>
            </a:r>
            <a:endParaRPr lang="en-US" sz="1600" dirty="0"/>
          </a:p>
        </p:txBody>
      </p:sp>
      <p:sp>
        <p:nvSpPr>
          <p:cNvPr id="27" name="ev4"/>
          <p:cNvSpPr/>
          <p:nvPr/>
        </p:nvSpPr>
        <p:spPr>
          <a:xfrm>
            <a:off x="457200" y="3154680"/>
            <a:ext cx="8229600" cy="621792"/>
          </a:xfrm>
          <a:prstGeom prst="roundRect">
            <a:avLst>
              <a:gd name="adj" fmla="val 17647"/>
            </a:avLst>
          </a:prstGeom>
          <a:solidFill>
            <a:srgbClr val="0F8B8D">
              <a:alpha val="8000"/>
            </a:srgbClr>
          </a:solidFill>
          <a:ln w="12700">
            <a:solidFill>
              <a:srgbClr val="0F8B8D">
                <a:alpha val="60000"/>
              </a:srgbClr>
            </a:solidFill>
            <a:prstDash val="solid"/>
          </a:ln>
        </p:spPr>
      </p:sp>
      <p:sp>
        <p:nvSpPr>
          <p:cNvPr id="28" name="Shape 26"/>
          <p:cNvSpPr/>
          <p:nvPr/>
        </p:nvSpPr>
        <p:spPr>
          <a:xfrm>
            <a:off x="8211312" y="3291840"/>
            <a:ext cx="347472" cy="347472"/>
          </a:xfrm>
          <a:prstGeom prst="ellipse">
            <a:avLst/>
          </a:prstGeom>
          <a:solidFill>
            <a:srgbClr val="0F4C5C"/>
          </a:solidFill>
          <a:ln w="12700">
            <a:solidFill>
              <a:srgbClr val="0F4C5C"/>
            </a:solidFill>
            <a:prstDash val="solid"/>
          </a:ln>
        </p:spPr>
      </p:sp>
      <p:sp>
        <p:nvSpPr>
          <p:cNvPr id="29" name="Text 27"/>
          <p:cNvSpPr txBox="1"/>
          <p:nvPr/>
        </p:nvSpPr>
        <p:spPr>
          <a:xfrm>
            <a:off x="8211312" y="3291840"/>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4</a:t>
            </a:r>
            <a:endParaRPr lang="ar-LB" sz="1400" dirty="0"/>
          </a:p>
        </p:txBody>
      </p:sp>
      <p:sp>
        <p:nvSpPr>
          <p:cNvPr id="30" name="Shape 28"/>
          <p:cNvSpPr/>
          <p:nvPr/>
        </p:nvSpPr>
        <p:spPr>
          <a:xfrm>
            <a:off x="7178040" y="3319272"/>
            <a:ext cx="914400" cy="292608"/>
          </a:xfrm>
          <a:prstGeom prst="roundRect">
            <a:avLst>
              <a:gd name="adj" fmla="val 50000"/>
            </a:avLst>
          </a:prstGeom>
          <a:solidFill>
            <a:srgbClr val="E36414"/>
          </a:solidFill>
          <a:ln w="12700">
            <a:solidFill>
              <a:srgbClr val="E36414"/>
            </a:solidFill>
            <a:prstDash val="solid"/>
          </a:ln>
        </p:spPr>
      </p:sp>
      <p:sp>
        <p:nvSpPr>
          <p:cNvPr id="31" name="Text 29"/>
          <p:cNvSpPr txBox="1"/>
          <p:nvPr/>
        </p:nvSpPr>
        <p:spPr>
          <a:xfrm>
            <a:off x="7178040" y="3319272"/>
            <a:ext cx="914400" cy="292608"/>
          </a:xfrm>
          <a:prstGeom prst="rect">
            <a:avLst/>
          </a:prstGeom>
          <a:noFill/>
          <a:ln/>
        </p:spPr>
        <p:txBody>
          <a:bodyPr wrap="square" lIns="0" tIns="0" rIns="0" bIns="0" rtlCol="0" anchor="ctr"/>
          <a:lstStyle/>
          <a:p>
            <a:pPr rtl="1" algn="ctr" indent="0" marL="0">
              <a:buNone/>
            </a:pPr>
            <a:r>
              <a:rPr lang="ar-LB" altLang="en-US" sz="1100" b="1" dirty="0">
                <a:solidFill>
                  <a:srgbClr val="FFFFFF"/>
                </a:solidFill>
              </a:rPr>
              <a:t>الهدف 3</a:t>
            </a:r>
            <a:endParaRPr lang="ar-LB" sz="1100" dirty="0"/>
          </a:p>
        </p:txBody>
      </p:sp>
      <p:sp>
        <p:nvSpPr>
          <p:cNvPr id="32" name="Text 30"/>
          <p:cNvSpPr txBox="1"/>
          <p:nvPr/>
        </p:nvSpPr>
        <p:spPr>
          <a:xfrm>
            <a:off x="3749040" y="3154680"/>
            <a:ext cx="3337560" cy="621792"/>
          </a:xfrm>
          <a:prstGeom prst="rect">
            <a:avLst/>
          </a:prstGeom>
          <a:noFill/>
          <a:ln/>
        </p:spPr>
        <p:txBody>
          <a:bodyPr wrap="square" lIns="0" tIns="0" rIns="0" bIns="0" rtlCol="0" anchor="ctr"/>
          <a:lstStyle/>
          <a:p>
            <a:pPr rtl="1" algn="r" indent="0" marL="0">
              <a:buNone/>
            </a:pPr>
            <a:r>
              <a:rPr lang="ar-LB" altLang="en-US" sz="1500" dirty="0">
                <a:solidFill>
                  <a:srgbClr val="1B262C"/>
                </a:solidFill>
              </a:rPr>
              <a:t>احسب:</a:t>
            </a:r>
            <a:endParaRPr lang="ar-LB" sz="1500" dirty="0"/>
          </a:p>
        </p:txBody>
      </p:sp>
      <p:sp>
        <p:nvSpPr>
          <p:cNvPr id="33" name="Text 31"/>
          <p:cNvSpPr txBox="1"/>
          <p:nvPr/>
        </p:nvSpPr>
        <p:spPr>
          <a:xfrm>
            <a:off x="548640" y="3154680"/>
            <a:ext cx="3154680" cy="621792"/>
          </a:xfrm>
          <a:prstGeom prst="rect">
            <a:avLst/>
          </a:prstGeom>
          <a:noFill/>
          <a:ln/>
        </p:spPr>
        <p:txBody>
          <a:bodyPr wrap="square" lIns="0" tIns="0" rIns="0" bIns="0" rtlCol="0" anchor="ctr"/>
          <a:lstStyle/>
          <a:p>
            <a:pPr rtl="0" algn="ctr" indent="0" marL="0">
              <a:buNone/>
            </a:pPr>
            <a:r>
              <a:rPr lang="en-US" sz="1600" b="1" dirty="0">
                <a:solidFill>
                  <a:srgbClr val="0F4C5C"/>
                </a:solidFill>
                <a:latin typeface="Arial" pitchFamily="34" charset="0"/>
                <a:ea typeface="Arial" pitchFamily="34" charset="-122"/>
                <a:cs typeface="Arial" pitchFamily="34" charset="-120"/>
              </a:rPr>
              <a:t>(2</a:t>
            </a:r>
            <a:r>
              <a:rPr lang="en-US" sz="1600" b="1" baseline="30000" dirty="0">
                <a:solidFill>
                  <a:srgbClr val="0F4C5C"/>
                </a:solidFill>
                <a:latin typeface="Arial" pitchFamily="34" charset="0"/>
                <a:ea typeface="Arial" pitchFamily="34" charset="-122"/>
                <a:cs typeface="Arial" pitchFamily="34" charset="-120"/>
              </a:rPr>
              <a:t>2</a:t>
            </a:r>
            <a:r>
              <a:rPr lang="en-US" sz="1600" b="1" dirty="0">
                <a:solidFill>
                  <a:srgbClr val="0F4C5C"/>
                </a:solidFill>
                <a:latin typeface="Arial" pitchFamily="34" charset="0"/>
                <a:ea typeface="Arial" pitchFamily="34" charset="-122"/>
                <a:cs typeface="Arial" pitchFamily="34" charset="-120"/>
              </a:rPr>
              <a:t>)</a:t>
            </a:r>
            <a:r>
              <a:rPr lang="en-US" sz="1600" b="1" baseline="30000" dirty="0">
                <a:solidFill>
                  <a:srgbClr val="0F4C5C"/>
                </a:solidFill>
                <a:latin typeface="Arial" pitchFamily="34" charset="0"/>
                <a:ea typeface="Arial" pitchFamily="34" charset="-122"/>
                <a:cs typeface="Arial" pitchFamily="34" charset="-120"/>
              </a:rPr>
              <a:t>4</a:t>
            </a:r>
            <a:endParaRPr lang="en-US" sz="1600" dirty="0"/>
          </a:p>
        </p:txBody>
      </p:sp>
      <p:sp>
        <p:nvSpPr>
          <p:cNvPr id="34" name="ev5"/>
          <p:cNvSpPr/>
          <p:nvPr/>
        </p:nvSpPr>
        <p:spPr>
          <a:xfrm>
            <a:off x="457200" y="3886200"/>
            <a:ext cx="8229600" cy="621792"/>
          </a:xfrm>
          <a:prstGeom prst="roundRect">
            <a:avLst>
              <a:gd name="adj" fmla="val 17647"/>
            </a:avLst>
          </a:prstGeom>
          <a:solidFill>
            <a:srgbClr val="0F8B8D">
              <a:alpha val="8000"/>
            </a:srgbClr>
          </a:solidFill>
          <a:ln w="12700">
            <a:solidFill>
              <a:srgbClr val="0F8B8D">
                <a:alpha val="60000"/>
              </a:srgbClr>
            </a:solidFill>
            <a:prstDash val="solid"/>
          </a:ln>
        </p:spPr>
      </p:sp>
      <p:sp>
        <p:nvSpPr>
          <p:cNvPr id="35" name="Shape 33"/>
          <p:cNvSpPr/>
          <p:nvPr/>
        </p:nvSpPr>
        <p:spPr>
          <a:xfrm>
            <a:off x="8211312" y="4023360"/>
            <a:ext cx="347472" cy="347472"/>
          </a:xfrm>
          <a:prstGeom prst="ellipse">
            <a:avLst/>
          </a:prstGeom>
          <a:solidFill>
            <a:srgbClr val="0F4C5C"/>
          </a:solidFill>
          <a:ln w="12700">
            <a:solidFill>
              <a:srgbClr val="0F4C5C"/>
            </a:solidFill>
            <a:prstDash val="solid"/>
          </a:ln>
        </p:spPr>
      </p:sp>
      <p:sp>
        <p:nvSpPr>
          <p:cNvPr id="36" name="Text 34"/>
          <p:cNvSpPr txBox="1"/>
          <p:nvPr/>
        </p:nvSpPr>
        <p:spPr>
          <a:xfrm>
            <a:off x="8211312" y="4023360"/>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5</a:t>
            </a:r>
            <a:endParaRPr lang="ar-LB" sz="1400" dirty="0"/>
          </a:p>
        </p:txBody>
      </p:sp>
      <p:sp>
        <p:nvSpPr>
          <p:cNvPr id="37" name="Shape 35"/>
          <p:cNvSpPr/>
          <p:nvPr/>
        </p:nvSpPr>
        <p:spPr>
          <a:xfrm>
            <a:off x="7178040" y="4050792"/>
            <a:ext cx="914400" cy="292608"/>
          </a:xfrm>
          <a:prstGeom prst="roundRect">
            <a:avLst>
              <a:gd name="adj" fmla="val 50000"/>
            </a:avLst>
          </a:prstGeom>
          <a:solidFill>
            <a:srgbClr val="E36414"/>
          </a:solidFill>
          <a:ln w="12700">
            <a:solidFill>
              <a:srgbClr val="E36414"/>
            </a:solidFill>
            <a:prstDash val="solid"/>
          </a:ln>
        </p:spPr>
      </p:sp>
      <p:sp>
        <p:nvSpPr>
          <p:cNvPr id="38" name="Text 36"/>
          <p:cNvSpPr txBox="1"/>
          <p:nvPr/>
        </p:nvSpPr>
        <p:spPr>
          <a:xfrm>
            <a:off x="7178040" y="4050792"/>
            <a:ext cx="914400" cy="292608"/>
          </a:xfrm>
          <a:prstGeom prst="rect">
            <a:avLst/>
          </a:prstGeom>
          <a:noFill/>
          <a:ln/>
        </p:spPr>
        <p:txBody>
          <a:bodyPr wrap="square" lIns="0" tIns="0" rIns="0" bIns="0" rtlCol="0" anchor="ctr"/>
          <a:lstStyle/>
          <a:p>
            <a:pPr rtl="1" algn="ctr" indent="0" marL="0">
              <a:buNone/>
            </a:pPr>
            <a:r>
              <a:rPr lang="ar-LB" altLang="en-US" sz="1100" b="1" dirty="0">
                <a:solidFill>
                  <a:srgbClr val="FFFFFF"/>
                </a:solidFill>
              </a:rPr>
              <a:t>مسألة</a:t>
            </a:r>
            <a:endParaRPr lang="ar-LB" sz="1100" dirty="0"/>
          </a:p>
        </p:txBody>
      </p:sp>
      <p:sp>
        <p:nvSpPr>
          <p:cNvPr id="39" name="Text 37"/>
          <p:cNvSpPr txBox="1"/>
          <p:nvPr/>
        </p:nvSpPr>
        <p:spPr>
          <a:xfrm>
            <a:off x="3749040" y="3886200"/>
            <a:ext cx="3337560" cy="621792"/>
          </a:xfrm>
          <a:prstGeom prst="rect">
            <a:avLst/>
          </a:prstGeom>
          <a:noFill/>
          <a:ln/>
        </p:spPr>
        <p:txBody>
          <a:bodyPr wrap="square" lIns="0" tIns="0" rIns="0" bIns="0" rtlCol="0" anchor="ctr"/>
          <a:lstStyle/>
          <a:p>
            <a:pPr rtl="1" algn="r" indent="0" marL="0">
              <a:buNone/>
            </a:pPr>
            <a:r>
              <a:rPr lang="ar-LB" altLang="en-US" sz="1500" dirty="0">
                <a:solidFill>
                  <a:srgbClr val="1B262C"/>
                </a:solidFill>
              </a:rPr>
              <a:t>صندوق مكعّب طول حرفه 10² سم. احسب حجمه.</a:t>
            </a:r>
            <a:endParaRPr lang="ar-LB" sz="1500" dirty="0"/>
          </a:p>
        </p:txBody>
      </p:sp>
      <p:sp>
        <p:nvSpPr>
          <p:cNvPr id="40" name="Text 38"/>
          <p:cNvSpPr txBox="1"/>
          <p:nvPr/>
        </p:nvSpPr>
        <p:spPr>
          <a:xfrm>
            <a:off x="548640" y="3886200"/>
            <a:ext cx="3154680" cy="621792"/>
          </a:xfrm>
          <a:prstGeom prst="rect">
            <a:avLst/>
          </a:prstGeom>
          <a:noFill/>
          <a:ln/>
        </p:spPr>
        <p:txBody>
          <a:bodyPr wrap="square" lIns="0" tIns="0" rIns="0" bIns="0" rtlCol="0" anchor="ctr"/>
          <a:lstStyle/>
          <a:p>
            <a:pPr rtl="0" algn="ctr" indent="0" marL="0">
              <a:buNone/>
            </a:pPr>
            <a:r>
              <a:rPr lang="en-US" sz="1600" b="1" dirty="0">
                <a:solidFill>
                  <a:srgbClr val="0F4C5C"/>
                </a:solidFill>
                <a:latin typeface="Arial" pitchFamily="34" charset="0"/>
                <a:ea typeface="Arial" pitchFamily="34" charset="-122"/>
                <a:cs typeface="Arial" pitchFamily="34" charset="-120"/>
              </a:rPr>
              <a:t>V = (10</a:t>
            </a:r>
            <a:r>
              <a:rPr lang="en-US" sz="1600" b="1" baseline="30000" dirty="0">
                <a:solidFill>
                  <a:srgbClr val="0F4C5C"/>
                </a:solidFill>
                <a:latin typeface="Arial" pitchFamily="34" charset="0"/>
                <a:ea typeface="Arial" pitchFamily="34" charset="-122"/>
                <a:cs typeface="Arial" pitchFamily="34" charset="-120"/>
              </a:rPr>
              <a:t>2</a:t>
            </a:r>
            <a:r>
              <a:rPr lang="en-US" sz="1600" b="1" dirty="0">
                <a:solidFill>
                  <a:srgbClr val="0F4C5C"/>
                </a:solidFill>
                <a:latin typeface="Arial" pitchFamily="34" charset="0"/>
                <a:ea typeface="Arial" pitchFamily="34" charset="-122"/>
                <a:cs typeface="Arial" pitchFamily="34" charset="-120"/>
              </a:rPr>
              <a:t>)</a:t>
            </a:r>
            <a:r>
              <a:rPr lang="en-US" sz="1600" b="1" baseline="30000" dirty="0">
                <a:solidFill>
                  <a:srgbClr val="0F4C5C"/>
                </a:solidFill>
                <a:latin typeface="Arial" pitchFamily="34" charset="0"/>
                <a:ea typeface="Arial" pitchFamily="34" charset="-122"/>
                <a:cs typeface="Arial" pitchFamily="34" charset="-120"/>
              </a:rPr>
              <a:t>3</a:t>
            </a:r>
            <a:r>
              <a:rPr lang="en-US" sz="1600" b="1" dirty="0">
                <a:solidFill>
                  <a:srgbClr val="0F4C5C"/>
                </a:solidFill>
                <a:latin typeface="Arial" pitchFamily="34" charset="0"/>
                <a:ea typeface="Arial" pitchFamily="34" charset="-122"/>
                <a:cs typeface="Arial" pitchFamily="34" charset="-120"/>
              </a:rPr>
              <a:t> = ?</a:t>
            </a:r>
            <a:endParaRPr lang="en-US" sz="16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حلول بطاقة التقييم</a:t>
            </a:r>
            <a:endParaRPr lang="en-US" sz="3000" dirty="0"/>
          </a:p>
        </p:txBody>
      </p:sp>
      <p:sp>
        <p:nvSpPr>
          <p:cNvPr id="3" name="evs1"/>
          <p:cNvSpPr/>
          <p:nvPr/>
        </p:nvSpPr>
        <p:spPr>
          <a:xfrm>
            <a:off x="457200" y="1005840"/>
            <a:ext cx="8229600" cy="548640"/>
          </a:xfrm>
          <a:prstGeom prst="roundRect">
            <a:avLst>
              <a:gd name="adj" fmla="val 20000"/>
            </a:avLst>
          </a:prstGeom>
          <a:solidFill>
            <a:srgbClr val="2E9E5B">
              <a:alpha val="10000"/>
            </a:srgbClr>
          </a:solidFill>
          <a:ln w="12700">
            <a:solidFill>
              <a:srgbClr val="2E9E5B">
                <a:alpha val="60000"/>
              </a:srgbClr>
            </a:solidFill>
            <a:prstDash val="solid"/>
          </a:ln>
        </p:spPr>
      </p:sp>
      <p:sp>
        <p:nvSpPr>
          <p:cNvPr id="4" name="Shape 2"/>
          <p:cNvSpPr/>
          <p:nvPr/>
        </p:nvSpPr>
        <p:spPr>
          <a:xfrm>
            <a:off x="8211312" y="1106424"/>
            <a:ext cx="347472" cy="347472"/>
          </a:xfrm>
          <a:prstGeom prst="ellipse">
            <a:avLst/>
          </a:prstGeom>
          <a:solidFill>
            <a:srgbClr val="2E9E5B"/>
          </a:solidFill>
          <a:ln w="12700">
            <a:solidFill>
              <a:srgbClr val="2E9E5B"/>
            </a:solidFill>
            <a:prstDash val="solid"/>
          </a:ln>
        </p:spPr>
      </p:sp>
      <p:sp>
        <p:nvSpPr>
          <p:cNvPr id="5" name="Text 3"/>
          <p:cNvSpPr txBox="1"/>
          <p:nvPr/>
        </p:nvSpPr>
        <p:spPr>
          <a:xfrm>
            <a:off x="8211312" y="1106424"/>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1</a:t>
            </a:r>
            <a:endParaRPr lang="ar-LB" sz="1400" dirty="0"/>
          </a:p>
        </p:txBody>
      </p:sp>
      <p:sp>
        <p:nvSpPr>
          <p:cNvPr id="6" name="Text 4"/>
          <p:cNvSpPr txBox="1"/>
          <p:nvPr/>
        </p:nvSpPr>
        <p:spPr>
          <a:xfrm>
            <a:off x="640080" y="1005840"/>
            <a:ext cx="5120640" cy="548640"/>
          </a:xfrm>
          <a:prstGeom prst="rect">
            <a:avLst/>
          </a:prstGeom>
          <a:noFill/>
          <a:ln/>
        </p:spPr>
        <p:txBody>
          <a:bodyPr wrap="square" lIns="0" tIns="0" rIns="0" bIns="0" rtlCol="0" anchor="ctr"/>
          <a:lstStyle/>
          <a:p>
            <a:pPr rtl="0" algn="l" indent="0" marL="0">
              <a:buNone/>
            </a:pPr>
            <a:r>
              <a:rPr lang="en-US" sz="1800" b="1" dirty="0">
                <a:solidFill>
                  <a:srgbClr val="1B262C"/>
                </a:solidFill>
                <a:latin typeface="Arial" pitchFamily="34" charset="0"/>
                <a:ea typeface="Arial" pitchFamily="34" charset="-122"/>
                <a:cs typeface="Arial" pitchFamily="34" charset="-120"/>
              </a:rPr>
              <a:t>6</a:t>
            </a:r>
            <a:r>
              <a:rPr lang="en-US" sz="1800" b="1" baseline="30000" dirty="0">
                <a:solidFill>
                  <a:srgbClr val="1B262C"/>
                </a:solidFill>
                <a:latin typeface="Arial" pitchFamily="34" charset="0"/>
                <a:ea typeface="Arial" pitchFamily="34" charset="-122"/>
                <a:cs typeface="Arial" pitchFamily="34" charset="-120"/>
              </a:rPr>
              <a:t>3</a:t>
            </a:r>
            <a:r>
              <a:rPr lang="en-US" sz="1800" b="1" dirty="0">
                <a:solidFill>
                  <a:srgbClr val="1B262C"/>
                </a:solidFill>
                <a:latin typeface="Arial" pitchFamily="34" charset="0"/>
                <a:ea typeface="Arial" pitchFamily="34" charset="-122"/>
                <a:cs typeface="Arial" pitchFamily="34" charset="-120"/>
              </a:rPr>
              <a:t> = 6 × 6 × 6 = 216        6 × 3 = 18</a:t>
            </a:r>
            <a:endParaRPr lang="en-US" sz="1800" dirty="0"/>
          </a:p>
        </p:txBody>
      </p:sp>
      <p:sp>
        <p:nvSpPr>
          <p:cNvPr id="7" name="Text 5"/>
          <p:cNvSpPr txBox="1"/>
          <p:nvPr/>
        </p:nvSpPr>
        <p:spPr>
          <a:xfrm>
            <a:off x="5760720" y="1005840"/>
            <a:ext cx="2331720" cy="548640"/>
          </a:xfrm>
          <a:prstGeom prst="rect">
            <a:avLst/>
          </a:prstGeom>
          <a:noFill/>
          <a:ln/>
        </p:spPr>
        <p:txBody>
          <a:bodyPr wrap="square" lIns="0" tIns="0" rIns="0" bIns="0" rtlCol="0" anchor="ctr"/>
          <a:lstStyle/>
          <a:p>
            <a:pPr rtl="1" algn="r" indent="0" marL="0">
              <a:buNone/>
            </a:pPr>
            <a:r>
              <a:rPr lang="ar-LB" altLang="en-US" sz="1300" dirty="0">
                <a:solidFill>
                  <a:srgbClr val="1B262C"/>
                </a:solidFill>
              </a:rPr>
              <a:t>الجواب (ب)؛ الضرب جمع متكرر</a:t>
            </a:r>
            <a:endParaRPr lang="ar-LB" sz="1300" dirty="0"/>
          </a:p>
        </p:txBody>
      </p:sp>
      <p:sp>
        <p:nvSpPr>
          <p:cNvPr id="8" name="evs2"/>
          <p:cNvSpPr/>
          <p:nvPr/>
        </p:nvSpPr>
        <p:spPr>
          <a:xfrm>
            <a:off x="457200" y="1664208"/>
            <a:ext cx="8229600" cy="548640"/>
          </a:xfrm>
          <a:prstGeom prst="roundRect">
            <a:avLst>
              <a:gd name="adj" fmla="val 20000"/>
            </a:avLst>
          </a:prstGeom>
          <a:solidFill>
            <a:srgbClr val="2E9E5B">
              <a:alpha val="10000"/>
            </a:srgbClr>
          </a:solidFill>
          <a:ln w="12700">
            <a:solidFill>
              <a:srgbClr val="2E9E5B">
                <a:alpha val="60000"/>
              </a:srgbClr>
            </a:solidFill>
            <a:prstDash val="solid"/>
          </a:ln>
        </p:spPr>
      </p:sp>
      <p:sp>
        <p:nvSpPr>
          <p:cNvPr id="9" name="Shape 7"/>
          <p:cNvSpPr/>
          <p:nvPr/>
        </p:nvSpPr>
        <p:spPr>
          <a:xfrm>
            <a:off x="8211312" y="1764792"/>
            <a:ext cx="347472" cy="347472"/>
          </a:xfrm>
          <a:prstGeom prst="ellipse">
            <a:avLst/>
          </a:prstGeom>
          <a:solidFill>
            <a:srgbClr val="2E9E5B"/>
          </a:solidFill>
          <a:ln w="12700">
            <a:solidFill>
              <a:srgbClr val="2E9E5B"/>
            </a:solidFill>
            <a:prstDash val="solid"/>
          </a:ln>
        </p:spPr>
      </p:sp>
      <p:sp>
        <p:nvSpPr>
          <p:cNvPr id="10" name="Text 8"/>
          <p:cNvSpPr txBox="1"/>
          <p:nvPr/>
        </p:nvSpPr>
        <p:spPr>
          <a:xfrm>
            <a:off x="8211312" y="1764792"/>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2</a:t>
            </a:r>
            <a:endParaRPr lang="ar-LB" sz="1400" dirty="0"/>
          </a:p>
        </p:txBody>
      </p:sp>
      <p:sp>
        <p:nvSpPr>
          <p:cNvPr id="11" name="Text 9"/>
          <p:cNvSpPr txBox="1"/>
          <p:nvPr/>
        </p:nvSpPr>
        <p:spPr>
          <a:xfrm>
            <a:off x="640080" y="1664208"/>
            <a:ext cx="7406640" cy="548640"/>
          </a:xfrm>
          <a:prstGeom prst="rect">
            <a:avLst/>
          </a:prstGeom>
          <a:noFill/>
          <a:ln/>
        </p:spPr>
        <p:txBody>
          <a:bodyPr wrap="square" lIns="0" tIns="0" rIns="0" bIns="0" rtlCol="0" anchor="ctr"/>
          <a:lstStyle/>
          <a:p>
            <a:pPr algn="r" indent="0" marL="0">
              <a:buNone/>
            </a:pPr>
            <a:r>
              <a:rPr lang="en-US" sz="1800" b="1" dirty="0">
                <a:solidFill>
                  <a:srgbClr val="1B262C"/>
                </a:solidFill>
                <a:latin typeface="Arial" pitchFamily="34" charset="0"/>
                <a:ea typeface="Arial" pitchFamily="34" charset="-122"/>
                <a:cs typeface="Arial" pitchFamily="34" charset="-120"/>
              </a:rPr>
              <a:t>8</a:t>
            </a:r>
            <a:r>
              <a:rPr lang="en-US" sz="1800" b="1" baseline="30000" dirty="0">
                <a:solidFill>
                  <a:srgbClr val="1B262C"/>
                </a:solidFill>
                <a:latin typeface="Arial" pitchFamily="34" charset="0"/>
                <a:ea typeface="Arial" pitchFamily="34" charset="-122"/>
                <a:cs typeface="Arial" pitchFamily="34" charset="-120"/>
              </a:rPr>
              <a:t>5</a:t>
            </a:r>
            <a:r>
              <a:rPr lang="en-US" sz="1800" b="1" dirty="0">
                <a:solidFill>
                  <a:srgbClr val="1B262C"/>
                </a:solidFill>
                <a:latin typeface="Arial" pitchFamily="34" charset="0"/>
                <a:ea typeface="Arial" pitchFamily="34" charset="-122"/>
                <a:cs typeface="Arial" pitchFamily="34" charset="-120"/>
              </a:rPr>
              <a:t>   ،   y</a:t>
            </a:r>
            <a:r>
              <a:rPr lang="en-US" sz="1800" b="1" baseline="30000" dirty="0">
                <a:solidFill>
                  <a:srgbClr val="1B262C"/>
                </a:solidFill>
                <a:latin typeface="Arial" pitchFamily="34" charset="0"/>
                <a:ea typeface="Arial" pitchFamily="34" charset="-122"/>
                <a:cs typeface="Arial" pitchFamily="34" charset="-120"/>
              </a:rPr>
              <a:t>3</a:t>
            </a:r>
            <a:endParaRPr lang="en-US" sz="1800" dirty="0"/>
          </a:p>
        </p:txBody>
      </p:sp>
      <p:sp>
        <p:nvSpPr>
          <p:cNvPr id="12" name="evs3"/>
          <p:cNvSpPr/>
          <p:nvPr/>
        </p:nvSpPr>
        <p:spPr>
          <a:xfrm>
            <a:off x="457200" y="2322576"/>
            <a:ext cx="8229600" cy="548640"/>
          </a:xfrm>
          <a:prstGeom prst="roundRect">
            <a:avLst>
              <a:gd name="adj" fmla="val 20000"/>
            </a:avLst>
          </a:prstGeom>
          <a:solidFill>
            <a:srgbClr val="2E9E5B">
              <a:alpha val="10000"/>
            </a:srgbClr>
          </a:solidFill>
          <a:ln w="12700">
            <a:solidFill>
              <a:srgbClr val="2E9E5B">
                <a:alpha val="60000"/>
              </a:srgbClr>
            </a:solidFill>
            <a:prstDash val="solid"/>
          </a:ln>
        </p:spPr>
      </p:sp>
      <p:sp>
        <p:nvSpPr>
          <p:cNvPr id="13" name="Shape 11"/>
          <p:cNvSpPr/>
          <p:nvPr/>
        </p:nvSpPr>
        <p:spPr>
          <a:xfrm>
            <a:off x="8211312" y="2423160"/>
            <a:ext cx="347472" cy="347472"/>
          </a:xfrm>
          <a:prstGeom prst="ellipse">
            <a:avLst/>
          </a:prstGeom>
          <a:solidFill>
            <a:srgbClr val="2E9E5B"/>
          </a:solidFill>
          <a:ln w="12700">
            <a:solidFill>
              <a:srgbClr val="2E9E5B"/>
            </a:solidFill>
            <a:prstDash val="solid"/>
          </a:ln>
        </p:spPr>
      </p:sp>
      <p:sp>
        <p:nvSpPr>
          <p:cNvPr id="14" name="Text 12"/>
          <p:cNvSpPr txBox="1"/>
          <p:nvPr/>
        </p:nvSpPr>
        <p:spPr>
          <a:xfrm>
            <a:off x="8211312" y="2423160"/>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3</a:t>
            </a:r>
            <a:endParaRPr lang="ar-LB" sz="1400" dirty="0"/>
          </a:p>
        </p:txBody>
      </p:sp>
      <p:sp>
        <p:nvSpPr>
          <p:cNvPr id="15" name="Text 13"/>
          <p:cNvSpPr txBox="1"/>
          <p:nvPr/>
        </p:nvSpPr>
        <p:spPr>
          <a:xfrm>
            <a:off x="640080" y="2322576"/>
            <a:ext cx="7406640" cy="548640"/>
          </a:xfrm>
          <a:prstGeom prst="rect">
            <a:avLst/>
          </a:prstGeom>
          <a:noFill/>
          <a:ln/>
        </p:spPr>
        <p:txBody>
          <a:bodyPr wrap="square" lIns="0" tIns="0" rIns="0" bIns="0" rtlCol="0" anchor="ctr"/>
          <a:lstStyle/>
          <a:p>
            <a:pPr algn="r" indent="0" marL="0">
              <a:buNone/>
            </a:pPr>
            <a:r>
              <a:rPr lang="en-US" sz="1800" b="1" dirty="0">
                <a:solidFill>
                  <a:srgbClr val="1B262C"/>
                </a:solidFill>
                <a:latin typeface="Arial" pitchFamily="34" charset="0"/>
                <a:ea typeface="Arial" pitchFamily="34" charset="-122"/>
                <a:cs typeface="Arial" pitchFamily="34" charset="-120"/>
              </a:rPr>
              <a:t>(5</a:t>
            </a:r>
            <a:r>
              <a:rPr lang="en-US" sz="1800" b="1" baseline="30000" dirty="0">
                <a:solidFill>
                  <a:srgbClr val="1B262C"/>
                </a:solidFill>
                <a:latin typeface="Arial" pitchFamily="34" charset="0"/>
                <a:ea typeface="Arial" pitchFamily="34" charset="-122"/>
                <a:cs typeface="Arial" pitchFamily="34" charset="-120"/>
              </a:rPr>
              <a:t>3</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4</a:t>
            </a:r>
            <a:r>
              <a:rPr lang="en-US" sz="1800" b="1" dirty="0">
                <a:solidFill>
                  <a:srgbClr val="1B262C"/>
                </a:solidFill>
                <a:latin typeface="Arial" pitchFamily="34" charset="0"/>
                <a:ea typeface="Arial" pitchFamily="34" charset="-122"/>
                <a:cs typeface="Arial" pitchFamily="34" charset="-120"/>
              </a:rPr>
              <a:t> = 5</a:t>
            </a:r>
            <a:r>
              <a:rPr lang="en-US" sz="1800" b="1" baseline="30000" dirty="0">
                <a:solidFill>
                  <a:srgbClr val="1B262C"/>
                </a:solidFill>
                <a:latin typeface="Arial" pitchFamily="34" charset="0"/>
                <a:ea typeface="Arial" pitchFamily="34" charset="-122"/>
                <a:cs typeface="Arial" pitchFamily="34" charset="-120"/>
              </a:rPr>
              <a:t>12</a:t>
            </a:r>
            <a:r>
              <a:rPr lang="en-US" sz="1800" b="1" dirty="0">
                <a:solidFill>
                  <a:srgbClr val="1B262C"/>
                </a:solidFill>
                <a:latin typeface="Arial" pitchFamily="34" charset="0"/>
                <a:ea typeface="Arial" pitchFamily="34" charset="-122"/>
                <a:cs typeface="Arial" pitchFamily="34" charset="-120"/>
              </a:rPr>
              <a:t>   ،   (b</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7</a:t>
            </a:r>
            <a:r>
              <a:rPr lang="en-US" sz="1800" b="1" dirty="0">
                <a:solidFill>
                  <a:srgbClr val="1B262C"/>
                </a:solidFill>
                <a:latin typeface="Arial" pitchFamily="34" charset="0"/>
                <a:ea typeface="Arial" pitchFamily="34" charset="-122"/>
                <a:cs typeface="Arial" pitchFamily="34" charset="-120"/>
              </a:rPr>
              <a:t> = b</a:t>
            </a:r>
            <a:r>
              <a:rPr lang="en-US" sz="1800" b="1" baseline="30000" dirty="0">
                <a:solidFill>
                  <a:srgbClr val="1B262C"/>
                </a:solidFill>
                <a:latin typeface="Arial" pitchFamily="34" charset="0"/>
                <a:ea typeface="Arial" pitchFamily="34" charset="-122"/>
                <a:cs typeface="Arial" pitchFamily="34" charset="-120"/>
              </a:rPr>
              <a:t>14</a:t>
            </a:r>
            <a:endParaRPr lang="en-US" sz="1800" dirty="0"/>
          </a:p>
        </p:txBody>
      </p:sp>
      <p:sp>
        <p:nvSpPr>
          <p:cNvPr id="16" name="evs4"/>
          <p:cNvSpPr/>
          <p:nvPr/>
        </p:nvSpPr>
        <p:spPr>
          <a:xfrm>
            <a:off x="457200" y="2980944"/>
            <a:ext cx="8229600" cy="548640"/>
          </a:xfrm>
          <a:prstGeom prst="roundRect">
            <a:avLst>
              <a:gd name="adj" fmla="val 20000"/>
            </a:avLst>
          </a:prstGeom>
          <a:solidFill>
            <a:srgbClr val="2E9E5B">
              <a:alpha val="10000"/>
            </a:srgbClr>
          </a:solidFill>
          <a:ln w="12700">
            <a:solidFill>
              <a:srgbClr val="2E9E5B">
                <a:alpha val="60000"/>
              </a:srgbClr>
            </a:solidFill>
            <a:prstDash val="solid"/>
          </a:ln>
        </p:spPr>
      </p:sp>
      <p:sp>
        <p:nvSpPr>
          <p:cNvPr id="17" name="Shape 15"/>
          <p:cNvSpPr/>
          <p:nvPr/>
        </p:nvSpPr>
        <p:spPr>
          <a:xfrm>
            <a:off x="8211312" y="3081528"/>
            <a:ext cx="347472" cy="347472"/>
          </a:xfrm>
          <a:prstGeom prst="ellipse">
            <a:avLst/>
          </a:prstGeom>
          <a:solidFill>
            <a:srgbClr val="2E9E5B"/>
          </a:solidFill>
          <a:ln w="12700">
            <a:solidFill>
              <a:srgbClr val="2E9E5B"/>
            </a:solidFill>
            <a:prstDash val="solid"/>
          </a:ln>
        </p:spPr>
      </p:sp>
      <p:sp>
        <p:nvSpPr>
          <p:cNvPr id="18" name="Text 16"/>
          <p:cNvSpPr txBox="1"/>
          <p:nvPr/>
        </p:nvSpPr>
        <p:spPr>
          <a:xfrm>
            <a:off x="8211312" y="3081528"/>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4</a:t>
            </a:r>
            <a:endParaRPr lang="ar-LB" sz="1400" dirty="0"/>
          </a:p>
        </p:txBody>
      </p:sp>
      <p:sp>
        <p:nvSpPr>
          <p:cNvPr id="19" name="Text 17"/>
          <p:cNvSpPr txBox="1"/>
          <p:nvPr/>
        </p:nvSpPr>
        <p:spPr>
          <a:xfrm>
            <a:off x="640080" y="2980944"/>
            <a:ext cx="7406640" cy="548640"/>
          </a:xfrm>
          <a:prstGeom prst="rect">
            <a:avLst/>
          </a:prstGeom>
          <a:noFill/>
          <a:ln/>
        </p:spPr>
        <p:txBody>
          <a:bodyPr wrap="square" lIns="0" tIns="0" rIns="0" bIns="0" rtlCol="0" anchor="ctr"/>
          <a:lstStyle/>
          <a:p>
            <a:pPr rtl="0" algn="r" indent="0" marL="0">
              <a:buNone/>
            </a:pPr>
            <a:r>
              <a:rPr lang="en-US" sz="1800" b="1" dirty="0">
                <a:solidFill>
                  <a:srgbClr val="1B262C"/>
                </a:solidFill>
                <a:latin typeface="Arial" pitchFamily="34" charset="0"/>
                <a:ea typeface="Arial" pitchFamily="34" charset="-122"/>
                <a:cs typeface="Arial" pitchFamily="34" charset="-120"/>
              </a:rPr>
              <a:t>(2</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4</a:t>
            </a:r>
            <a:r>
              <a:rPr lang="en-US" sz="1800" b="1" dirty="0">
                <a:solidFill>
                  <a:srgbClr val="1B262C"/>
                </a:solidFill>
                <a:latin typeface="Arial" pitchFamily="34" charset="0"/>
                <a:ea typeface="Arial" pitchFamily="34" charset="-122"/>
                <a:cs typeface="Arial" pitchFamily="34" charset="-120"/>
              </a:rPr>
              <a:t> = 2</a:t>
            </a:r>
            <a:r>
              <a:rPr lang="en-US" sz="1800" b="1" baseline="30000" dirty="0">
                <a:solidFill>
                  <a:srgbClr val="1B262C"/>
                </a:solidFill>
                <a:latin typeface="Arial" pitchFamily="34" charset="0"/>
                <a:ea typeface="Arial" pitchFamily="34" charset="-122"/>
                <a:cs typeface="Arial" pitchFamily="34" charset="-120"/>
              </a:rPr>
              <a:t>8</a:t>
            </a:r>
            <a:r>
              <a:rPr lang="en-US" sz="1800" b="1" dirty="0">
                <a:solidFill>
                  <a:srgbClr val="1B262C"/>
                </a:solidFill>
                <a:latin typeface="Arial" pitchFamily="34" charset="0"/>
                <a:ea typeface="Arial" pitchFamily="34" charset="-122"/>
                <a:cs typeface="Arial" pitchFamily="34" charset="-120"/>
              </a:rPr>
              <a:t> = 256</a:t>
            </a:r>
            <a:endParaRPr lang="en-US" sz="1800" dirty="0"/>
          </a:p>
        </p:txBody>
      </p:sp>
      <p:sp>
        <p:nvSpPr>
          <p:cNvPr id="20" name="evs5"/>
          <p:cNvSpPr/>
          <p:nvPr/>
        </p:nvSpPr>
        <p:spPr>
          <a:xfrm>
            <a:off x="457200" y="3639312"/>
            <a:ext cx="8229600" cy="548640"/>
          </a:xfrm>
          <a:prstGeom prst="roundRect">
            <a:avLst>
              <a:gd name="adj" fmla="val 20000"/>
            </a:avLst>
          </a:prstGeom>
          <a:solidFill>
            <a:srgbClr val="2E9E5B">
              <a:alpha val="10000"/>
            </a:srgbClr>
          </a:solidFill>
          <a:ln w="12700">
            <a:solidFill>
              <a:srgbClr val="2E9E5B">
                <a:alpha val="60000"/>
              </a:srgbClr>
            </a:solidFill>
            <a:prstDash val="solid"/>
          </a:ln>
        </p:spPr>
      </p:sp>
      <p:sp>
        <p:nvSpPr>
          <p:cNvPr id="21" name="Shape 19"/>
          <p:cNvSpPr/>
          <p:nvPr/>
        </p:nvSpPr>
        <p:spPr>
          <a:xfrm>
            <a:off x="8211312" y="3739896"/>
            <a:ext cx="347472" cy="347472"/>
          </a:xfrm>
          <a:prstGeom prst="ellipse">
            <a:avLst/>
          </a:prstGeom>
          <a:solidFill>
            <a:srgbClr val="2E9E5B"/>
          </a:solidFill>
          <a:ln w="12700">
            <a:solidFill>
              <a:srgbClr val="2E9E5B"/>
            </a:solidFill>
            <a:prstDash val="solid"/>
          </a:ln>
        </p:spPr>
      </p:sp>
      <p:sp>
        <p:nvSpPr>
          <p:cNvPr id="22" name="Text 20"/>
          <p:cNvSpPr txBox="1"/>
          <p:nvPr/>
        </p:nvSpPr>
        <p:spPr>
          <a:xfrm>
            <a:off x="8211312" y="3739896"/>
            <a:ext cx="347472" cy="347472"/>
          </a:xfrm>
          <a:prstGeom prst="rect">
            <a:avLst/>
          </a:prstGeom>
          <a:noFill/>
          <a:ln/>
        </p:spPr>
        <p:txBody>
          <a:bodyPr wrap="square" lIns="0" tIns="0" rIns="0" bIns="0" rtlCol="0" anchor="ctr"/>
          <a:lstStyle/>
          <a:p>
            <a:pPr rtl="1" algn="ctr" indent="0" marL="0">
              <a:buNone/>
            </a:pPr>
            <a:r>
              <a:rPr lang="ar-LB" altLang="en-US" sz="1400" b="1" dirty="0">
                <a:solidFill>
                  <a:srgbClr val="FFFFFF"/>
                </a:solidFill>
              </a:rPr>
              <a:t>5</a:t>
            </a:r>
            <a:endParaRPr lang="ar-LB" sz="1400" dirty="0"/>
          </a:p>
        </p:txBody>
      </p:sp>
      <p:sp>
        <p:nvSpPr>
          <p:cNvPr id="23" name="Text 21"/>
          <p:cNvSpPr txBox="1"/>
          <p:nvPr/>
        </p:nvSpPr>
        <p:spPr>
          <a:xfrm>
            <a:off x="640080" y="3639312"/>
            <a:ext cx="7406640" cy="548640"/>
          </a:xfrm>
          <a:prstGeom prst="rect">
            <a:avLst/>
          </a:prstGeom>
          <a:noFill/>
          <a:ln/>
        </p:spPr>
        <p:txBody>
          <a:bodyPr wrap="square" lIns="0" tIns="0" rIns="0" bIns="0" rtlCol="0" anchor="ctr"/>
          <a:lstStyle/>
          <a:p>
            <a:pPr rtl="0" algn="r" indent="0" marL="0">
              <a:buNone/>
            </a:pPr>
            <a:r>
              <a:rPr lang="en-US" sz="1800" b="1" dirty="0">
                <a:solidFill>
                  <a:srgbClr val="1B262C"/>
                </a:solidFill>
                <a:latin typeface="Arial" pitchFamily="34" charset="0"/>
                <a:ea typeface="Arial" pitchFamily="34" charset="-122"/>
                <a:cs typeface="Arial" pitchFamily="34" charset="-120"/>
              </a:rPr>
              <a:t>V = (10</a:t>
            </a:r>
            <a:r>
              <a:rPr lang="en-US" sz="1800" b="1" baseline="30000" dirty="0">
                <a:solidFill>
                  <a:srgbClr val="1B262C"/>
                </a:solidFill>
                <a:latin typeface="Arial" pitchFamily="34" charset="0"/>
                <a:ea typeface="Arial" pitchFamily="34" charset="-122"/>
                <a:cs typeface="Arial" pitchFamily="34" charset="-120"/>
              </a:rPr>
              <a:t>2</a:t>
            </a:r>
            <a:r>
              <a:rPr lang="en-US" sz="1800" b="1" dirty="0">
                <a:solidFill>
                  <a:srgbClr val="1B262C"/>
                </a:solidFill>
                <a:latin typeface="Arial" pitchFamily="34" charset="0"/>
                <a:ea typeface="Arial" pitchFamily="34" charset="-122"/>
                <a:cs typeface="Arial" pitchFamily="34" charset="-120"/>
              </a:rPr>
              <a:t>)</a:t>
            </a:r>
            <a:r>
              <a:rPr lang="en-US" sz="1800" b="1" baseline="30000" dirty="0">
                <a:solidFill>
                  <a:srgbClr val="1B262C"/>
                </a:solidFill>
                <a:latin typeface="Arial" pitchFamily="34" charset="0"/>
                <a:ea typeface="Arial" pitchFamily="34" charset="-122"/>
                <a:cs typeface="Arial" pitchFamily="34" charset="-120"/>
              </a:rPr>
              <a:t>3</a:t>
            </a:r>
            <a:r>
              <a:rPr lang="en-US" sz="1800" b="1" dirty="0">
                <a:solidFill>
                  <a:srgbClr val="1B262C"/>
                </a:solidFill>
                <a:latin typeface="Arial" pitchFamily="34" charset="0"/>
                <a:ea typeface="Arial" pitchFamily="34" charset="-122"/>
                <a:cs typeface="Arial" pitchFamily="34" charset="-120"/>
              </a:rPr>
              <a:t> = 10</a:t>
            </a:r>
            <a:r>
              <a:rPr lang="en-US" sz="1800" b="1" baseline="30000" dirty="0">
                <a:solidFill>
                  <a:srgbClr val="1B262C"/>
                </a:solidFill>
                <a:latin typeface="Arial" pitchFamily="34" charset="0"/>
                <a:ea typeface="Arial" pitchFamily="34" charset="-122"/>
                <a:cs typeface="Arial" pitchFamily="34" charset="-120"/>
              </a:rPr>
              <a:t>6</a:t>
            </a:r>
            <a:r>
              <a:rPr lang="en-US" sz="1800" b="1" dirty="0">
                <a:solidFill>
                  <a:srgbClr val="1B262C"/>
                </a:solidFill>
                <a:latin typeface="Arial" pitchFamily="34" charset="0"/>
                <a:ea typeface="Arial" pitchFamily="34" charset="-122"/>
                <a:cs typeface="Arial" pitchFamily="34" charset="-120"/>
              </a:rPr>
              <a:t> = 1 000 000 cm</a:t>
            </a:r>
            <a:r>
              <a:rPr lang="en-US" sz="1800" b="1" baseline="30000" dirty="0">
                <a:solidFill>
                  <a:srgbClr val="1B262C"/>
                </a:solidFill>
                <a:latin typeface="Arial" pitchFamily="34" charset="0"/>
                <a:ea typeface="Arial" pitchFamily="34" charset="-122"/>
                <a:cs typeface="Arial" pitchFamily="34" charset="-120"/>
              </a:rPr>
              <a:t>3</a:t>
            </a:r>
            <a:endParaRPr lang="en-US" sz="1800" dirty="0"/>
          </a:p>
        </p:txBody>
      </p:sp>
      <p:sp>
        <p:nvSpPr>
          <p:cNvPr id="24" name="Text 22"/>
          <p:cNvSpPr txBox="1"/>
          <p:nvPr/>
        </p:nvSpPr>
        <p:spPr>
          <a:xfrm>
            <a:off x="457200" y="4343400"/>
            <a:ext cx="8229600" cy="365760"/>
          </a:xfrm>
          <a:prstGeom prst="rect">
            <a:avLst/>
          </a:prstGeom>
          <a:noFill/>
          <a:ln/>
        </p:spPr>
        <p:txBody>
          <a:bodyPr wrap="square" lIns="0" tIns="0" rIns="0" bIns="0" rtlCol="0" anchor="t"/>
          <a:lstStyle/>
          <a:p>
            <a:pPr rtl="1" algn="ctr" indent="0" marL="0">
              <a:buNone/>
            </a:pPr>
            <a:r>
              <a:rPr lang="ar-LB" altLang="en-US" sz="1300" dirty="0">
                <a:solidFill>
                  <a:srgbClr val="5B6770"/>
                </a:solidFill>
              </a:rPr>
              <a:t>من أخطأ في سؤال يعود إلى الشريحة المرتبطة بهدفه، ويطلب مساعدة أحد «الخبراء».</a:t>
            </a:r>
            <a:endParaRPr lang="ar-LB" sz="13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rtl="1" algn="r" indent="0" marL="0">
              <a:buNone/>
            </a:pPr>
            <a:r>
              <a:rPr lang="en-US" sz="3000" b="1" dirty="0">
                <a:solidFill>
                  <a:srgbClr val="0F4C5C"/>
                </a:solidFill>
              </a:rPr>
              <a:t>الخلاصة والتقويم الذاتي</a:t>
            </a:r>
            <a:endParaRPr lang="en-US" sz="3000" dirty="0"/>
          </a:p>
        </p:txBody>
      </p:sp>
      <p:sp>
        <p:nvSpPr>
          <p:cNvPr id="3" name="الضرب = جمع متكرر"/>
          <p:cNvSpPr/>
          <p:nvPr/>
        </p:nvSpPr>
        <p:spPr>
          <a:xfrm>
            <a:off x="5989320" y="1005840"/>
            <a:ext cx="2606040" cy="1325880"/>
          </a:xfrm>
          <a:prstGeom prst="roundRect">
            <a:avLst>
              <a:gd name="adj" fmla="val 8276"/>
            </a:avLst>
          </a:prstGeom>
          <a:solidFill>
            <a:srgbClr val="0F8B8D">
              <a:alpha val="12000"/>
            </a:srgbClr>
          </a:solidFill>
          <a:ln w="12700">
            <a:solidFill>
              <a:srgbClr val="0F8B8D">
                <a:alpha val="60000"/>
              </a:srgbClr>
            </a:solidFill>
            <a:prstDash val="solid"/>
          </a:ln>
        </p:spPr>
      </p:sp>
      <p:sp>
        <p:nvSpPr>
          <p:cNvPr id="4" name="Text 2"/>
          <p:cNvSpPr txBox="1"/>
          <p:nvPr/>
        </p:nvSpPr>
        <p:spPr>
          <a:xfrm>
            <a:off x="5989320" y="1097280"/>
            <a:ext cx="2606040" cy="365760"/>
          </a:xfrm>
          <a:prstGeom prst="rect">
            <a:avLst/>
          </a:prstGeom>
          <a:noFill/>
          <a:ln/>
        </p:spPr>
        <p:txBody>
          <a:bodyPr wrap="square" lIns="0" tIns="0" rIns="0" bIns="0" rtlCol="0" anchor="t"/>
          <a:lstStyle/>
          <a:p>
            <a:pPr rtl="1" algn="ctr" indent="0" marL="0">
              <a:buNone/>
            </a:pPr>
            <a:r>
              <a:rPr lang="ar-LB" altLang="en-US" sz="1600" b="1" dirty="0">
                <a:solidFill>
                  <a:srgbClr val="0F8B8D"/>
                </a:solidFill>
              </a:rPr>
              <a:t>الضرب = جمع متكرر</a:t>
            </a:r>
            <a:endParaRPr lang="ar-LB" sz="1600" dirty="0"/>
          </a:p>
        </p:txBody>
      </p:sp>
      <p:sp>
        <p:nvSpPr>
          <p:cNvPr id="5" name="Text 3"/>
          <p:cNvSpPr txBox="1"/>
          <p:nvPr/>
        </p:nvSpPr>
        <p:spPr>
          <a:xfrm>
            <a:off x="6035040" y="1554480"/>
            <a:ext cx="2514600" cy="548640"/>
          </a:xfrm>
          <a:prstGeom prst="rect">
            <a:avLst/>
          </a:prstGeom>
          <a:noFill/>
          <a:ln/>
        </p:spPr>
        <p:txBody>
          <a:bodyPr wrap="square" lIns="0" tIns="0" rIns="0" bIns="0" rtlCol="0" anchor="ctr"/>
          <a:lstStyle/>
          <a:p>
            <a:pPr rtl="0" algn="ctr" indent="0" marL="0">
              <a:buNone/>
            </a:pPr>
            <a:r>
              <a:rPr lang="en-US" sz="1700" b="1" dirty="0">
                <a:solidFill>
                  <a:srgbClr val="1B262C"/>
                </a:solidFill>
                <a:latin typeface="Arial" pitchFamily="34" charset="0"/>
                <a:ea typeface="Arial" pitchFamily="34" charset="-122"/>
                <a:cs typeface="Arial" pitchFamily="34" charset="-120"/>
              </a:rPr>
              <a:t>4 × 3 = 3 + 3 + 3 + 3</a:t>
            </a:r>
            <a:endParaRPr lang="en-US" sz="1700" dirty="0"/>
          </a:p>
        </p:txBody>
      </p:sp>
      <p:sp>
        <p:nvSpPr>
          <p:cNvPr id="6" name="القوّة = ضرب متكرر"/>
          <p:cNvSpPr/>
          <p:nvPr/>
        </p:nvSpPr>
        <p:spPr>
          <a:xfrm>
            <a:off x="3246120" y="1005840"/>
            <a:ext cx="2606040" cy="1325880"/>
          </a:xfrm>
          <a:prstGeom prst="roundRect">
            <a:avLst>
              <a:gd name="adj" fmla="val 8276"/>
            </a:avLst>
          </a:prstGeom>
          <a:solidFill>
            <a:srgbClr val="E36414">
              <a:alpha val="12000"/>
            </a:srgbClr>
          </a:solidFill>
          <a:ln w="12700">
            <a:solidFill>
              <a:srgbClr val="E36414">
                <a:alpha val="60000"/>
              </a:srgbClr>
            </a:solidFill>
            <a:prstDash val="solid"/>
          </a:ln>
        </p:spPr>
      </p:sp>
      <p:sp>
        <p:nvSpPr>
          <p:cNvPr id="7" name="Text 5"/>
          <p:cNvSpPr txBox="1"/>
          <p:nvPr/>
        </p:nvSpPr>
        <p:spPr>
          <a:xfrm>
            <a:off x="3246120" y="1097280"/>
            <a:ext cx="2606040" cy="365760"/>
          </a:xfrm>
          <a:prstGeom prst="rect">
            <a:avLst/>
          </a:prstGeom>
          <a:noFill/>
          <a:ln/>
        </p:spPr>
        <p:txBody>
          <a:bodyPr wrap="square" lIns="0" tIns="0" rIns="0" bIns="0" rtlCol="0" anchor="t"/>
          <a:lstStyle/>
          <a:p>
            <a:pPr rtl="1" algn="ctr" indent="0" marL="0">
              <a:buNone/>
            </a:pPr>
            <a:r>
              <a:rPr lang="ar-LB" altLang="en-US" sz="1600" b="1" dirty="0">
                <a:solidFill>
                  <a:srgbClr val="E36414"/>
                </a:solidFill>
              </a:rPr>
              <a:t>القوّة = ضرب متكرر</a:t>
            </a:r>
            <a:endParaRPr lang="ar-LB" sz="1600" dirty="0"/>
          </a:p>
        </p:txBody>
      </p:sp>
      <p:sp>
        <p:nvSpPr>
          <p:cNvPr id="8" name="Text 6"/>
          <p:cNvSpPr txBox="1"/>
          <p:nvPr/>
        </p:nvSpPr>
        <p:spPr>
          <a:xfrm>
            <a:off x="3291840" y="1554480"/>
            <a:ext cx="2514600" cy="548640"/>
          </a:xfrm>
          <a:prstGeom prst="rect">
            <a:avLst/>
          </a:prstGeom>
          <a:noFill/>
          <a:ln/>
        </p:spPr>
        <p:txBody>
          <a:bodyPr wrap="square" lIns="0" tIns="0" rIns="0" bIns="0" rtlCol="0" anchor="ctr"/>
          <a:lstStyle/>
          <a:p>
            <a:pPr rtl="0" algn="ctr" indent="0" marL="0">
              <a:buNone/>
            </a:pPr>
            <a:r>
              <a:rPr lang="en-US" sz="1700" b="1" dirty="0">
                <a:solidFill>
                  <a:srgbClr val="1B262C"/>
                </a:solidFill>
                <a:latin typeface="Arial" pitchFamily="34" charset="0"/>
                <a:ea typeface="Arial" pitchFamily="34" charset="-122"/>
                <a:cs typeface="Arial" pitchFamily="34" charset="-120"/>
              </a:rPr>
              <a:t>3</a:t>
            </a:r>
            <a:r>
              <a:rPr lang="en-US" sz="1700" b="1" baseline="30000" dirty="0">
                <a:solidFill>
                  <a:srgbClr val="1B262C"/>
                </a:solidFill>
                <a:latin typeface="Arial" pitchFamily="34" charset="0"/>
                <a:ea typeface="Arial" pitchFamily="34" charset="-122"/>
                <a:cs typeface="Arial" pitchFamily="34" charset="-120"/>
              </a:rPr>
              <a:t>4</a:t>
            </a:r>
            <a:r>
              <a:rPr lang="en-US" sz="1700" b="1" dirty="0">
                <a:solidFill>
                  <a:srgbClr val="1B262C"/>
                </a:solidFill>
                <a:latin typeface="Arial" pitchFamily="34" charset="0"/>
                <a:ea typeface="Arial" pitchFamily="34" charset="-122"/>
                <a:cs typeface="Arial" pitchFamily="34" charset="-120"/>
              </a:rPr>
              <a:t> = 3 × 3 × 3 × 3</a:t>
            </a:r>
            <a:endParaRPr lang="en-US" sz="1700" dirty="0"/>
          </a:p>
        </p:txBody>
      </p:sp>
      <p:sp>
        <p:nvSpPr>
          <p:cNvPr id="9" name="قوّة القوّة"/>
          <p:cNvSpPr/>
          <p:nvPr/>
        </p:nvSpPr>
        <p:spPr>
          <a:xfrm>
            <a:off x="502920" y="1005840"/>
            <a:ext cx="2606040" cy="1325880"/>
          </a:xfrm>
          <a:prstGeom prst="roundRect">
            <a:avLst>
              <a:gd name="adj" fmla="val 8276"/>
            </a:avLst>
          </a:prstGeom>
          <a:solidFill>
            <a:srgbClr val="2671B8">
              <a:alpha val="12000"/>
            </a:srgbClr>
          </a:solidFill>
          <a:ln w="12700">
            <a:solidFill>
              <a:srgbClr val="2671B8">
                <a:alpha val="60000"/>
              </a:srgbClr>
            </a:solidFill>
            <a:prstDash val="solid"/>
          </a:ln>
        </p:spPr>
      </p:sp>
      <p:sp>
        <p:nvSpPr>
          <p:cNvPr id="10" name="Text 8"/>
          <p:cNvSpPr txBox="1"/>
          <p:nvPr/>
        </p:nvSpPr>
        <p:spPr>
          <a:xfrm>
            <a:off x="502920" y="1097280"/>
            <a:ext cx="2606040" cy="365760"/>
          </a:xfrm>
          <a:prstGeom prst="rect">
            <a:avLst/>
          </a:prstGeom>
          <a:noFill/>
          <a:ln/>
        </p:spPr>
        <p:txBody>
          <a:bodyPr wrap="square" lIns="0" tIns="0" rIns="0" bIns="0" rtlCol="0" anchor="t"/>
          <a:lstStyle/>
          <a:p>
            <a:pPr rtl="1" algn="ctr" indent="0" marL="0">
              <a:buNone/>
            </a:pPr>
            <a:r>
              <a:rPr lang="ar-LB" altLang="en-US" sz="1600" b="1" dirty="0">
                <a:solidFill>
                  <a:srgbClr val="2671B8"/>
                </a:solidFill>
              </a:rPr>
              <a:t>قوّة القوّة</a:t>
            </a:r>
            <a:endParaRPr lang="ar-LB" sz="1600" dirty="0"/>
          </a:p>
        </p:txBody>
      </p:sp>
      <p:sp>
        <p:nvSpPr>
          <p:cNvPr id="11" name="Text 9"/>
          <p:cNvSpPr txBox="1"/>
          <p:nvPr/>
        </p:nvSpPr>
        <p:spPr>
          <a:xfrm>
            <a:off x="548640" y="1554480"/>
            <a:ext cx="2514600" cy="548640"/>
          </a:xfrm>
          <a:prstGeom prst="rect">
            <a:avLst/>
          </a:prstGeom>
          <a:noFill/>
          <a:ln/>
        </p:spPr>
        <p:txBody>
          <a:bodyPr wrap="square" lIns="0" tIns="0" rIns="0" bIns="0" rtlCol="0" anchor="ctr"/>
          <a:lstStyle/>
          <a:p>
            <a:pPr rtl="0" algn="ctr" indent="0" marL="0">
              <a:buNone/>
            </a:pPr>
            <a:r>
              <a:rPr lang="en-US" sz="1700" b="1" dirty="0">
                <a:solidFill>
                  <a:srgbClr val="1B262C"/>
                </a:solidFill>
                <a:latin typeface="Arial" pitchFamily="34" charset="0"/>
                <a:ea typeface="Arial" pitchFamily="34" charset="-122"/>
                <a:cs typeface="Arial" pitchFamily="34" charset="-120"/>
              </a:rPr>
              <a:t>(a</a:t>
            </a:r>
            <a:r>
              <a:rPr lang="en-US" sz="1700" b="1" baseline="30000" dirty="0">
                <a:solidFill>
                  <a:srgbClr val="1B262C"/>
                </a:solidFill>
                <a:latin typeface="Arial" pitchFamily="34" charset="0"/>
                <a:ea typeface="Arial" pitchFamily="34" charset="-122"/>
                <a:cs typeface="Arial" pitchFamily="34" charset="-120"/>
              </a:rPr>
              <a:t>m</a:t>
            </a:r>
            <a:r>
              <a:rPr lang="en-US" sz="1700" b="1" dirty="0">
                <a:solidFill>
                  <a:srgbClr val="1B262C"/>
                </a:solidFill>
                <a:latin typeface="Arial" pitchFamily="34" charset="0"/>
                <a:ea typeface="Arial" pitchFamily="34" charset="-122"/>
                <a:cs typeface="Arial" pitchFamily="34" charset="-120"/>
              </a:rPr>
              <a:t>)</a:t>
            </a:r>
            <a:r>
              <a:rPr lang="en-US" sz="1700" b="1" baseline="30000" dirty="0">
                <a:solidFill>
                  <a:srgbClr val="1B262C"/>
                </a:solidFill>
                <a:latin typeface="Arial" pitchFamily="34" charset="0"/>
                <a:ea typeface="Arial" pitchFamily="34" charset="-122"/>
                <a:cs typeface="Arial" pitchFamily="34" charset="-120"/>
              </a:rPr>
              <a:t>n</a:t>
            </a:r>
            <a:r>
              <a:rPr lang="en-US" sz="1700" b="1" dirty="0">
                <a:solidFill>
                  <a:srgbClr val="1B262C"/>
                </a:solidFill>
                <a:latin typeface="Arial" pitchFamily="34" charset="0"/>
                <a:ea typeface="Arial" pitchFamily="34" charset="-122"/>
                <a:cs typeface="Arial" pitchFamily="34" charset="-120"/>
              </a:rPr>
              <a:t> = a</a:t>
            </a:r>
            <a:r>
              <a:rPr lang="en-US" sz="1700" b="1" baseline="30000" dirty="0">
                <a:solidFill>
                  <a:srgbClr val="1B262C"/>
                </a:solidFill>
                <a:latin typeface="Arial" pitchFamily="34" charset="0"/>
                <a:ea typeface="Arial" pitchFamily="34" charset="-122"/>
                <a:cs typeface="Arial" pitchFamily="34" charset="-120"/>
              </a:rPr>
              <a:t>m × n</a:t>
            </a:r>
            <a:endParaRPr lang="en-US" sz="1700" dirty="0"/>
          </a:p>
        </p:txBody>
      </p:sp>
      <p:sp>
        <p:nvSpPr>
          <p:cNvPr id="12" name="Text 10"/>
          <p:cNvSpPr txBox="1"/>
          <p:nvPr/>
        </p:nvSpPr>
        <p:spPr>
          <a:xfrm>
            <a:off x="457200" y="2560320"/>
            <a:ext cx="8229600" cy="365760"/>
          </a:xfrm>
          <a:prstGeom prst="rect">
            <a:avLst/>
          </a:prstGeom>
          <a:noFill/>
          <a:ln/>
        </p:spPr>
        <p:txBody>
          <a:bodyPr wrap="square" lIns="0" tIns="0" rIns="0" bIns="0" rtlCol="0" anchor="t"/>
          <a:lstStyle/>
          <a:p>
            <a:pPr rtl="1" algn="r" indent="0" marL="0">
              <a:buNone/>
            </a:pPr>
            <a:r>
              <a:rPr lang="ar-LB" altLang="en-US" sz="1600" b="1" dirty="0">
                <a:solidFill>
                  <a:srgbClr val="0F4C5C"/>
                </a:solidFill>
              </a:rPr>
              <a:t>قيّم نفسك في كل هدف:</a:t>
            </a:r>
            <a:endParaRPr lang="ar-LB" sz="1600" dirty="0"/>
          </a:p>
        </p:txBody>
      </p:sp>
      <p:sp>
        <p:nvSpPr>
          <p:cNvPr id="13" name="Shape 11"/>
          <p:cNvSpPr/>
          <p:nvPr/>
        </p:nvSpPr>
        <p:spPr>
          <a:xfrm>
            <a:off x="8183880" y="3035808"/>
            <a:ext cx="365760" cy="365760"/>
          </a:xfrm>
          <a:prstGeom prst="ellipse">
            <a:avLst/>
          </a:prstGeom>
          <a:solidFill>
            <a:srgbClr val="2E9E5B"/>
          </a:solidFill>
          <a:ln w="12700">
            <a:solidFill>
              <a:srgbClr val="2E9E5B"/>
            </a:solidFill>
            <a:prstDash val="solid"/>
          </a:ln>
        </p:spPr>
      </p:sp>
      <p:sp>
        <p:nvSpPr>
          <p:cNvPr id="14" name="Text 12"/>
          <p:cNvSpPr txBox="1"/>
          <p:nvPr/>
        </p:nvSpPr>
        <p:spPr>
          <a:xfrm>
            <a:off x="5989320" y="2990088"/>
            <a:ext cx="2103120" cy="457200"/>
          </a:xfrm>
          <a:prstGeom prst="rect">
            <a:avLst/>
          </a:prstGeom>
          <a:noFill/>
          <a:ln/>
        </p:spPr>
        <p:txBody>
          <a:bodyPr wrap="square" lIns="0" tIns="0" rIns="0" bIns="0" rtlCol="0" anchor="ctr"/>
          <a:lstStyle/>
          <a:p>
            <a:pPr rtl="1" algn="r" indent="0" marL="0">
              <a:buNone/>
            </a:pPr>
            <a:r>
              <a:rPr lang="ar-LB" altLang="en-US" sz="1300" dirty="0">
                <a:solidFill>
                  <a:srgbClr val="1B262C"/>
                </a:solidFill>
              </a:rPr>
              <a:t>أخضر: أستطيع أن أشرحه لزميلي</a:t>
            </a:r>
            <a:endParaRPr lang="ar-LB" sz="1300" dirty="0"/>
          </a:p>
        </p:txBody>
      </p:sp>
      <p:sp>
        <p:nvSpPr>
          <p:cNvPr id="15" name="Shape 13"/>
          <p:cNvSpPr/>
          <p:nvPr/>
        </p:nvSpPr>
        <p:spPr>
          <a:xfrm>
            <a:off x="5440680" y="3035808"/>
            <a:ext cx="365760" cy="365760"/>
          </a:xfrm>
          <a:prstGeom prst="ellipse">
            <a:avLst/>
          </a:prstGeom>
          <a:solidFill>
            <a:srgbClr val="E9A23B"/>
          </a:solidFill>
          <a:ln w="12700">
            <a:solidFill>
              <a:srgbClr val="E9A23B"/>
            </a:solidFill>
            <a:prstDash val="solid"/>
          </a:ln>
        </p:spPr>
      </p:sp>
      <p:sp>
        <p:nvSpPr>
          <p:cNvPr id="16" name="Text 14"/>
          <p:cNvSpPr txBox="1"/>
          <p:nvPr/>
        </p:nvSpPr>
        <p:spPr>
          <a:xfrm>
            <a:off x="3246120" y="2990088"/>
            <a:ext cx="2103120" cy="457200"/>
          </a:xfrm>
          <a:prstGeom prst="rect">
            <a:avLst/>
          </a:prstGeom>
          <a:noFill/>
          <a:ln/>
        </p:spPr>
        <p:txBody>
          <a:bodyPr wrap="square" lIns="0" tIns="0" rIns="0" bIns="0" rtlCol="0" anchor="ctr"/>
          <a:lstStyle/>
          <a:p>
            <a:pPr rtl="1" algn="r" indent="0" marL="0">
              <a:buNone/>
            </a:pPr>
            <a:r>
              <a:rPr lang="ar-LB" altLang="en-US" sz="1300" dirty="0">
                <a:solidFill>
                  <a:srgbClr val="1B262C"/>
                </a:solidFill>
              </a:rPr>
              <a:t>أصفر: أفهمه لكن أحتاج تدريبًا</a:t>
            </a:r>
            <a:endParaRPr lang="ar-LB" sz="1300" dirty="0"/>
          </a:p>
        </p:txBody>
      </p:sp>
      <p:sp>
        <p:nvSpPr>
          <p:cNvPr id="17" name="Shape 15"/>
          <p:cNvSpPr/>
          <p:nvPr/>
        </p:nvSpPr>
        <p:spPr>
          <a:xfrm>
            <a:off x="2697480" y="3035808"/>
            <a:ext cx="365760" cy="365760"/>
          </a:xfrm>
          <a:prstGeom prst="ellipse">
            <a:avLst/>
          </a:prstGeom>
          <a:solidFill>
            <a:srgbClr val="D1495B"/>
          </a:solidFill>
          <a:ln w="12700">
            <a:solidFill>
              <a:srgbClr val="D1495B"/>
            </a:solidFill>
            <a:prstDash val="solid"/>
          </a:ln>
        </p:spPr>
      </p:sp>
      <p:sp>
        <p:nvSpPr>
          <p:cNvPr id="18" name="Text 16"/>
          <p:cNvSpPr txBox="1"/>
          <p:nvPr/>
        </p:nvSpPr>
        <p:spPr>
          <a:xfrm>
            <a:off x="502920" y="2990088"/>
            <a:ext cx="2103120" cy="457200"/>
          </a:xfrm>
          <a:prstGeom prst="rect">
            <a:avLst/>
          </a:prstGeom>
          <a:noFill/>
          <a:ln/>
        </p:spPr>
        <p:txBody>
          <a:bodyPr wrap="square" lIns="0" tIns="0" rIns="0" bIns="0" rtlCol="0" anchor="ctr"/>
          <a:lstStyle/>
          <a:p>
            <a:pPr rtl="1" algn="r" indent="0" marL="0">
              <a:buNone/>
            </a:pPr>
            <a:r>
              <a:rPr lang="ar-LB" altLang="en-US" sz="1300" dirty="0">
                <a:solidFill>
                  <a:srgbClr val="1B262C"/>
                </a:solidFill>
              </a:rPr>
              <a:t>أحمر: أحتاج مساعدة</a:t>
            </a:r>
            <a:endParaRPr lang="ar-LB" sz="1300" dirty="0"/>
          </a:p>
        </p:txBody>
      </p:sp>
      <p:sp>
        <p:nvSpPr>
          <p:cNvPr id="19" name="hw"/>
          <p:cNvSpPr/>
          <p:nvPr/>
        </p:nvSpPr>
        <p:spPr>
          <a:xfrm>
            <a:off x="457200" y="3657600"/>
            <a:ext cx="8229600" cy="868680"/>
          </a:xfrm>
          <a:prstGeom prst="roundRect">
            <a:avLst>
              <a:gd name="adj" fmla="val 12632"/>
            </a:avLst>
          </a:prstGeom>
          <a:solidFill>
            <a:srgbClr val="0F4C5C">
              <a:alpha val="8000"/>
            </a:srgbClr>
          </a:solidFill>
          <a:ln w="12700">
            <a:solidFill>
              <a:srgbClr val="0F4C5C">
                <a:alpha val="60000"/>
              </a:srgbClr>
            </a:solidFill>
            <a:prstDash val="solid"/>
          </a:ln>
        </p:spPr>
      </p:sp>
      <p:sp>
        <p:nvSpPr>
          <p:cNvPr id="20" name="Shape 18"/>
          <p:cNvSpPr/>
          <p:nvPr/>
        </p:nvSpPr>
        <p:spPr>
          <a:xfrm>
            <a:off x="8092440" y="3840480"/>
            <a:ext cx="457200" cy="457200"/>
          </a:xfrm>
          <a:prstGeom prst="ellipse">
            <a:avLst/>
          </a:prstGeom>
          <a:solidFill>
            <a:srgbClr val="0F4C5C"/>
          </a:solidFill>
          <a:ln w="12700">
            <a:solidFill>
              <a:srgbClr val="0F4C5C"/>
            </a:solidFill>
            <a:prstDash val="solid"/>
          </a:ln>
        </p:spPr>
      </p:sp>
      <p:pic>
        <p:nvPicPr>
          <p:cNvPr id="21" name="Image 0" descr="preencoded.png">    </p:cNvPr>
          <p:cNvPicPr>
            <a:picLocks noChangeAspect="1"/>
          </p:cNvPicPr>
          <p:nvPr/>
        </p:nvPicPr>
        <p:blipFill>
          <a:blip r:embed="rId1"/>
          <a:stretch>
            <a:fillRect/>
          </a:stretch>
        </p:blipFill>
        <p:spPr>
          <a:xfrm>
            <a:off x="8202168" y="3950208"/>
            <a:ext cx="237744" cy="237744"/>
          </a:xfrm>
          <a:prstGeom prst="rect">
            <a:avLst/>
          </a:prstGeom>
        </p:spPr>
      </p:pic>
      <p:sp>
        <p:nvSpPr>
          <p:cNvPr id="22" name="Text 19"/>
          <p:cNvSpPr txBox="1"/>
          <p:nvPr/>
        </p:nvSpPr>
        <p:spPr>
          <a:xfrm>
            <a:off x="640080" y="3657600"/>
            <a:ext cx="7315200" cy="868680"/>
          </a:xfrm>
          <a:prstGeom prst="rect">
            <a:avLst/>
          </a:prstGeom>
          <a:noFill/>
          <a:ln/>
        </p:spPr>
        <p:txBody>
          <a:bodyPr wrap="square" lIns="0" tIns="0" rIns="0" bIns="0" rtlCol="0" anchor="ctr"/>
          <a:lstStyle/>
          <a:p>
            <a:pPr rtl="1" algn="r" indent="0" marL="0">
              <a:buNone/>
            </a:pPr>
            <a:r>
              <a:rPr lang="ar-LB" altLang="en-US" sz="1400" b="1" dirty="0">
                <a:solidFill>
                  <a:srgbClr val="E36414"/>
                </a:solidFill>
              </a:rPr>
              <a:t>واجب: </a:t>
            </a:r>
            <a:r>
              <a:rPr lang="ar-LB" altLang="en-US" sz="1400" dirty="0">
                <a:solidFill>
                  <a:srgbClr val="1B262C"/>
                </a:solidFill>
              </a:rPr>
              <a:t>ابحث عن مثال من حياتك يُكتب على شكل قوّة، ومثال على قوّة قوّة، واكتب كلًّا منهما بالترميز الأسّي واحسب قيمته.</a:t>
            </a:r>
            <a:endParaRPr lang="ar-LB" sz="1400" dirty="0"/>
          </a:p>
        </p:txBody>
      </p:sp>
      <p:sp>
        <p:nvSpPr>
          <p:cNvPr id="25" name="Slide Number Placeholder 0"/>
          <p:cNvSpPr>
            <a:spLocks noGrp="1"/>
          </p:cNvSpPr>
          <p:nvPr>
            <p:ph type="sldNum" sz="quarter" idx="4294967295"/>
          </p:nvPr>
        </p:nvSpPr>
        <p:spPr>
          <a:xfrm>
            <a:off x="320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rtl="0" algn="l"/>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Powers Lesson">
  <a:themeElements>
    <a:clrScheme name="Powers Lesson">
      <a:dk1>
        <a:srgbClr val="1B262C"/>
      </a:dk1>
      <a:lt1>
        <a:srgbClr val="FFFFFF"/>
      </a:lt1>
      <a:dk2>
        <a:srgbClr val="0F4C5C"/>
      </a:dk2>
      <a:lt2>
        <a:srgbClr val="EAF4F4"/>
      </a:lt2>
      <a:accent1>
        <a:srgbClr val="E36414"/>
      </a:accent1>
      <a:accent2>
        <a:srgbClr val="0F8B8D"/>
      </a:accent2>
      <a:accent3>
        <a:srgbClr val="2E9E5B"/>
      </a:accent3>
      <a:accent4>
        <a:srgbClr val="2671B8"/>
      </a:accent4>
      <a:accent5>
        <a:srgbClr val="7B3FA0"/>
      </a:accent5>
      <a:accent6>
        <a:srgbClr val="E9A23B"/>
      </a:accent6>
      <a:hlink>
        <a:srgbClr val="2671B8"/>
      </a:hlink>
      <a:folHlink>
        <a:srgbClr val="7B3FA0"/>
      </a:folHlink>
    </a:clrScheme>
    <a:fontScheme name="Powers Less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القوى وقوة القوة</dc:title>
  <dc:subject>PptxGenJS Presentation</dc:subject>
  <dc:creator>معلم الرياضيات</dc:creator>
  <cp:lastModifiedBy>معلم الرياضيات</cp:lastModifiedBy>
  <cp:revision>1</cp:revision>
  <dcterms:created xsi:type="dcterms:W3CDTF">2026-10-11T08:44:56Z</dcterms:created>
  <dcterms:modified xsi:type="dcterms:W3CDTF">2026-10-11T08:44:56Z</dcterms:modified>
</cp:coreProperties>
</file>