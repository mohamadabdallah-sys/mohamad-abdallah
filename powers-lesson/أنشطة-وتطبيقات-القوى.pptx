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بداية" id="{e110bda5-bcda-122f-6a8e-239d1e3558c9}">
          <p14:sldIdLst>
            <p14:sldId id="256"/>
          </p14:sldIdLst>
        </p14:section>
        <p14:section name="التمهيد" id="{6e387266-f7bc-9ac8-b672-06011a8bb2c7}">
          <p14:sldIdLst>
            <p14:sldId id="257"/>
            <p14:sldId id="258"/>
          </p14:sldIdLst>
        </p14:section>
        <p14:section name="الاستكشاف" id="{f7242ed7-8daf-6563-71b9-a62cac864c81}">
          <p14:sldIdLst>
            <p14:sldId id="259"/>
            <p14:sldId id="260"/>
            <p14:sldId id="261"/>
            <p14:sldId id="262"/>
          </p14:sldIdLst>
        </p14:section>
        <p14:section name="التطبيق" id="{3d9ae07b-c1f1-d59f-aa9d-e565ddd5db46}">
          <p14:sldIdLst>
            <p14:sldId id="263"/>
            <p14:sldId id="264"/>
            <p14:sldId id="265"/>
            <p14:sldId id="266"/>
          </p14:sldIdLst>
        </p14:section>
        <p14:section name="التقييم" id="{fa674e56-9c24-35b9-5264-9a22628d369c}">
          <p14:sldIdLst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(أ) 2، 4، 6، 8. (ب) 2، 4، 8، 16. الكومة (ب) أكبر.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2، 4، 8. ليس 6، بل 2 × 2 × 2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3 مرات. 1) 8. 2) 2 أُس 3 = 8. 3) 2 × 3 = 6، وهو يختلف عن 2 أُس 3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1) 4 خرزات. 2) 2 أُس 4 =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1) 2. 2) 3. 3) 4. 4) 2 × 3 = 6 و2 أُس 3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1) 5 أُس 3. 2) 9. 3) 4. 4) خطأ، الصحيح 3 أُس 2 =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الحل: 1) 4. 2) 6. 3) 3 أُس 2 = 9 أكبر من 2 أُس 3 = 8. 4) خطأ، الصحيح 2 أُس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600" b="1" dirty="0">
                <a:solidFill>
                  <a:srgbClr val="FFFFFF"/>
                </a:solidFill>
              </a:defRPr>
            </a:lvl1pPr>
          </a:lstStyle>
          <a:p>
            <a:pPr algn="r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r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200" b="1" dirty="0">
                <a:solidFill>
                  <a:srgbClr val="0F4C5C"/>
                </a:solidFill>
              </a:defRPr>
            </a:lvl1pPr>
          </a:lstStyle>
          <a:p>
            <a:pPr algn="r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القوى وقوّة القوّة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أنشطة وتطبيقات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2400" b="1" dirty="0">
                <a:solidFill>
                  <a:srgbClr val="F2C46D"/>
                </a:solidFill>
              </a:rPr>
              <a:t>تمهيد  •  استكشاف  •  تطبيق  •  تقييم</a:t>
            </a:r>
            <a:endParaRPr lang="ar-LB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تمهيد: أيّ المكافأتين تختار؟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11099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1109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أ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914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000" dirty="0">
                <a:solidFill>
                  <a:srgbClr val="1B262C"/>
                </a:solidFill>
              </a:rPr>
              <a:t>العرض (أ): نجمع العدد 2 أربع مرات.</a:t>
            </a:r>
            <a:endParaRPr lang="ar-LB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9144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2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+ 2 + 2 + 2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C2500C">
              <a:alpha val="8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1979676"/>
            <a:ext cx="384048" cy="384048"/>
          </a:xfrm>
          <a:prstGeom prst="ellipse">
            <a:avLst/>
          </a:prstGeom>
          <a:solidFill>
            <a:srgbClr val="C2500C"/>
          </a:solidFill>
          <a:ln w="12700">
            <a:solidFill>
              <a:srgbClr val="C25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9796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ب</a:t>
            </a:r>
            <a:endParaRPr lang="ar-LB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1783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000" dirty="0">
                <a:solidFill>
                  <a:srgbClr val="1B262C"/>
                </a:solidFill>
              </a:rPr>
              <a:t>العرض (ب): نضرب العدد 2 في نفسه أربع مرات.</a:t>
            </a:r>
            <a:endParaRPr lang="ar-LB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7830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2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2 × 2 × 2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1920240"/>
          </a:xfrm>
          <a:prstGeom prst="roundRect">
            <a:avLst>
              <a:gd name="adj" fmla="val 4762"/>
            </a:avLst>
          </a:prstGeom>
          <a:solidFill>
            <a:srgbClr val="1F7A45">
              <a:alpha val="10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2788920"/>
            <a:ext cx="438912" cy="438912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15" name="Image 0" descr="أيقونة يد: نشاط لمس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6666" y="2907426"/>
            <a:ext cx="201900" cy="20190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94360" y="277063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باللمس: كومتان من الخرز</a:t>
            </a:r>
            <a:endParaRPr lang="ar-LB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3227832"/>
            <a:ext cx="786384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الكومة (أ): أضف خرزتين في كل خطوة.</a:t>
            </a:r>
            <a:endParaRPr lang="ar-LB" sz="19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الكومة (ب): ضاعِف الخرز في كل خطوة.</a:t>
            </a:r>
            <a:endParaRPr lang="ar-LB" sz="19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بعد 4 خطوات: أيّ الكومتين أكبر؟</a:t>
            </a:r>
            <a:endParaRPr lang="ar-LB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نتيجة التمهيد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11099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1109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أ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914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000" dirty="0">
                <a:solidFill>
                  <a:srgbClr val="1B262C"/>
                </a:solidFill>
              </a:rPr>
              <a:t>الكومة (أ): 2، 4، 6، 8</a:t>
            </a:r>
            <a:endParaRPr lang="ar-LB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9144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2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+ 2 + 2 + 2 = 8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C2500C">
              <a:alpha val="8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1979676"/>
            <a:ext cx="384048" cy="384048"/>
          </a:xfrm>
          <a:prstGeom prst="ellipse">
            <a:avLst/>
          </a:prstGeom>
          <a:solidFill>
            <a:srgbClr val="C2500C"/>
          </a:solidFill>
          <a:ln w="12700">
            <a:solidFill>
              <a:srgbClr val="C25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9796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ب</a:t>
            </a:r>
            <a:endParaRPr lang="ar-LB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1783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000" dirty="0">
                <a:solidFill>
                  <a:srgbClr val="1B262C"/>
                </a:solidFill>
              </a:rPr>
              <a:t>الكومة (ب): 2، 4، 8، 16</a:t>
            </a:r>
            <a:endParaRPr lang="ar-LB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7830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2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2 × 2 × 2 = 16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2400" b="1" dirty="0">
                <a:solidFill>
                  <a:srgbClr val="0F4C5C"/>
                </a:solidFill>
              </a:rPr>
              <a:t>العرض (ب) أكبر، لأننا نضرب ولا نجمع.</a:t>
            </a:r>
            <a:endParaRPr lang="ar-LB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استكشاف 1: طيّ الورقة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1F7A45">
              <a:alpha val="10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1005840"/>
            <a:ext cx="438912" cy="438912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5" name="Image 0" descr="أيقونة يد: نشاط لمس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6666" y="1124346"/>
            <a:ext cx="201900" cy="201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98755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باللمس</a:t>
            </a:r>
            <a:endParaRPr lang="ar-LB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444752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اطوِ الورقة نصفين، ثم افتحها وعُدّ الأجزاء.</a:t>
            </a:r>
            <a:endParaRPr lang="ar-LB" sz="19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اطوِها مرة ثانية، ثم مرة ثالثة، وعُدّ في كل مرة.</a:t>
            </a:r>
            <a:endParaRPr lang="ar-LB" sz="1900" dirty="0"/>
          </a:p>
        </p:txBody>
      </p:sp>
      <p:sp>
        <p:nvSpPr>
          <p:cNvPr id="8" name="Shape 5"/>
          <p:cNvSpPr/>
          <p:nvPr/>
        </p:nvSpPr>
        <p:spPr>
          <a:xfrm>
            <a:off x="6035040" y="265176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35040" y="2697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b="1" dirty="0">
                <a:solidFill>
                  <a:srgbClr val="1B262C"/>
                </a:solidFill>
              </a:rPr>
              <a:t>طيّة واحدة</a:t>
            </a:r>
            <a:endParaRPr lang="ar-LB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31272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جزءان</a:t>
            </a:r>
            <a:endParaRPr lang="ar-LB" sz="1900" dirty="0"/>
          </a:p>
        </p:txBody>
      </p:sp>
      <p:sp>
        <p:nvSpPr>
          <p:cNvPr id="11" name="Shape 8"/>
          <p:cNvSpPr/>
          <p:nvPr/>
        </p:nvSpPr>
        <p:spPr>
          <a:xfrm>
            <a:off x="3337560" y="265176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37560" y="2697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b="1" dirty="0">
                <a:solidFill>
                  <a:srgbClr val="1B262C"/>
                </a:solidFill>
              </a:rPr>
              <a:t>طيّتان</a:t>
            </a:r>
            <a:endParaRPr lang="ar-LB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31272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dirty="0">
                <a:solidFill>
                  <a:srgbClr val="C2500C"/>
                </a:solidFill>
              </a:rPr>
              <a:t>؟ أجزاء</a:t>
            </a:r>
            <a:endParaRPr lang="ar-LB" sz="1900" dirty="0"/>
          </a:p>
        </p:txBody>
      </p:sp>
      <p:sp>
        <p:nvSpPr>
          <p:cNvPr id="14" name="Shape 11"/>
          <p:cNvSpPr/>
          <p:nvPr/>
        </p:nvSpPr>
        <p:spPr>
          <a:xfrm>
            <a:off x="640080" y="2651760"/>
            <a:ext cx="2560320" cy="960120"/>
          </a:xfrm>
          <a:prstGeom prst="roundRect">
            <a:avLst>
              <a:gd name="adj" fmla="val 9524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2697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b="1" dirty="0">
                <a:solidFill>
                  <a:srgbClr val="1B262C"/>
                </a:solidFill>
              </a:rPr>
              <a:t>3 طيّات</a:t>
            </a:r>
            <a:endParaRPr lang="ar-LB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31272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dirty="0">
                <a:solidFill>
                  <a:srgbClr val="C2500C"/>
                </a:solidFill>
              </a:rPr>
              <a:t>؟ أجزاء</a:t>
            </a:r>
            <a:endParaRPr lang="ar-LB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2100" b="1" dirty="0">
                <a:solidFill>
                  <a:srgbClr val="0F4C5C"/>
                </a:solidFill>
              </a:rPr>
              <a:t>بعد 3 طيّات: هل عدد الأجزاء 2 × 3 = 6؟</a:t>
            </a:r>
            <a:endParaRPr lang="ar-LB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استكشاف 2: خيط القوّة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1F7A45">
              <a:alpha val="10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1005840"/>
            <a:ext cx="438912" cy="438912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5" name="Image 0" descr="أيقونة يد: نشاط لمس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6666" y="1124346"/>
            <a:ext cx="201900" cy="201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98755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باللمس: خيط عليه 3 خرزات، كل خرزة تعني «ضرب 2»</a:t>
            </a:r>
            <a:endParaRPr lang="ar-LB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44475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كم مرة ضربنا العدد 2؟</a:t>
            </a:r>
            <a:endParaRPr lang="ar-LB" sz="1900" dirty="0"/>
          </a:p>
        </p:txBody>
      </p:sp>
      <p:sp>
        <p:nvSpPr>
          <p:cNvPr id="8" name="Shape 5"/>
          <p:cNvSpPr/>
          <p:nvPr/>
        </p:nvSpPr>
        <p:spPr>
          <a:xfrm>
            <a:off x="457200" y="22402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83880" y="241401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2402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احسب: 2 ضرب 2 ضرب 2</a:t>
            </a:r>
            <a:endParaRPr lang="ar-LB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2402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2 × 2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183880" y="323697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30632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نكتبها باختصار: 2 أُس 3. ما قيمتها؟</a:t>
            </a:r>
            <a:endParaRPr lang="ar-LB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3063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21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?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C2500C">
              <a:alpha val="8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83880" y="4059936"/>
            <a:ext cx="384048" cy="384048"/>
          </a:xfrm>
          <a:prstGeom prst="ellipse">
            <a:avLst/>
          </a:prstGeom>
          <a:solidFill>
            <a:srgbClr val="C2500C"/>
          </a:solidFill>
          <a:ln w="12700">
            <a:solidFill>
              <a:srgbClr val="C250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18388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قارن: 2 × 3 = ؟</a:t>
            </a:r>
            <a:endParaRPr lang="ar-LB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94360" y="38862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3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استكشاف 3: قوّة القوّة بالخيوط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1F7A45">
              <a:alpha val="10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1005840"/>
            <a:ext cx="438912" cy="438912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5" name="Image 0" descr="أيقونة يد: نشاط لمس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6666" y="1124346"/>
            <a:ext cx="201900" cy="201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987552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باللمس</a:t>
            </a:r>
            <a:endParaRPr lang="ar-LB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444752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خيط عليه خرزتان يمثّل 2 أُس 2.</a:t>
            </a:r>
            <a:endParaRPr lang="ar-LB" sz="1900" dirty="0"/>
          </a:p>
          <a:p>
            <a:pPr rtl="1" algn="r" indent="0" marL="0">
              <a:spcAft>
                <a:spcPts val="400"/>
              </a:spcAft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خذ خيطين مثله، واربطهما، وعُدّ الخرزات.</a:t>
            </a:r>
            <a:endParaRPr lang="ar-LB" sz="1900" dirty="0"/>
          </a:p>
        </p:txBody>
      </p:sp>
      <p:sp>
        <p:nvSpPr>
          <p:cNvPr id="8" name="Shape 5"/>
          <p:cNvSpPr/>
          <p:nvPr/>
        </p:nvSpPr>
        <p:spPr>
          <a:xfrm>
            <a:off x="457200" y="265176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83880" y="284835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28483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651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خيطان، على كلٍّ منهما خرزتان: كم خرزة؟</a:t>
            </a:r>
            <a:endParaRPr lang="ar-LB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2 = ?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57200" y="352044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183880" y="3717036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3717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35204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(2 أُس 2) الكلّ أُس 2 = 2 أُس ؟</a:t>
            </a:r>
            <a:endParaRPr lang="ar-LB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35204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21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21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2100" b="1" baseline="30000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ماذا اكتشفنا؟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115568"/>
          </a:xfrm>
          <a:prstGeom prst="roundRect">
            <a:avLst>
              <a:gd name="adj" fmla="val 8197"/>
            </a:avLst>
          </a:prstGeom>
          <a:solidFill>
            <a:srgbClr val="0B6E70">
              <a:alpha val="10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754880" y="9875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2000" b="1" dirty="0">
                <a:solidFill>
                  <a:srgbClr val="0B6E70"/>
                </a:solidFill>
              </a:rPr>
              <a:t>الضرب جمع متكرر</a:t>
            </a:r>
            <a:endParaRPr lang="ar-LB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46304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500" dirty="0">
                <a:solidFill>
                  <a:srgbClr val="3E4A52"/>
                </a:solidFill>
              </a:rPr>
              <a:t>تُقرأ: 2 ضرب 3</a:t>
            </a:r>
            <a:endParaRPr lang="ar-LB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914400"/>
            <a:ext cx="4069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600" b="1" dirty="0">
                <a:solidFill>
                  <a:srgbClr val="0B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3 = 2 + 2 + 2 = 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2176272"/>
            <a:ext cx="8229600" cy="1115568"/>
          </a:xfrm>
          <a:prstGeom prst="roundRect">
            <a:avLst>
              <a:gd name="adj" fmla="val 8197"/>
            </a:avLst>
          </a:prstGeom>
          <a:solidFill>
            <a:srgbClr val="C2500C">
              <a:alpha val="10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24942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2000" b="1" dirty="0">
                <a:solidFill>
                  <a:srgbClr val="C2500C"/>
                </a:solidFill>
              </a:rPr>
              <a:t>القوّة ضرب متكرر</a:t>
            </a:r>
            <a:endParaRPr lang="ar-LB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724912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500" dirty="0">
                <a:solidFill>
                  <a:srgbClr val="3E4A52"/>
                </a:solidFill>
              </a:rPr>
              <a:t>تُقرأ: 2 أُس 3</a:t>
            </a:r>
            <a:endParaRPr lang="ar-LB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76272"/>
            <a:ext cx="4069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6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600" b="1" baseline="30000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2600" b="1" dirty="0">
                <a:solidFill>
                  <a:srgbClr val="C25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 × 2 × 2 = 8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3438144"/>
            <a:ext cx="8229600" cy="1115568"/>
          </a:xfrm>
          <a:prstGeom prst="roundRect">
            <a:avLst>
              <a:gd name="adj" fmla="val 8197"/>
            </a:avLst>
          </a:prstGeom>
          <a:solidFill>
            <a:srgbClr val="1F5C99">
              <a:alpha val="10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351129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2000" b="1" dirty="0">
                <a:solidFill>
                  <a:srgbClr val="1F5C99"/>
                </a:solidFill>
              </a:rPr>
              <a:t>قوّة القوّة: نضرب الأُسّين</a:t>
            </a:r>
            <a:endParaRPr lang="ar-LB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986784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LB" altLang="en-US" sz="1500" dirty="0">
                <a:solidFill>
                  <a:srgbClr val="3E4A52"/>
                </a:solidFill>
              </a:rPr>
              <a:t>تُقرأ: (2 أُس 2) الكلّ أُس 2 = 2 أُس 4</a:t>
            </a:r>
            <a:endParaRPr lang="ar-LB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38144"/>
            <a:ext cx="4069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6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26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6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26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6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26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2</a:t>
            </a:r>
            <a:r>
              <a:rPr lang="en-US" sz="26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26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تطبيق: مجموعة الدائرة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548640" cy="548640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pic>
        <p:nvPicPr>
          <p:cNvPr id="4" name="Image 0" descr="شارة الدائر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3" y="376733"/>
            <a:ext cx="252374" cy="2523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144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3880" y="1133856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520440" y="914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أكمل: 3 × 3 = 3 أُس ؟</a:t>
            </a:r>
            <a:endParaRPr lang="ar-LB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9144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 = 3</a:t>
            </a:r>
            <a:r>
              <a:rPr lang="en-US" sz="21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57200" y="1847088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83880" y="2066544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8388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470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أكمل: 2 × 2 × 2 = 2 أُس ؟</a:t>
            </a:r>
            <a:endParaRPr lang="ar-LB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18470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2 × 2 = 2</a:t>
            </a:r>
            <a:r>
              <a:rPr lang="en-US" sz="21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57200" y="2779776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999232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277977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احسب: 2 أُس 2</a:t>
            </a:r>
            <a:endParaRPr lang="ar-LB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77977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?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457200" y="3712464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83880" y="3931920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838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3712464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احسب: 2 × 3 و 2 أُس 3</a:t>
            </a:r>
            <a:endParaRPr lang="ar-LB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371246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3     2</a:t>
            </a:r>
            <a:r>
              <a:rPr lang="en-US" sz="21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تطبيق: مجموعة المربّع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548640" cy="548640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pic>
        <p:nvPicPr>
          <p:cNvPr id="4" name="Image 0" descr="شارة المرب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3" y="376733"/>
            <a:ext cx="252374" cy="2523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144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3880" y="1133856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520440" y="914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اكتب على شكل قوّة: 5 × 5 × 5</a:t>
            </a:r>
            <a:endParaRPr lang="ar-LB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9144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5 × 5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57200" y="1847088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83880" y="2066544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8388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470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احسب: 3 أُس 2</a:t>
            </a:r>
            <a:endParaRPr lang="ar-LB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18470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21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?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57200" y="2779776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999232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277977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أكمل: (2 أُس 2) الكلّ أُس 2 = 2 أُس ؟</a:t>
            </a:r>
            <a:endParaRPr lang="ar-LB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77977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21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21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21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457200" y="3712464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83880" y="3931920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838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3712464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صح أم خطأ: 3 أُس 2 = 6</a:t>
            </a:r>
            <a:endParaRPr lang="ar-LB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371246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2100" b="1" baseline="30000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1F5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6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تطبيق: مجموعة المثلث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228600"/>
            <a:ext cx="548640" cy="548640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pic>
        <p:nvPicPr>
          <p:cNvPr id="4" name="Image 0" descr="شارة المثل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605333" y="376733"/>
            <a:ext cx="252374" cy="2523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9144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3880" y="1133856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520440" y="914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أكمل: (3 أُس 2) الكلّ أُس 2 = 3 أُس ؟</a:t>
            </a:r>
            <a:endParaRPr lang="ar-LB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9144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3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57200" y="1847088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183880" y="2066544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8388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470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أكمل: (2 أُس 3) الكلّ أُس 2 = 2 أُس ؟</a:t>
            </a:r>
            <a:endParaRPr lang="ar-LB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18470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57200" y="2779776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83880" y="2999232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838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277977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أيّهما أكبر: 2 أُس 3 أم 3 أُس 2؟</a:t>
            </a:r>
            <a:endParaRPr lang="ar-LB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77977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3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457200" y="3712464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6A2F8F">
              <a:alpha val="8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83880" y="3931920"/>
            <a:ext cx="384048" cy="384048"/>
          </a:xfrm>
          <a:prstGeom prst="ellipse">
            <a:avLst/>
          </a:prstGeom>
          <a:solidFill>
            <a:srgbClr val="6A2F8F"/>
          </a:solidFill>
          <a:ln w="12700">
            <a:solidFill>
              <a:srgbClr val="6A2F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838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3712464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صح أم خطأ: (2 أُس 2) الكلّ أُس 3 = 2 أُس 5</a:t>
            </a:r>
            <a:endParaRPr lang="ar-LB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371246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2100" b="1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2100" b="1" baseline="30000" dirty="0">
                <a:solidFill>
                  <a:srgbClr val="6A2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حلول التطبيق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989320" y="914400"/>
            <a:ext cx="2606040" cy="3749040"/>
          </a:xfrm>
          <a:prstGeom prst="roundRect">
            <a:avLst>
              <a:gd name="adj" fmla="val 3509"/>
            </a:avLst>
          </a:prstGeom>
          <a:solidFill>
            <a:srgbClr val="1F7A45">
              <a:alpha val="9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89320" y="960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b="1" dirty="0">
                <a:solidFill>
                  <a:srgbClr val="1F7A45"/>
                </a:solidFill>
              </a:rPr>
              <a:t>مجموعة الدائرة</a:t>
            </a:r>
            <a:endParaRPr lang="ar-LB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126480" y="1508760"/>
            <a:ext cx="23317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1) 3 أُس 2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2) 2 أُس 3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3) 4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4) 6 و 8</a:t>
            </a:r>
            <a:endParaRPr lang="ar-LB" sz="1800" dirty="0"/>
          </a:p>
        </p:txBody>
      </p:sp>
      <p:sp>
        <p:nvSpPr>
          <p:cNvPr id="6" name="Shape 4"/>
          <p:cNvSpPr/>
          <p:nvPr/>
        </p:nvSpPr>
        <p:spPr>
          <a:xfrm>
            <a:off x="3246120" y="914400"/>
            <a:ext cx="2606040" cy="3749040"/>
          </a:xfrm>
          <a:prstGeom prst="roundRect">
            <a:avLst>
              <a:gd name="adj" fmla="val 3509"/>
            </a:avLst>
          </a:prstGeom>
          <a:solidFill>
            <a:srgbClr val="1F5C99">
              <a:alpha val="9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960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b="1" dirty="0">
                <a:solidFill>
                  <a:srgbClr val="1F5C99"/>
                </a:solidFill>
              </a:rPr>
              <a:t>مجموعة المربّع</a:t>
            </a:r>
            <a:endParaRPr lang="ar-LB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508760"/>
            <a:ext cx="23317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1) 5 أُس 3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2) 9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3) 2 أُس 4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4) خطأ، الصحيح 9</a:t>
            </a:r>
            <a:endParaRPr lang="ar-LB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914400"/>
            <a:ext cx="2606040" cy="3749040"/>
          </a:xfrm>
          <a:prstGeom prst="roundRect">
            <a:avLst>
              <a:gd name="adj" fmla="val 3509"/>
            </a:avLst>
          </a:prstGeom>
          <a:solidFill>
            <a:srgbClr val="6A2F8F">
              <a:alpha val="9000"/>
            </a:srgbClr>
          </a:solidFill>
          <a:ln w="19050">
            <a:solidFill>
              <a:srgbClr val="6A2F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960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LB" altLang="en-US" sz="1900" b="1" dirty="0">
                <a:solidFill>
                  <a:srgbClr val="6A2F8F"/>
                </a:solidFill>
              </a:rPr>
              <a:t>مجموعة المثلث</a:t>
            </a:r>
            <a:endParaRPr lang="ar-LB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508760"/>
            <a:ext cx="23317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1) 3 أُس 4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2) 2 أُس 6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3) 3 أُس 2 أكبر (9 أكبر من 8)</a:t>
            </a:r>
            <a:endParaRPr lang="ar-LB" sz="180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ar-LB" altLang="en-US" sz="1800" dirty="0">
                <a:solidFill>
                  <a:srgbClr val="1B262C"/>
                </a:solidFill>
              </a:rPr>
              <a:t>4) خطأ، الصحيح 2 أُس 6</a:t>
            </a:r>
            <a:endParaRPr lang="ar-LB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أسئلة التقييم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133856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914400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أيّهما يساوي 2 أُس 3: (أ) 2 × 3 أم (ب) 2 × 2 × 2؟</a:t>
            </a:r>
            <a:endParaRPr lang="ar-LB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83880" y="2066544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8388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18470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اكتب على شكل قوّة: 4 × 4 × 4</a:t>
            </a:r>
            <a:endParaRPr lang="ar-LB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8470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4 × 4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2779776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3880" y="2999232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38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77977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احسب: 5 أُس 2</a:t>
            </a:r>
            <a:endParaRPr lang="ar-LB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77977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1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?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457200" y="3712464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0F4C5C">
              <a:alpha val="8000"/>
            </a:srgbClr>
          </a:solidFill>
          <a:ln w="19050">
            <a:solidFill>
              <a:srgbClr val="0F4C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3931920"/>
            <a:ext cx="384048" cy="384048"/>
          </a:xfrm>
          <a:prstGeom prst="ellipse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20440" y="3712464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أكمل: (2 أُس 2) الكلّ أُس 2 = 2 أُس ؟</a:t>
            </a:r>
            <a:endParaRPr lang="ar-LB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71246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</a:t>
            </a:r>
            <a:r>
              <a:rPr lang="en-US" sz="21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r>
              <a:rPr lang="en-US" sz="21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r>
              <a:rPr lang="en-US" sz="2100" b="1" baseline="300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حلول التقييم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133856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520440" y="914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(ب)، لأن 2 أُس 3 = 2 × 2 × 2 = 8</a:t>
            </a:r>
            <a:endParaRPr lang="ar-LB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9144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8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83880" y="2066544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18470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4 أُس 3</a:t>
            </a:r>
            <a:endParaRPr lang="ar-LB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8470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21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2999232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838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779776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5 أُس 2 = 5 × 5 = 25</a:t>
            </a:r>
            <a:endParaRPr lang="ar-LB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77977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1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25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57200" y="3712464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1F7A45">
              <a:alpha val="8000"/>
            </a:srgbClr>
          </a:solidFill>
          <a:ln w="19050">
            <a:solidFill>
              <a:srgbClr val="1F7A4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3880" y="3931920"/>
            <a:ext cx="384048" cy="384048"/>
          </a:xfrm>
          <a:prstGeom prst="ellipse">
            <a:avLst/>
          </a:prstGeom>
          <a:solidFill>
            <a:srgbClr val="1F7A45"/>
          </a:solidFill>
          <a:ln w="12700">
            <a:solidFill>
              <a:srgbClr val="1F7A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4</a:t>
            </a:r>
            <a:endParaRPr lang="ar-LB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3712464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1900" dirty="0">
                <a:solidFill>
                  <a:srgbClr val="1B262C"/>
                </a:solidFill>
              </a:rPr>
              <a:t>2 أُس 4</a:t>
            </a:r>
            <a:endParaRPr lang="ar-LB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71246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buNone/>
            </a:pPr>
            <a:r>
              <a:rPr lang="en-US" sz="2100" b="1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100" b="1" baseline="30000" dirty="0">
                <a:solidFill>
                  <a:srgbClr val="1F7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0F4C5C"/>
                </a:solidFill>
              </a:rPr>
              <a:t>قيّم نفسك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0B6E70">
              <a:alpha val="8000"/>
            </a:srgbClr>
          </a:solidFill>
          <a:ln w="19050">
            <a:solidFill>
              <a:srgbClr val="0B6E7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83880" y="1097280"/>
            <a:ext cx="384048" cy="384048"/>
          </a:xfrm>
          <a:prstGeom prst="ellipse">
            <a:avLst/>
          </a:prstGeom>
          <a:solidFill>
            <a:srgbClr val="0B6E70"/>
          </a:solidFill>
          <a:ln w="12700">
            <a:solidFill>
              <a:srgbClr val="0B6E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09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1</a:t>
            </a:r>
            <a:endParaRPr lang="ar-LB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914400"/>
            <a:ext cx="7452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100" dirty="0">
                <a:solidFill>
                  <a:srgbClr val="1B262C"/>
                </a:solidFill>
              </a:rPr>
              <a:t>أفرّق بين القوّة والضرب.</a:t>
            </a:r>
            <a:endParaRPr lang="ar-LB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1F5C99">
              <a:alpha val="8000"/>
            </a:srgbClr>
          </a:solidFill>
          <a:ln w="19050">
            <a:solidFill>
              <a:srgbClr val="1F5C9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83880" y="1965960"/>
            <a:ext cx="384048" cy="384048"/>
          </a:xfrm>
          <a:prstGeom prst="ellipse">
            <a:avLst/>
          </a:prstGeom>
          <a:solidFill>
            <a:srgbClr val="1F5C99"/>
          </a:solidFill>
          <a:ln w="12700">
            <a:solidFill>
              <a:srgbClr val="1F5C9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8388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2</a:t>
            </a:r>
            <a:endParaRPr lang="ar-LB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7452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100" dirty="0">
                <a:solidFill>
                  <a:srgbClr val="1B262C"/>
                </a:solidFill>
              </a:rPr>
              <a:t>أقرأ القوّة وأكتبها.</a:t>
            </a:r>
            <a:endParaRPr lang="ar-LB" sz="2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8229600" cy="749808"/>
          </a:xfrm>
          <a:prstGeom prst="roundRect">
            <a:avLst>
              <a:gd name="adj" fmla="val 12195"/>
            </a:avLst>
          </a:prstGeom>
          <a:solidFill>
            <a:srgbClr val="C2500C">
              <a:alpha val="8000"/>
            </a:srgbClr>
          </a:solidFill>
          <a:ln w="19050">
            <a:solidFill>
              <a:srgbClr val="C2500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83880" y="2834640"/>
            <a:ext cx="384048" cy="384048"/>
          </a:xfrm>
          <a:prstGeom prst="ellipse">
            <a:avLst/>
          </a:prstGeom>
          <a:solidFill>
            <a:srgbClr val="C2500C"/>
          </a:solidFill>
          <a:ln w="12700">
            <a:solidFill>
              <a:srgbClr val="C25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600" b="1" dirty="0">
                <a:solidFill>
                  <a:srgbClr val="FFFFFF"/>
                </a:solidFill>
              </a:rPr>
              <a:t>3</a:t>
            </a:r>
            <a:endParaRPr lang="ar-LB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651760"/>
            <a:ext cx="7452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LB" altLang="en-US" sz="2100" dirty="0">
                <a:solidFill>
                  <a:srgbClr val="1B262C"/>
                </a:solidFill>
              </a:rPr>
              <a:t>أحسب قوّة القوّة.</a:t>
            </a:r>
            <a:endParaRPr lang="ar-LB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LB" altLang="en-US" sz="1900" b="1" dirty="0">
                <a:solidFill>
                  <a:srgbClr val="0F4C5C"/>
                </a:solidFill>
              </a:rPr>
              <a:t>ارفع إبهامك: إلى أعلى (فهمت) • أفقيًا (أحتاج تدريبًا) • إلى أسفل (أحتاج مساعدة)</a:t>
            </a:r>
            <a:endParaRPr lang="ar-LB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3E4A52"/>
                </a:solidFill>
              </a:defRPr>
            </a:lvl1pPr>
          </a:lstStyle>
          <a:p>
            <a:pPr rtl="0"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wers Lesson">
  <a:themeElements>
    <a:clrScheme name="Powers Lesson">
      <a:dk1>
        <a:srgbClr val="1B262C"/>
      </a:dk1>
      <a:lt1>
        <a:srgbClr val="FFFFFF"/>
      </a:lt1>
      <a:dk2>
        <a:srgbClr val="0F4C5C"/>
      </a:dk2>
      <a:lt2>
        <a:srgbClr val="EAF4F4"/>
      </a:lt2>
      <a:accent1>
        <a:srgbClr val="E36414"/>
      </a:accent1>
      <a:accent2>
        <a:srgbClr val="0F8B8D"/>
      </a:accent2>
      <a:accent3>
        <a:srgbClr val="2E9E5B"/>
      </a:accent3>
      <a:accent4>
        <a:srgbClr val="2671B8"/>
      </a:accent4>
      <a:accent5>
        <a:srgbClr val="7B3FA0"/>
      </a:accent5>
      <a:accent6>
        <a:srgbClr val="E9A23B"/>
      </a:accent6>
      <a:hlink>
        <a:srgbClr val="2671B8"/>
      </a:hlink>
      <a:folHlink>
        <a:srgbClr val="7B3FA0"/>
      </a:folHlink>
    </a:clrScheme>
    <a:fontScheme name="Powers Less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القوى وقوة القوة - أنشطة الطلاب</dc:title>
  <dc:subject>PptxGenJS Presentation</dc:subject>
  <dc:creator>PptxGenJS</dc:creator>
  <cp:lastModifiedBy>PptxGenJS</cp:lastModifiedBy>
  <cp:revision>1</cp:revision>
  <dcterms:created xsi:type="dcterms:W3CDTF">2026-10-11T09:27:47Z</dcterms:created>
  <dcterms:modified xsi:type="dcterms:W3CDTF">2026-10-11T09:27:47Z</dcterms:modified>
</cp:coreProperties>
</file>