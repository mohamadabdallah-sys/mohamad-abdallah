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البداية" id="{d7dca6e5-96b7-171c-8eab-fa95e55dd0ad}">
          <p14:sldIdLst>
            <p14:sldId id="256"/>
          </p14:sldIdLst>
        </p14:section>
        <p14:section name="التمهيد" id="{5e00e7aa-2a48-9a28-d4e6-0bd1168d275d}">
          <p14:sldIdLst>
            <p14:sldId id="257"/>
            <p14:sldId id="258"/>
          </p14:sldIdLst>
        </p14:section>
        <p14:section name="الاستكشاف" id="{b6bfb275-236f-3b70-0dcb-d75570ca78ff}">
          <p14:sldIdLst>
            <p14:sldId id="259"/>
            <p14:sldId id="260"/>
            <p14:sldId id="261"/>
            <p14:sldId id="262"/>
          </p14:sldIdLst>
        </p14:section>
        <p14:section name="التطبيق" id="{0e6cb8db-5ce1-1c15-1a72-9b5814f7767c}">
          <p14:sldIdLst>
            <p14:sldId id="263"/>
            <p14:sldId id="264"/>
            <p14:sldId id="265"/>
            <p14:sldId id="266"/>
          </p14:sldIdLst>
        </p14:section>
        <p14:section name="التقييم" id="{9ee38b51-8db6-cf2b-bd1d-f59f63456f60}">
          <p14:sldIdLst>
            <p14:sldId id="267"/>
            <p14:sldId id="268"/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الحل: (أ) 2، 4، 6، 8. (ب) 2، 4، 8، 16. الكومة (ب) أكبر.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الأدوات: صندوق، علبتان، 4 أكياس، 8 كرات صغيرة (أو أكواب وحبات).
الحل: علبتان، 4 أكياس، 8 كرات. 2 × 2 × 2 = 8، وليس 2 × 3 = 6، لأننا نضرب 2 في نفسه ثلاث مرات.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الحل: 3 مرات. 2 أُس 3 = 8. أما 2 × 3 = 6، وهما مختلفان.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الحل: 4 خرزات. (2 أُس 2) الكلّ أُس 2 = 2 أُس 4 = 16.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الحل: 1) 2. 2) 3. 3) 4. 4) 2 × 3 = 6 و2 أُس 3 = 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الحل: 1) 5 أُس 3. 2) 9. 3) 4. 4) خطأ، الصحيح 3 أُس 2 = 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الحل: 1) 4. 2) 6. 3) 3 أُس 2 = 9 أكبر من 2 أُس 3 = 8. 4) خطأ، الصحيح 2 أُس 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371600"/>
            <a:ext cx="804672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rtl="1" algn="r" indent="0" marL="0">
              <a:buNone/>
              <a:defRPr lang="en-US" sz="4600" b="1" dirty="0">
                <a:solidFill>
                  <a:srgbClr val="FFFFFF"/>
                </a:solidFill>
              </a:defRPr>
            </a:lvl1pPr>
          </a:lstStyle>
          <a:p>
            <a:pPr algn="r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423160"/>
            <a:ext cx="80467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rtl="1" algn="r" indent="0" marL="0">
              <a:buNone/>
              <a:defRPr lang="en-US" sz="2400" dirty="0">
                <a:solidFill>
                  <a:srgbClr val="FFFFFF"/>
                </a:solidFill>
              </a:defRPr>
            </a:lvl1pPr>
          </a:lstStyle>
          <a:p>
            <a:pPr algn="r" indent="0" marL="0">
              <a:buNone/>
            </a:pPr>
            <a:endParaRPr lang="en-US" sz="2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rtl="1" algn="r" indent="0" marL="0">
              <a:buNone/>
              <a:defRPr lang="en-US" sz="3200" b="1" dirty="0">
                <a:solidFill>
                  <a:srgbClr val="0F4C5C"/>
                </a:solidFill>
              </a:defRPr>
            </a:lvl1pPr>
          </a:lstStyle>
          <a:p>
            <a:pPr algn="r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7432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3E4A5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7432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3E4A5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371600"/>
            <a:ext cx="8046720" cy="10058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rtl="1" algn="r" indent="0" marL="0">
              <a:buNone/>
            </a:pPr>
            <a:r>
              <a:rPr lang="en-US" sz="4600" b="1" dirty="0">
                <a:solidFill>
                  <a:srgbClr val="FFFFFF"/>
                </a:solidFill>
              </a:rPr>
              <a:t>القوى وقوّة القوّة</a:t>
            </a: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423160"/>
            <a:ext cx="8046720" cy="7315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rtl="1" algn="r"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أنشطة وتطبيقات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3832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LB" altLang="en-US" sz="2400" b="1" dirty="0">
                <a:solidFill>
                  <a:srgbClr val="F2C46D"/>
                </a:solidFill>
              </a:rPr>
              <a:t>تمهيد  •  استكشاف  •  تطبيق  •  تقييم</a:t>
            </a:r>
            <a:endParaRPr lang="ar-LB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F4C5C"/>
                </a:solidFill>
              </a:rPr>
              <a:t>تمهيد: أيّ المكافأتين تختار؟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658368"/>
          </a:xfrm>
          <a:prstGeom prst="roundRect">
            <a:avLst>
              <a:gd name="adj" fmla="val 13889"/>
            </a:avLst>
          </a:prstGeom>
          <a:solidFill>
            <a:srgbClr val="0B6E70">
              <a:alpha val="8000"/>
            </a:srgbClr>
          </a:solidFill>
          <a:ln w="19050">
            <a:solidFill>
              <a:srgbClr val="0B6E7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183880" y="1051560"/>
            <a:ext cx="384048" cy="384048"/>
          </a:xfrm>
          <a:prstGeom prst="ellipse">
            <a:avLst/>
          </a:prstGeom>
          <a:solidFill>
            <a:srgbClr val="0B6E70"/>
          </a:solidFill>
          <a:ln w="12700">
            <a:solidFill>
              <a:srgbClr val="0B6E7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183880" y="1051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LB" altLang="en-US" sz="1600" b="1" dirty="0">
                <a:solidFill>
                  <a:srgbClr val="FFFFFF"/>
                </a:solidFill>
              </a:rPr>
              <a:t>أ</a:t>
            </a:r>
            <a:endParaRPr lang="ar-LB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3520440" y="914400"/>
            <a:ext cx="4572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LB" altLang="en-US" sz="1900" dirty="0">
                <a:solidFill>
                  <a:srgbClr val="1B262C"/>
                </a:solidFill>
              </a:rPr>
              <a:t>العرض (أ): نجمع العدد 2 أربع مرات.</a:t>
            </a:r>
            <a:endParaRPr lang="ar-LB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914400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buNone/>
            </a:pPr>
            <a:r>
              <a:rPr lang="en-US" sz="2100" b="1" dirty="0">
                <a:solidFill>
                  <a:srgbClr val="0B6E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+ 2 + 2 + 2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457200" y="1664208"/>
            <a:ext cx="8229600" cy="658368"/>
          </a:xfrm>
          <a:prstGeom prst="roundRect">
            <a:avLst>
              <a:gd name="adj" fmla="val 13889"/>
            </a:avLst>
          </a:prstGeom>
          <a:solidFill>
            <a:srgbClr val="C2500C">
              <a:alpha val="8000"/>
            </a:srgbClr>
          </a:solidFill>
          <a:ln w="19050">
            <a:solidFill>
              <a:srgbClr val="C2500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183880" y="1801368"/>
            <a:ext cx="384048" cy="384048"/>
          </a:xfrm>
          <a:prstGeom prst="ellipse">
            <a:avLst/>
          </a:prstGeom>
          <a:solidFill>
            <a:srgbClr val="C2500C"/>
          </a:solidFill>
          <a:ln w="12700">
            <a:solidFill>
              <a:srgbClr val="C2500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183880" y="18013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LB" altLang="en-US" sz="1600" b="1" dirty="0">
                <a:solidFill>
                  <a:srgbClr val="FFFFFF"/>
                </a:solidFill>
              </a:rPr>
              <a:t>ب</a:t>
            </a:r>
            <a:endParaRPr lang="ar-LB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520440" y="1664208"/>
            <a:ext cx="4572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LB" altLang="en-US" sz="1900" dirty="0">
                <a:solidFill>
                  <a:srgbClr val="1B262C"/>
                </a:solidFill>
              </a:rPr>
              <a:t>العرض (ب): نضرب العدد 2 في نفسه أربع مرات.</a:t>
            </a:r>
            <a:endParaRPr lang="ar-LB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594360" y="1664208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buNone/>
            </a:pPr>
            <a:r>
              <a:rPr lang="en-US" sz="2100" b="1" dirty="0">
                <a:solidFill>
                  <a:srgbClr val="C250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× 2 × 2 × 2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457200" y="2468880"/>
            <a:ext cx="4572000" cy="2240280"/>
          </a:xfrm>
          <a:prstGeom prst="roundRect">
            <a:avLst>
              <a:gd name="adj" fmla="val 4082"/>
            </a:avLst>
          </a:prstGeom>
          <a:solidFill>
            <a:srgbClr val="F4F8F9"/>
          </a:solidFill>
          <a:ln w="12700">
            <a:solidFill>
              <a:srgbClr val="B9CDD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4343400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LB" altLang="en-US" sz="1100" dirty="0">
                <a:solidFill>
                  <a:srgbClr val="3E4A52"/>
                </a:solidFill>
              </a:rPr>
              <a:t>الصورة: كومتان من الخرز تكبران في 4 خطوات</a:t>
            </a:r>
            <a:endParaRPr lang="ar-LB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4023360" y="2514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LB" altLang="en-US" sz="1100" b="1" dirty="0">
                <a:solidFill>
                  <a:srgbClr val="3E4A52"/>
                </a:solidFill>
              </a:rPr>
              <a:t>خطوة 1</a:t>
            </a:r>
            <a:endParaRPr lang="ar-LB" sz="1100" dirty="0"/>
          </a:p>
        </p:txBody>
      </p:sp>
      <p:sp>
        <p:nvSpPr>
          <p:cNvPr id="16" name="Shape 14"/>
          <p:cNvSpPr/>
          <p:nvPr/>
        </p:nvSpPr>
        <p:spPr>
          <a:xfrm>
            <a:off x="4206240" y="3200400"/>
            <a:ext cx="100584" cy="100584"/>
          </a:xfrm>
          <a:prstGeom prst="ellipse">
            <a:avLst/>
          </a:prstGeom>
          <a:solidFill>
            <a:srgbClr val="0B6E70"/>
          </a:solidFill>
          <a:ln w="12700">
            <a:solidFill>
              <a:srgbClr val="0B6E7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343400" y="3200400"/>
            <a:ext cx="100584" cy="100584"/>
          </a:xfrm>
          <a:prstGeom prst="ellipse">
            <a:avLst/>
          </a:prstGeom>
          <a:solidFill>
            <a:srgbClr val="0B6E70"/>
          </a:solidFill>
          <a:ln w="12700">
            <a:solidFill>
              <a:srgbClr val="0B6E7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206240" y="4178808"/>
            <a:ext cx="100584" cy="100584"/>
          </a:xfrm>
          <a:prstGeom prst="ellipse">
            <a:avLst/>
          </a:prstGeom>
          <a:solidFill>
            <a:srgbClr val="C2500C"/>
          </a:solidFill>
          <a:ln w="12700">
            <a:solidFill>
              <a:srgbClr val="C2500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343400" y="4178808"/>
            <a:ext cx="100584" cy="100584"/>
          </a:xfrm>
          <a:prstGeom prst="ellipse">
            <a:avLst/>
          </a:prstGeom>
          <a:solidFill>
            <a:srgbClr val="C2500C"/>
          </a:solidFill>
          <a:ln w="12700">
            <a:solidFill>
              <a:srgbClr val="C2500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017520" y="2514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LB" altLang="en-US" sz="1100" b="1" dirty="0">
                <a:solidFill>
                  <a:srgbClr val="3E4A52"/>
                </a:solidFill>
              </a:rPr>
              <a:t>خطوة 2</a:t>
            </a:r>
            <a:endParaRPr lang="ar-LB" sz="1100" dirty="0"/>
          </a:p>
        </p:txBody>
      </p:sp>
      <p:sp>
        <p:nvSpPr>
          <p:cNvPr id="21" name="Shape 19"/>
          <p:cNvSpPr/>
          <p:nvPr/>
        </p:nvSpPr>
        <p:spPr>
          <a:xfrm>
            <a:off x="3200400" y="3200400"/>
            <a:ext cx="100584" cy="100584"/>
          </a:xfrm>
          <a:prstGeom prst="ellipse">
            <a:avLst/>
          </a:prstGeom>
          <a:solidFill>
            <a:srgbClr val="0B6E70"/>
          </a:solidFill>
          <a:ln w="12700">
            <a:solidFill>
              <a:srgbClr val="0B6E7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337560" y="3200400"/>
            <a:ext cx="100584" cy="100584"/>
          </a:xfrm>
          <a:prstGeom prst="ellipse">
            <a:avLst/>
          </a:prstGeom>
          <a:solidFill>
            <a:srgbClr val="0B6E70"/>
          </a:solidFill>
          <a:ln w="12700">
            <a:solidFill>
              <a:srgbClr val="0B6E7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474720" y="3200400"/>
            <a:ext cx="100584" cy="100584"/>
          </a:xfrm>
          <a:prstGeom prst="ellipse">
            <a:avLst/>
          </a:prstGeom>
          <a:solidFill>
            <a:srgbClr val="0B6E70"/>
          </a:solidFill>
          <a:ln w="12700">
            <a:solidFill>
              <a:srgbClr val="0B6E7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11880" y="3200400"/>
            <a:ext cx="100584" cy="100584"/>
          </a:xfrm>
          <a:prstGeom prst="ellipse">
            <a:avLst/>
          </a:prstGeom>
          <a:solidFill>
            <a:srgbClr val="0B6E70"/>
          </a:solidFill>
          <a:ln w="12700">
            <a:solidFill>
              <a:srgbClr val="0B6E7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00400" y="4178808"/>
            <a:ext cx="100584" cy="100584"/>
          </a:xfrm>
          <a:prstGeom prst="ellipse">
            <a:avLst/>
          </a:prstGeom>
          <a:solidFill>
            <a:srgbClr val="C2500C"/>
          </a:solidFill>
          <a:ln w="12700">
            <a:solidFill>
              <a:srgbClr val="C2500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337560" y="4178808"/>
            <a:ext cx="100584" cy="100584"/>
          </a:xfrm>
          <a:prstGeom prst="ellipse">
            <a:avLst/>
          </a:prstGeom>
          <a:solidFill>
            <a:srgbClr val="C2500C"/>
          </a:solidFill>
          <a:ln w="12700">
            <a:solidFill>
              <a:srgbClr val="C2500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474720" y="4178808"/>
            <a:ext cx="100584" cy="100584"/>
          </a:xfrm>
          <a:prstGeom prst="ellipse">
            <a:avLst/>
          </a:prstGeom>
          <a:solidFill>
            <a:srgbClr val="C2500C"/>
          </a:solidFill>
          <a:ln w="12700">
            <a:solidFill>
              <a:srgbClr val="C2500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611880" y="4178808"/>
            <a:ext cx="100584" cy="100584"/>
          </a:xfrm>
          <a:prstGeom prst="ellipse">
            <a:avLst/>
          </a:prstGeom>
          <a:solidFill>
            <a:srgbClr val="C2500C"/>
          </a:solidFill>
          <a:ln w="12700">
            <a:solidFill>
              <a:srgbClr val="C2500C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2011680" y="2514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LB" altLang="en-US" sz="1100" b="1" dirty="0">
                <a:solidFill>
                  <a:srgbClr val="3E4A52"/>
                </a:solidFill>
              </a:rPr>
              <a:t>خطوة 3</a:t>
            </a:r>
            <a:endParaRPr lang="ar-LB" sz="1100" dirty="0"/>
          </a:p>
        </p:txBody>
      </p:sp>
      <p:sp>
        <p:nvSpPr>
          <p:cNvPr id="30" name="Shape 28"/>
          <p:cNvSpPr/>
          <p:nvPr/>
        </p:nvSpPr>
        <p:spPr>
          <a:xfrm>
            <a:off x="2194560" y="3200400"/>
            <a:ext cx="100584" cy="100584"/>
          </a:xfrm>
          <a:prstGeom prst="ellipse">
            <a:avLst/>
          </a:prstGeom>
          <a:solidFill>
            <a:srgbClr val="0B6E70"/>
          </a:solidFill>
          <a:ln w="12700">
            <a:solidFill>
              <a:srgbClr val="0B6E7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331720" y="3200400"/>
            <a:ext cx="100584" cy="100584"/>
          </a:xfrm>
          <a:prstGeom prst="ellipse">
            <a:avLst/>
          </a:prstGeom>
          <a:solidFill>
            <a:srgbClr val="0B6E70"/>
          </a:solidFill>
          <a:ln w="12700">
            <a:solidFill>
              <a:srgbClr val="0B6E7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468880" y="3200400"/>
            <a:ext cx="100584" cy="100584"/>
          </a:xfrm>
          <a:prstGeom prst="ellipse">
            <a:avLst/>
          </a:prstGeom>
          <a:solidFill>
            <a:srgbClr val="0B6E70"/>
          </a:solidFill>
          <a:ln w="12700">
            <a:solidFill>
              <a:srgbClr val="0B6E7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606040" y="3200400"/>
            <a:ext cx="100584" cy="100584"/>
          </a:xfrm>
          <a:prstGeom prst="ellipse">
            <a:avLst/>
          </a:prstGeom>
          <a:solidFill>
            <a:srgbClr val="0B6E70"/>
          </a:solidFill>
          <a:ln w="12700">
            <a:solidFill>
              <a:srgbClr val="0B6E7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194560" y="3063240"/>
            <a:ext cx="100584" cy="100584"/>
          </a:xfrm>
          <a:prstGeom prst="ellipse">
            <a:avLst/>
          </a:prstGeom>
          <a:solidFill>
            <a:srgbClr val="0B6E70"/>
          </a:solidFill>
          <a:ln w="12700">
            <a:solidFill>
              <a:srgbClr val="0B6E7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331720" y="3063240"/>
            <a:ext cx="100584" cy="100584"/>
          </a:xfrm>
          <a:prstGeom prst="ellipse">
            <a:avLst/>
          </a:prstGeom>
          <a:solidFill>
            <a:srgbClr val="0B6E70"/>
          </a:solidFill>
          <a:ln w="12700">
            <a:solidFill>
              <a:srgbClr val="0B6E7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194560" y="4178808"/>
            <a:ext cx="100584" cy="100584"/>
          </a:xfrm>
          <a:prstGeom prst="ellipse">
            <a:avLst/>
          </a:prstGeom>
          <a:solidFill>
            <a:srgbClr val="C2500C"/>
          </a:solidFill>
          <a:ln w="12700">
            <a:solidFill>
              <a:srgbClr val="C2500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331720" y="4178808"/>
            <a:ext cx="100584" cy="100584"/>
          </a:xfrm>
          <a:prstGeom prst="ellipse">
            <a:avLst/>
          </a:prstGeom>
          <a:solidFill>
            <a:srgbClr val="C2500C"/>
          </a:solidFill>
          <a:ln w="12700">
            <a:solidFill>
              <a:srgbClr val="C2500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468880" y="4178808"/>
            <a:ext cx="100584" cy="100584"/>
          </a:xfrm>
          <a:prstGeom prst="ellipse">
            <a:avLst/>
          </a:prstGeom>
          <a:solidFill>
            <a:srgbClr val="C2500C"/>
          </a:solidFill>
          <a:ln w="12700">
            <a:solidFill>
              <a:srgbClr val="C2500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606040" y="4178808"/>
            <a:ext cx="100584" cy="100584"/>
          </a:xfrm>
          <a:prstGeom prst="ellipse">
            <a:avLst/>
          </a:prstGeom>
          <a:solidFill>
            <a:srgbClr val="C2500C"/>
          </a:solidFill>
          <a:ln w="12700">
            <a:solidFill>
              <a:srgbClr val="C2500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194560" y="4041648"/>
            <a:ext cx="100584" cy="100584"/>
          </a:xfrm>
          <a:prstGeom prst="ellipse">
            <a:avLst/>
          </a:prstGeom>
          <a:solidFill>
            <a:srgbClr val="C2500C"/>
          </a:solidFill>
          <a:ln w="12700">
            <a:solidFill>
              <a:srgbClr val="C2500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331720" y="4041648"/>
            <a:ext cx="100584" cy="100584"/>
          </a:xfrm>
          <a:prstGeom prst="ellipse">
            <a:avLst/>
          </a:prstGeom>
          <a:solidFill>
            <a:srgbClr val="C2500C"/>
          </a:solidFill>
          <a:ln w="12700">
            <a:solidFill>
              <a:srgbClr val="C2500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468880" y="4041648"/>
            <a:ext cx="100584" cy="100584"/>
          </a:xfrm>
          <a:prstGeom prst="ellipse">
            <a:avLst/>
          </a:prstGeom>
          <a:solidFill>
            <a:srgbClr val="C2500C"/>
          </a:solidFill>
          <a:ln w="12700">
            <a:solidFill>
              <a:srgbClr val="C2500C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606040" y="4041648"/>
            <a:ext cx="100584" cy="100584"/>
          </a:xfrm>
          <a:prstGeom prst="ellipse">
            <a:avLst/>
          </a:prstGeom>
          <a:solidFill>
            <a:srgbClr val="C2500C"/>
          </a:solidFill>
          <a:ln w="12700">
            <a:solidFill>
              <a:srgbClr val="C2500C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1005840" y="2514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LB" altLang="en-US" sz="1100" b="1" dirty="0">
                <a:solidFill>
                  <a:srgbClr val="3E4A52"/>
                </a:solidFill>
              </a:rPr>
              <a:t>خطوة 4</a:t>
            </a:r>
            <a:endParaRPr lang="ar-LB" sz="1100" dirty="0"/>
          </a:p>
        </p:txBody>
      </p:sp>
      <p:sp>
        <p:nvSpPr>
          <p:cNvPr id="45" name="Shape 43"/>
          <p:cNvSpPr/>
          <p:nvPr/>
        </p:nvSpPr>
        <p:spPr>
          <a:xfrm>
            <a:off x="1188720" y="3200400"/>
            <a:ext cx="100584" cy="100584"/>
          </a:xfrm>
          <a:prstGeom prst="ellipse">
            <a:avLst/>
          </a:prstGeom>
          <a:solidFill>
            <a:srgbClr val="0B6E70"/>
          </a:solidFill>
          <a:ln w="12700">
            <a:solidFill>
              <a:srgbClr val="0B6E7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325880" y="3200400"/>
            <a:ext cx="100584" cy="100584"/>
          </a:xfrm>
          <a:prstGeom prst="ellipse">
            <a:avLst/>
          </a:prstGeom>
          <a:solidFill>
            <a:srgbClr val="0B6E70"/>
          </a:solidFill>
          <a:ln w="12700">
            <a:solidFill>
              <a:srgbClr val="0B6E7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463040" y="3200400"/>
            <a:ext cx="100584" cy="100584"/>
          </a:xfrm>
          <a:prstGeom prst="ellipse">
            <a:avLst/>
          </a:prstGeom>
          <a:solidFill>
            <a:srgbClr val="0B6E70"/>
          </a:solidFill>
          <a:ln w="12700">
            <a:solidFill>
              <a:srgbClr val="0B6E7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600200" y="3200400"/>
            <a:ext cx="100584" cy="100584"/>
          </a:xfrm>
          <a:prstGeom prst="ellipse">
            <a:avLst/>
          </a:prstGeom>
          <a:solidFill>
            <a:srgbClr val="0B6E70"/>
          </a:solidFill>
          <a:ln w="12700">
            <a:solidFill>
              <a:srgbClr val="0B6E7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188720" y="3063240"/>
            <a:ext cx="100584" cy="100584"/>
          </a:xfrm>
          <a:prstGeom prst="ellipse">
            <a:avLst/>
          </a:prstGeom>
          <a:solidFill>
            <a:srgbClr val="0B6E70"/>
          </a:solidFill>
          <a:ln w="12700">
            <a:solidFill>
              <a:srgbClr val="0B6E7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325880" y="3063240"/>
            <a:ext cx="100584" cy="100584"/>
          </a:xfrm>
          <a:prstGeom prst="ellipse">
            <a:avLst/>
          </a:prstGeom>
          <a:solidFill>
            <a:srgbClr val="0B6E70"/>
          </a:solidFill>
          <a:ln w="12700">
            <a:solidFill>
              <a:srgbClr val="0B6E7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463040" y="3063240"/>
            <a:ext cx="100584" cy="100584"/>
          </a:xfrm>
          <a:prstGeom prst="ellipse">
            <a:avLst/>
          </a:prstGeom>
          <a:solidFill>
            <a:srgbClr val="0B6E70"/>
          </a:solidFill>
          <a:ln w="12700">
            <a:solidFill>
              <a:srgbClr val="0B6E7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600200" y="3063240"/>
            <a:ext cx="100584" cy="100584"/>
          </a:xfrm>
          <a:prstGeom prst="ellipse">
            <a:avLst/>
          </a:prstGeom>
          <a:solidFill>
            <a:srgbClr val="0B6E70"/>
          </a:solidFill>
          <a:ln w="12700">
            <a:solidFill>
              <a:srgbClr val="0B6E7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188720" y="4178808"/>
            <a:ext cx="100584" cy="100584"/>
          </a:xfrm>
          <a:prstGeom prst="ellipse">
            <a:avLst/>
          </a:prstGeom>
          <a:solidFill>
            <a:srgbClr val="C2500C"/>
          </a:solidFill>
          <a:ln w="12700">
            <a:solidFill>
              <a:srgbClr val="C2500C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325880" y="4178808"/>
            <a:ext cx="100584" cy="100584"/>
          </a:xfrm>
          <a:prstGeom prst="ellipse">
            <a:avLst/>
          </a:prstGeom>
          <a:solidFill>
            <a:srgbClr val="C2500C"/>
          </a:solidFill>
          <a:ln w="12700">
            <a:solidFill>
              <a:srgbClr val="C2500C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463040" y="4178808"/>
            <a:ext cx="100584" cy="100584"/>
          </a:xfrm>
          <a:prstGeom prst="ellipse">
            <a:avLst/>
          </a:prstGeom>
          <a:solidFill>
            <a:srgbClr val="C2500C"/>
          </a:solidFill>
          <a:ln w="12700">
            <a:solidFill>
              <a:srgbClr val="C2500C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600200" y="4178808"/>
            <a:ext cx="100584" cy="100584"/>
          </a:xfrm>
          <a:prstGeom prst="ellipse">
            <a:avLst/>
          </a:prstGeom>
          <a:solidFill>
            <a:srgbClr val="C2500C"/>
          </a:solidFill>
          <a:ln w="12700">
            <a:solidFill>
              <a:srgbClr val="C2500C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188720" y="4041648"/>
            <a:ext cx="100584" cy="100584"/>
          </a:xfrm>
          <a:prstGeom prst="ellipse">
            <a:avLst/>
          </a:prstGeom>
          <a:solidFill>
            <a:srgbClr val="C2500C"/>
          </a:solidFill>
          <a:ln w="12700">
            <a:solidFill>
              <a:srgbClr val="C2500C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325880" y="4041648"/>
            <a:ext cx="100584" cy="100584"/>
          </a:xfrm>
          <a:prstGeom prst="ellipse">
            <a:avLst/>
          </a:prstGeom>
          <a:solidFill>
            <a:srgbClr val="C2500C"/>
          </a:solidFill>
          <a:ln w="12700">
            <a:solidFill>
              <a:srgbClr val="C2500C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463040" y="4041648"/>
            <a:ext cx="100584" cy="100584"/>
          </a:xfrm>
          <a:prstGeom prst="ellipse">
            <a:avLst/>
          </a:prstGeom>
          <a:solidFill>
            <a:srgbClr val="C2500C"/>
          </a:solidFill>
          <a:ln w="12700">
            <a:solidFill>
              <a:srgbClr val="C2500C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600200" y="4041648"/>
            <a:ext cx="100584" cy="100584"/>
          </a:xfrm>
          <a:prstGeom prst="ellipse">
            <a:avLst/>
          </a:prstGeom>
          <a:solidFill>
            <a:srgbClr val="C2500C"/>
          </a:solidFill>
          <a:ln w="12700">
            <a:solidFill>
              <a:srgbClr val="C2500C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188720" y="3904488"/>
            <a:ext cx="100584" cy="100584"/>
          </a:xfrm>
          <a:prstGeom prst="ellipse">
            <a:avLst/>
          </a:prstGeom>
          <a:solidFill>
            <a:srgbClr val="C2500C"/>
          </a:solidFill>
          <a:ln w="12700">
            <a:solidFill>
              <a:srgbClr val="C2500C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1325880" y="3904488"/>
            <a:ext cx="100584" cy="100584"/>
          </a:xfrm>
          <a:prstGeom prst="ellipse">
            <a:avLst/>
          </a:prstGeom>
          <a:solidFill>
            <a:srgbClr val="C2500C"/>
          </a:solidFill>
          <a:ln w="12700">
            <a:solidFill>
              <a:srgbClr val="C2500C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1463040" y="3904488"/>
            <a:ext cx="100584" cy="100584"/>
          </a:xfrm>
          <a:prstGeom prst="ellipse">
            <a:avLst/>
          </a:prstGeom>
          <a:solidFill>
            <a:srgbClr val="C2500C"/>
          </a:solidFill>
          <a:ln w="12700">
            <a:solidFill>
              <a:srgbClr val="C2500C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1600200" y="3904488"/>
            <a:ext cx="100584" cy="100584"/>
          </a:xfrm>
          <a:prstGeom prst="ellipse">
            <a:avLst/>
          </a:prstGeom>
          <a:solidFill>
            <a:srgbClr val="C2500C"/>
          </a:solidFill>
          <a:ln w="12700">
            <a:solidFill>
              <a:srgbClr val="C2500C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1188720" y="3767328"/>
            <a:ext cx="100584" cy="100584"/>
          </a:xfrm>
          <a:prstGeom prst="ellipse">
            <a:avLst/>
          </a:prstGeom>
          <a:solidFill>
            <a:srgbClr val="C2500C"/>
          </a:solidFill>
          <a:ln w="12700">
            <a:solidFill>
              <a:srgbClr val="C2500C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325880" y="3767328"/>
            <a:ext cx="100584" cy="100584"/>
          </a:xfrm>
          <a:prstGeom prst="ellipse">
            <a:avLst/>
          </a:prstGeom>
          <a:solidFill>
            <a:srgbClr val="C2500C"/>
          </a:solidFill>
          <a:ln w="12700">
            <a:solidFill>
              <a:srgbClr val="C2500C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1463040" y="3767328"/>
            <a:ext cx="100584" cy="100584"/>
          </a:xfrm>
          <a:prstGeom prst="ellipse">
            <a:avLst/>
          </a:prstGeom>
          <a:solidFill>
            <a:srgbClr val="C2500C"/>
          </a:solidFill>
          <a:ln w="12700">
            <a:solidFill>
              <a:srgbClr val="C2500C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1600200" y="3767328"/>
            <a:ext cx="100584" cy="100584"/>
          </a:xfrm>
          <a:prstGeom prst="ellipse">
            <a:avLst/>
          </a:prstGeom>
          <a:solidFill>
            <a:srgbClr val="C2500C"/>
          </a:solidFill>
          <a:ln w="12700">
            <a:solidFill>
              <a:srgbClr val="C2500C"/>
            </a:solidFill>
            <a:prstDash val="solid"/>
          </a:ln>
        </p:spPr>
      </p:sp>
      <p:sp>
        <p:nvSpPr>
          <p:cNvPr id="69" name="Text 67"/>
          <p:cNvSpPr txBox="1"/>
          <p:nvPr/>
        </p:nvSpPr>
        <p:spPr>
          <a:xfrm>
            <a:off x="548640" y="292608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LB" altLang="en-US" sz="1300" b="1" dirty="0">
                <a:solidFill>
                  <a:srgbClr val="0B6E70"/>
                </a:solidFill>
              </a:rPr>
              <a:t>(أ)</a:t>
            </a:r>
            <a:endParaRPr lang="ar-LB" sz="1300" dirty="0"/>
          </a:p>
        </p:txBody>
      </p:sp>
      <p:sp>
        <p:nvSpPr>
          <p:cNvPr id="70" name="Text 68"/>
          <p:cNvSpPr txBox="1"/>
          <p:nvPr/>
        </p:nvSpPr>
        <p:spPr>
          <a:xfrm>
            <a:off x="548640" y="388620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LB" altLang="en-US" sz="1300" b="1" dirty="0">
                <a:solidFill>
                  <a:srgbClr val="C2500C"/>
                </a:solidFill>
              </a:rPr>
              <a:t>(ب)</a:t>
            </a:r>
            <a:endParaRPr lang="ar-LB" sz="1300" dirty="0"/>
          </a:p>
        </p:txBody>
      </p:sp>
      <p:sp>
        <p:nvSpPr>
          <p:cNvPr id="71" name="Shape 69"/>
          <p:cNvSpPr/>
          <p:nvPr/>
        </p:nvSpPr>
        <p:spPr>
          <a:xfrm>
            <a:off x="5212080" y="2468880"/>
            <a:ext cx="3474720" cy="2240280"/>
          </a:xfrm>
          <a:prstGeom prst="roundRect">
            <a:avLst>
              <a:gd name="adj" fmla="val 4082"/>
            </a:avLst>
          </a:prstGeom>
          <a:solidFill>
            <a:srgbClr val="1F7A45">
              <a:alpha val="10000"/>
            </a:srgbClr>
          </a:solidFill>
          <a:ln w="19050">
            <a:solidFill>
              <a:srgbClr val="1F7A45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8138160" y="2560320"/>
            <a:ext cx="420624" cy="420624"/>
          </a:xfrm>
          <a:prstGeom prst="ellipse">
            <a:avLst/>
          </a:prstGeom>
          <a:solidFill>
            <a:srgbClr val="1F7A45"/>
          </a:solidFill>
          <a:ln w="12700">
            <a:solidFill>
              <a:srgbClr val="1F7A45"/>
            </a:solidFill>
            <a:prstDash val="solid"/>
          </a:ln>
        </p:spPr>
      </p:sp>
      <p:pic>
        <p:nvPicPr>
          <p:cNvPr id="73" name="Image 0" descr="أيقونة يد: نشاط لمسي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51728" y="2673888"/>
            <a:ext cx="193487" cy="193487"/>
          </a:xfrm>
          <a:prstGeom prst="rect">
            <a:avLst/>
          </a:prstGeom>
        </p:spPr>
      </p:pic>
      <p:sp>
        <p:nvSpPr>
          <p:cNvPr id="74" name="Text 71"/>
          <p:cNvSpPr txBox="1"/>
          <p:nvPr/>
        </p:nvSpPr>
        <p:spPr>
          <a:xfrm>
            <a:off x="5303520" y="2542032"/>
            <a:ext cx="2788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LB" altLang="en-US" sz="1800" b="1" dirty="0">
                <a:solidFill>
                  <a:srgbClr val="1F7A45"/>
                </a:solidFill>
              </a:rPr>
              <a:t>باللمس</a:t>
            </a:r>
            <a:endParaRPr lang="ar-LB" sz="1800" dirty="0"/>
          </a:p>
        </p:txBody>
      </p:sp>
      <p:sp>
        <p:nvSpPr>
          <p:cNvPr id="75" name="Text 72"/>
          <p:cNvSpPr txBox="1"/>
          <p:nvPr/>
        </p:nvSpPr>
        <p:spPr>
          <a:xfrm>
            <a:off x="5349240" y="3017520"/>
            <a:ext cx="3200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spcAft>
                <a:spcPts val="400"/>
              </a:spcAft>
              <a:buNone/>
            </a:pPr>
            <a:r>
              <a:rPr lang="ar-LB" altLang="en-US" sz="1700" dirty="0">
                <a:solidFill>
                  <a:srgbClr val="1B262C"/>
                </a:solidFill>
              </a:rPr>
              <a:t>(أ): أضف خرزتين في كل خطوة.</a:t>
            </a:r>
            <a:endParaRPr lang="ar-LB" sz="1700" dirty="0"/>
          </a:p>
          <a:p>
            <a:pPr rtl="1" algn="r" indent="0" marL="0">
              <a:spcAft>
                <a:spcPts val="400"/>
              </a:spcAft>
              <a:buNone/>
            </a:pPr>
            <a:r>
              <a:rPr lang="ar-LB" altLang="en-US" sz="1700" dirty="0">
                <a:solidFill>
                  <a:srgbClr val="1B262C"/>
                </a:solidFill>
              </a:rPr>
              <a:t>(ب): ضاعِف الخرز في كل خطوة.</a:t>
            </a:r>
            <a:endParaRPr lang="ar-LB" sz="1700" dirty="0"/>
          </a:p>
          <a:p>
            <a:pPr rtl="1" algn="r" indent="0" marL="0">
              <a:spcAft>
                <a:spcPts val="400"/>
              </a:spcAft>
              <a:buNone/>
            </a:pPr>
            <a:r>
              <a:rPr lang="ar-LB" altLang="en-US" sz="1700" dirty="0">
                <a:solidFill>
                  <a:srgbClr val="1B262C"/>
                </a:solidFill>
              </a:rPr>
              <a:t>بعد 4 خطوات: أيّ الكومتين أكبر؟</a:t>
            </a:r>
            <a:endParaRPr lang="ar-LB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7432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3E4A52"/>
                </a:solidFill>
              </a:defRPr>
            </a:lvl1pPr>
          </a:lstStyle>
          <a:p>
            <a:pPr rtl="0"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F4C5C"/>
                </a:solidFill>
              </a:rPr>
              <a:t>نتيجة التمهيد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2423160"/>
          </a:xfrm>
          <a:prstGeom prst="roundRect">
            <a:avLst>
              <a:gd name="adj" fmla="val 3774"/>
            </a:avLst>
          </a:prstGeom>
          <a:solidFill>
            <a:srgbClr val="F4F8F9"/>
          </a:solidFill>
          <a:ln w="12700">
            <a:solidFill>
              <a:srgbClr val="B9CDD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2971800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LB" altLang="en-US" sz="1100" dirty="0">
                <a:solidFill>
                  <a:srgbClr val="3E4A52"/>
                </a:solidFill>
              </a:rPr>
              <a:t>الصورة: الكومة (أ) فيها 8 خرزات، والكومة (ب) فيها 16 خرزة</a:t>
            </a:r>
            <a:endParaRPr lang="ar-LB" sz="1100" dirty="0"/>
          </a:p>
        </p:txBody>
      </p:sp>
      <p:sp>
        <p:nvSpPr>
          <p:cNvPr id="5" name="Shape 3"/>
          <p:cNvSpPr/>
          <p:nvPr/>
        </p:nvSpPr>
        <p:spPr>
          <a:xfrm>
            <a:off x="6035040" y="2157984"/>
            <a:ext cx="201168" cy="201168"/>
          </a:xfrm>
          <a:prstGeom prst="ellipse">
            <a:avLst/>
          </a:prstGeom>
          <a:solidFill>
            <a:srgbClr val="0B6E70"/>
          </a:solidFill>
          <a:ln w="12700">
            <a:solidFill>
              <a:srgbClr val="0B6E7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300216" y="2157984"/>
            <a:ext cx="201168" cy="201168"/>
          </a:xfrm>
          <a:prstGeom prst="ellipse">
            <a:avLst/>
          </a:prstGeom>
          <a:solidFill>
            <a:srgbClr val="0B6E70"/>
          </a:solidFill>
          <a:ln w="12700">
            <a:solidFill>
              <a:srgbClr val="0B6E7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65392" y="2157984"/>
            <a:ext cx="201168" cy="201168"/>
          </a:xfrm>
          <a:prstGeom prst="ellipse">
            <a:avLst/>
          </a:prstGeom>
          <a:solidFill>
            <a:srgbClr val="0B6E70"/>
          </a:solidFill>
          <a:ln w="12700">
            <a:solidFill>
              <a:srgbClr val="0B6E7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30568" y="2157984"/>
            <a:ext cx="201168" cy="201168"/>
          </a:xfrm>
          <a:prstGeom prst="ellipse">
            <a:avLst/>
          </a:prstGeom>
          <a:solidFill>
            <a:srgbClr val="0B6E70"/>
          </a:solidFill>
          <a:ln w="12700">
            <a:solidFill>
              <a:srgbClr val="0B6E7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035040" y="1892808"/>
            <a:ext cx="201168" cy="201168"/>
          </a:xfrm>
          <a:prstGeom prst="ellipse">
            <a:avLst/>
          </a:prstGeom>
          <a:solidFill>
            <a:srgbClr val="0B6E70"/>
          </a:solidFill>
          <a:ln w="12700">
            <a:solidFill>
              <a:srgbClr val="0B6E7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00216" y="1892808"/>
            <a:ext cx="201168" cy="201168"/>
          </a:xfrm>
          <a:prstGeom prst="ellipse">
            <a:avLst/>
          </a:prstGeom>
          <a:solidFill>
            <a:srgbClr val="0B6E70"/>
          </a:solidFill>
          <a:ln w="12700">
            <a:solidFill>
              <a:srgbClr val="0B6E7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65392" y="1892808"/>
            <a:ext cx="201168" cy="201168"/>
          </a:xfrm>
          <a:prstGeom prst="ellipse">
            <a:avLst/>
          </a:prstGeom>
          <a:solidFill>
            <a:srgbClr val="0B6E70"/>
          </a:solidFill>
          <a:ln w="12700">
            <a:solidFill>
              <a:srgbClr val="0B6E7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30568" y="1892808"/>
            <a:ext cx="201168" cy="201168"/>
          </a:xfrm>
          <a:prstGeom prst="ellipse">
            <a:avLst/>
          </a:prstGeom>
          <a:solidFill>
            <a:srgbClr val="0B6E70"/>
          </a:solidFill>
          <a:ln w="12700">
            <a:solidFill>
              <a:srgbClr val="0B6E7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463040" y="2157984"/>
            <a:ext cx="201168" cy="201168"/>
          </a:xfrm>
          <a:prstGeom prst="ellipse">
            <a:avLst/>
          </a:prstGeom>
          <a:solidFill>
            <a:srgbClr val="C2500C"/>
          </a:solidFill>
          <a:ln w="12700">
            <a:solidFill>
              <a:srgbClr val="C2500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728216" y="2157984"/>
            <a:ext cx="201168" cy="201168"/>
          </a:xfrm>
          <a:prstGeom prst="ellipse">
            <a:avLst/>
          </a:prstGeom>
          <a:solidFill>
            <a:srgbClr val="C2500C"/>
          </a:solidFill>
          <a:ln w="12700">
            <a:solidFill>
              <a:srgbClr val="C2500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993392" y="2157984"/>
            <a:ext cx="201168" cy="201168"/>
          </a:xfrm>
          <a:prstGeom prst="ellipse">
            <a:avLst/>
          </a:prstGeom>
          <a:solidFill>
            <a:srgbClr val="C2500C"/>
          </a:solidFill>
          <a:ln w="12700">
            <a:solidFill>
              <a:srgbClr val="C2500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58568" y="2157984"/>
            <a:ext cx="201168" cy="201168"/>
          </a:xfrm>
          <a:prstGeom prst="ellipse">
            <a:avLst/>
          </a:prstGeom>
          <a:solidFill>
            <a:srgbClr val="C2500C"/>
          </a:solidFill>
          <a:ln w="12700">
            <a:solidFill>
              <a:srgbClr val="C2500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63040" y="1892808"/>
            <a:ext cx="201168" cy="201168"/>
          </a:xfrm>
          <a:prstGeom prst="ellipse">
            <a:avLst/>
          </a:prstGeom>
          <a:solidFill>
            <a:srgbClr val="C2500C"/>
          </a:solidFill>
          <a:ln w="12700">
            <a:solidFill>
              <a:srgbClr val="C2500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728216" y="1892808"/>
            <a:ext cx="201168" cy="201168"/>
          </a:xfrm>
          <a:prstGeom prst="ellipse">
            <a:avLst/>
          </a:prstGeom>
          <a:solidFill>
            <a:srgbClr val="C2500C"/>
          </a:solidFill>
          <a:ln w="12700">
            <a:solidFill>
              <a:srgbClr val="C2500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993392" y="1892808"/>
            <a:ext cx="201168" cy="201168"/>
          </a:xfrm>
          <a:prstGeom prst="ellipse">
            <a:avLst/>
          </a:prstGeom>
          <a:solidFill>
            <a:srgbClr val="C2500C"/>
          </a:solidFill>
          <a:ln w="12700">
            <a:solidFill>
              <a:srgbClr val="C2500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58568" y="1892808"/>
            <a:ext cx="201168" cy="201168"/>
          </a:xfrm>
          <a:prstGeom prst="ellipse">
            <a:avLst/>
          </a:prstGeom>
          <a:solidFill>
            <a:srgbClr val="C2500C"/>
          </a:solidFill>
          <a:ln w="12700">
            <a:solidFill>
              <a:srgbClr val="C2500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463040" y="1627632"/>
            <a:ext cx="201168" cy="201168"/>
          </a:xfrm>
          <a:prstGeom prst="ellipse">
            <a:avLst/>
          </a:prstGeom>
          <a:solidFill>
            <a:srgbClr val="C2500C"/>
          </a:solidFill>
          <a:ln w="12700">
            <a:solidFill>
              <a:srgbClr val="C2500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728216" y="1627632"/>
            <a:ext cx="201168" cy="201168"/>
          </a:xfrm>
          <a:prstGeom prst="ellipse">
            <a:avLst/>
          </a:prstGeom>
          <a:solidFill>
            <a:srgbClr val="C2500C"/>
          </a:solidFill>
          <a:ln w="12700">
            <a:solidFill>
              <a:srgbClr val="C2500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993392" y="1627632"/>
            <a:ext cx="201168" cy="201168"/>
          </a:xfrm>
          <a:prstGeom prst="ellipse">
            <a:avLst/>
          </a:prstGeom>
          <a:solidFill>
            <a:srgbClr val="C2500C"/>
          </a:solidFill>
          <a:ln w="12700">
            <a:solidFill>
              <a:srgbClr val="C2500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258568" y="1627632"/>
            <a:ext cx="201168" cy="201168"/>
          </a:xfrm>
          <a:prstGeom prst="ellipse">
            <a:avLst/>
          </a:prstGeom>
          <a:solidFill>
            <a:srgbClr val="C2500C"/>
          </a:solidFill>
          <a:ln w="12700">
            <a:solidFill>
              <a:srgbClr val="C2500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463040" y="1362456"/>
            <a:ext cx="201168" cy="201168"/>
          </a:xfrm>
          <a:prstGeom prst="ellipse">
            <a:avLst/>
          </a:prstGeom>
          <a:solidFill>
            <a:srgbClr val="C2500C"/>
          </a:solidFill>
          <a:ln w="12700">
            <a:solidFill>
              <a:srgbClr val="C2500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728216" y="1362456"/>
            <a:ext cx="201168" cy="201168"/>
          </a:xfrm>
          <a:prstGeom prst="ellipse">
            <a:avLst/>
          </a:prstGeom>
          <a:solidFill>
            <a:srgbClr val="C2500C"/>
          </a:solidFill>
          <a:ln w="12700">
            <a:solidFill>
              <a:srgbClr val="C2500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993392" y="1362456"/>
            <a:ext cx="201168" cy="201168"/>
          </a:xfrm>
          <a:prstGeom prst="ellipse">
            <a:avLst/>
          </a:prstGeom>
          <a:solidFill>
            <a:srgbClr val="C2500C"/>
          </a:solidFill>
          <a:ln w="12700">
            <a:solidFill>
              <a:srgbClr val="C2500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258568" y="1362456"/>
            <a:ext cx="201168" cy="201168"/>
          </a:xfrm>
          <a:prstGeom prst="ellipse">
            <a:avLst/>
          </a:prstGeom>
          <a:solidFill>
            <a:srgbClr val="C2500C"/>
          </a:solidFill>
          <a:ln w="12700">
            <a:solidFill>
              <a:srgbClr val="C2500C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937760" y="25146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buNone/>
            </a:pPr>
            <a:r>
              <a:rPr lang="en-US" sz="1800" b="1" dirty="0">
                <a:solidFill>
                  <a:srgbClr val="0B6E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+ 2 + 2 + 2 = 8</a:t>
            </a:r>
            <a:endParaRPr lang="en-US" sz="1800" dirty="0"/>
          </a:p>
        </p:txBody>
      </p:sp>
      <p:sp>
        <p:nvSpPr>
          <p:cNvPr id="30" name="Text 28"/>
          <p:cNvSpPr txBox="1"/>
          <p:nvPr/>
        </p:nvSpPr>
        <p:spPr>
          <a:xfrm>
            <a:off x="822960" y="25146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buNone/>
            </a:pPr>
            <a:r>
              <a:rPr lang="en-US" sz="1800" b="1" dirty="0">
                <a:solidFill>
                  <a:srgbClr val="C250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× 2 × 2 × 2 = 16</a:t>
            </a:r>
            <a:endParaRPr lang="en-US" sz="1800" dirty="0"/>
          </a:p>
        </p:txBody>
      </p:sp>
      <p:sp>
        <p:nvSpPr>
          <p:cNvPr id="31" name="Text 29"/>
          <p:cNvSpPr txBox="1"/>
          <p:nvPr/>
        </p:nvSpPr>
        <p:spPr>
          <a:xfrm>
            <a:off x="7863840" y="10058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LB" altLang="en-US" sz="1600" b="1" dirty="0">
                <a:solidFill>
                  <a:srgbClr val="0B6E70"/>
                </a:solidFill>
              </a:rPr>
              <a:t>(أ)</a:t>
            </a:r>
            <a:endParaRPr lang="ar-LB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3840480" y="10058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LB" altLang="en-US" sz="1600" b="1" dirty="0">
                <a:solidFill>
                  <a:srgbClr val="C2500C"/>
                </a:solidFill>
              </a:rPr>
              <a:t>(ب)</a:t>
            </a:r>
            <a:endParaRPr lang="ar-LB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457200" y="3566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LB" altLang="en-US" sz="2400" b="1" dirty="0">
                <a:solidFill>
                  <a:srgbClr val="0F4C5C"/>
                </a:solidFill>
              </a:rPr>
              <a:t>العرض (ب) أكبر، لأننا نضرب ولا نجمع.</a:t>
            </a:r>
            <a:endParaRPr lang="ar-LB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7432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3E4A52"/>
                </a:solidFill>
              </a:defRPr>
            </a:lvl1pPr>
          </a:lstStyle>
          <a:p>
            <a:pPr rtl="0"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F4C5C"/>
                </a:solidFill>
              </a:rPr>
              <a:t>استكشاف 1: الصندوق والعلب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4206240" cy="3794760"/>
          </a:xfrm>
          <a:prstGeom prst="roundRect">
            <a:avLst>
              <a:gd name="adj" fmla="val 2410"/>
            </a:avLst>
          </a:prstGeom>
          <a:solidFill>
            <a:srgbClr val="F4F8F9"/>
          </a:solidFill>
          <a:ln w="12700">
            <a:solidFill>
              <a:srgbClr val="B9CDD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4343400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LB" altLang="en-US" sz="1100" dirty="0">
                <a:solidFill>
                  <a:srgbClr val="3E4A52"/>
                </a:solidFill>
              </a:rPr>
              <a:t>الصورة: صندوق فيه علبتان، في كل علبة كيسان، في كل كيس كرتان</a:t>
            </a:r>
            <a:endParaRPr lang="ar-LB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1051560"/>
            <a:ext cx="3840480" cy="3200400"/>
          </a:xfrm>
          <a:prstGeom prst="roundRect">
            <a:avLst>
              <a:gd name="adj" fmla="val 2286"/>
            </a:avLst>
          </a:prstGeom>
          <a:solidFill>
            <a:srgbClr val="FFF4E5"/>
          </a:solidFill>
          <a:ln w="31750">
            <a:solidFill>
              <a:srgbClr val="6B5B4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07899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LB" altLang="en-US" sz="1200" b="1" dirty="0">
                <a:solidFill>
                  <a:srgbClr val="6B5B45"/>
                </a:solidFill>
              </a:rPr>
              <a:t>الصندوق</a:t>
            </a:r>
            <a:endParaRPr lang="ar-LB" sz="1200" dirty="0"/>
          </a:p>
        </p:txBody>
      </p:sp>
      <p:sp>
        <p:nvSpPr>
          <p:cNvPr id="7" name="Shape 5"/>
          <p:cNvSpPr/>
          <p:nvPr/>
        </p:nvSpPr>
        <p:spPr>
          <a:xfrm>
            <a:off x="777240" y="1417320"/>
            <a:ext cx="1737360" cy="2697480"/>
          </a:xfrm>
          <a:prstGeom prst="roundRect">
            <a:avLst>
              <a:gd name="adj" fmla="val 4211"/>
            </a:avLst>
          </a:prstGeom>
          <a:solidFill>
            <a:srgbClr val="E3F1F1"/>
          </a:solidFill>
          <a:ln w="25400">
            <a:solidFill>
              <a:srgbClr val="0B6E7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144475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LB" altLang="en-US" sz="1100" b="1" dirty="0">
                <a:solidFill>
                  <a:srgbClr val="0B6E70"/>
                </a:solidFill>
              </a:rPr>
              <a:t>علبة</a:t>
            </a:r>
            <a:endParaRPr lang="ar-LB" sz="1100" dirty="0"/>
          </a:p>
        </p:txBody>
      </p:sp>
      <p:sp>
        <p:nvSpPr>
          <p:cNvPr id="9" name="Shape 7"/>
          <p:cNvSpPr/>
          <p:nvPr/>
        </p:nvSpPr>
        <p:spPr>
          <a:xfrm>
            <a:off x="914400" y="1783080"/>
            <a:ext cx="1463040" cy="1005840"/>
          </a:xfrm>
          <a:prstGeom prst="roundRect">
            <a:avLst>
              <a:gd name="adj" fmla="val 18182"/>
            </a:avLst>
          </a:prstGeom>
          <a:solidFill>
            <a:srgbClr val="FBE7DC"/>
          </a:solidFill>
          <a:ln w="19050">
            <a:solidFill>
              <a:srgbClr val="C2500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18013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LB" altLang="en-US" sz="1000" b="1" dirty="0">
                <a:solidFill>
                  <a:srgbClr val="C2500C"/>
                </a:solidFill>
              </a:rPr>
              <a:t>كيس</a:t>
            </a:r>
            <a:endParaRPr lang="ar-LB" sz="1000" dirty="0"/>
          </a:p>
        </p:txBody>
      </p:sp>
      <p:sp>
        <p:nvSpPr>
          <p:cNvPr id="11" name="Shape 9"/>
          <p:cNvSpPr/>
          <p:nvPr/>
        </p:nvSpPr>
        <p:spPr>
          <a:xfrm>
            <a:off x="1124712" y="2130552"/>
            <a:ext cx="457200" cy="457200"/>
          </a:xfrm>
          <a:prstGeom prst="ellipse">
            <a:avLst/>
          </a:prstGeom>
          <a:solidFill>
            <a:srgbClr val="1F7A4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19072" y="2130552"/>
            <a:ext cx="457200" cy="457200"/>
          </a:xfrm>
          <a:prstGeom prst="ellipse">
            <a:avLst/>
          </a:prstGeom>
          <a:solidFill>
            <a:srgbClr val="1F7A4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" y="2926080"/>
            <a:ext cx="1463040" cy="1005840"/>
          </a:xfrm>
          <a:prstGeom prst="roundRect">
            <a:avLst>
              <a:gd name="adj" fmla="val 18182"/>
            </a:avLst>
          </a:prstGeom>
          <a:solidFill>
            <a:srgbClr val="FBE7DC"/>
          </a:solidFill>
          <a:ln w="19050">
            <a:solidFill>
              <a:srgbClr val="C2500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14400" y="29443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LB" altLang="en-US" sz="1000" b="1" dirty="0">
                <a:solidFill>
                  <a:srgbClr val="C2500C"/>
                </a:solidFill>
              </a:rPr>
              <a:t>كيس</a:t>
            </a:r>
            <a:endParaRPr lang="ar-LB" sz="1000" dirty="0"/>
          </a:p>
        </p:txBody>
      </p:sp>
      <p:sp>
        <p:nvSpPr>
          <p:cNvPr id="15" name="Shape 13"/>
          <p:cNvSpPr/>
          <p:nvPr/>
        </p:nvSpPr>
        <p:spPr>
          <a:xfrm>
            <a:off x="1124712" y="3273552"/>
            <a:ext cx="457200" cy="457200"/>
          </a:xfrm>
          <a:prstGeom prst="ellipse">
            <a:avLst/>
          </a:prstGeom>
          <a:solidFill>
            <a:srgbClr val="1F7A4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719072" y="3273552"/>
            <a:ext cx="457200" cy="457200"/>
          </a:xfrm>
          <a:prstGeom prst="ellipse">
            <a:avLst/>
          </a:prstGeom>
          <a:solidFill>
            <a:srgbClr val="1F7A4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651760" y="1417320"/>
            <a:ext cx="1737360" cy="2697480"/>
          </a:xfrm>
          <a:prstGeom prst="roundRect">
            <a:avLst>
              <a:gd name="adj" fmla="val 4211"/>
            </a:avLst>
          </a:prstGeom>
          <a:solidFill>
            <a:srgbClr val="E3F1F1"/>
          </a:solidFill>
          <a:ln w="25400">
            <a:solidFill>
              <a:srgbClr val="0B6E7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651760" y="144475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LB" altLang="en-US" sz="1100" b="1" dirty="0">
                <a:solidFill>
                  <a:srgbClr val="0B6E70"/>
                </a:solidFill>
              </a:rPr>
              <a:t>علبة</a:t>
            </a:r>
            <a:endParaRPr lang="ar-LB" sz="1100" dirty="0"/>
          </a:p>
        </p:txBody>
      </p:sp>
      <p:sp>
        <p:nvSpPr>
          <p:cNvPr id="19" name="Shape 17"/>
          <p:cNvSpPr/>
          <p:nvPr/>
        </p:nvSpPr>
        <p:spPr>
          <a:xfrm>
            <a:off x="2788920" y="1783080"/>
            <a:ext cx="1463040" cy="1005840"/>
          </a:xfrm>
          <a:prstGeom prst="roundRect">
            <a:avLst>
              <a:gd name="adj" fmla="val 18182"/>
            </a:avLst>
          </a:prstGeom>
          <a:solidFill>
            <a:srgbClr val="FBE7DC"/>
          </a:solidFill>
          <a:ln w="19050">
            <a:solidFill>
              <a:srgbClr val="C2500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788920" y="18013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LB" altLang="en-US" sz="1000" b="1" dirty="0">
                <a:solidFill>
                  <a:srgbClr val="C2500C"/>
                </a:solidFill>
              </a:rPr>
              <a:t>كيس</a:t>
            </a:r>
            <a:endParaRPr lang="ar-LB" sz="1000" dirty="0"/>
          </a:p>
        </p:txBody>
      </p:sp>
      <p:sp>
        <p:nvSpPr>
          <p:cNvPr id="21" name="Shape 19"/>
          <p:cNvSpPr/>
          <p:nvPr/>
        </p:nvSpPr>
        <p:spPr>
          <a:xfrm>
            <a:off x="2999232" y="2130552"/>
            <a:ext cx="457200" cy="457200"/>
          </a:xfrm>
          <a:prstGeom prst="ellipse">
            <a:avLst/>
          </a:prstGeom>
          <a:solidFill>
            <a:srgbClr val="1F7A4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593592" y="2130552"/>
            <a:ext cx="457200" cy="457200"/>
          </a:xfrm>
          <a:prstGeom prst="ellipse">
            <a:avLst/>
          </a:prstGeom>
          <a:solidFill>
            <a:srgbClr val="1F7A4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88920" y="2926080"/>
            <a:ext cx="1463040" cy="1005840"/>
          </a:xfrm>
          <a:prstGeom prst="roundRect">
            <a:avLst>
              <a:gd name="adj" fmla="val 18182"/>
            </a:avLst>
          </a:prstGeom>
          <a:solidFill>
            <a:srgbClr val="FBE7DC"/>
          </a:solidFill>
          <a:ln w="19050">
            <a:solidFill>
              <a:srgbClr val="C2500C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2788920" y="29443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LB" altLang="en-US" sz="1000" b="1" dirty="0">
                <a:solidFill>
                  <a:srgbClr val="C2500C"/>
                </a:solidFill>
              </a:rPr>
              <a:t>كيس</a:t>
            </a:r>
            <a:endParaRPr lang="ar-LB" sz="1000" dirty="0"/>
          </a:p>
        </p:txBody>
      </p:sp>
      <p:sp>
        <p:nvSpPr>
          <p:cNvPr id="25" name="Shape 23"/>
          <p:cNvSpPr/>
          <p:nvPr/>
        </p:nvSpPr>
        <p:spPr>
          <a:xfrm>
            <a:off x="2999232" y="3273552"/>
            <a:ext cx="457200" cy="457200"/>
          </a:xfrm>
          <a:prstGeom prst="ellipse">
            <a:avLst/>
          </a:prstGeom>
          <a:solidFill>
            <a:srgbClr val="1F7A4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593592" y="3273552"/>
            <a:ext cx="457200" cy="457200"/>
          </a:xfrm>
          <a:prstGeom prst="ellipse">
            <a:avLst/>
          </a:prstGeom>
          <a:solidFill>
            <a:srgbClr val="1F7A4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846320" y="914400"/>
            <a:ext cx="3840480" cy="1417320"/>
          </a:xfrm>
          <a:prstGeom prst="roundRect">
            <a:avLst>
              <a:gd name="adj" fmla="val 6452"/>
            </a:avLst>
          </a:prstGeom>
          <a:solidFill>
            <a:srgbClr val="1F7A45">
              <a:alpha val="10000"/>
            </a:srgbClr>
          </a:solidFill>
          <a:ln w="19050">
            <a:solidFill>
              <a:srgbClr val="1F7A4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38160" y="1005840"/>
            <a:ext cx="420624" cy="420624"/>
          </a:xfrm>
          <a:prstGeom prst="ellipse">
            <a:avLst/>
          </a:prstGeom>
          <a:solidFill>
            <a:srgbClr val="1F7A45"/>
          </a:solidFill>
          <a:ln w="12700">
            <a:solidFill>
              <a:srgbClr val="1F7A45"/>
            </a:solidFill>
            <a:prstDash val="solid"/>
          </a:ln>
        </p:spPr>
      </p:sp>
      <p:pic>
        <p:nvPicPr>
          <p:cNvPr id="29" name="Image 0" descr="أيقونة يد: نشاط لمسي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51728" y="1119408"/>
            <a:ext cx="193487" cy="193487"/>
          </a:xfrm>
          <a:prstGeom prst="rect">
            <a:avLst/>
          </a:prstGeom>
        </p:spPr>
      </p:pic>
      <p:sp>
        <p:nvSpPr>
          <p:cNvPr id="30" name="Text 27"/>
          <p:cNvSpPr txBox="1"/>
          <p:nvPr/>
        </p:nvSpPr>
        <p:spPr>
          <a:xfrm>
            <a:off x="4937760" y="987552"/>
            <a:ext cx="3154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LB" altLang="en-US" sz="1800" b="1" dirty="0">
                <a:solidFill>
                  <a:srgbClr val="1F7A45"/>
                </a:solidFill>
              </a:rPr>
              <a:t>باللمس</a:t>
            </a:r>
            <a:endParaRPr lang="ar-LB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4983480" y="146304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spcAft>
                <a:spcPts val="400"/>
              </a:spcAft>
              <a:buNone/>
            </a:pPr>
            <a:r>
              <a:rPr lang="ar-LB" altLang="en-US" sz="1700" dirty="0">
                <a:solidFill>
                  <a:srgbClr val="1B262C"/>
                </a:solidFill>
              </a:rPr>
              <a:t>افتح الصندوق وعُدّ: العلب، ثم الأكياس، ثم الكرات.</a:t>
            </a:r>
            <a:endParaRPr lang="ar-LB" sz="1700" dirty="0"/>
          </a:p>
        </p:txBody>
      </p:sp>
      <p:sp>
        <p:nvSpPr>
          <p:cNvPr id="32" name="Shape 29"/>
          <p:cNvSpPr/>
          <p:nvPr/>
        </p:nvSpPr>
        <p:spPr>
          <a:xfrm>
            <a:off x="4846320" y="2423160"/>
            <a:ext cx="3840480" cy="685800"/>
          </a:xfrm>
          <a:prstGeom prst="roundRect">
            <a:avLst>
              <a:gd name="adj" fmla="val 13333"/>
            </a:avLst>
          </a:prstGeom>
          <a:solidFill>
            <a:srgbClr val="0B6E70">
              <a:alpha val="8000"/>
            </a:srgbClr>
          </a:solidFill>
          <a:ln w="19050">
            <a:solidFill>
              <a:srgbClr val="0B6E70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8202168" y="2592324"/>
            <a:ext cx="347472" cy="347472"/>
          </a:xfrm>
          <a:prstGeom prst="ellipse">
            <a:avLst/>
          </a:prstGeom>
          <a:solidFill>
            <a:srgbClr val="0B6E70"/>
          </a:solidFill>
          <a:ln w="12700">
            <a:solidFill>
              <a:srgbClr val="0B6E70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8202168" y="25923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LB" altLang="en-US" sz="1400" b="1" dirty="0">
                <a:solidFill>
                  <a:srgbClr val="FFFFFF"/>
                </a:solidFill>
              </a:rPr>
              <a:t>1</a:t>
            </a:r>
            <a:endParaRPr lang="ar-LB" sz="1400" dirty="0"/>
          </a:p>
        </p:txBody>
      </p:sp>
      <p:sp>
        <p:nvSpPr>
          <p:cNvPr id="35" name="Text 32"/>
          <p:cNvSpPr txBox="1"/>
          <p:nvPr/>
        </p:nvSpPr>
        <p:spPr>
          <a:xfrm>
            <a:off x="4919472" y="242316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LB" altLang="en-US" sz="1600" dirty="0">
                <a:solidFill>
                  <a:srgbClr val="1B262C"/>
                </a:solidFill>
              </a:rPr>
              <a:t>كم علبة؟ كم كيسًا؟ كم كرة؟</a:t>
            </a:r>
            <a:endParaRPr lang="ar-LB" sz="1600" dirty="0"/>
          </a:p>
        </p:txBody>
      </p:sp>
      <p:sp>
        <p:nvSpPr>
          <p:cNvPr id="36" name="Shape 33"/>
          <p:cNvSpPr/>
          <p:nvPr/>
        </p:nvSpPr>
        <p:spPr>
          <a:xfrm>
            <a:off x="4846320" y="3200400"/>
            <a:ext cx="3840480" cy="685800"/>
          </a:xfrm>
          <a:prstGeom prst="roundRect">
            <a:avLst>
              <a:gd name="adj" fmla="val 13333"/>
            </a:avLst>
          </a:prstGeom>
          <a:solidFill>
            <a:srgbClr val="0B6E70">
              <a:alpha val="8000"/>
            </a:srgbClr>
          </a:solidFill>
          <a:ln w="19050">
            <a:solidFill>
              <a:srgbClr val="0B6E70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8202168" y="3369564"/>
            <a:ext cx="347472" cy="347472"/>
          </a:xfrm>
          <a:prstGeom prst="ellipse">
            <a:avLst/>
          </a:prstGeom>
          <a:solidFill>
            <a:srgbClr val="0B6E70"/>
          </a:solidFill>
          <a:ln w="12700">
            <a:solidFill>
              <a:srgbClr val="0B6E70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8202168" y="33695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LB" altLang="en-US" sz="1400" b="1" dirty="0">
                <a:solidFill>
                  <a:srgbClr val="FFFFFF"/>
                </a:solidFill>
              </a:rPr>
              <a:t>2</a:t>
            </a:r>
            <a:endParaRPr lang="ar-LB" sz="1400" dirty="0"/>
          </a:p>
        </p:txBody>
      </p:sp>
      <p:sp>
        <p:nvSpPr>
          <p:cNvPr id="39" name="Text 36"/>
          <p:cNvSpPr txBox="1"/>
          <p:nvPr/>
        </p:nvSpPr>
        <p:spPr>
          <a:xfrm>
            <a:off x="6078931" y="3200400"/>
            <a:ext cx="204094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LB" altLang="en-US" sz="1600" dirty="0">
                <a:solidFill>
                  <a:srgbClr val="1B262C"/>
                </a:solidFill>
              </a:rPr>
              <a:t>اكتب عدد الكرات كضرب:</a:t>
            </a:r>
            <a:endParaRPr lang="ar-LB" sz="1600" dirty="0"/>
          </a:p>
        </p:txBody>
      </p:sp>
      <p:sp>
        <p:nvSpPr>
          <p:cNvPr id="40" name="Text 37"/>
          <p:cNvSpPr txBox="1"/>
          <p:nvPr/>
        </p:nvSpPr>
        <p:spPr>
          <a:xfrm>
            <a:off x="4919472" y="3200400"/>
            <a:ext cx="112288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buNone/>
            </a:pPr>
            <a:r>
              <a:rPr lang="en-US" sz="1700" b="1" dirty="0">
                <a:solidFill>
                  <a:srgbClr val="0B6E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 × ? × ?</a:t>
            </a:r>
            <a:endParaRPr lang="en-US" sz="1700" dirty="0"/>
          </a:p>
        </p:txBody>
      </p:sp>
      <p:sp>
        <p:nvSpPr>
          <p:cNvPr id="41" name="Shape 38"/>
          <p:cNvSpPr/>
          <p:nvPr/>
        </p:nvSpPr>
        <p:spPr>
          <a:xfrm>
            <a:off x="4846320" y="3977640"/>
            <a:ext cx="3840480" cy="685800"/>
          </a:xfrm>
          <a:prstGeom prst="roundRect">
            <a:avLst>
              <a:gd name="adj" fmla="val 13333"/>
            </a:avLst>
          </a:prstGeom>
          <a:solidFill>
            <a:srgbClr val="C2500C">
              <a:alpha val="8000"/>
            </a:srgbClr>
          </a:solidFill>
          <a:ln w="19050">
            <a:solidFill>
              <a:srgbClr val="C2500C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8202168" y="4146804"/>
            <a:ext cx="347472" cy="347472"/>
          </a:xfrm>
          <a:prstGeom prst="ellipse">
            <a:avLst/>
          </a:prstGeom>
          <a:solidFill>
            <a:srgbClr val="C2500C"/>
          </a:solidFill>
          <a:ln w="12700">
            <a:solidFill>
              <a:srgbClr val="C2500C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8202168" y="41468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LB" altLang="en-US" sz="1400" b="1" dirty="0">
                <a:solidFill>
                  <a:srgbClr val="FFFFFF"/>
                </a:solidFill>
              </a:rPr>
              <a:t>3</a:t>
            </a:r>
            <a:endParaRPr lang="ar-LB" sz="1400" dirty="0"/>
          </a:p>
        </p:txBody>
      </p:sp>
      <p:sp>
        <p:nvSpPr>
          <p:cNvPr id="44" name="Text 41"/>
          <p:cNvSpPr txBox="1"/>
          <p:nvPr/>
        </p:nvSpPr>
        <p:spPr>
          <a:xfrm>
            <a:off x="4919472" y="397764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LB" altLang="en-US" sz="1600" dirty="0">
                <a:solidFill>
                  <a:srgbClr val="1B262C"/>
                </a:solidFill>
              </a:rPr>
              <a:t>هل عدد الكرات 2 × 3 = 6؟</a:t>
            </a:r>
            <a:endParaRPr lang="ar-LB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7432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3E4A52"/>
                </a:solidFill>
              </a:defRPr>
            </a:lvl1pPr>
          </a:lstStyle>
          <a:p>
            <a:pPr rtl="0"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F4C5C"/>
                </a:solidFill>
              </a:rPr>
              <a:t>استكشاف 2: خيط القوّة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1600200"/>
          </a:xfrm>
          <a:prstGeom prst="roundRect">
            <a:avLst>
              <a:gd name="adj" fmla="val 5714"/>
            </a:avLst>
          </a:prstGeom>
          <a:solidFill>
            <a:srgbClr val="F4F8F9"/>
          </a:solidFill>
          <a:ln w="12700">
            <a:solidFill>
              <a:srgbClr val="B9CDD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2148840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LB" altLang="en-US" sz="1100" dirty="0">
                <a:solidFill>
                  <a:srgbClr val="3E4A52"/>
                </a:solidFill>
              </a:rPr>
              <a:t>الصورة: خيط عليه 3 خرزات، على كل خرزة «× 2»</a:t>
            </a:r>
            <a:endParaRPr lang="ar-LB" sz="1100" dirty="0"/>
          </a:p>
        </p:txBody>
      </p:sp>
      <p:sp>
        <p:nvSpPr>
          <p:cNvPr id="5" name="Shape 3"/>
          <p:cNvSpPr/>
          <p:nvPr/>
        </p:nvSpPr>
        <p:spPr>
          <a:xfrm>
            <a:off x="1280160" y="1600200"/>
            <a:ext cx="4754880" cy="0"/>
          </a:xfrm>
          <a:prstGeom prst="line">
            <a:avLst/>
          </a:prstGeom>
          <a:noFill/>
          <a:ln w="38100">
            <a:solidFill>
              <a:srgbClr val="6B5B4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07008" y="1527048"/>
            <a:ext cx="146304" cy="146304"/>
          </a:xfrm>
          <a:prstGeom prst="ellipse">
            <a:avLst/>
          </a:prstGeom>
          <a:solidFill>
            <a:srgbClr val="6B5B45"/>
          </a:solidFill>
          <a:ln w="12700">
            <a:solidFill>
              <a:srgbClr val="6B5B4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61888" y="1527048"/>
            <a:ext cx="146304" cy="146304"/>
          </a:xfrm>
          <a:prstGeom prst="ellipse">
            <a:avLst/>
          </a:prstGeom>
          <a:solidFill>
            <a:srgbClr val="6B5B45"/>
          </a:solidFill>
          <a:ln w="12700">
            <a:solidFill>
              <a:srgbClr val="6B5B4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148840" y="1280160"/>
            <a:ext cx="640080" cy="640080"/>
          </a:xfrm>
          <a:prstGeom prst="ellipse">
            <a:avLst/>
          </a:prstGeom>
          <a:solidFill>
            <a:srgbClr val="1F5C9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148840" y="1280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3337560" y="1280160"/>
            <a:ext cx="640080" cy="640080"/>
          </a:xfrm>
          <a:prstGeom prst="ellipse">
            <a:avLst/>
          </a:prstGeom>
          <a:solidFill>
            <a:srgbClr val="1F5C9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337560" y="1280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4526280" y="1280160"/>
            <a:ext cx="640080" cy="640080"/>
          </a:xfrm>
          <a:prstGeom prst="ellipse">
            <a:avLst/>
          </a:prstGeom>
          <a:solidFill>
            <a:srgbClr val="1F5C9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26280" y="1280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6263640" y="13716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l" indent="0" marL="0">
              <a:buNone/>
            </a:pPr>
            <a:r>
              <a:rPr lang="en-US" sz="2000" b="1" dirty="0">
                <a:solidFill>
                  <a:srgbClr val="1F5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2 × 2 × 2 = 8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457200" y="2697480"/>
            <a:ext cx="8229600" cy="621792"/>
          </a:xfrm>
          <a:prstGeom prst="roundRect">
            <a:avLst>
              <a:gd name="adj" fmla="val 14706"/>
            </a:avLst>
          </a:prstGeom>
          <a:solidFill>
            <a:srgbClr val="0B6E70">
              <a:alpha val="8000"/>
            </a:srgbClr>
          </a:solidFill>
          <a:ln w="19050">
            <a:solidFill>
              <a:srgbClr val="0B6E7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83880" y="2816352"/>
            <a:ext cx="384048" cy="384048"/>
          </a:xfrm>
          <a:prstGeom prst="ellipse">
            <a:avLst/>
          </a:prstGeom>
          <a:solidFill>
            <a:srgbClr val="0B6E70"/>
          </a:solidFill>
          <a:ln w="12700">
            <a:solidFill>
              <a:srgbClr val="0B6E7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183880" y="28163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LB" altLang="en-US" sz="1600" b="1" dirty="0">
                <a:solidFill>
                  <a:srgbClr val="FFFFFF"/>
                </a:solidFill>
              </a:rPr>
              <a:t>1</a:t>
            </a:r>
            <a:endParaRPr lang="ar-LB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2697480"/>
            <a:ext cx="7452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LB" altLang="en-US" sz="1800" dirty="0">
                <a:solidFill>
                  <a:srgbClr val="1B262C"/>
                </a:solidFill>
              </a:rPr>
              <a:t>عُدّ الخرزات: كم مرة ضربنا العدد 2؟</a:t>
            </a:r>
            <a:endParaRPr lang="ar-LB" sz="1800" dirty="0"/>
          </a:p>
        </p:txBody>
      </p:sp>
      <p:sp>
        <p:nvSpPr>
          <p:cNvPr id="19" name="Shape 17"/>
          <p:cNvSpPr/>
          <p:nvPr/>
        </p:nvSpPr>
        <p:spPr>
          <a:xfrm>
            <a:off x="457200" y="3401568"/>
            <a:ext cx="8229600" cy="621792"/>
          </a:xfrm>
          <a:prstGeom prst="roundRect">
            <a:avLst>
              <a:gd name="adj" fmla="val 14706"/>
            </a:avLst>
          </a:prstGeom>
          <a:solidFill>
            <a:srgbClr val="0B6E70">
              <a:alpha val="8000"/>
            </a:srgbClr>
          </a:solidFill>
          <a:ln w="19050">
            <a:solidFill>
              <a:srgbClr val="0B6E7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183880" y="3520440"/>
            <a:ext cx="384048" cy="384048"/>
          </a:xfrm>
          <a:prstGeom prst="ellipse">
            <a:avLst/>
          </a:prstGeom>
          <a:solidFill>
            <a:srgbClr val="0B6E70"/>
          </a:solidFill>
          <a:ln w="12700">
            <a:solidFill>
              <a:srgbClr val="0B6E7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183880" y="3520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LB" altLang="en-US" sz="1600" b="1" dirty="0">
                <a:solidFill>
                  <a:srgbClr val="FFFFFF"/>
                </a:solidFill>
              </a:rPr>
              <a:t>2</a:t>
            </a:r>
            <a:endParaRPr lang="ar-LB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3520440" y="3401568"/>
            <a:ext cx="4572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LB" altLang="en-US" sz="1800" dirty="0">
                <a:solidFill>
                  <a:srgbClr val="1B262C"/>
                </a:solidFill>
              </a:rPr>
              <a:t>نكتبها باختصار: 2 أُس 3. ما قيمتها؟</a:t>
            </a:r>
            <a:endParaRPr lang="ar-LB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594360" y="3401568"/>
            <a:ext cx="2834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buNone/>
            </a:pPr>
            <a:r>
              <a:rPr lang="en-US" sz="2000" b="1" dirty="0">
                <a:solidFill>
                  <a:srgbClr val="0B6E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r>
              <a:rPr lang="en-US" sz="2000" b="1" baseline="30000" dirty="0">
                <a:solidFill>
                  <a:srgbClr val="0B6E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r>
              <a:rPr lang="en-US" sz="2000" b="1" dirty="0">
                <a:solidFill>
                  <a:srgbClr val="0B6E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?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457200" y="4105656"/>
            <a:ext cx="8229600" cy="621792"/>
          </a:xfrm>
          <a:prstGeom prst="roundRect">
            <a:avLst>
              <a:gd name="adj" fmla="val 14706"/>
            </a:avLst>
          </a:prstGeom>
          <a:solidFill>
            <a:srgbClr val="C2500C">
              <a:alpha val="8000"/>
            </a:srgbClr>
          </a:solidFill>
          <a:ln w="19050">
            <a:solidFill>
              <a:srgbClr val="C2500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4224528"/>
            <a:ext cx="384048" cy="384048"/>
          </a:xfrm>
          <a:prstGeom prst="ellipse">
            <a:avLst/>
          </a:prstGeom>
          <a:solidFill>
            <a:srgbClr val="C2500C"/>
          </a:solidFill>
          <a:ln w="12700">
            <a:solidFill>
              <a:srgbClr val="C2500C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183880" y="4224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LB" altLang="en-US" sz="1600" b="1" dirty="0">
                <a:solidFill>
                  <a:srgbClr val="FFFFFF"/>
                </a:solidFill>
              </a:rPr>
              <a:t>3</a:t>
            </a:r>
            <a:endParaRPr lang="ar-LB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3520440" y="4105656"/>
            <a:ext cx="4572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LB" altLang="en-US" sz="1800" dirty="0">
                <a:solidFill>
                  <a:srgbClr val="1B262C"/>
                </a:solidFill>
              </a:rPr>
              <a:t>قارن: كم يساوي 2 × 3؟</a:t>
            </a:r>
            <a:endParaRPr lang="ar-LB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594360" y="4105656"/>
            <a:ext cx="2834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buNone/>
            </a:pPr>
            <a:r>
              <a:rPr lang="en-US" sz="2000" b="1" dirty="0">
                <a:solidFill>
                  <a:srgbClr val="C250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× 3 = ?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7432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3E4A52"/>
                </a:solidFill>
              </a:defRPr>
            </a:lvl1pPr>
          </a:lstStyle>
          <a:p>
            <a:pPr rtl="0"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F4C5C"/>
                </a:solidFill>
              </a:rPr>
              <a:t>استكشاف 3: قوّة القوّة بالخيوط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1828800"/>
          </a:xfrm>
          <a:prstGeom prst="roundRect">
            <a:avLst>
              <a:gd name="adj" fmla="val 5000"/>
            </a:avLst>
          </a:prstGeom>
          <a:solidFill>
            <a:srgbClr val="F4F8F9"/>
          </a:solidFill>
          <a:ln w="12700">
            <a:solidFill>
              <a:srgbClr val="B9CDD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2377440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LB" altLang="en-US" sz="1100" dirty="0">
                <a:solidFill>
                  <a:srgbClr val="3E4A52"/>
                </a:solidFill>
              </a:rPr>
              <a:t>الصورة: خيطان، على كل خيط خرزتان؛ نربطهما فيصبح خيطًا عليه 4 خرزات</a:t>
            </a:r>
            <a:endParaRPr lang="ar-LB" sz="1100" dirty="0"/>
          </a:p>
        </p:txBody>
      </p:sp>
      <p:sp>
        <p:nvSpPr>
          <p:cNvPr id="5" name="Shape 3"/>
          <p:cNvSpPr/>
          <p:nvPr/>
        </p:nvSpPr>
        <p:spPr>
          <a:xfrm>
            <a:off x="5486400" y="1325880"/>
            <a:ext cx="2651760" cy="0"/>
          </a:xfrm>
          <a:prstGeom prst="line">
            <a:avLst/>
          </a:prstGeom>
          <a:noFill/>
          <a:ln w="38100">
            <a:solidFill>
              <a:srgbClr val="6B5B4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13248" y="1252728"/>
            <a:ext cx="146304" cy="146304"/>
          </a:xfrm>
          <a:prstGeom prst="ellipse">
            <a:avLst/>
          </a:prstGeom>
          <a:solidFill>
            <a:srgbClr val="6B5B45"/>
          </a:solidFill>
          <a:ln w="12700">
            <a:solidFill>
              <a:srgbClr val="6B5B4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65008" y="1252728"/>
            <a:ext cx="146304" cy="146304"/>
          </a:xfrm>
          <a:prstGeom prst="ellipse">
            <a:avLst/>
          </a:prstGeom>
          <a:solidFill>
            <a:srgbClr val="6B5B45"/>
          </a:solidFill>
          <a:ln w="12700">
            <a:solidFill>
              <a:srgbClr val="6B5B4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141720" y="1097280"/>
            <a:ext cx="457200" cy="457200"/>
          </a:xfrm>
          <a:prstGeom prst="ellipse">
            <a:avLst/>
          </a:prstGeom>
          <a:solidFill>
            <a:srgbClr val="1F5C9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141720" y="1097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025640" y="1097280"/>
            <a:ext cx="457200" cy="457200"/>
          </a:xfrm>
          <a:prstGeom prst="ellipse">
            <a:avLst/>
          </a:prstGeom>
          <a:solidFill>
            <a:srgbClr val="1F5C9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025640" y="1097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0" y="1965960"/>
            <a:ext cx="2651760" cy="0"/>
          </a:xfrm>
          <a:prstGeom prst="line">
            <a:avLst/>
          </a:prstGeom>
          <a:noFill/>
          <a:ln w="38100">
            <a:solidFill>
              <a:srgbClr val="6B5B4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13248" y="1892808"/>
            <a:ext cx="146304" cy="146304"/>
          </a:xfrm>
          <a:prstGeom prst="ellipse">
            <a:avLst/>
          </a:prstGeom>
          <a:solidFill>
            <a:srgbClr val="6B5B45"/>
          </a:solidFill>
          <a:ln w="12700">
            <a:solidFill>
              <a:srgbClr val="6B5B4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65008" y="1892808"/>
            <a:ext cx="146304" cy="146304"/>
          </a:xfrm>
          <a:prstGeom prst="ellipse">
            <a:avLst/>
          </a:prstGeom>
          <a:solidFill>
            <a:srgbClr val="6B5B45"/>
          </a:solidFill>
          <a:ln w="12700">
            <a:solidFill>
              <a:srgbClr val="6B5B4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41720" y="1737360"/>
            <a:ext cx="457200" cy="457200"/>
          </a:xfrm>
          <a:prstGeom prst="ellipse">
            <a:avLst/>
          </a:prstGeom>
          <a:solidFill>
            <a:srgbClr val="1F5C9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14172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025640" y="1737360"/>
            <a:ext cx="457200" cy="457200"/>
          </a:xfrm>
          <a:prstGeom prst="ellipse">
            <a:avLst/>
          </a:prstGeom>
          <a:solidFill>
            <a:srgbClr val="1F5C9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02564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 flipH="1">
            <a:off x="4434840" y="1463040"/>
            <a:ext cx="822960" cy="411480"/>
          </a:xfrm>
          <a:prstGeom prst="rightArrow">
            <a:avLst/>
          </a:prstGeom>
          <a:solidFill>
            <a:srgbClr val="3E4A52"/>
          </a:solidFill>
          <a:ln w="12700">
            <a:solidFill>
              <a:srgbClr val="3E4A5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0" y="1645920"/>
            <a:ext cx="3474720" cy="0"/>
          </a:xfrm>
          <a:prstGeom prst="line">
            <a:avLst/>
          </a:prstGeom>
          <a:noFill/>
          <a:ln w="38100">
            <a:solidFill>
              <a:srgbClr val="6B5B4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58368" y="1572768"/>
            <a:ext cx="146304" cy="146304"/>
          </a:xfrm>
          <a:prstGeom prst="ellipse">
            <a:avLst/>
          </a:prstGeom>
          <a:solidFill>
            <a:srgbClr val="6B5B45"/>
          </a:solidFill>
          <a:ln w="12700">
            <a:solidFill>
              <a:srgbClr val="6B5B4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133088" y="1572768"/>
            <a:ext cx="146304" cy="146304"/>
          </a:xfrm>
          <a:prstGeom prst="ellipse">
            <a:avLst/>
          </a:prstGeom>
          <a:solidFill>
            <a:srgbClr val="6B5B45"/>
          </a:solidFill>
          <a:ln w="12700">
            <a:solidFill>
              <a:srgbClr val="6B5B4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7864" y="1417320"/>
            <a:ext cx="457200" cy="457200"/>
          </a:xfrm>
          <a:prstGeom prst="ellipse">
            <a:avLst/>
          </a:prstGeom>
          <a:solidFill>
            <a:srgbClr val="1F7A4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197864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1892808" y="1417320"/>
            <a:ext cx="457200" cy="457200"/>
          </a:xfrm>
          <a:prstGeom prst="ellipse">
            <a:avLst/>
          </a:prstGeom>
          <a:solidFill>
            <a:srgbClr val="1F7A4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892808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2587752" y="1417320"/>
            <a:ext cx="457200" cy="457200"/>
          </a:xfrm>
          <a:prstGeom prst="ellipse">
            <a:avLst/>
          </a:prstGeom>
          <a:solidFill>
            <a:srgbClr val="1F7A4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2587752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282696" y="1417320"/>
            <a:ext cx="457200" cy="457200"/>
          </a:xfrm>
          <a:prstGeom prst="ellipse">
            <a:avLst/>
          </a:prstGeom>
          <a:solidFill>
            <a:srgbClr val="1F7A4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3282696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5486400" y="21031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buNone/>
            </a:pPr>
            <a:r>
              <a:rPr lang="en-US" sz="1500" b="1" dirty="0">
                <a:solidFill>
                  <a:srgbClr val="1F5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</a:t>
            </a:r>
            <a:r>
              <a:rPr lang="en-US" sz="1500" b="1" baseline="30000" dirty="0">
                <a:solidFill>
                  <a:srgbClr val="1F5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r>
              <a:rPr lang="en-US" sz="1500" b="1" dirty="0">
                <a:solidFill>
                  <a:srgbClr val="1F5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r>
              <a:rPr lang="en-US" sz="1500" b="1" baseline="30000" dirty="0">
                <a:solidFill>
                  <a:srgbClr val="1F5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731520" y="19202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buNone/>
            </a:pPr>
            <a:r>
              <a:rPr lang="en-US" sz="1700" b="1" dirty="0">
                <a:solidFill>
                  <a:srgbClr val="1F7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r>
              <a:rPr lang="en-US" sz="1700" b="1" baseline="30000" dirty="0">
                <a:solidFill>
                  <a:srgbClr val="1F7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700" dirty="0"/>
          </a:p>
        </p:txBody>
      </p:sp>
      <p:sp>
        <p:nvSpPr>
          <p:cNvPr id="33" name="Shape 31"/>
          <p:cNvSpPr/>
          <p:nvPr/>
        </p:nvSpPr>
        <p:spPr>
          <a:xfrm>
            <a:off x="457200" y="2926080"/>
            <a:ext cx="8229600" cy="777240"/>
          </a:xfrm>
          <a:prstGeom prst="roundRect">
            <a:avLst>
              <a:gd name="adj" fmla="val 11765"/>
            </a:avLst>
          </a:prstGeom>
          <a:solidFill>
            <a:srgbClr val="0B6E70">
              <a:alpha val="8000"/>
            </a:srgbClr>
          </a:solidFill>
          <a:ln w="19050">
            <a:solidFill>
              <a:srgbClr val="0B6E7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183880" y="3122676"/>
            <a:ext cx="384048" cy="384048"/>
          </a:xfrm>
          <a:prstGeom prst="ellipse">
            <a:avLst/>
          </a:prstGeom>
          <a:solidFill>
            <a:srgbClr val="0B6E70"/>
          </a:solidFill>
          <a:ln w="12700">
            <a:solidFill>
              <a:srgbClr val="0B6E70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183880" y="31226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LB" altLang="en-US" sz="1600" b="1" dirty="0">
                <a:solidFill>
                  <a:srgbClr val="FFFFFF"/>
                </a:solidFill>
              </a:rPr>
              <a:t>1</a:t>
            </a:r>
            <a:endParaRPr lang="ar-LB" sz="1600" dirty="0"/>
          </a:p>
        </p:txBody>
      </p:sp>
      <p:sp>
        <p:nvSpPr>
          <p:cNvPr id="36" name="Text 34"/>
          <p:cNvSpPr txBox="1"/>
          <p:nvPr/>
        </p:nvSpPr>
        <p:spPr>
          <a:xfrm>
            <a:off x="3520440" y="292608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LB" altLang="en-US" sz="1800" dirty="0">
                <a:solidFill>
                  <a:srgbClr val="1B262C"/>
                </a:solidFill>
              </a:rPr>
              <a:t>خيطان، على كلٍّ منهما خرزتان: كم خرزة بعد الربط؟</a:t>
            </a:r>
            <a:endParaRPr lang="ar-LB" sz="1800" dirty="0"/>
          </a:p>
        </p:txBody>
      </p:sp>
      <p:sp>
        <p:nvSpPr>
          <p:cNvPr id="37" name="Text 35"/>
          <p:cNvSpPr txBox="1"/>
          <p:nvPr/>
        </p:nvSpPr>
        <p:spPr>
          <a:xfrm>
            <a:off x="594360" y="292608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buNone/>
            </a:pPr>
            <a:r>
              <a:rPr lang="en-US" sz="2000" b="1" dirty="0">
                <a:solidFill>
                  <a:srgbClr val="0B6E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× 2 = ?</a:t>
            </a:r>
            <a:endParaRPr lang="en-US" sz="2000" dirty="0"/>
          </a:p>
        </p:txBody>
      </p:sp>
      <p:sp>
        <p:nvSpPr>
          <p:cNvPr id="38" name="Shape 36"/>
          <p:cNvSpPr/>
          <p:nvPr/>
        </p:nvSpPr>
        <p:spPr>
          <a:xfrm>
            <a:off x="457200" y="3794760"/>
            <a:ext cx="8229600" cy="777240"/>
          </a:xfrm>
          <a:prstGeom prst="roundRect">
            <a:avLst>
              <a:gd name="adj" fmla="val 11765"/>
            </a:avLst>
          </a:prstGeom>
          <a:solidFill>
            <a:srgbClr val="0B6E70">
              <a:alpha val="8000"/>
            </a:srgbClr>
          </a:solidFill>
          <a:ln w="19050">
            <a:solidFill>
              <a:srgbClr val="0B6E7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183880" y="3991356"/>
            <a:ext cx="384048" cy="384048"/>
          </a:xfrm>
          <a:prstGeom prst="ellipse">
            <a:avLst/>
          </a:prstGeom>
          <a:solidFill>
            <a:srgbClr val="0B6E70"/>
          </a:solidFill>
          <a:ln w="12700">
            <a:solidFill>
              <a:srgbClr val="0B6E70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8183880" y="39913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LB" altLang="en-US" sz="1600" b="1" dirty="0">
                <a:solidFill>
                  <a:srgbClr val="FFFFFF"/>
                </a:solidFill>
              </a:rPr>
              <a:t>2</a:t>
            </a:r>
            <a:endParaRPr lang="ar-LB" sz="1600" dirty="0"/>
          </a:p>
        </p:txBody>
      </p:sp>
      <p:sp>
        <p:nvSpPr>
          <p:cNvPr id="41" name="Text 39"/>
          <p:cNvSpPr txBox="1"/>
          <p:nvPr/>
        </p:nvSpPr>
        <p:spPr>
          <a:xfrm>
            <a:off x="3520440" y="379476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LB" altLang="en-US" sz="1800" dirty="0">
                <a:solidFill>
                  <a:srgbClr val="1B262C"/>
                </a:solidFill>
              </a:rPr>
              <a:t>أكمل: (2 أُس 2) الكلّ أُس 2 = 2 أُس ؟</a:t>
            </a:r>
            <a:endParaRPr lang="ar-LB" sz="1800" dirty="0"/>
          </a:p>
        </p:txBody>
      </p:sp>
      <p:sp>
        <p:nvSpPr>
          <p:cNvPr id="42" name="Text 40"/>
          <p:cNvSpPr txBox="1"/>
          <p:nvPr/>
        </p:nvSpPr>
        <p:spPr>
          <a:xfrm>
            <a:off x="594360" y="379476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buNone/>
            </a:pPr>
            <a:r>
              <a:rPr lang="en-US" sz="2000" b="1" dirty="0">
                <a:solidFill>
                  <a:srgbClr val="0B6E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</a:t>
            </a:r>
            <a:r>
              <a:rPr lang="en-US" sz="2000" b="1" baseline="30000" dirty="0">
                <a:solidFill>
                  <a:srgbClr val="0B6E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r>
              <a:rPr lang="en-US" sz="2000" b="1" dirty="0">
                <a:solidFill>
                  <a:srgbClr val="0B6E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r>
              <a:rPr lang="en-US" sz="2000" b="1" baseline="30000" dirty="0">
                <a:solidFill>
                  <a:srgbClr val="0B6E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r>
              <a:rPr lang="en-US" sz="2000" b="1" dirty="0">
                <a:solidFill>
                  <a:srgbClr val="0B6E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2</a:t>
            </a:r>
            <a:r>
              <a:rPr lang="en-US" sz="2000" b="1" baseline="30000" dirty="0">
                <a:solidFill>
                  <a:srgbClr val="0B6E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7432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3E4A52"/>
                </a:solidFill>
              </a:defRPr>
            </a:lvl1pPr>
          </a:lstStyle>
          <a:p>
            <a:pPr rtl="0"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F4C5C"/>
                </a:solidFill>
              </a:rPr>
              <a:t>ماذا اكتشفنا؟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1115568"/>
          </a:xfrm>
          <a:prstGeom prst="roundRect">
            <a:avLst>
              <a:gd name="adj" fmla="val 8197"/>
            </a:avLst>
          </a:prstGeom>
          <a:solidFill>
            <a:srgbClr val="0B6E70">
              <a:alpha val="10000"/>
            </a:srgbClr>
          </a:solidFill>
          <a:ln w="19050">
            <a:solidFill>
              <a:srgbClr val="0B6E7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754880" y="987552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LB" altLang="en-US" sz="2000" b="1" dirty="0">
                <a:solidFill>
                  <a:srgbClr val="0B6E70"/>
                </a:solidFill>
              </a:rPr>
              <a:t>الضرب جمع متكرر</a:t>
            </a:r>
            <a:endParaRPr lang="ar-LB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4754880" y="146304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LB" altLang="en-US" sz="1500" dirty="0">
                <a:solidFill>
                  <a:srgbClr val="3E4A52"/>
                </a:solidFill>
              </a:rPr>
              <a:t>تُقرأ: 2 ضرب 3</a:t>
            </a:r>
            <a:endParaRPr lang="ar-LB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914400"/>
            <a:ext cx="406908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buNone/>
            </a:pPr>
            <a:r>
              <a:rPr lang="en-US" sz="2600" b="1" dirty="0">
                <a:solidFill>
                  <a:srgbClr val="0B6E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× 3 = 2 + 2 + 2 = 6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457200" y="2176272"/>
            <a:ext cx="8229600" cy="1115568"/>
          </a:xfrm>
          <a:prstGeom prst="roundRect">
            <a:avLst>
              <a:gd name="adj" fmla="val 8197"/>
            </a:avLst>
          </a:prstGeom>
          <a:solidFill>
            <a:srgbClr val="C2500C">
              <a:alpha val="10000"/>
            </a:srgbClr>
          </a:solidFill>
          <a:ln w="19050">
            <a:solidFill>
              <a:srgbClr val="C2500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754880" y="2249424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LB" altLang="en-US" sz="2000" b="1" dirty="0">
                <a:solidFill>
                  <a:srgbClr val="C2500C"/>
                </a:solidFill>
              </a:rPr>
              <a:t>القوّة ضرب متكرر</a:t>
            </a:r>
            <a:endParaRPr lang="ar-LB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4754880" y="2724912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LB" altLang="en-US" sz="1500" dirty="0">
                <a:solidFill>
                  <a:srgbClr val="3E4A52"/>
                </a:solidFill>
              </a:rPr>
              <a:t>تُقرأ: 2 أُس 3</a:t>
            </a:r>
            <a:endParaRPr lang="ar-LB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594360" y="2176272"/>
            <a:ext cx="406908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buNone/>
            </a:pPr>
            <a:r>
              <a:rPr lang="en-US" sz="2600" b="1" dirty="0">
                <a:solidFill>
                  <a:srgbClr val="C250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r>
              <a:rPr lang="en-US" sz="2600" b="1" baseline="30000" dirty="0">
                <a:solidFill>
                  <a:srgbClr val="C250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r>
              <a:rPr lang="en-US" sz="2600" b="1" dirty="0">
                <a:solidFill>
                  <a:srgbClr val="C250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2 × 2 × 2 = 8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457200" y="3438144"/>
            <a:ext cx="8229600" cy="1115568"/>
          </a:xfrm>
          <a:prstGeom prst="roundRect">
            <a:avLst>
              <a:gd name="adj" fmla="val 8197"/>
            </a:avLst>
          </a:prstGeom>
          <a:solidFill>
            <a:srgbClr val="1F5C99">
              <a:alpha val="10000"/>
            </a:srgbClr>
          </a:solidFill>
          <a:ln w="19050">
            <a:solidFill>
              <a:srgbClr val="1F5C9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754880" y="3511296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LB" altLang="en-US" sz="2000" b="1" dirty="0">
                <a:solidFill>
                  <a:srgbClr val="1F5C99"/>
                </a:solidFill>
              </a:rPr>
              <a:t>قوّة القوّة: نضرب الأُسّين</a:t>
            </a:r>
            <a:endParaRPr lang="ar-LB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4754880" y="3986784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LB" altLang="en-US" sz="1500" dirty="0">
                <a:solidFill>
                  <a:srgbClr val="3E4A52"/>
                </a:solidFill>
              </a:rPr>
              <a:t>تُقرأ: (2 أُس 2) الكلّ أُس 2 = 2 أُس 4</a:t>
            </a:r>
            <a:endParaRPr lang="ar-LB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594360" y="3438144"/>
            <a:ext cx="406908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buNone/>
            </a:pPr>
            <a:r>
              <a:rPr lang="en-US" sz="2600" b="1" dirty="0">
                <a:solidFill>
                  <a:srgbClr val="1F5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</a:t>
            </a:r>
            <a:r>
              <a:rPr lang="en-US" sz="2600" b="1" baseline="30000" dirty="0">
                <a:solidFill>
                  <a:srgbClr val="1F5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r>
              <a:rPr lang="en-US" sz="2600" b="1" dirty="0">
                <a:solidFill>
                  <a:srgbClr val="1F5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r>
              <a:rPr lang="en-US" sz="2600" b="1" baseline="30000" dirty="0">
                <a:solidFill>
                  <a:srgbClr val="1F5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r>
              <a:rPr lang="en-US" sz="2600" b="1" dirty="0">
                <a:solidFill>
                  <a:srgbClr val="1F5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2</a:t>
            </a:r>
            <a:r>
              <a:rPr lang="en-US" sz="2600" b="1" baseline="30000" dirty="0">
                <a:solidFill>
                  <a:srgbClr val="1F5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× 2</a:t>
            </a:r>
            <a:r>
              <a:rPr lang="en-US" sz="2600" b="1" dirty="0">
                <a:solidFill>
                  <a:srgbClr val="1F5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2</a:t>
            </a:r>
            <a:r>
              <a:rPr lang="en-US" sz="2600" b="1" baseline="30000" dirty="0">
                <a:solidFill>
                  <a:srgbClr val="1F5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7432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3E4A52"/>
                </a:solidFill>
              </a:defRPr>
            </a:lvl1pPr>
          </a:lstStyle>
          <a:p>
            <a:pPr rtl="0"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F4C5C"/>
                </a:solidFill>
              </a:rPr>
              <a:t>تطبيق: مجموعة الدائرة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228600"/>
            <a:ext cx="548640" cy="548640"/>
          </a:xfrm>
          <a:prstGeom prst="ellipse">
            <a:avLst/>
          </a:prstGeom>
          <a:solidFill>
            <a:srgbClr val="1F7A45"/>
          </a:solidFill>
          <a:ln w="12700">
            <a:solidFill>
              <a:srgbClr val="1F7A45"/>
            </a:solidFill>
            <a:prstDash val="solid"/>
          </a:ln>
        </p:spPr>
      </p:sp>
      <p:pic>
        <p:nvPicPr>
          <p:cNvPr id="4" name="Image 0" descr="شارة الدائرة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5333" y="376733"/>
            <a:ext cx="252374" cy="25237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914400"/>
            <a:ext cx="2286000" cy="3749040"/>
          </a:xfrm>
          <a:prstGeom prst="roundRect">
            <a:avLst>
              <a:gd name="adj" fmla="val 4000"/>
            </a:avLst>
          </a:prstGeom>
          <a:solidFill>
            <a:srgbClr val="F4F8F9"/>
          </a:solidFill>
          <a:ln w="12700">
            <a:solidFill>
              <a:srgbClr val="B9CDD0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4297680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LB" altLang="en-US" sz="1100" dirty="0">
                <a:solidFill>
                  <a:srgbClr val="3E4A52"/>
                </a:solidFill>
              </a:rPr>
              <a:t>الصورة: تذكير: خيط عليه 4 خرزات «× 5» يعني 5 أُس 4</a:t>
            </a:r>
            <a:endParaRPr lang="ar-LB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9601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LB" altLang="en-US" sz="1400" b="1" dirty="0">
                <a:solidFill>
                  <a:srgbClr val="1F7A45"/>
                </a:solidFill>
              </a:rPr>
              <a:t>تذكير</a:t>
            </a:r>
            <a:endParaRPr lang="ar-LB" sz="1400" dirty="0"/>
          </a:p>
        </p:txBody>
      </p:sp>
      <p:sp>
        <p:nvSpPr>
          <p:cNvPr id="8" name="Shape 5"/>
          <p:cNvSpPr/>
          <p:nvPr/>
        </p:nvSpPr>
        <p:spPr>
          <a:xfrm>
            <a:off x="1531620" y="1280160"/>
            <a:ext cx="0" cy="2377440"/>
          </a:xfrm>
          <a:prstGeom prst="line">
            <a:avLst/>
          </a:prstGeom>
          <a:noFill/>
          <a:ln w="38100">
            <a:solidFill>
              <a:srgbClr val="6B5B45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80160" y="1371600"/>
            <a:ext cx="502920" cy="502920"/>
          </a:xfrm>
          <a:prstGeom prst="ellipse">
            <a:avLst/>
          </a:prstGeom>
          <a:solidFill>
            <a:srgbClr val="1F7A4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280160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×5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1280160" y="1938528"/>
            <a:ext cx="502920" cy="502920"/>
          </a:xfrm>
          <a:prstGeom prst="ellipse">
            <a:avLst/>
          </a:prstGeom>
          <a:solidFill>
            <a:srgbClr val="1F7A4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280160" y="19385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×5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1280160" y="2505456"/>
            <a:ext cx="502920" cy="502920"/>
          </a:xfrm>
          <a:prstGeom prst="ellipse">
            <a:avLst/>
          </a:prstGeom>
          <a:solidFill>
            <a:srgbClr val="1F7A4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280160" y="250545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×5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1280160" y="3072384"/>
            <a:ext cx="502920" cy="502920"/>
          </a:xfrm>
          <a:prstGeom prst="ellipse">
            <a:avLst/>
          </a:prstGeom>
          <a:solidFill>
            <a:srgbClr val="1F7A4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280160" y="30723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×5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548640" y="37033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buNone/>
            </a:pPr>
            <a:r>
              <a:rPr lang="en-US" sz="2000" b="1" dirty="0">
                <a:solidFill>
                  <a:srgbClr val="1F7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r>
              <a:rPr lang="en-US" sz="2000" b="1" baseline="30000" dirty="0">
                <a:solidFill>
                  <a:srgbClr val="1F7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18" name="Shape 15"/>
          <p:cNvSpPr/>
          <p:nvPr/>
        </p:nvSpPr>
        <p:spPr>
          <a:xfrm>
            <a:off x="2880360" y="914400"/>
            <a:ext cx="5806440" cy="841248"/>
          </a:xfrm>
          <a:prstGeom prst="roundRect">
            <a:avLst>
              <a:gd name="adj" fmla="val 10870"/>
            </a:avLst>
          </a:prstGeom>
          <a:solidFill>
            <a:srgbClr val="1F7A45">
              <a:alpha val="8000"/>
            </a:srgbClr>
          </a:solidFill>
          <a:ln w="19050">
            <a:solidFill>
              <a:srgbClr val="1F7A45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202168" y="1161288"/>
            <a:ext cx="347472" cy="347472"/>
          </a:xfrm>
          <a:prstGeom prst="ellipse">
            <a:avLst/>
          </a:prstGeom>
          <a:solidFill>
            <a:srgbClr val="1F7A45"/>
          </a:solidFill>
          <a:ln w="12700">
            <a:solidFill>
              <a:srgbClr val="1F7A45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202168" y="11612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LB" altLang="en-US" sz="1400" b="1" dirty="0">
                <a:solidFill>
                  <a:srgbClr val="FFFFFF"/>
                </a:solidFill>
              </a:rPr>
              <a:t>1</a:t>
            </a:r>
            <a:endParaRPr lang="ar-LB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4860036" y="914400"/>
            <a:ext cx="325983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LB" altLang="en-US" sz="1600" dirty="0">
                <a:solidFill>
                  <a:srgbClr val="1B262C"/>
                </a:solidFill>
              </a:rPr>
              <a:t>أكمل: 3 × 3 = 3 أُس ؟</a:t>
            </a:r>
            <a:endParaRPr lang="ar-LB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2953512" y="914400"/>
            <a:ext cx="18699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buNone/>
            </a:pPr>
            <a:r>
              <a:rPr lang="en-US" sz="1700" b="1" dirty="0">
                <a:solidFill>
                  <a:srgbClr val="1F7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× 3 = 3</a:t>
            </a:r>
            <a:r>
              <a:rPr lang="en-US" sz="1700" b="1" baseline="30000" dirty="0">
                <a:solidFill>
                  <a:srgbClr val="1F7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700" dirty="0"/>
          </a:p>
        </p:txBody>
      </p:sp>
      <p:sp>
        <p:nvSpPr>
          <p:cNvPr id="23" name="Shape 20"/>
          <p:cNvSpPr/>
          <p:nvPr/>
        </p:nvSpPr>
        <p:spPr>
          <a:xfrm>
            <a:off x="2880360" y="1856232"/>
            <a:ext cx="5806440" cy="841248"/>
          </a:xfrm>
          <a:prstGeom prst="roundRect">
            <a:avLst>
              <a:gd name="adj" fmla="val 10870"/>
            </a:avLst>
          </a:prstGeom>
          <a:solidFill>
            <a:srgbClr val="1F7A45">
              <a:alpha val="8000"/>
            </a:srgbClr>
          </a:solidFill>
          <a:ln w="19050">
            <a:solidFill>
              <a:srgbClr val="1F7A45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8202168" y="2103120"/>
            <a:ext cx="347472" cy="347472"/>
          </a:xfrm>
          <a:prstGeom prst="ellipse">
            <a:avLst/>
          </a:prstGeom>
          <a:solidFill>
            <a:srgbClr val="1F7A45"/>
          </a:solidFill>
          <a:ln w="12700">
            <a:solidFill>
              <a:srgbClr val="1F7A45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8202168" y="21031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LB" altLang="en-US" sz="1400" b="1" dirty="0">
                <a:solidFill>
                  <a:srgbClr val="FFFFFF"/>
                </a:solidFill>
              </a:rPr>
              <a:t>2</a:t>
            </a:r>
            <a:endParaRPr lang="ar-LB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4860036" y="1856232"/>
            <a:ext cx="325983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LB" altLang="en-US" sz="1600" dirty="0">
                <a:solidFill>
                  <a:srgbClr val="1B262C"/>
                </a:solidFill>
              </a:rPr>
              <a:t>أكمل: 2 × 2 × 2 = 2 أُس ؟</a:t>
            </a:r>
            <a:endParaRPr lang="ar-LB" sz="1600" dirty="0"/>
          </a:p>
        </p:txBody>
      </p:sp>
      <p:sp>
        <p:nvSpPr>
          <p:cNvPr id="27" name="Text 24"/>
          <p:cNvSpPr txBox="1"/>
          <p:nvPr/>
        </p:nvSpPr>
        <p:spPr>
          <a:xfrm>
            <a:off x="2953512" y="1856232"/>
            <a:ext cx="18699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buNone/>
            </a:pPr>
            <a:r>
              <a:rPr lang="en-US" sz="1700" b="1" dirty="0">
                <a:solidFill>
                  <a:srgbClr val="1F7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× 2 × 2 = 2</a:t>
            </a:r>
            <a:r>
              <a:rPr lang="en-US" sz="1700" b="1" baseline="30000" dirty="0">
                <a:solidFill>
                  <a:srgbClr val="1F7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700" dirty="0"/>
          </a:p>
        </p:txBody>
      </p:sp>
      <p:sp>
        <p:nvSpPr>
          <p:cNvPr id="28" name="Shape 25"/>
          <p:cNvSpPr/>
          <p:nvPr/>
        </p:nvSpPr>
        <p:spPr>
          <a:xfrm>
            <a:off x="2880360" y="2798064"/>
            <a:ext cx="5806440" cy="841248"/>
          </a:xfrm>
          <a:prstGeom prst="roundRect">
            <a:avLst>
              <a:gd name="adj" fmla="val 10870"/>
            </a:avLst>
          </a:prstGeom>
          <a:solidFill>
            <a:srgbClr val="1F7A45">
              <a:alpha val="8000"/>
            </a:srgbClr>
          </a:solidFill>
          <a:ln w="19050">
            <a:solidFill>
              <a:srgbClr val="1F7A45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8202168" y="3044952"/>
            <a:ext cx="347472" cy="347472"/>
          </a:xfrm>
          <a:prstGeom prst="ellipse">
            <a:avLst/>
          </a:prstGeom>
          <a:solidFill>
            <a:srgbClr val="1F7A45"/>
          </a:solidFill>
          <a:ln w="12700">
            <a:solidFill>
              <a:srgbClr val="1F7A45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8202168" y="30449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LB" altLang="en-US" sz="1400" b="1" dirty="0">
                <a:solidFill>
                  <a:srgbClr val="FFFFFF"/>
                </a:solidFill>
              </a:rPr>
              <a:t>3</a:t>
            </a:r>
            <a:endParaRPr lang="ar-LB" sz="1400" dirty="0"/>
          </a:p>
        </p:txBody>
      </p:sp>
      <p:sp>
        <p:nvSpPr>
          <p:cNvPr id="31" name="Text 28"/>
          <p:cNvSpPr txBox="1"/>
          <p:nvPr/>
        </p:nvSpPr>
        <p:spPr>
          <a:xfrm>
            <a:off x="4860036" y="2798064"/>
            <a:ext cx="325983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LB" altLang="en-US" sz="1600" dirty="0">
                <a:solidFill>
                  <a:srgbClr val="1B262C"/>
                </a:solidFill>
              </a:rPr>
              <a:t>احسب: 2 أُس 2</a:t>
            </a:r>
            <a:endParaRPr lang="ar-LB" sz="1600" dirty="0"/>
          </a:p>
        </p:txBody>
      </p:sp>
      <p:sp>
        <p:nvSpPr>
          <p:cNvPr id="32" name="Text 29"/>
          <p:cNvSpPr txBox="1"/>
          <p:nvPr/>
        </p:nvSpPr>
        <p:spPr>
          <a:xfrm>
            <a:off x="2953512" y="2798064"/>
            <a:ext cx="18699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buNone/>
            </a:pPr>
            <a:r>
              <a:rPr lang="en-US" sz="1700" b="1" dirty="0">
                <a:solidFill>
                  <a:srgbClr val="1F7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r>
              <a:rPr lang="en-US" sz="1700" b="1" baseline="30000" dirty="0">
                <a:solidFill>
                  <a:srgbClr val="1F7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r>
              <a:rPr lang="en-US" sz="1700" b="1" dirty="0">
                <a:solidFill>
                  <a:srgbClr val="1F7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?</a:t>
            </a:r>
            <a:endParaRPr lang="en-US" sz="1700" dirty="0"/>
          </a:p>
        </p:txBody>
      </p:sp>
      <p:sp>
        <p:nvSpPr>
          <p:cNvPr id="33" name="Shape 30"/>
          <p:cNvSpPr/>
          <p:nvPr/>
        </p:nvSpPr>
        <p:spPr>
          <a:xfrm>
            <a:off x="2880360" y="3739896"/>
            <a:ext cx="5806440" cy="841248"/>
          </a:xfrm>
          <a:prstGeom prst="roundRect">
            <a:avLst>
              <a:gd name="adj" fmla="val 10870"/>
            </a:avLst>
          </a:prstGeom>
          <a:solidFill>
            <a:srgbClr val="1F7A45">
              <a:alpha val="8000"/>
            </a:srgbClr>
          </a:solidFill>
          <a:ln w="19050">
            <a:solidFill>
              <a:srgbClr val="1F7A45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8202168" y="3986784"/>
            <a:ext cx="347472" cy="347472"/>
          </a:xfrm>
          <a:prstGeom prst="ellipse">
            <a:avLst/>
          </a:prstGeom>
          <a:solidFill>
            <a:srgbClr val="1F7A45"/>
          </a:solidFill>
          <a:ln w="12700">
            <a:solidFill>
              <a:srgbClr val="1F7A45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202168" y="39867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LB" altLang="en-US" sz="1400" b="1" dirty="0">
                <a:solidFill>
                  <a:srgbClr val="FFFFFF"/>
                </a:solidFill>
              </a:rPr>
              <a:t>4</a:t>
            </a:r>
            <a:endParaRPr lang="ar-LB" sz="1400" dirty="0"/>
          </a:p>
        </p:txBody>
      </p:sp>
      <p:sp>
        <p:nvSpPr>
          <p:cNvPr id="36" name="Text 33"/>
          <p:cNvSpPr txBox="1"/>
          <p:nvPr/>
        </p:nvSpPr>
        <p:spPr>
          <a:xfrm>
            <a:off x="4860036" y="3739896"/>
            <a:ext cx="325983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LB" altLang="en-US" sz="1600" dirty="0">
                <a:solidFill>
                  <a:srgbClr val="1B262C"/>
                </a:solidFill>
              </a:rPr>
              <a:t>احسب: 2 × 3 و 2 أُس 3</a:t>
            </a:r>
            <a:endParaRPr lang="ar-LB" sz="1600" dirty="0"/>
          </a:p>
        </p:txBody>
      </p:sp>
      <p:sp>
        <p:nvSpPr>
          <p:cNvPr id="37" name="Text 34"/>
          <p:cNvSpPr txBox="1"/>
          <p:nvPr/>
        </p:nvSpPr>
        <p:spPr>
          <a:xfrm>
            <a:off x="2953512" y="3739896"/>
            <a:ext cx="18699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buNone/>
            </a:pPr>
            <a:r>
              <a:rPr lang="en-US" sz="1700" b="1" dirty="0">
                <a:solidFill>
                  <a:srgbClr val="1F7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× 3     2</a:t>
            </a:r>
            <a:r>
              <a:rPr lang="en-US" sz="1700" b="1" baseline="30000" dirty="0">
                <a:solidFill>
                  <a:srgbClr val="1F7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7432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3E4A52"/>
                </a:solidFill>
              </a:defRPr>
            </a:lvl1pPr>
          </a:lstStyle>
          <a:p>
            <a:pPr rtl="0"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F4C5C"/>
                </a:solidFill>
              </a:rPr>
              <a:t>تطبيق: مجموعة المربّع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228600"/>
            <a:ext cx="548640" cy="548640"/>
          </a:xfrm>
          <a:prstGeom prst="ellipse">
            <a:avLst/>
          </a:prstGeom>
          <a:solidFill>
            <a:srgbClr val="1F5C99"/>
          </a:solidFill>
          <a:ln w="12700">
            <a:solidFill>
              <a:srgbClr val="1F5C99"/>
            </a:solidFill>
            <a:prstDash val="solid"/>
          </a:ln>
        </p:spPr>
      </p:sp>
      <p:pic>
        <p:nvPicPr>
          <p:cNvPr id="4" name="Image 0" descr="شارة المربع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5333" y="376733"/>
            <a:ext cx="252374" cy="25237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914400"/>
            <a:ext cx="2286000" cy="3749040"/>
          </a:xfrm>
          <a:prstGeom prst="roundRect">
            <a:avLst>
              <a:gd name="adj" fmla="val 4000"/>
            </a:avLst>
          </a:prstGeom>
          <a:solidFill>
            <a:srgbClr val="F4F8F9"/>
          </a:solidFill>
          <a:ln w="12700">
            <a:solidFill>
              <a:srgbClr val="B9CDD0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4297680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LB" altLang="en-US" sz="1100" dirty="0">
                <a:solidFill>
                  <a:srgbClr val="3E4A52"/>
                </a:solidFill>
              </a:rPr>
              <a:t>الصورة: تذكير: 4 أُس 2 = 4 × 4 = 16 مربّعًا صغيرًا</a:t>
            </a:r>
            <a:endParaRPr lang="ar-LB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9601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LB" altLang="en-US" sz="1400" b="1" dirty="0">
                <a:solidFill>
                  <a:srgbClr val="1F5C99"/>
                </a:solidFill>
              </a:rPr>
              <a:t>تذكير</a:t>
            </a:r>
            <a:endParaRPr lang="ar-LB" sz="1400" dirty="0"/>
          </a:p>
        </p:txBody>
      </p:sp>
      <p:sp>
        <p:nvSpPr>
          <p:cNvPr id="8" name="Shape 5"/>
          <p:cNvSpPr/>
          <p:nvPr/>
        </p:nvSpPr>
        <p:spPr>
          <a:xfrm>
            <a:off x="850392" y="1371600"/>
            <a:ext cx="365760" cy="365760"/>
          </a:xfrm>
          <a:prstGeom prst="rect">
            <a:avLst/>
          </a:prstGeom>
          <a:solidFill>
            <a:srgbClr val="D6E4F3"/>
          </a:solidFill>
          <a:ln w="12700">
            <a:solidFill>
              <a:srgbClr val="1F5C99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34440" y="1371600"/>
            <a:ext cx="365760" cy="365760"/>
          </a:xfrm>
          <a:prstGeom prst="rect">
            <a:avLst/>
          </a:prstGeom>
          <a:solidFill>
            <a:srgbClr val="D6E4F3"/>
          </a:solidFill>
          <a:ln w="12700">
            <a:solidFill>
              <a:srgbClr val="1F5C99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618488" y="1371600"/>
            <a:ext cx="365760" cy="365760"/>
          </a:xfrm>
          <a:prstGeom prst="rect">
            <a:avLst/>
          </a:prstGeom>
          <a:solidFill>
            <a:srgbClr val="D6E4F3"/>
          </a:solidFill>
          <a:ln w="12700">
            <a:solidFill>
              <a:srgbClr val="1F5C99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002536" y="1371600"/>
            <a:ext cx="365760" cy="365760"/>
          </a:xfrm>
          <a:prstGeom prst="rect">
            <a:avLst/>
          </a:prstGeom>
          <a:solidFill>
            <a:srgbClr val="D6E4F3"/>
          </a:solidFill>
          <a:ln w="12700">
            <a:solidFill>
              <a:srgbClr val="1F5C99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50392" y="1755648"/>
            <a:ext cx="365760" cy="365760"/>
          </a:xfrm>
          <a:prstGeom prst="rect">
            <a:avLst/>
          </a:prstGeom>
          <a:solidFill>
            <a:srgbClr val="D6E4F3"/>
          </a:solidFill>
          <a:ln w="12700">
            <a:solidFill>
              <a:srgbClr val="1F5C99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234440" y="1755648"/>
            <a:ext cx="365760" cy="365760"/>
          </a:xfrm>
          <a:prstGeom prst="rect">
            <a:avLst/>
          </a:prstGeom>
          <a:solidFill>
            <a:srgbClr val="D6E4F3"/>
          </a:solidFill>
          <a:ln w="12700">
            <a:solidFill>
              <a:srgbClr val="1F5C99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618488" y="1755648"/>
            <a:ext cx="365760" cy="365760"/>
          </a:xfrm>
          <a:prstGeom prst="rect">
            <a:avLst/>
          </a:prstGeom>
          <a:solidFill>
            <a:srgbClr val="D6E4F3"/>
          </a:solidFill>
          <a:ln w="12700">
            <a:solidFill>
              <a:srgbClr val="1F5C99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002536" y="1755648"/>
            <a:ext cx="365760" cy="365760"/>
          </a:xfrm>
          <a:prstGeom prst="rect">
            <a:avLst/>
          </a:prstGeom>
          <a:solidFill>
            <a:srgbClr val="D6E4F3"/>
          </a:solidFill>
          <a:ln w="12700">
            <a:solidFill>
              <a:srgbClr val="1F5C99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50392" y="2139696"/>
            <a:ext cx="365760" cy="365760"/>
          </a:xfrm>
          <a:prstGeom prst="rect">
            <a:avLst/>
          </a:prstGeom>
          <a:solidFill>
            <a:srgbClr val="D6E4F3"/>
          </a:solidFill>
          <a:ln w="12700">
            <a:solidFill>
              <a:srgbClr val="1F5C99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234440" y="2139696"/>
            <a:ext cx="365760" cy="365760"/>
          </a:xfrm>
          <a:prstGeom prst="rect">
            <a:avLst/>
          </a:prstGeom>
          <a:solidFill>
            <a:srgbClr val="D6E4F3"/>
          </a:solidFill>
          <a:ln w="12700">
            <a:solidFill>
              <a:srgbClr val="1F5C99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618488" y="2139696"/>
            <a:ext cx="365760" cy="365760"/>
          </a:xfrm>
          <a:prstGeom prst="rect">
            <a:avLst/>
          </a:prstGeom>
          <a:solidFill>
            <a:srgbClr val="D6E4F3"/>
          </a:solidFill>
          <a:ln w="12700">
            <a:solidFill>
              <a:srgbClr val="1F5C99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2002536" y="2139696"/>
            <a:ext cx="365760" cy="365760"/>
          </a:xfrm>
          <a:prstGeom prst="rect">
            <a:avLst/>
          </a:prstGeom>
          <a:solidFill>
            <a:srgbClr val="D6E4F3"/>
          </a:solidFill>
          <a:ln w="12700">
            <a:solidFill>
              <a:srgbClr val="1F5C99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850392" y="2523744"/>
            <a:ext cx="365760" cy="365760"/>
          </a:xfrm>
          <a:prstGeom prst="rect">
            <a:avLst/>
          </a:prstGeom>
          <a:solidFill>
            <a:srgbClr val="D6E4F3"/>
          </a:solidFill>
          <a:ln w="12700">
            <a:solidFill>
              <a:srgbClr val="1F5C99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234440" y="2523744"/>
            <a:ext cx="365760" cy="365760"/>
          </a:xfrm>
          <a:prstGeom prst="rect">
            <a:avLst/>
          </a:prstGeom>
          <a:solidFill>
            <a:srgbClr val="D6E4F3"/>
          </a:solidFill>
          <a:ln w="12700">
            <a:solidFill>
              <a:srgbClr val="1F5C99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1618488" y="2523744"/>
            <a:ext cx="365760" cy="365760"/>
          </a:xfrm>
          <a:prstGeom prst="rect">
            <a:avLst/>
          </a:prstGeom>
          <a:solidFill>
            <a:srgbClr val="D6E4F3"/>
          </a:solidFill>
          <a:ln w="12700">
            <a:solidFill>
              <a:srgbClr val="1F5C99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2002536" y="2523744"/>
            <a:ext cx="365760" cy="365760"/>
          </a:xfrm>
          <a:prstGeom prst="rect">
            <a:avLst/>
          </a:prstGeom>
          <a:solidFill>
            <a:srgbClr val="D6E4F3"/>
          </a:solidFill>
          <a:ln w="12700">
            <a:solidFill>
              <a:srgbClr val="1F5C99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548640" y="30175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buNone/>
            </a:pPr>
            <a:r>
              <a:rPr lang="en-US" sz="1500" b="1" dirty="0">
                <a:solidFill>
                  <a:srgbClr val="1F5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r>
              <a:rPr lang="en-US" sz="1500" b="1" baseline="30000" dirty="0">
                <a:solidFill>
                  <a:srgbClr val="1F5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r>
              <a:rPr lang="en-US" sz="1500" b="1" dirty="0">
                <a:solidFill>
                  <a:srgbClr val="1F5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4 × 4 = 16</a:t>
            </a:r>
            <a:endParaRPr lang="en-US" sz="1500" dirty="0"/>
          </a:p>
        </p:txBody>
      </p:sp>
      <p:sp>
        <p:nvSpPr>
          <p:cNvPr id="25" name="Shape 22"/>
          <p:cNvSpPr/>
          <p:nvPr/>
        </p:nvSpPr>
        <p:spPr>
          <a:xfrm>
            <a:off x="2880360" y="914400"/>
            <a:ext cx="5806440" cy="841248"/>
          </a:xfrm>
          <a:prstGeom prst="roundRect">
            <a:avLst>
              <a:gd name="adj" fmla="val 10870"/>
            </a:avLst>
          </a:prstGeom>
          <a:solidFill>
            <a:srgbClr val="1F5C99">
              <a:alpha val="8000"/>
            </a:srgbClr>
          </a:solidFill>
          <a:ln w="19050">
            <a:solidFill>
              <a:srgbClr val="1F5C99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8202168" y="1161288"/>
            <a:ext cx="347472" cy="347472"/>
          </a:xfrm>
          <a:prstGeom prst="ellipse">
            <a:avLst/>
          </a:prstGeom>
          <a:solidFill>
            <a:srgbClr val="1F5C99"/>
          </a:solidFill>
          <a:ln w="12700">
            <a:solidFill>
              <a:srgbClr val="1F5C99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8202168" y="11612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LB" altLang="en-US" sz="1400" b="1" dirty="0">
                <a:solidFill>
                  <a:srgbClr val="FFFFFF"/>
                </a:solidFill>
              </a:rPr>
              <a:t>1</a:t>
            </a:r>
            <a:endParaRPr lang="ar-LB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4860036" y="914400"/>
            <a:ext cx="325983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LB" altLang="en-US" sz="1600" dirty="0">
                <a:solidFill>
                  <a:srgbClr val="1B262C"/>
                </a:solidFill>
              </a:rPr>
              <a:t>اكتب على شكل قوّة: 5 × 5 × 5</a:t>
            </a:r>
            <a:endParaRPr lang="ar-LB" sz="1600" dirty="0"/>
          </a:p>
        </p:txBody>
      </p:sp>
      <p:sp>
        <p:nvSpPr>
          <p:cNvPr id="29" name="Text 26"/>
          <p:cNvSpPr txBox="1"/>
          <p:nvPr/>
        </p:nvSpPr>
        <p:spPr>
          <a:xfrm>
            <a:off x="2953512" y="914400"/>
            <a:ext cx="18699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buNone/>
            </a:pPr>
            <a:r>
              <a:rPr lang="en-US" sz="1700" b="1" dirty="0">
                <a:solidFill>
                  <a:srgbClr val="1F5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× 5 × 5</a:t>
            </a:r>
            <a:endParaRPr lang="en-US" sz="1700" dirty="0"/>
          </a:p>
        </p:txBody>
      </p:sp>
      <p:sp>
        <p:nvSpPr>
          <p:cNvPr id="30" name="Shape 27"/>
          <p:cNvSpPr/>
          <p:nvPr/>
        </p:nvSpPr>
        <p:spPr>
          <a:xfrm>
            <a:off x="2880360" y="1856232"/>
            <a:ext cx="5806440" cy="841248"/>
          </a:xfrm>
          <a:prstGeom prst="roundRect">
            <a:avLst>
              <a:gd name="adj" fmla="val 10870"/>
            </a:avLst>
          </a:prstGeom>
          <a:solidFill>
            <a:srgbClr val="1F5C99">
              <a:alpha val="8000"/>
            </a:srgbClr>
          </a:solidFill>
          <a:ln w="19050">
            <a:solidFill>
              <a:srgbClr val="1F5C99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8202168" y="2103120"/>
            <a:ext cx="347472" cy="347472"/>
          </a:xfrm>
          <a:prstGeom prst="ellipse">
            <a:avLst/>
          </a:prstGeom>
          <a:solidFill>
            <a:srgbClr val="1F5C99"/>
          </a:solidFill>
          <a:ln w="12700">
            <a:solidFill>
              <a:srgbClr val="1F5C99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8202168" y="21031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LB" altLang="en-US" sz="1400" b="1" dirty="0">
                <a:solidFill>
                  <a:srgbClr val="FFFFFF"/>
                </a:solidFill>
              </a:rPr>
              <a:t>2</a:t>
            </a:r>
            <a:endParaRPr lang="ar-LB" sz="1400" dirty="0"/>
          </a:p>
        </p:txBody>
      </p:sp>
      <p:sp>
        <p:nvSpPr>
          <p:cNvPr id="33" name="Text 30"/>
          <p:cNvSpPr txBox="1"/>
          <p:nvPr/>
        </p:nvSpPr>
        <p:spPr>
          <a:xfrm>
            <a:off x="4860036" y="1856232"/>
            <a:ext cx="325983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LB" altLang="en-US" sz="1600" dirty="0">
                <a:solidFill>
                  <a:srgbClr val="1B262C"/>
                </a:solidFill>
              </a:rPr>
              <a:t>احسب: 3 أُس 2</a:t>
            </a:r>
            <a:endParaRPr lang="ar-LB" sz="1600" dirty="0"/>
          </a:p>
        </p:txBody>
      </p:sp>
      <p:sp>
        <p:nvSpPr>
          <p:cNvPr id="34" name="Text 31"/>
          <p:cNvSpPr txBox="1"/>
          <p:nvPr/>
        </p:nvSpPr>
        <p:spPr>
          <a:xfrm>
            <a:off x="2953512" y="1856232"/>
            <a:ext cx="18699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buNone/>
            </a:pPr>
            <a:r>
              <a:rPr lang="en-US" sz="1700" b="1" dirty="0">
                <a:solidFill>
                  <a:srgbClr val="1F5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r>
              <a:rPr lang="en-US" sz="1700" b="1" baseline="30000" dirty="0">
                <a:solidFill>
                  <a:srgbClr val="1F5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r>
              <a:rPr lang="en-US" sz="1700" b="1" dirty="0">
                <a:solidFill>
                  <a:srgbClr val="1F5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?</a:t>
            </a:r>
            <a:endParaRPr lang="en-US" sz="1700" dirty="0"/>
          </a:p>
        </p:txBody>
      </p:sp>
      <p:sp>
        <p:nvSpPr>
          <p:cNvPr id="35" name="Shape 32"/>
          <p:cNvSpPr/>
          <p:nvPr/>
        </p:nvSpPr>
        <p:spPr>
          <a:xfrm>
            <a:off x="2880360" y="2798064"/>
            <a:ext cx="5806440" cy="841248"/>
          </a:xfrm>
          <a:prstGeom prst="roundRect">
            <a:avLst>
              <a:gd name="adj" fmla="val 10870"/>
            </a:avLst>
          </a:prstGeom>
          <a:solidFill>
            <a:srgbClr val="1F5C99">
              <a:alpha val="8000"/>
            </a:srgbClr>
          </a:solidFill>
          <a:ln w="19050">
            <a:solidFill>
              <a:srgbClr val="1F5C99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8202168" y="3044952"/>
            <a:ext cx="347472" cy="347472"/>
          </a:xfrm>
          <a:prstGeom prst="ellipse">
            <a:avLst/>
          </a:prstGeom>
          <a:solidFill>
            <a:srgbClr val="1F5C99"/>
          </a:solidFill>
          <a:ln w="12700">
            <a:solidFill>
              <a:srgbClr val="1F5C99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8202168" y="30449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LB" altLang="en-US" sz="1400" b="1" dirty="0">
                <a:solidFill>
                  <a:srgbClr val="FFFFFF"/>
                </a:solidFill>
              </a:rPr>
              <a:t>3</a:t>
            </a:r>
            <a:endParaRPr lang="ar-LB" sz="1400" dirty="0"/>
          </a:p>
        </p:txBody>
      </p:sp>
      <p:sp>
        <p:nvSpPr>
          <p:cNvPr id="38" name="Text 35"/>
          <p:cNvSpPr txBox="1"/>
          <p:nvPr/>
        </p:nvSpPr>
        <p:spPr>
          <a:xfrm>
            <a:off x="4860036" y="2798064"/>
            <a:ext cx="325983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LB" altLang="en-US" sz="1600" dirty="0">
                <a:solidFill>
                  <a:srgbClr val="1B262C"/>
                </a:solidFill>
              </a:rPr>
              <a:t>أكمل: (2 أُس 2) الكلّ أُس 2 = 2 أُس ؟</a:t>
            </a:r>
            <a:endParaRPr lang="ar-LB" sz="1600" dirty="0"/>
          </a:p>
        </p:txBody>
      </p:sp>
      <p:sp>
        <p:nvSpPr>
          <p:cNvPr id="39" name="Text 36"/>
          <p:cNvSpPr txBox="1"/>
          <p:nvPr/>
        </p:nvSpPr>
        <p:spPr>
          <a:xfrm>
            <a:off x="2953512" y="2798064"/>
            <a:ext cx="18699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buNone/>
            </a:pPr>
            <a:r>
              <a:rPr lang="en-US" sz="1700" b="1" dirty="0">
                <a:solidFill>
                  <a:srgbClr val="1F5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</a:t>
            </a:r>
            <a:r>
              <a:rPr lang="en-US" sz="1700" b="1" baseline="30000" dirty="0">
                <a:solidFill>
                  <a:srgbClr val="1F5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r>
              <a:rPr lang="en-US" sz="1700" b="1" dirty="0">
                <a:solidFill>
                  <a:srgbClr val="1F5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r>
              <a:rPr lang="en-US" sz="1700" b="1" baseline="30000" dirty="0">
                <a:solidFill>
                  <a:srgbClr val="1F5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r>
              <a:rPr lang="en-US" sz="1700" b="1" dirty="0">
                <a:solidFill>
                  <a:srgbClr val="1F5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2</a:t>
            </a:r>
            <a:r>
              <a:rPr lang="en-US" sz="1700" b="1" baseline="30000" dirty="0">
                <a:solidFill>
                  <a:srgbClr val="1F5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700" dirty="0"/>
          </a:p>
        </p:txBody>
      </p:sp>
      <p:sp>
        <p:nvSpPr>
          <p:cNvPr id="40" name="Shape 37"/>
          <p:cNvSpPr/>
          <p:nvPr/>
        </p:nvSpPr>
        <p:spPr>
          <a:xfrm>
            <a:off x="2880360" y="3739896"/>
            <a:ext cx="5806440" cy="841248"/>
          </a:xfrm>
          <a:prstGeom prst="roundRect">
            <a:avLst>
              <a:gd name="adj" fmla="val 10870"/>
            </a:avLst>
          </a:prstGeom>
          <a:solidFill>
            <a:srgbClr val="1F5C99">
              <a:alpha val="8000"/>
            </a:srgbClr>
          </a:solidFill>
          <a:ln w="19050">
            <a:solidFill>
              <a:srgbClr val="1F5C99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8202168" y="3986784"/>
            <a:ext cx="347472" cy="347472"/>
          </a:xfrm>
          <a:prstGeom prst="ellipse">
            <a:avLst/>
          </a:prstGeom>
          <a:solidFill>
            <a:srgbClr val="1F5C99"/>
          </a:solidFill>
          <a:ln w="12700">
            <a:solidFill>
              <a:srgbClr val="1F5C99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8202168" y="39867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LB" altLang="en-US" sz="1400" b="1" dirty="0">
                <a:solidFill>
                  <a:srgbClr val="FFFFFF"/>
                </a:solidFill>
              </a:rPr>
              <a:t>4</a:t>
            </a:r>
            <a:endParaRPr lang="ar-LB" sz="1400" dirty="0"/>
          </a:p>
        </p:txBody>
      </p:sp>
      <p:sp>
        <p:nvSpPr>
          <p:cNvPr id="43" name="Text 40"/>
          <p:cNvSpPr txBox="1"/>
          <p:nvPr/>
        </p:nvSpPr>
        <p:spPr>
          <a:xfrm>
            <a:off x="4860036" y="3739896"/>
            <a:ext cx="325983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LB" altLang="en-US" sz="1600" dirty="0">
                <a:solidFill>
                  <a:srgbClr val="1B262C"/>
                </a:solidFill>
              </a:rPr>
              <a:t>صح أم خطأ: 3 أُس 2 = 6</a:t>
            </a:r>
            <a:endParaRPr lang="ar-LB" sz="1600" dirty="0"/>
          </a:p>
        </p:txBody>
      </p:sp>
      <p:sp>
        <p:nvSpPr>
          <p:cNvPr id="44" name="Text 41"/>
          <p:cNvSpPr txBox="1"/>
          <p:nvPr/>
        </p:nvSpPr>
        <p:spPr>
          <a:xfrm>
            <a:off x="2953512" y="3739896"/>
            <a:ext cx="18699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buNone/>
            </a:pPr>
            <a:r>
              <a:rPr lang="en-US" sz="1700" b="1" dirty="0">
                <a:solidFill>
                  <a:srgbClr val="1F5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r>
              <a:rPr lang="en-US" sz="1700" b="1" baseline="30000" dirty="0">
                <a:solidFill>
                  <a:srgbClr val="1F5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r>
              <a:rPr lang="en-US" sz="1700" b="1" dirty="0">
                <a:solidFill>
                  <a:srgbClr val="1F5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6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7432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3E4A52"/>
                </a:solidFill>
              </a:defRPr>
            </a:lvl1pPr>
          </a:lstStyle>
          <a:p>
            <a:pPr rtl="0"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F4C5C"/>
                </a:solidFill>
              </a:rPr>
              <a:t>تطبيق: مجموعة المثلث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228600"/>
            <a:ext cx="548640" cy="548640"/>
          </a:xfrm>
          <a:prstGeom prst="ellipse">
            <a:avLst/>
          </a:prstGeom>
          <a:solidFill>
            <a:srgbClr val="6A2F8F"/>
          </a:solidFill>
          <a:ln w="12700">
            <a:solidFill>
              <a:srgbClr val="6A2F8F"/>
            </a:solidFill>
            <a:prstDash val="solid"/>
          </a:ln>
        </p:spPr>
      </p:sp>
      <p:pic>
        <p:nvPicPr>
          <p:cNvPr id="4" name="Image 0" descr="شارة المثلث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16200000">
            <a:off x="605333" y="376733"/>
            <a:ext cx="252374" cy="25237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914400"/>
            <a:ext cx="2286000" cy="3749040"/>
          </a:xfrm>
          <a:prstGeom prst="roundRect">
            <a:avLst>
              <a:gd name="adj" fmla="val 4000"/>
            </a:avLst>
          </a:prstGeom>
          <a:solidFill>
            <a:srgbClr val="F4F8F9"/>
          </a:solidFill>
          <a:ln w="12700">
            <a:solidFill>
              <a:srgbClr val="B9CDD0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4297680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LB" altLang="en-US" sz="1100" dirty="0">
                <a:solidFill>
                  <a:srgbClr val="3E4A52"/>
                </a:solidFill>
              </a:rPr>
              <a:t>الصورة: تذكير: 3 خيوط على كلٍّ خرزتان = 6 خرزات</a:t>
            </a:r>
            <a:endParaRPr lang="ar-LB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9601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LB" altLang="en-US" sz="1400" b="1" dirty="0">
                <a:solidFill>
                  <a:srgbClr val="6A2F8F"/>
                </a:solidFill>
              </a:rPr>
              <a:t>تذكير</a:t>
            </a:r>
            <a:endParaRPr lang="ar-LB" sz="1400" dirty="0"/>
          </a:p>
        </p:txBody>
      </p:sp>
      <p:sp>
        <p:nvSpPr>
          <p:cNvPr id="8" name="Shape 5"/>
          <p:cNvSpPr/>
          <p:nvPr/>
        </p:nvSpPr>
        <p:spPr>
          <a:xfrm>
            <a:off x="685800" y="1600200"/>
            <a:ext cx="1828800" cy="0"/>
          </a:xfrm>
          <a:prstGeom prst="line">
            <a:avLst/>
          </a:prstGeom>
          <a:noFill/>
          <a:ln w="38100">
            <a:solidFill>
              <a:srgbClr val="6B5B45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12648" y="1527048"/>
            <a:ext cx="146304" cy="146304"/>
          </a:xfrm>
          <a:prstGeom prst="ellipse">
            <a:avLst/>
          </a:prstGeom>
          <a:solidFill>
            <a:srgbClr val="6B5B45"/>
          </a:solidFill>
          <a:ln w="12700">
            <a:solidFill>
              <a:srgbClr val="6B5B45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441448" y="1527048"/>
            <a:ext cx="146304" cy="146304"/>
          </a:xfrm>
          <a:prstGeom prst="ellipse">
            <a:avLst/>
          </a:prstGeom>
          <a:solidFill>
            <a:srgbClr val="6B5B45"/>
          </a:solidFill>
          <a:ln w="12700">
            <a:solidFill>
              <a:srgbClr val="6B5B4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103376" y="1408176"/>
            <a:ext cx="384048" cy="384048"/>
          </a:xfrm>
          <a:prstGeom prst="ellipse">
            <a:avLst/>
          </a:prstGeom>
          <a:solidFill>
            <a:srgbClr val="6A2F8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103376" y="1408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×5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1712976" y="1408176"/>
            <a:ext cx="384048" cy="384048"/>
          </a:xfrm>
          <a:prstGeom prst="ellipse">
            <a:avLst/>
          </a:prstGeom>
          <a:solidFill>
            <a:srgbClr val="6A2F8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712976" y="1408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×5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85800" y="2148840"/>
            <a:ext cx="1828800" cy="0"/>
          </a:xfrm>
          <a:prstGeom prst="line">
            <a:avLst/>
          </a:prstGeom>
          <a:noFill/>
          <a:ln w="38100">
            <a:solidFill>
              <a:srgbClr val="6B5B45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12648" y="2075688"/>
            <a:ext cx="146304" cy="146304"/>
          </a:xfrm>
          <a:prstGeom prst="ellipse">
            <a:avLst/>
          </a:prstGeom>
          <a:solidFill>
            <a:srgbClr val="6B5B45"/>
          </a:solidFill>
          <a:ln w="12700">
            <a:solidFill>
              <a:srgbClr val="6B5B45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2441448" y="2075688"/>
            <a:ext cx="146304" cy="146304"/>
          </a:xfrm>
          <a:prstGeom prst="ellipse">
            <a:avLst/>
          </a:prstGeom>
          <a:solidFill>
            <a:srgbClr val="6B5B45"/>
          </a:solidFill>
          <a:ln w="12700">
            <a:solidFill>
              <a:srgbClr val="6B5B45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103376" y="1956816"/>
            <a:ext cx="384048" cy="384048"/>
          </a:xfrm>
          <a:prstGeom prst="ellipse">
            <a:avLst/>
          </a:prstGeom>
          <a:solidFill>
            <a:srgbClr val="6A2F8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1103376" y="19568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×5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1712976" y="1956816"/>
            <a:ext cx="384048" cy="384048"/>
          </a:xfrm>
          <a:prstGeom prst="ellipse">
            <a:avLst/>
          </a:prstGeom>
          <a:solidFill>
            <a:srgbClr val="6A2F8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712976" y="19568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×5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685800" y="2697480"/>
            <a:ext cx="1828800" cy="0"/>
          </a:xfrm>
          <a:prstGeom prst="line">
            <a:avLst/>
          </a:prstGeom>
          <a:noFill/>
          <a:ln w="38100">
            <a:solidFill>
              <a:srgbClr val="6B5B45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12648" y="2624328"/>
            <a:ext cx="146304" cy="146304"/>
          </a:xfrm>
          <a:prstGeom prst="ellipse">
            <a:avLst/>
          </a:prstGeom>
          <a:solidFill>
            <a:srgbClr val="6B5B45"/>
          </a:solidFill>
          <a:ln w="12700">
            <a:solidFill>
              <a:srgbClr val="6B5B45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2441448" y="2624328"/>
            <a:ext cx="146304" cy="146304"/>
          </a:xfrm>
          <a:prstGeom prst="ellipse">
            <a:avLst/>
          </a:prstGeom>
          <a:solidFill>
            <a:srgbClr val="6B5B45"/>
          </a:solidFill>
          <a:ln w="12700">
            <a:solidFill>
              <a:srgbClr val="6B5B45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1103376" y="2505456"/>
            <a:ext cx="384048" cy="384048"/>
          </a:xfrm>
          <a:prstGeom prst="ellipse">
            <a:avLst/>
          </a:prstGeom>
          <a:solidFill>
            <a:srgbClr val="6A2F8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3376" y="25054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×5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1712976" y="2505456"/>
            <a:ext cx="384048" cy="384048"/>
          </a:xfrm>
          <a:prstGeom prst="ellipse">
            <a:avLst/>
          </a:prstGeom>
          <a:solidFill>
            <a:srgbClr val="6A2F8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1712976" y="25054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×5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548640" y="31089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buNone/>
            </a:pPr>
            <a:r>
              <a:rPr lang="en-US" sz="1600" b="1" dirty="0">
                <a:solidFill>
                  <a:srgbClr val="6A2F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(5</a:t>
            </a:r>
            <a:r>
              <a:rPr lang="en-US" sz="1600" b="1" baseline="30000" dirty="0">
                <a:solidFill>
                  <a:srgbClr val="6A2F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r>
              <a:rPr lang="en-US" sz="1600" b="1" dirty="0">
                <a:solidFill>
                  <a:srgbClr val="6A2F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r>
              <a:rPr lang="en-US" sz="1600" b="1" baseline="30000" dirty="0">
                <a:solidFill>
                  <a:srgbClr val="6A2F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r>
              <a:rPr lang="en-US" sz="1600" b="1" dirty="0">
                <a:solidFill>
                  <a:srgbClr val="6A2F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5</a:t>
            </a:r>
            <a:r>
              <a:rPr lang="en-US" sz="1600" b="1" baseline="30000" dirty="0">
                <a:solidFill>
                  <a:srgbClr val="6A2F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2880360" y="914400"/>
            <a:ext cx="5806440" cy="841248"/>
          </a:xfrm>
          <a:prstGeom prst="roundRect">
            <a:avLst>
              <a:gd name="adj" fmla="val 10870"/>
            </a:avLst>
          </a:prstGeom>
          <a:solidFill>
            <a:srgbClr val="6A2F8F">
              <a:alpha val="8000"/>
            </a:srgbClr>
          </a:solidFill>
          <a:ln w="19050">
            <a:solidFill>
              <a:srgbClr val="6A2F8F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8202168" y="1161288"/>
            <a:ext cx="347472" cy="347472"/>
          </a:xfrm>
          <a:prstGeom prst="ellipse">
            <a:avLst/>
          </a:prstGeom>
          <a:solidFill>
            <a:srgbClr val="6A2F8F"/>
          </a:solidFill>
          <a:ln w="12700">
            <a:solidFill>
              <a:srgbClr val="6A2F8F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8202168" y="11612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LB" altLang="en-US" sz="1400" b="1" dirty="0">
                <a:solidFill>
                  <a:srgbClr val="FFFFFF"/>
                </a:solidFill>
              </a:rPr>
              <a:t>1</a:t>
            </a:r>
            <a:endParaRPr lang="ar-LB" sz="1400" dirty="0"/>
          </a:p>
        </p:txBody>
      </p:sp>
      <p:sp>
        <p:nvSpPr>
          <p:cNvPr id="33" name="Text 30"/>
          <p:cNvSpPr txBox="1"/>
          <p:nvPr/>
        </p:nvSpPr>
        <p:spPr>
          <a:xfrm>
            <a:off x="4860036" y="914400"/>
            <a:ext cx="325983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LB" altLang="en-US" sz="1600" dirty="0">
                <a:solidFill>
                  <a:srgbClr val="1B262C"/>
                </a:solidFill>
              </a:rPr>
              <a:t>أكمل: (3 أُس 2) الكلّ أُس 2 = 3 أُس ؟</a:t>
            </a:r>
            <a:endParaRPr lang="ar-LB" sz="1600" dirty="0"/>
          </a:p>
        </p:txBody>
      </p:sp>
      <p:sp>
        <p:nvSpPr>
          <p:cNvPr id="34" name="Text 31"/>
          <p:cNvSpPr txBox="1"/>
          <p:nvPr/>
        </p:nvSpPr>
        <p:spPr>
          <a:xfrm>
            <a:off x="2953512" y="914400"/>
            <a:ext cx="18699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buNone/>
            </a:pPr>
            <a:r>
              <a:rPr lang="en-US" sz="1700" b="1" dirty="0">
                <a:solidFill>
                  <a:srgbClr val="6A2F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(3</a:t>
            </a:r>
            <a:r>
              <a:rPr lang="en-US" sz="1700" b="1" baseline="30000" dirty="0">
                <a:solidFill>
                  <a:srgbClr val="6A2F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r>
              <a:rPr lang="en-US" sz="1700" b="1" dirty="0">
                <a:solidFill>
                  <a:srgbClr val="6A2F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r>
              <a:rPr lang="en-US" sz="1700" b="1" baseline="30000" dirty="0">
                <a:solidFill>
                  <a:srgbClr val="6A2F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r>
              <a:rPr lang="en-US" sz="1700" b="1" dirty="0">
                <a:solidFill>
                  <a:srgbClr val="6A2F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3</a:t>
            </a:r>
            <a:r>
              <a:rPr lang="en-US" sz="1700" b="1" baseline="30000" dirty="0">
                <a:solidFill>
                  <a:srgbClr val="6A2F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700" dirty="0"/>
          </a:p>
        </p:txBody>
      </p:sp>
      <p:sp>
        <p:nvSpPr>
          <p:cNvPr id="35" name="Shape 32"/>
          <p:cNvSpPr/>
          <p:nvPr/>
        </p:nvSpPr>
        <p:spPr>
          <a:xfrm>
            <a:off x="2880360" y="1856232"/>
            <a:ext cx="5806440" cy="841248"/>
          </a:xfrm>
          <a:prstGeom prst="roundRect">
            <a:avLst>
              <a:gd name="adj" fmla="val 10870"/>
            </a:avLst>
          </a:prstGeom>
          <a:solidFill>
            <a:srgbClr val="6A2F8F">
              <a:alpha val="8000"/>
            </a:srgbClr>
          </a:solidFill>
          <a:ln w="19050">
            <a:solidFill>
              <a:srgbClr val="6A2F8F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8202168" y="2103120"/>
            <a:ext cx="347472" cy="347472"/>
          </a:xfrm>
          <a:prstGeom prst="ellipse">
            <a:avLst/>
          </a:prstGeom>
          <a:solidFill>
            <a:srgbClr val="6A2F8F"/>
          </a:solidFill>
          <a:ln w="12700">
            <a:solidFill>
              <a:srgbClr val="6A2F8F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8202168" y="21031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LB" altLang="en-US" sz="1400" b="1" dirty="0">
                <a:solidFill>
                  <a:srgbClr val="FFFFFF"/>
                </a:solidFill>
              </a:rPr>
              <a:t>2</a:t>
            </a:r>
            <a:endParaRPr lang="ar-LB" sz="1400" dirty="0"/>
          </a:p>
        </p:txBody>
      </p:sp>
      <p:sp>
        <p:nvSpPr>
          <p:cNvPr id="38" name="Text 35"/>
          <p:cNvSpPr txBox="1"/>
          <p:nvPr/>
        </p:nvSpPr>
        <p:spPr>
          <a:xfrm>
            <a:off x="4860036" y="1856232"/>
            <a:ext cx="325983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LB" altLang="en-US" sz="1600" dirty="0">
                <a:solidFill>
                  <a:srgbClr val="1B262C"/>
                </a:solidFill>
              </a:rPr>
              <a:t>أكمل: (2 أُس 3) الكلّ أُس 2 = 2 أُس ؟</a:t>
            </a:r>
            <a:endParaRPr lang="ar-LB" sz="1600" dirty="0"/>
          </a:p>
        </p:txBody>
      </p:sp>
      <p:sp>
        <p:nvSpPr>
          <p:cNvPr id="39" name="Text 36"/>
          <p:cNvSpPr txBox="1"/>
          <p:nvPr/>
        </p:nvSpPr>
        <p:spPr>
          <a:xfrm>
            <a:off x="2953512" y="1856232"/>
            <a:ext cx="18699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buNone/>
            </a:pPr>
            <a:r>
              <a:rPr lang="en-US" sz="1700" b="1" dirty="0">
                <a:solidFill>
                  <a:srgbClr val="6A2F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</a:t>
            </a:r>
            <a:r>
              <a:rPr lang="en-US" sz="1700" b="1" baseline="30000" dirty="0">
                <a:solidFill>
                  <a:srgbClr val="6A2F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r>
              <a:rPr lang="en-US" sz="1700" b="1" dirty="0">
                <a:solidFill>
                  <a:srgbClr val="6A2F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r>
              <a:rPr lang="en-US" sz="1700" b="1" baseline="30000" dirty="0">
                <a:solidFill>
                  <a:srgbClr val="6A2F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r>
              <a:rPr lang="en-US" sz="1700" b="1" dirty="0">
                <a:solidFill>
                  <a:srgbClr val="6A2F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2</a:t>
            </a:r>
            <a:r>
              <a:rPr lang="en-US" sz="1700" b="1" baseline="30000" dirty="0">
                <a:solidFill>
                  <a:srgbClr val="6A2F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700" dirty="0"/>
          </a:p>
        </p:txBody>
      </p:sp>
      <p:sp>
        <p:nvSpPr>
          <p:cNvPr id="40" name="Shape 37"/>
          <p:cNvSpPr/>
          <p:nvPr/>
        </p:nvSpPr>
        <p:spPr>
          <a:xfrm>
            <a:off x="2880360" y="2798064"/>
            <a:ext cx="5806440" cy="841248"/>
          </a:xfrm>
          <a:prstGeom prst="roundRect">
            <a:avLst>
              <a:gd name="adj" fmla="val 10870"/>
            </a:avLst>
          </a:prstGeom>
          <a:solidFill>
            <a:srgbClr val="6A2F8F">
              <a:alpha val="8000"/>
            </a:srgbClr>
          </a:solidFill>
          <a:ln w="19050">
            <a:solidFill>
              <a:srgbClr val="6A2F8F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8202168" y="3044952"/>
            <a:ext cx="347472" cy="347472"/>
          </a:xfrm>
          <a:prstGeom prst="ellipse">
            <a:avLst/>
          </a:prstGeom>
          <a:solidFill>
            <a:srgbClr val="6A2F8F"/>
          </a:solidFill>
          <a:ln w="12700">
            <a:solidFill>
              <a:srgbClr val="6A2F8F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8202168" y="30449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LB" altLang="en-US" sz="1400" b="1" dirty="0">
                <a:solidFill>
                  <a:srgbClr val="FFFFFF"/>
                </a:solidFill>
              </a:rPr>
              <a:t>3</a:t>
            </a:r>
            <a:endParaRPr lang="ar-LB" sz="1400" dirty="0"/>
          </a:p>
        </p:txBody>
      </p:sp>
      <p:sp>
        <p:nvSpPr>
          <p:cNvPr id="43" name="Text 40"/>
          <p:cNvSpPr txBox="1"/>
          <p:nvPr/>
        </p:nvSpPr>
        <p:spPr>
          <a:xfrm>
            <a:off x="4860036" y="2798064"/>
            <a:ext cx="325983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LB" altLang="en-US" sz="1600" dirty="0">
                <a:solidFill>
                  <a:srgbClr val="1B262C"/>
                </a:solidFill>
              </a:rPr>
              <a:t>أيّهما أكبر: 2 أُس 3 أم 3 أُس 2؟</a:t>
            </a:r>
            <a:endParaRPr lang="ar-LB" sz="1600" dirty="0"/>
          </a:p>
        </p:txBody>
      </p:sp>
      <p:sp>
        <p:nvSpPr>
          <p:cNvPr id="44" name="Text 41"/>
          <p:cNvSpPr txBox="1"/>
          <p:nvPr/>
        </p:nvSpPr>
        <p:spPr>
          <a:xfrm>
            <a:off x="2953512" y="2798064"/>
            <a:ext cx="18699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buNone/>
            </a:pPr>
            <a:r>
              <a:rPr lang="en-US" sz="1700" b="1" dirty="0">
                <a:solidFill>
                  <a:srgbClr val="6A2F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r>
              <a:rPr lang="en-US" sz="1700" b="1" baseline="30000" dirty="0">
                <a:solidFill>
                  <a:srgbClr val="6A2F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r>
              <a:rPr lang="en-US" sz="1700" b="1" dirty="0">
                <a:solidFill>
                  <a:srgbClr val="6A2F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3</a:t>
            </a:r>
            <a:r>
              <a:rPr lang="en-US" sz="1700" b="1" baseline="30000" dirty="0">
                <a:solidFill>
                  <a:srgbClr val="6A2F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700" dirty="0"/>
          </a:p>
        </p:txBody>
      </p:sp>
      <p:sp>
        <p:nvSpPr>
          <p:cNvPr id="45" name="Shape 42"/>
          <p:cNvSpPr/>
          <p:nvPr/>
        </p:nvSpPr>
        <p:spPr>
          <a:xfrm>
            <a:off x="2880360" y="3739896"/>
            <a:ext cx="5806440" cy="841248"/>
          </a:xfrm>
          <a:prstGeom prst="roundRect">
            <a:avLst>
              <a:gd name="adj" fmla="val 10870"/>
            </a:avLst>
          </a:prstGeom>
          <a:solidFill>
            <a:srgbClr val="6A2F8F">
              <a:alpha val="8000"/>
            </a:srgbClr>
          </a:solidFill>
          <a:ln w="19050">
            <a:solidFill>
              <a:srgbClr val="6A2F8F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8202168" y="3986784"/>
            <a:ext cx="347472" cy="347472"/>
          </a:xfrm>
          <a:prstGeom prst="ellipse">
            <a:avLst/>
          </a:prstGeom>
          <a:solidFill>
            <a:srgbClr val="6A2F8F"/>
          </a:solidFill>
          <a:ln w="12700">
            <a:solidFill>
              <a:srgbClr val="6A2F8F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8202168" y="39867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LB" altLang="en-US" sz="1400" b="1" dirty="0">
                <a:solidFill>
                  <a:srgbClr val="FFFFFF"/>
                </a:solidFill>
              </a:rPr>
              <a:t>4</a:t>
            </a:r>
            <a:endParaRPr lang="ar-LB" sz="1400" dirty="0"/>
          </a:p>
        </p:txBody>
      </p:sp>
      <p:sp>
        <p:nvSpPr>
          <p:cNvPr id="48" name="Text 45"/>
          <p:cNvSpPr txBox="1"/>
          <p:nvPr/>
        </p:nvSpPr>
        <p:spPr>
          <a:xfrm>
            <a:off x="4860036" y="3739896"/>
            <a:ext cx="325983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LB" altLang="en-US" sz="1600" dirty="0">
                <a:solidFill>
                  <a:srgbClr val="1B262C"/>
                </a:solidFill>
              </a:rPr>
              <a:t>صح أم خطأ: (2 أُس 2) الكلّ أُس 3 = 2 أُس 5</a:t>
            </a:r>
            <a:endParaRPr lang="ar-LB" sz="1600" dirty="0"/>
          </a:p>
        </p:txBody>
      </p:sp>
      <p:sp>
        <p:nvSpPr>
          <p:cNvPr id="49" name="Text 46"/>
          <p:cNvSpPr txBox="1"/>
          <p:nvPr/>
        </p:nvSpPr>
        <p:spPr>
          <a:xfrm>
            <a:off x="2953512" y="3739896"/>
            <a:ext cx="18699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buNone/>
            </a:pPr>
            <a:r>
              <a:rPr lang="en-US" sz="1700" b="1" dirty="0">
                <a:solidFill>
                  <a:srgbClr val="6A2F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</a:t>
            </a:r>
            <a:r>
              <a:rPr lang="en-US" sz="1700" b="1" baseline="30000" dirty="0">
                <a:solidFill>
                  <a:srgbClr val="6A2F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r>
              <a:rPr lang="en-US" sz="1700" b="1" dirty="0">
                <a:solidFill>
                  <a:srgbClr val="6A2F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r>
              <a:rPr lang="en-US" sz="1700" b="1" baseline="30000" dirty="0">
                <a:solidFill>
                  <a:srgbClr val="6A2F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r>
              <a:rPr lang="en-US" sz="1700" b="1" dirty="0">
                <a:solidFill>
                  <a:srgbClr val="6A2F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2</a:t>
            </a:r>
            <a:r>
              <a:rPr lang="en-US" sz="1700" b="1" baseline="30000" dirty="0">
                <a:solidFill>
                  <a:srgbClr val="6A2F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7432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3E4A52"/>
                </a:solidFill>
              </a:defRPr>
            </a:lvl1pPr>
          </a:lstStyle>
          <a:p>
            <a:pPr rtl="0"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F4C5C"/>
                </a:solidFill>
              </a:rPr>
              <a:t>حلول التطبيق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989320" y="914400"/>
            <a:ext cx="2606040" cy="3749040"/>
          </a:xfrm>
          <a:prstGeom prst="roundRect">
            <a:avLst>
              <a:gd name="adj" fmla="val 3509"/>
            </a:avLst>
          </a:prstGeom>
          <a:solidFill>
            <a:srgbClr val="1F7A45">
              <a:alpha val="9000"/>
            </a:srgbClr>
          </a:solidFill>
          <a:ln w="19050">
            <a:solidFill>
              <a:srgbClr val="1F7A4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89320" y="9601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LB" altLang="en-US" sz="1900" b="1" dirty="0">
                <a:solidFill>
                  <a:srgbClr val="1F7A45"/>
                </a:solidFill>
              </a:rPr>
              <a:t>مجموعة الدائرة</a:t>
            </a:r>
            <a:endParaRPr lang="ar-LB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6126480" y="1508760"/>
            <a:ext cx="233172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spcAft>
                <a:spcPts val="1200"/>
              </a:spcAft>
              <a:buNone/>
            </a:pPr>
            <a:r>
              <a:rPr lang="ar-LB" altLang="en-US" sz="1800" dirty="0">
                <a:solidFill>
                  <a:srgbClr val="1B262C"/>
                </a:solidFill>
              </a:rPr>
              <a:t>1) 3 أُس 2</a:t>
            </a:r>
            <a:endParaRPr lang="ar-LB" sz="1800" dirty="0"/>
          </a:p>
          <a:p>
            <a:pPr rtl="1" algn="r" indent="0" marL="0">
              <a:spcAft>
                <a:spcPts val="1200"/>
              </a:spcAft>
              <a:buNone/>
            </a:pPr>
            <a:r>
              <a:rPr lang="ar-LB" altLang="en-US" sz="1800" dirty="0">
                <a:solidFill>
                  <a:srgbClr val="1B262C"/>
                </a:solidFill>
              </a:rPr>
              <a:t>2) 2 أُس 3</a:t>
            </a:r>
            <a:endParaRPr lang="ar-LB" sz="1800" dirty="0"/>
          </a:p>
          <a:p>
            <a:pPr rtl="1" algn="r" indent="0" marL="0">
              <a:spcAft>
                <a:spcPts val="1200"/>
              </a:spcAft>
              <a:buNone/>
            </a:pPr>
            <a:r>
              <a:rPr lang="ar-LB" altLang="en-US" sz="1800" dirty="0">
                <a:solidFill>
                  <a:srgbClr val="1B262C"/>
                </a:solidFill>
              </a:rPr>
              <a:t>3) 4</a:t>
            </a:r>
            <a:endParaRPr lang="ar-LB" sz="1800" dirty="0"/>
          </a:p>
          <a:p>
            <a:pPr rtl="1" algn="r" indent="0" marL="0">
              <a:spcAft>
                <a:spcPts val="1200"/>
              </a:spcAft>
              <a:buNone/>
            </a:pPr>
            <a:r>
              <a:rPr lang="ar-LB" altLang="en-US" sz="1800" dirty="0">
                <a:solidFill>
                  <a:srgbClr val="1B262C"/>
                </a:solidFill>
              </a:rPr>
              <a:t>4) 6 و 8</a:t>
            </a:r>
            <a:endParaRPr lang="ar-LB" sz="1800" dirty="0"/>
          </a:p>
        </p:txBody>
      </p:sp>
      <p:sp>
        <p:nvSpPr>
          <p:cNvPr id="6" name="Shape 4"/>
          <p:cNvSpPr/>
          <p:nvPr/>
        </p:nvSpPr>
        <p:spPr>
          <a:xfrm>
            <a:off x="3246120" y="914400"/>
            <a:ext cx="2606040" cy="3749040"/>
          </a:xfrm>
          <a:prstGeom prst="roundRect">
            <a:avLst>
              <a:gd name="adj" fmla="val 3509"/>
            </a:avLst>
          </a:prstGeom>
          <a:solidFill>
            <a:srgbClr val="1F5C99">
              <a:alpha val="9000"/>
            </a:srgbClr>
          </a:solidFill>
          <a:ln w="19050">
            <a:solidFill>
              <a:srgbClr val="1F5C9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246120" y="9601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LB" altLang="en-US" sz="1900" b="1" dirty="0">
                <a:solidFill>
                  <a:srgbClr val="1F5C99"/>
                </a:solidFill>
              </a:rPr>
              <a:t>مجموعة المربّع</a:t>
            </a:r>
            <a:endParaRPr lang="ar-LB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3383280" y="1508760"/>
            <a:ext cx="233172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spcAft>
                <a:spcPts val="1200"/>
              </a:spcAft>
              <a:buNone/>
            </a:pPr>
            <a:r>
              <a:rPr lang="ar-LB" altLang="en-US" sz="1800" dirty="0">
                <a:solidFill>
                  <a:srgbClr val="1B262C"/>
                </a:solidFill>
              </a:rPr>
              <a:t>1) 5 أُس 3</a:t>
            </a:r>
            <a:endParaRPr lang="ar-LB" sz="1800" dirty="0"/>
          </a:p>
          <a:p>
            <a:pPr rtl="1" algn="r" indent="0" marL="0">
              <a:spcAft>
                <a:spcPts val="1200"/>
              </a:spcAft>
              <a:buNone/>
            </a:pPr>
            <a:r>
              <a:rPr lang="ar-LB" altLang="en-US" sz="1800" dirty="0">
                <a:solidFill>
                  <a:srgbClr val="1B262C"/>
                </a:solidFill>
              </a:rPr>
              <a:t>2) 9</a:t>
            </a:r>
            <a:endParaRPr lang="ar-LB" sz="1800" dirty="0"/>
          </a:p>
          <a:p>
            <a:pPr rtl="1" algn="r" indent="0" marL="0">
              <a:spcAft>
                <a:spcPts val="1200"/>
              </a:spcAft>
              <a:buNone/>
            </a:pPr>
            <a:r>
              <a:rPr lang="ar-LB" altLang="en-US" sz="1800" dirty="0">
                <a:solidFill>
                  <a:srgbClr val="1B262C"/>
                </a:solidFill>
              </a:rPr>
              <a:t>3) 2 أُس 4</a:t>
            </a:r>
            <a:endParaRPr lang="ar-LB" sz="1800" dirty="0"/>
          </a:p>
          <a:p>
            <a:pPr rtl="1" algn="r" indent="0" marL="0">
              <a:spcAft>
                <a:spcPts val="1200"/>
              </a:spcAft>
              <a:buNone/>
            </a:pPr>
            <a:r>
              <a:rPr lang="ar-LB" altLang="en-US" sz="1800" dirty="0">
                <a:solidFill>
                  <a:srgbClr val="1B262C"/>
                </a:solidFill>
              </a:rPr>
              <a:t>4) خطأ، الصحيح 9</a:t>
            </a:r>
            <a:endParaRPr lang="ar-LB" sz="1800" dirty="0"/>
          </a:p>
        </p:txBody>
      </p:sp>
      <p:sp>
        <p:nvSpPr>
          <p:cNvPr id="9" name="Shape 7"/>
          <p:cNvSpPr/>
          <p:nvPr/>
        </p:nvSpPr>
        <p:spPr>
          <a:xfrm>
            <a:off x="502920" y="914400"/>
            <a:ext cx="2606040" cy="3749040"/>
          </a:xfrm>
          <a:prstGeom prst="roundRect">
            <a:avLst>
              <a:gd name="adj" fmla="val 3509"/>
            </a:avLst>
          </a:prstGeom>
          <a:solidFill>
            <a:srgbClr val="6A2F8F">
              <a:alpha val="9000"/>
            </a:srgbClr>
          </a:solidFill>
          <a:ln w="19050">
            <a:solidFill>
              <a:srgbClr val="6A2F8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02920" y="9601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LB" altLang="en-US" sz="1900" b="1" dirty="0">
                <a:solidFill>
                  <a:srgbClr val="6A2F8F"/>
                </a:solidFill>
              </a:rPr>
              <a:t>مجموعة المثلث</a:t>
            </a:r>
            <a:endParaRPr lang="ar-LB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1508760"/>
            <a:ext cx="233172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spcAft>
                <a:spcPts val="1200"/>
              </a:spcAft>
              <a:buNone/>
            </a:pPr>
            <a:r>
              <a:rPr lang="ar-LB" altLang="en-US" sz="1800" dirty="0">
                <a:solidFill>
                  <a:srgbClr val="1B262C"/>
                </a:solidFill>
              </a:rPr>
              <a:t>1) 3 أُس 4</a:t>
            </a:r>
            <a:endParaRPr lang="ar-LB" sz="1800" dirty="0"/>
          </a:p>
          <a:p>
            <a:pPr rtl="1" algn="r" indent="0" marL="0">
              <a:spcAft>
                <a:spcPts val="1200"/>
              </a:spcAft>
              <a:buNone/>
            </a:pPr>
            <a:r>
              <a:rPr lang="ar-LB" altLang="en-US" sz="1800" dirty="0">
                <a:solidFill>
                  <a:srgbClr val="1B262C"/>
                </a:solidFill>
              </a:rPr>
              <a:t>2) 2 أُس 6</a:t>
            </a:r>
            <a:endParaRPr lang="ar-LB" sz="1800" dirty="0"/>
          </a:p>
          <a:p>
            <a:pPr rtl="1" algn="r" indent="0" marL="0">
              <a:spcAft>
                <a:spcPts val="1200"/>
              </a:spcAft>
              <a:buNone/>
            </a:pPr>
            <a:r>
              <a:rPr lang="ar-LB" altLang="en-US" sz="1800" dirty="0">
                <a:solidFill>
                  <a:srgbClr val="1B262C"/>
                </a:solidFill>
              </a:rPr>
              <a:t>3) 3 أُس 2 أكبر (9 أكبر من 8)</a:t>
            </a:r>
            <a:endParaRPr lang="ar-LB" sz="1800" dirty="0"/>
          </a:p>
          <a:p>
            <a:pPr rtl="1" algn="r" indent="0" marL="0">
              <a:spcAft>
                <a:spcPts val="1200"/>
              </a:spcAft>
              <a:buNone/>
            </a:pPr>
            <a:r>
              <a:rPr lang="ar-LB" altLang="en-US" sz="1800" dirty="0">
                <a:solidFill>
                  <a:srgbClr val="1B262C"/>
                </a:solidFill>
              </a:rPr>
              <a:t>4) خطأ، الصحيح 2 أُس 6</a:t>
            </a:r>
            <a:endParaRPr lang="ar-LB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7432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3E4A52"/>
                </a:solidFill>
              </a:defRPr>
            </a:lvl1pPr>
          </a:lstStyle>
          <a:p>
            <a:pPr rtl="0"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F4C5C"/>
                </a:solidFill>
              </a:rPr>
              <a:t>أسئلة التقييم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822960"/>
          </a:xfrm>
          <a:prstGeom prst="roundRect">
            <a:avLst>
              <a:gd name="adj" fmla="val 11111"/>
            </a:avLst>
          </a:prstGeom>
          <a:solidFill>
            <a:srgbClr val="0F4C5C">
              <a:alpha val="8000"/>
            </a:srgbClr>
          </a:solidFill>
          <a:ln w="19050">
            <a:solidFill>
              <a:srgbClr val="0F4C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183880" y="1133856"/>
            <a:ext cx="384048" cy="384048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183880" y="11338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LB" altLang="en-US" sz="1600" b="1" dirty="0">
                <a:solidFill>
                  <a:srgbClr val="FFFFFF"/>
                </a:solidFill>
              </a:rPr>
              <a:t>1</a:t>
            </a:r>
            <a:endParaRPr lang="ar-LB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914400"/>
            <a:ext cx="7452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LB" altLang="en-US" sz="1900" dirty="0">
                <a:solidFill>
                  <a:srgbClr val="1B262C"/>
                </a:solidFill>
              </a:rPr>
              <a:t>أيّهما يساوي 2 أُس 3: (أ) 2 × 3 أم (ب) 2 × 2 × 2؟</a:t>
            </a:r>
            <a:endParaRPr lang="ar-LB" sz="1900" dirty="0"/>
          </a:p>
        </p:txBody>
      </p:sp>
      <p:sp>
        <p:nvSpPr>
          <p:cNvPr id="7" name="Shape 5"/>
          <p:cNvSpPr/>
          <p:nvPr/>
        </p:nvSpPr>
        <p:spPr>
          <a:xfrm>
            <a:off x="457200" y="1847088"/>
            <a:ext cx="8229600" cy="822960"/>
          </a:xfrm>
          <a:prstGeom prst="roundRect">
            <a:avLst>
              <a:gd name="adj" fmla="val 11111"/>
            </a:avLst>
          </a:prstGeom>
          <a:solidFill>
            <a:srgbClr val="0F4C5C">
              <a:alpha val="8000"/>
            </a:srgbClr>
          </a:solidFill>
          <a:ln w="19050">
            <a:solidFill>
              <a:srgbClr val="0F4C5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183880" y="2066544"/>
            <a:ext cx="384048" cy="384048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183880" y="20665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LB" altLang="en-US" sz="1600" b="1" dirty="0">
                <a:solidFill>
                  <a:srgbClr val="FFFFFF"/>
                </a:solidFill>
              </a:rPr>
              <a:t>2</a:t>
            </a:r>
            <a:endParaRPr lang="ar-LB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3520440" y="1847088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LB" altLang="en-US" sz="1900" dirty="0">
                <a:solidFill>
                  <a:srgbClr val="1B262C"/>
                </a:solidFill>
              </a:rPr>
              <a:t>اكتب على شكل قوّة: 4 × 4 × 4</a:t>
            </a:r>
            <a:endParaRPr lang="ar-LB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594360" y="1847088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buNone/>
            </a:pPr>
            <a:r>
              <a:rPr lang="en-US" sz="2100" b="1" dirty="0">
                <a:solidFill>
                  <a:srgbClr val="0F4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× 4 × 4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457200" y="2779776"/>
            <a:ext cx="8229600" cy="822960"/>
          </a:xfrm>
          <a:prstGeom prst="roundRect">
            <a:avLst>
              <a:gd name="adj" fmla="val 11111"/>
            </a:avLst>
          </a:prstGeom>
          <a:solidFill>
            <a:srgbClr val="0F4C5C">
              <a:alpha val="8000"/>
            </a:srgbClr>
          </a:solidFill>
          <a:ln w="19050">
            <a:solidFill>
              <a:srgbClr val="0F4C5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83880" y="2999232"/>
            <a:ext cx="384048" cy="384048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183880" y="29992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LB" altLang="en-US" sz="1600" b="1" dirty="0">
                <a:solidFill>
                  <a:srgbClr val="FFFFFF"/>
                </a:solidFill>
              </a:rPr>
              <a:t>3</a:t>
            </a:r>
            <a:endParaRPr lang="ar-LB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3520440" y="2779776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LB" altLang="en-US" sz="1900" dirty="0">
                <a:solidFill>
                  <a:srgbClr val="1B262C"/>
                </a:solidFill>
              </a:rPr>
              <a:t>احسب: 5 أُس 2</a:t>
            </a:r>
            <a:endParaRPr lang="ar-LB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594360" y="2779776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buNone/>
            </a:pPr>
            <a:r>
              <a:rPr lang="en-US" sz="2100" b="1" dirty="0">
                <a:solidFill>
                  <a:srgbClr val="0F4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r>
              <a:rPr lang="en-US" sz="2100" b="1" baseline="30000" dirty="0">
                <a:solidFill>
                  <a:srgbClr val="0F4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r>
              <a:rPr lang="en-US" sz="2100" b="1" dirty="0">
                <a:solidFill>
                  <a:srgbClr val="0F4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?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457200" y="3712464"/>
            <a:ext cx="8229600" cy="822960"/>
          </a:xfrm>
          <a:prstGeom prst="roundRect">
            <a:avLst>
              <a:gd name="adj" fmla="val 11111"/>
            </a:avLst>
          </a:prstGeom>
          <a:solidFill>
            <a:srgbClr val="0F4C5C">
              <a:alpha val="8000"/>
            </a:srgbClr>
          </a:solidFill>
          <a:ln w="19050">
            <a:solidFill>
              <a:srgbClr val="0F4C5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183880" y="3931920"/>
            <a:ext cx="384048" cy="384048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183880" y="3931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LB" altLang="en-US" sz="1600" b="1" dirty="0">
                <a:solidFill>
                  <a:srgbClr val="FFFFFF"/>
                </a:solidFill>
              </a:rPr>
              <a:t>4</a:t>
            </a:r>
            <a:endParaRPr lang="ar-LB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3520440" y="3712464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LB" altLang="en-US" sz="1900" dirty="0">
                <a:solidFill>
                  <a:srgbClr val="1B262C"/>
                </a:solidFill>
              </a:rPr>
              <a:t>أكمل: (2 أُس 2) الكلّ أُس 2 = 2 أُس ؟</a:t>
            </a:r>
            <a:endParaRPr lang="ar-LB" sz="1900" dirty="0"/>
          </a:p>
        </p:txBody>
      </p:sp>
      <p:sp>
        <p:nvSpPr>
          <p:cNvPr id="21" name="Text 19"/>
          <p:cNvSpPr txBox="1"/>
          <p:nvPr/>
        </p:nvSpPr>
        <p:spPr>
          <a:xfrm>
            <a:off x="594360" y="3712464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buNone/>
            </a:pPr>
            <a:r>
              <a:rPr lang="en-US" sz="2100" b="1" dirty="0">
                <a:solidFill>
                  <a:srgbClr val="0F4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</a:t>
            </a:r>
            <a:r>
              <a:rPr lang="en-US" sz="2100" b="1" baseline="30000" dirty="0">
                <a:solidFill>
                  <a:srgbClr val="0F4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r>
              <a:rPr lang="en-US" sz="2100" b="1" dirty="0">
                <a:solidFill>
                  <a:srgbClr val="0F4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r>
              <a:rPr lang="en-US" sz="2100" b="1" baseline="30000" dirty="0">
                <a:solidFill>
                  <a:srgbClr val="0F4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r>
              <a:rPr lang="en-US" sz="2100" b="1" dirty="0">
                <a:solidFill>
                  <a:srgbClr val="0F4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2</a:t>
            </a:r>
            <a:r>
              <a:rPr lang="en-US" sz="2100" b="1" baseline="30000" dirty="0">
                <a:solidFill>
                  <a:srgbClr val="0F4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7432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3E4A52"/>
                </a:solidFill>
              </a:defRPr>
            </a:lvl1pPr>
          </a:lstStyle>
          <a:p>
            <a:pPr rtl="0"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F4C5C"/>
                </a:solidFill>
              </a:rPr>
              <a:t>حلول التقييم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822960"/>
          </a:xfrm>
          <a:prstGeom prst="roundRect">
            <a:avLst>
              <a:gd name="adj" fmla="val 11111"/>
            </a:avLst>
          </a:prstGeom>
          <a:solidFill>
            <a:srgbClr val="1F7A45">
              <a:alpha val="8000"/>
            </a:srgbClr>
          </a:solidFill>
          <a:ln w="19050">
            <a:solidFill>
              <a:srgbClr val="1F7A4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183880" y="1133856"/>
            <a:ext cx="384048" cy="384048"/>
          </a:xfrm>
          <a:prstGeom prst="ellipse">
            <a:avLst/>
          </a:prstGeom>
          <a:solidFill>
            <a:srgbClr val="1F7A45"/>
          </a:solidFill>
          <a:ln w="12700">
            <a:solidFill>
              <a:srgbClr val="1F7A4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183880" y="11338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LB" altLang="en-US" sz="1600" b="1" dirty="0">
                <a:solidFill>
                  <a:srgbClr val="FFFFFF"/>
                </a:solidFill>
              </a:rPr>
              <a:t>1</a:t>
            </a:r>
            <a:endParaRPr lang="ar-LB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3520440" y="91440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LB" altLang="en-US" sz="1900" dirty="0">
                <a:solidFill>
                  <a:srgbClr val="1B262C"/>
                </a:solidFill>
              </a:rPr>
              <a:t>(ب)، لأن 2 أُس 3 = 2 × 2 × 2 = 8</a:t>
            </a:r>
            <a:endParaRPr lang="ar-LB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91440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buNone/>
            </a:pPr>
            <a:r>
              <a:rPr lang="en-US" sz="2100" b="1" dirty="0">
                <a:solidFill>
                  <a:srgbClr val="1F7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r>
              <a:rPr lang="en-US" sz="2100" b="1" baseline="30000" dirty="0">
                <a:solidFill>
                  <a:srgbClr val="1F7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r>
              <a:rPr lang="en-US" sz="2100" b="1" dirty="0">
                <a:solidFill>
                  <a:srgbClr val="1F7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8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457200" y="1847088"/>
            <a:ext cx="8229600" cy="822960"/>
          </a:xfrm>
          <a:prstGeom prst="roundRect">
            <a:avLst>
              <a:gd name="adj" fmla="val 11111"/>
            </a:avLst>
          </a:prstGeom>
          <a:solidFill>
            <a:srgbClr val="1F7A45">
              <a:alpha val="8000"/>
            </a:srgbClr>
          </a:solidFill>
          <a:ln w="19050">
            <a:solidFill>
              <a:srgbClr val="1F7A4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183880" y="2066544"/>
            <a:ext cx="384048" cy="384048"/>
          </a:xfrm>
          <a:prstGeom prst="ellipse">
            <a:avLst/>
          </a:prstGeom>
          <a:solidFill>
            <a:srgbClr val="1F7A45"/>
          </a:solidFill>
          <a:ln w="12700">
            <a:solidFill>
              <a:srgbClr val="1F7A4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183880" y="20665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LB" altLang="en-US" sz="1600" b="1" dirty="0">
                <a:solidFill>
                  <a:srgbClr val="FFFFFF"/>
                </a:solidFill>
              </a:rPr>
              <a:t>2</a:t>
            </a:r>
            <a:endParaRPr lang="ar-LB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520440" y="1847088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LB" altLang="en-US" sz="1900" dirty="0">
                <a:solidFill>
                  <a:srgbClr val="1B262C"/>
                </a:solidFill>
              </a:rPr>
              <a:t>4 أُس 3</a:t>
            </a:r>
            <a:endParaRPr lang="ar-LB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594360" y="1847088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buNone/>
            </a:pPr>
            <a:r>
              <a:rPr lang="en-US" sz="2100" b="1" dirty="0">
                <a:solidFill>
                  <a:srgbClr val="1F7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r>
              <a:rPr lang="en-US" sz="2100" b="1" baseline="30000" dirty="0">
                <a:solidFill>
                  <a:srgbClr val="1F7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457200" y="2779776"/>
            <a:ext cx="8229600" cy="822960"/>
          </a:xfrm>
          <a:prstGeom prst="roundRect">
            <a:avLst>
              <a:gd name="adj" fmla="val 11111"/>
            </a:avLst>
          </a:prstGeom>
          <a:solidFill>
            <a:srgbClr val="1F7A45">
              <a:alpha val="8000"/>
            </a:srgbClr>
          </a:solidFill>
          <a:ln w="19050">
            <a:solidFill>
              <a:srgbClr val="1F7A4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183880" y="2999232"/>
            <a:ext cx="384048" cy="384048"/>
          </a:xfrm>
          <a:prstGeom prst="ellipse">
            <a:avLst/>
          </a:prstGeom>
          <a:solidFill>
            <a:srgbClr val="1F7A45"/>
          </a:solidFill>
          <a:ln w="12700">
            <a:solidFill>
              <a:srgbClr val="1F7A4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183880" y="29992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LB" altLang="en-US" sz="1600" b="1" dirty="0">
                <a:solidFill>
                  <a:srgbClr val="FFFFFF"/>
                </a:solidFill>
              </a:rPr>
              <a:t>3</a:t>
            </a:r>
            <a:endParaRPr lang="ar-LB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3520440" y="2779776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LB" altLang="en-US" sz="1900" dirty="0">
                <a:solidFill>
                  <a:srgbClr val="1B262C"/>
                </a:solidFill>
              </a:rPr>
              <a:t>5 أُس 2 = 5 × 5 = 25</a:t>
            </a:r>
            <a:endParaRPr lang="ar-LB" sz="1900" dirty="0"/>
          </a:p>
        </p:txBody>
      </p:sp>
      <p:sp>
        <p:nvSpPr>
          <p:cNvPr id="17" name="Text 15"/>
          <p:cNvSpPr txBox="1"/>
          <p:nvPr/>
        </p:nvSpPr>
        <p:spPr>
          <a:xfrm>
            <a:off x="594360" y="2779776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buNone/>
            </a:pPr>
            <a:r>
              <a:rPr lang="en-US" sz="2100" b="1" dirty="0">
                <a:solidFill>
                  <a:srgbClr val="1F7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r>
              <a:rPr lang="en-US" sz="2100" b="1" baseline="30000" dirty="0">
                <a:solidFill>
                  <a:srgbClr val="1F7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r>
              <a:rPr lang="en-US" sz="2100" b="1" dirty="0">
                <a:solidFill>
                  <a:srgbClr val="1F7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25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457200" y="3712464"/>
            <a:ext cx="8229600" cy="822960"/>
          </a:xfrm>
          <a:prstGeom prst="roundRect">
            <a:avLst>
              <a:gd name="adj" fmla="val 11111"/>
            </a:avLst>
          </a:prstGeom>
          <a:solidFill>
            <a:srgbClr val="1F7A45">
              <a:alpha val="8000"/>
            </a:srgbClr>
          </a:solidFill>
          <a:ln w="19050">
            <a:solidFill>
              <a:srgbClr val="1F7A4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183880" y="3931920"/>
            <a:ext cx="384048" cy="384048"/>
          </a:xfrm>
          <a:prstGeom prst="ellipse">
            <a:avLst/>
          </a:prstGeom>
          <a:solidFill>
            <a:srgbClr val="1F7A45"/>
          </a:solidFill>
          <a:ln w="12700">
            <a:solidFill>
              <a:srgbClr val="1F7A4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183880" y="3931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LB" altLang="en-US" sz="1600" b="1" dirty="0">
                <a:solidFill>
                  <a:srgbClr val="FFFFFF"/>
                </a:solidFill>
              </a:rPr>
              <a:t>4</a:t>
            </a:r>
            <a:endParaRPr lang="ar-LB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3520440" y="3712464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LB" altLang="en-US" sz="1900" dirty="0">
                <a:solidFill>
                  <a:srgbClr val="1B262C"/>
                </a:solidFill>
              </a:rPr>
              <a:t>2 أُس 4</a:t>
            </a:r>
            <a:endParaRPr lang="ar-LB" sz="1900" dirty="0"/>
          </a:p>
        </p:txBody>
      </p:sp>
      <p:sp>
        <p:nvSpPr>
          <p:cNvPr id="22" name="Text 20"/>
          <p:cNvSpPr txBox="1"/>
          <p:nvPr/>
        </p:nvSpPr>
        <p:spPr>
          <a:xfrm>
            <a:off x="594360" y="3712464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0" algn="ctr" indent="0" marL="0">
              <a:buNone/>
            </a:pPr>
            <a:r>
              <a:rPr lang="en-US" sz="2100" b="1" dirty="0">
                <a:solidFill>
                  <a:srgbClr val="1F7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r>
              <a:rPr lang="en-US" sz="2100" b="1" baseline="30000" dirty="0">
                <a:solidFill>
                  <a:srgbClr val="1F7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7432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3E4A52"/>
                </a:solidFill>
              </a:defRPr>
            </a:lvl1pPr>
          </a:lstStyle>
          <a:p>
            <a:pPr rtl="0"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F4C5C"/>
                </a:solidFill>
              </a:rPr>
              <a:t>قيّم نفسك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749808"/>
          </a:xfrm>
          <a:prstGeom prst="roundRect">
            <a:avLst>
              <a:gd name="adj" fmla="val 12195"/>
            </a:avLst>
          </a:prstGeom>
          <a:solidFill>
            <a:srgbClr val="0B6E70">
              <a:alpha val="8000"/>
            </a:srgbClr>
          </a:solidFill>
          <a:ln w="19050">
            <a:solidFill>
              <a:srgbClr val="0B6E7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183880" y="1097280"/>
            <a:ext cx="384048" cy="384048"/>
          </a:xfrm>
          <a:prstGeom prst="ellipse">
            <a:avLst/>
          </a:prstGeom>
          <a:solidFill>
            <a:srgbClr val="0B6E70"/>
          </a:solidFill>
          <a:ln w="12700">
            <a:solidFill>
              <a:srgbClr val="0B6E7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183880" y="1097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LB" altLang="en-US" sz="1600" b="1" dirty="0">
                <a:solidFill>
                  <a:srgbClr val="FFFFFF"/>
                </a:solidFill>
              </a:rPr>
              <a:t>1</a:t>
            </a:r>
            <a:endParaRPr lang="ar-LB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914400"/>
            <a:ext cx="7452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LB" altLang="en-US" sz="2100" dirty="0">
                <a:solidFill>
                  <a:srgbClr val="1B262C"/>
                </a:solidFill>
              </a:rPr>
              <a:t>أفرّق بين القوّة والضرب.</a:t>
            </a:r>
            <a:endParaRPr lang="ar-LB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8229600" cy="749808"/>
          </a:xfrm>
          <a:prstGeom prst="roundRect">
            <a:avLst>
              <a:gd name="adj" fmla="val 12195"/>
            </a:avLst>
          </a:prstGeom>
          <a:solidFill>
            <a:srgbClr val="1F5C99">
              <a:alpha val="8000"/>
            </a:srgbClr>
          </a:solidFill>
          <a:ln w="19050">
            <a:solidFill>
              <a:srgbClr val="1F5C9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183880" y="1965960"/>
            <a:ext cx="384048" cy="384048"/>
          </a:xfrm>
          <a:prstGeom prst="ellipse">
            <a:avLst/>
          </a:prstGeom>
          <a:solidFill>
            <a:srgbClr val="1F5C99"/>
          </a:solidFill>
          <a:ln w="12700">
            <a:solidFill>
              <a:srgbClr val="1F5C9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183880" y="1965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LB" altLang="en-US" sz="1600" b="1" dirty="0">
                <a:solidFill>
                  <a:srgbClr val="FFFFFF"/>
                </a:solidFill>
              </a:rPr>
              <a:t>2</a:t>
            </a:r>
            <a:endParaRPr lang="ar-LB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1783080"/>
            <a:ext cx="7452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LB" altLang="en-US" sz="2100" dirty="0">
                <a:solidFill>
                  <a:srgbClr val="1B262C"/>
                </a:solidFill>
              </a:rPr>
              <a:t>أقرأ القوّة وأكتبها.</a:t>
            </a:r>
            <a:endParaRPr lang="ar-LB" sz="2100" dirty="0"/>
          </a:p>
        </p:txBody>
      </p:sp>
      <p:sp>
        <p:nvSpPr>
          <p:cNvPr id="11" name="Shape 9"/>
          <p:cNvSpPr/>
          <p:nvPr/>
        </p:nvSpPr>
        <p:spPr>
          <a:xfrm>
            <a:off x="457200" y="2651760"/>
            <a:ext cx="8229600" cy="749808"/>
          </a:xfrm>
          <a:prstGeom prst="roundRect">
            <a:avLst>
              <a:gd name="adj" fmla="val 12195"/>
            </a:avLst>
          </a:prstGeom>
          <a:solidFill>
            <a:srgbClr val="C2500C">
              <a:alpha val="8000"/>
            </a:srgbClr>
          </a:solidFill>
          <a:ln w="19050">
            <a:solidFill>
              <a:srgbClr val="C2500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183880" y="2834640"/>
            <a:ext cx="384048" cy="384048"/>
          </a:xfrm>
          <a:prstGeom prst="ellipse">
            <a:avLst/>
          </a:prstGeom>
          <a:solidFill>
            <a:srgbClr val="C2500C"/>
          </a:solidFill>
          <a:ln w="12700">
            <a:solidFill>
              <a:srgbClr val="C2500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183880" y="2834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LB" altLang="en-US" sz="1600" b="1" dirty="0">
                <a:solidFill>
                  <a:srgbClr val="FFFFFF"/>
                </a:solidFill>
              </a:rPr>
              <a:t>3</a:t>
            </a:r>
            <a:endParaRPr lang="ar-LB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2651760"/>
            <a:ext cx="7452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LB" altLang="en-US" sz="2100" dirty="0">
                <a:solidFill>
                  <a:srgbClr val="1B262C"/>
                </a:solidFill>
              </a:rPr>
              <a:t>أحسب قوّة القوّة.</a:t>
            </a:r>
            <a:endParaRPr lang="ar-LB" sz="21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3657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LB" altLang="en-US" sz="1900" b="1" dirty="0">
                <a:solidFill>
                  <a:srgbClr val="0F4C5C"/>
                </a:solidFill>
              </a:rPr>
              <a:t>ارفع إبهامك: إلى أعلى (فهمت) • أفقيًا (أحتاج تدريبًا) • إلى أسفل (أحتاج مساعدة)</a:t>
            </a:r>
            <a:endParaRPr lang="ar-LB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7432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3E4A52"/>
                </a:solidFill>
              </a:defRPr>
            </a:lvl1pPr>
          </a:lstStyle>
          <a:p>
            <a:pPr rtl="0"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owers Lesson">
  <a:themeElements>
    <a:clrScheme name="Powers Lesson">
      <a:dk1>
        <a:srgbClr val="1B262C"/>
      </a:dk1>
      <a:lt1>
        <a:srgbClr val="FFFFFF"/>
      </a:lt1>
      <a:dk2>
        <a:srgbClr val="0F4C5C"/>
      </a:dk2>
      <a:lt2>
        <a:srgbClr val="EAF4F4"/>
      </a:lt2>
      <a:accent1>
        <a:srgbClr val="E36414"/>
      </a:accent1>
      <a:accent2>
        <a:srgbClr val="0F8B8D"/>
      </a:accent2>
      <a:accent3>
        <a:srgbClr val="2E9E5B"/>
      </a:accent3>
      <a:accent4>
        <a:srgbClr val="2671B8"/>
      </a:accent4>
      <a:accent5>
        <a:srgbClr val="7B3FA0"/>
      </a:accent5>
      <a:accent6>
        <a:srgbClr val="E9A23B"/>
      </a:accent6>
      <a:hlink>
        <a:srgbClr val="2671B8"/>
      </a:hlink>
      <a:folHlink>
        <a:srgbClr val="7B3FA0"/>
      </a:folHlink>
    </a:clrScheme>
    <a:fontScheme name="Powers Lesson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القوى وقوة القوة - أنشطة الطلاب</dc:title>
  <dc:subject>PptxGenJS Presentation</dc:subject>
  <dc:creator>PptxGenJS</dc:creator>
  <cp:lastModifiedBy>PptxGenJS</cp:lastModifiedBy>
  <cp:revision>1</cp:revision>
  <dcterms:created xsi:type="dcterms:W3CDTF">2026-10-11T09:33:25Z</dcterms:created>
  <dcterms:modified xsi:type="dcterms:W3CDTF">2026-10-11T09:33:25Z</dcterms:modified>
</cp:coreProperties>
</file>