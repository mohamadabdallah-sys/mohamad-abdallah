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بداية" id="{aa127eaf-7d5b-d104-cb73-b60e11f18499}">
          <p14:sldIdLst>
            <p14:sldId id="256"/>
          </p14:sldIdLst>
        </p14:section>
        <p14:section name="التمهيد" id="{c9a00a79-72bf-ed14-319c-8ab8c44768ba}">
          <p14:sldIdLst>
            <p14:sldId id="257"/>
            <p14:sldId id="258"/>
          </p14:sldIdLst>
        </p14:section>
        <p14:section name="الاستكشاف" id="{d5167186-72fc-1bdd-d9ee-070a585c17a6}">
          <p14:sldIdLst>
            <p14:sldId id="259"/>
            <p14:sldId id="260"/>
            <p14:sldId id="261"/>
            <p14:sldId id="262"/>
          </p14:sldIdLst>
        </p14:section>
        <p14:section name="التطبيق" id="{272ad852-5b0d-8a6f-dcbd-212be7b53150}">
          <p14:sldIdLst>
            <p14:sldId id="263"/>
            <p14:sldId id="264"/>
            <p14:sldId id="265"/>
            <p14:sldId id="266"/>
          </p14:sldIdLst>
        </p14:section>
        <p14:section name="التقييم" id="{918cfecd-9557-1569-172d-9a1bd02a1cb2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بعد 4 خطوات: (أ) 8 و(ب) 16. بعد 10 خطوات: (أ) 20 و(ب) 1024.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2، 4، 8، 16، 32. بعد 5 طيّات: 32 وليس 10، لأننا نضاعف (نضرب في 2) في كل طيّة. الاختصار: 2 أُس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5 مرات. 1) 32 = 2 أُس 5. 2) 81 = 3 أُس 4. 3) 12، وهو جمع متكرر (3 + 3 + 3 + 3) لا ضرب متكرر.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6 خرزات: 2 أُس 6. 2) 6 خرزات: 5 أُس 6. نضرب عدد الخرزات في الخيط بعدد الخيوط: 3 × 2 = 6 و2 × 3 =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3 أُس 4 = 81. 2) 5 أُس 3 = 125. 3) (3×3×3×3، 3 أُس 4، 81)، (5×5×5، 5 أُس 3، 125)، (2×2×2×2×2×2، 2 أُس 6، 64)، (10×10، 10 أُس 2، 100)، (3+3+3+3، 4×3، 12). 4) 2 أُس 4 = 16. 5) 16 مكعّبًا.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2 أُس 8 = 256. 2) 3 أُس 6 = 729. 3) خطأ، والصحيح 4 أُس 6. 4) خطأ، والصحيح 25. 5) 10 أُس 4 = 10000 متر مربّع.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5. 2) 3. 3) (x أُس 2) أُس 6، (x أُس 6) أُس 2، (x أُس 3) أُس 4، (x أُس 4) أُس 3. 4) متساويتان: كلتاهما 2 أُس 12 لأن 4 = 2 أُس 2. 5) جمع الأُسّين، والصحيح 3 أُس 6 = 729.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بعد الحل: اقرأ إجاباتك لزميلك. عند الاختلاف اسألا زميلًا ثالثًا ثم رابعًا قبل المعلم.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600" b="1" dirty="0">
                <a:solidFill>
                  <a:srgbClr val="FFFFFF"/>
                </a:solidFill>
              </a:defRPr>
            </a:lvl1pPr>
          </a:lstStyle>
          <a:p>
            <a:pPr algn="r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r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rgbClr val="0F4C5C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القوى وقوّة القوّة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أنشطة وتطبيقات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2400" b="1" dirty="0">
                <a:solidFill>
                  <a:srgbClr val="F2C46D"/>
                </a:solidFill>
              </a:rPr>
              <a:t>تمهيد  •  استكشاف  •  تطبيق  •  تقييم</a:t>
            </a:r>
            <a:endParaRPr lang="ar-LB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تمهيد: أيّ المكافأتين تختار؟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11099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110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أ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العرض (أ): نجمع العدد 2 عشر مرات.</a:t>
            </a:r>
            <a:endParaRPr lang="ar-LB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0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+ 2 + ... + 2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97967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9796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ب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783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العرض (ب): نضرب العدد 2 في نفسه عشر مرات.</a:t>
            </a:r>
            <a:endParaRPr lang="ar-LB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0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... ×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4762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278892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1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2907426"/>
            <a:ext cx="201900" cy="2019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94360" y="277063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باللمس: كومتان من الخرز</a:t>
            </a:r>
            <a:endParaRPr lang="ar-LB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227832"/>
            <a:ext cx="78638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الكومة (أ): أضف خرزتين في كل خطوة.</a:t>
            </a:r>
            <a:endParaRPr lang="ar-LB" sz="18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الكومة (ب): ضاعِف عدد الخرز في كل خطوة.</a:t>
            </a:r>
            <a:endParaRPr lang="ar-LB" sz="18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نفّذ 4 خطوات. أيّ الكومتين أكبر؟ وأيّ العرضين تختار؟</a:t>
            </a:r>
            <a:endParaRPr lang="ar-LB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نتيجة التمهيد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08813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088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أ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الكومة (أ): 2، 4، 6، 8 … وبعد 10 خطوات:</a:t>
            </a:r>
            <a:endParaRPr lang="ar-LB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0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× 2 = 20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91109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ب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737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الكومة (ب): 2، 4، 8، 16 … وبعد 10 خطوات:</a:t>
            </a:r>
            <a:endParaRPr lang="ar-LB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7373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0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2200" b="1" dirty="0">
                <a:solidFill>
                  <a:srgbClr val="0F4C5C"/>
                </a:solidFill>
              </a:rPr>
              <a:t>العرض (ب) أكبر بكثير، لأننا نضرب في كل خطوة ولا نجمع.</a:t>
            </a:r>
            <a:endParaRPr lang="ar-LB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2000" dirty="0">
                <a:solidFill>
                  <a:srgbClr val="3E4A52"/>
                </a:solidFill>
              </a:rPr>
              <a:t>سؤال: كيف نختصر كتابة الضرب المتكرر 2 × 2 × 2 × … ؟</a:t>
            </a:r>
            <a:endParaRPr lang="ar-LB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1: طيّ الورقة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600200"/>
          </a:xfrm>
          <a:prstGeom prst="roundRect">
            <a:avLst>
              <a:gd name="adj" fmla="val 5714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اطوِ الورقة نصفين، واضغط على خط الطيّ بإصبعك.</a:t>
            </a:r>
            <a:endParaRPr lang="ar-LB" sz="17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افتحها، وتحسّس خطوط الطيّ، وعُدّ الأجزاء.</a:t>
            </a:r>
            <a:endParaRPr lang="ar-LB" sz="17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أعد الطيّ وزِد طيّة جديدة في كل مرة، ثم عُدّ.</a:t>
            </a:r>
            <a:endParaRPr lang="ar-LB" sz="1700" dirty="0"/>
          </a:p>
        </p:txBody>
      </p:sp>
      <p:sp>
        <p:nvSpPr>
          <p:cNvPr id="8" name="Shape 5"/>
          <p:cNvSpPr/>
          <p:nvPr/>
        </p:nvSpPr>
        <p:spPr>
          <a:xfrm>
            <a:off x="7086600" y="2651760"/>
            <a:ext cx="155448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2697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1B262C"/>
                </a:solidFill>
              </a:rPr>
              <a:t>طيّة واحدة</a:t>
            </a:r>
            <a:endParaRPr lang="ar-LB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3127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2 جزءان</a:t>
            </a:r>
            <a:endParaRPr lang="ar-LB" sz="1600" dirty="0"/>
          </a:p>
        </p:txBody>
      </p:sp>
      <p:sp>
        <p:nvSpPr>
          <p:cNvPr id="11" name="Shape 8"/>
          <p:cNvSpPr/>
          <p:nvPr/>
        </p:nvSpPr>
        <p:spPr>
          <a:xfrm>
            <a:off x="5440680" y="2651760"/>
            <a:ext cx="155448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2697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1B262C"/>
                </a:solidFill>
              </a:rPr>
              <a:t>طيّتان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3127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dirty="0">
                <a:solidFill>
                  <a:srgbClr val="C2500C"/>
                </a:solidFill>
              </a:rPr>
              <a:t>؟ أجزاء</a:t>
            </a:r>
            <a:endParaRPr lang="ar-LB" sz="1600" dirty="0"/>
          </a:p>
        </p:txBody>
      </p:sp>
      <p:sp>
        <p:nvSpPr>
          <p:cNvPr id="14" name="Shape 11"/>
          <p:cNvSpPr/>
          <p:nvPr/>
        </p:nvSpPr>
        <p:spPr>
          <a:xfrm>
            <a:off x="3794760" y="2651760"/>
            <a:ext cx="155448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94760" y="2697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1B262C"/>
                </a:solidFill>
              </a:rPr>
              <a:t>3 طيّات</a:t>
            </a:r>
            <a:endParaRPr lang="ar-LB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794760" y="3127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dirty="0">
                <a:solidFill>
                  <a:srgbClr val="C2500C"/>
                </a:solidFill>
              </a:rPr>
              <a:t>؟ أجزاء</a:t>
            </a:r>
            <a:endParaRPr lang="ar-LB" sz="1600" dirty="0"/>
          </a:p>
        </p:txBody>
      </p:sp>
      <p:sp>
        <p:nvSpPr>
          <p:cNvPr id="17" name="Shape 14"/>
          <p:cNvSpPr/>
          <p:nvPr/>
        </p:nvSpPr>
        <p:spPr>
          <a:xfrm>
            <a:off x="2148840" y="2651760"/>
            <a:ext cx="155448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148840" y="2697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1B262C"/>
                </a:solidFill>
              </a:rPr>
              <a:t>4 طيّات</a:t>
            </a:r>
            <a:endParaRPr lang="ar-LB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127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dirty="0">
                <a:solidFill>
                  <a:srgbClr val="C2500C"/>
                </a:solidFill>
              </a:rPr>
              <a:t>؟ أجزاء</a:t>
            </a:r>
            <a:endParaRPr lang="ar-LB" sz="1600" dirty="0"/>
          </a:p>
        </p:txBody>
      </p:sp>
      <p:sp>
        <p:nvSpPr>
          <p:cNvPr id="20" name="Shape 17"/>
          <p:cNvSpPr/>
          <p:nvPr/>
        </p:nvSpPr>
        <p:spPr>
          <a:xfrm>
            <a:off x="502920" y="2651760"/>
            <a:ext cx="155448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697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1B262C"/>
                </a:solidFill>
              </a:rPr>
              <a:t>5 طيّات</a:t>
            </a:r>
            <a:endParaRPr lang="ar-LB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3127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600" dirty="0">
                <a:solidFill>
                  <a:srgbClr val="C2500C"/>
                </a:solidFill>
              </a:rPr>
              <a:t>؟ أجزاء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b="1" dirty="0">
                <a:solidFill>
                  <a:srgbClr val="0F4C5C"/>
                </a:solidFill>
              </a:rPr>
              <a:t>بعد 5 طيّات: هل عدد الأجزاء 2 × 5 = 10؟ لماذا؟</a:t>
            </a:r>
            <a:endParaRPr lang="ar-LB" sz="18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b="1" dirty="0">
                <a:solidFill>
                  <a:srgbClr val="0F4C5C"/>
                </a:solidFill>
              </a:rPr>
              <a:t>كيف نكتب 2 × 2 × 2 × 2 × 2 باختصار؟</a:t>
            </a:r>
            <a:endParaRPr lang="ar-LB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2: خيط القوّة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باللمس: خيط عليه 5 خرزات، وكل خرزة تعني «ضرب 2»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عُدّ الخرزات: كم مرة ضربنا العدد 2؟</a:t>
            </a:r>
            <a:endParaRPr lang="ar-LB" sz="1800" dirty="0"/>
          </a:p>
        </p:txBody>
      </p:sp>
      <p:sp>
        <p:nvSpPr>
          <p:cNvPr id="8" name="Shape 5"/>
          <p:cNvSpPr/>
          <p:nvPr/>
        </p:nvSpPr>
        <p:spPr>
          <a:xfrm>
            <a:off x="457200" y="22860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83880" y="243687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4368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28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ما قيمة: 2 ضرب 2 ضرب 2 ضرب 2 ضرب 2؟</a:t>
            </a:r>
            <a:endParaRPr lang="ar-LB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2860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2 × 2 × 2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83880" y="321411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32141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063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خيط عليه 4 خرزات، كل خرزة «ضرب 3». ما القيمة؟</a:t>
            </a:r>
            <a:endParaRPr lang="ar-LB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063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 × 3 × 3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83880" y="399135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39913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4 أكواب في كل كوب 3 حبات. كم حبة؟ قارن بالسؤال 2.</a:t>
            </a:r>
            <a:endParaRPr lang="ar-LB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3840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3: قوّة القوّة بالخيوط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600200"/>
          </a:xfrm>
          <a:prstGeom prst="roundRect">
            <a:avLst>
              <a:gd name="adj" fmla="val 5714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خيط عليه 3 خرزات يمثّل 2 أُس 3.</a:t>
            </a:r>
            <a:endParaRPr lang="ar-LB" sz="18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خذ خيطين متماثلين، واربطهما، وعُدّ الخرزات كلها.</a:t>
            </a:r>
            <a:endParaRPr lang="ar-LB" sz="1800" dirty="0"/>
          </a:p>
        </p:txBody>
      </p:sp>
      <p:sp>
        <p:nvSpPr>
          <p:cNvPr id="8" name="Shape 5"/>
          <p:cNvSpPr/>
          <p:nvPr/>
        </p:nvSpPr>
        <p:spPr>
          <a:xfrm>
            <a:off x="457200" y="265176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83880" y="280263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802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51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(2 أُس 3) الكلّ أُس 2: كم خرزة؟ 2 أُس كم؟</a:t>
            </a:r>
            <a:endParaRPr lang="ar-LB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51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457200" y="34290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83880" y="357987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35798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429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ثلاثة خيوط على كلٍّ خرزتان: (5 أُس 2) الكلّ أُس 3.</a:t>
            </a:r>
            <a:endParaRPr lang="ar-LB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4290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9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</a:t>
            </a:r>
            <a:r>
              <a:rPr lang="en-US" sz="19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0F4C5C"/>
                </a:solidFill>
              </a:rPr>
              <a:t>كيف نعرف عدد الخرزات دون أن نعدّها؟</a:t>
            </a:r>
            <a:endParaRPr lang="ar-LB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ماذا اكتشفنا؟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0B6E70">
              <a:alpha val="10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0" y="9875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0B6E70"/>
                </a:solidFill>
              </a:rPr>
              <a:t>الضرب جمع متكرر</a:t>
            </a:r>
            <a:endParaRPr lang="ar-LB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44475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400" dirty="0">
                <a:solidFill>
                  <a:srgbClr val="3E4A52"/>
                </a:solidFill>
              </a:rPr>
              <a:t>تُقرأ: 4 ضرب 3</a:t>
            </a:r>
            <a:endParaRPr lang="ar-LB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914400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4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 = 3 + 3 + 3 + 3 = 12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C2500C">
              <a:alpha val="10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2494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C2500C"/>
                </a:solidFill>
              </a:rPr>
              <a:t>القوّة ضرب متكرر</a:t>
            </a:r>
            <a:endParaRPr lang="ar-LB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706624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400" dirty="0">
                <a:solidFill>
                  <a:srgbClr val="3E4A52"/>
                </a:solidFill>
              </a:rPr>
              <a:t>تُقرأ: 2 أُس 5</a:t>
            </a:r>
            <a:endParaRPr lang="ar-LB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76272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4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400" b="1" baseline="30000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4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 × 2 × 2 × 2 × 2 = 32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1F5C99">
              <a:alpha val="10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5C99"/>
                </a:solidFill>
              </a:rPr>
              <a:t>قوّة القوّة: نضرب الأُسّين</a:t>
            </a:r>
            <a:endParaRPr lang="ar-LB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968496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400" dirty="0">
                <a:solidFill>
                  <a:srgbClr val="3E4A52"/>
                </a:solidFill>
              </a:rPr>
              <a:t>تُقرأ: (a أُس m) الكلّ أُس n = a أُس (m ضرب n)</a:t>
            </a:r>
            <a:endParaRPr lang="ar-LB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38144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4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</a:t>
            </a:r>
            <a:r>
              <a:rPr lang="en-US" sz="24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r>
              <a:rPr lang="en-US" sz="24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4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sz="24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a</a:t>
            </a:r>
            <a:r>
              <a:rPr lang="en-US" sz="24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× 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الدائرة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4" name="Image 0" descr="شارة الدائر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060704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خيط عليه 4 خرزات، كل خرزة «ضرب 3». اكتب القوّة واحسبها.</a:t>
            </a:r>
            <a:endParaRPr lang="ar-LB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 × 3 × 3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57200" y="1664208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1810512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664208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خيط عليه 3 خرزات، كل خرزة «ضرب 5». اكتب القوّة واحسبها.</a:t>
            </a:r>
            <a:endParaRPr lang="ar-LB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6642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5 × 5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57200" y="2414016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560320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414016"/>
            <a:ext cx="7452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طابق بطاقات البرايل: الكتابة المطوّلة، المختصرة، القيمة.</a:t>
            </a:r>
            <a:endParaRPr lang="ar-LB" sz="1600" dirty="0"/>
          </a:p>
        </p:txBody>
      </p:sp>
      <p:sp>
        <p:nvSpPr>
          <p:cNvPr id="19" name="Shape 16"/>
          <p:cNvSpPr/>
          <p:nvPr/>
        </p:nvSpPr>
        <p:spPr>
          <a:xfrm>
            <a:off x="457200" y="3163824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83880" y="3310128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بالخيوط: (2 أُس 2) الكلّ أُس 2. اكتب الناتج كقوّة واحسبه.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16382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8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" y="3913632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5</a:t>
            </a:r>
            <a:endParaRPr lang="ar-LB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3520440" y="391363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ابنِ مربّعًا طول ضلعه 2 أُس 2 = 4 مكعّبات. كم مكعّبًا؟</a:t>
            </a:r>
            <a:endParaRPr lang="ar-LB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39136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4 =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المربّع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pic>
        <p:nvPicPr>
          <p:cNvPr id="4" name="Image 0" descr="شارة المرب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060704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اكتب على شكل قوّة واحدة ثم احسب: (2 أُس 4) الكلّ أُس 2.</a:t>
            </a:r>
            <a:endParaRPr lang="ar-LB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57200" y="1664208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1810512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664208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اكتب على شكل قوّة واحدة ثم احسب: (3 أُس 3) الكلّ أُس 2.</a:t>
            </a:r>
            <a:endParaRPr lang="ar-LB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6642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57200" y="2414016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560320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241401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صح أم خطأ؟ صحّح: (4 أُس 2) الكلّ أُس 3 = 4 أُس 5.</a:t>
            </a:r>
            <a:endParaRPr lang="ar-LB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414016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57200" y="3163824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83880" y="3310128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صح أم خطأ؟ صحّح: 5 أُس 2 = 10.</a:t>
            </a:r>
            <a:endParaRPr lang="ar-LB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16382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10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57200" y="3913632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5</a:t>
            </a:r>
            <a:endParaRPr lang="ar-LB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3520440" y="391363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مزرعة مربّعة طول ضلعها 10 أُس 2 مترًا. ما مساحتها؟</a:t>
            </a:r>
            <a:endParaRPr lang="ar-LB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9136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المثلث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pic>
        <p:nvPicPr>
          <p:cNvPr id="4" name="Image 0" descr="شارة المثل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060704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أوجد العدد الناقص: (2 أُس ؟) الكلّ أُس 3 = 2 أُس 15.</a:t>
            </a:r>
            <a:endParaRPr lang="ar-LB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57200" y="1664208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1810512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664208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أوجد العدد الناقص: (؟ أُس 2) الكلّ أُس 2 = 81.</a:t>
            </a:r>
            <a:endParaRPr lang="ar-LB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6642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(?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57200" y="2414016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560320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241401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اكتب x أُس 12 كقوّة قوّة بأربع طرق (أُسس أكبر من 1).</a:t>
            </a:r>
            <a:endParaRPr lang="ar-LB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414016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57200" y="3163824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83880" y="3310128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أيّهما أكبر؟ برّر دون حساب.</a:t>
            </a:r>
            <a:endParaRPr lang="ar-LB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16382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(4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57200" y="3913632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5</a:t>
            </a:r>
            <a:endParaRPr lang="ar-LB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3520440" y="391363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600" dirty="0">
                <a:solidFill>
                  <a:srgbClr val="1B262C"/>
                </a:solidFill>
              </a:rPr>
              <a:t>كتب سامي: (3 أُس 2) الكلّ أُس 3 = 3 أُس 5. أين الخطأ؟</a:t>
            </a:r>
            <a:endParaRPr lang="ar-LB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9136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8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3</a:t>
            </a:r>
            <a:r>
              <a:rPr lang="en-US" sz="18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حلول التطبيق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893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1F7A45">
              <a:alpha val="9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89320" y="9601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800" b="1" dirty="0">
                <a:solidFill>
                  <a:srgbClr val="1F7A45"/>
                </a:solidFill>
              </a:rPr>
              <a:t>مجموعة الدائرة</a:t>
            </a:r>
            <a:endParaRPr lang="ar-LB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48" y="1417320"/>
            <a:ext cx="238658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1) 3 أُس 4 = 81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2) 5 أُس 3 = 125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3) 3+3+3+3 = 4 × 3 = 12 ضرب لا قوّة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4) 2 أُس 4 = 16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5) 16 مكعّبًا</a:t>
            </a:r>
            <a:endParaRPr lang="ar-LB" sz="1500" dirty="0"/>
          </a:p>
        </p:txBody>
      </p:sp>
      <p:sp>
        <p:nvSpPr>
          <p:cNvPr id="6" name="Shape 4"/>
          <p:cNvSpPr/>
          <p:nvPr/>
        </p:nvSpPr>
        <p:spPr>
          <a:xfrm>
            <a:off x="32461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1F5C99">
              <a:alpha val="9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9601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800" b="1" dirty="0">
                <a:solidFill>
                  <a:srgbClr val="1F5C99"/>
                </a:solidFill>
              </a:rPr>
              <a:t>مجموعة المربّع</a:t>
            </a:r>
            <a:endParaRPr lang="ar-LB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417320"/>
            <a:ext cx="238658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1) 2 أُس 8 = 256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2) 3 أُس 6 = 729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3) خطأ ← 4 أُس 6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4) خطأ ← 25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5) 10 أُس 4 = 10000 م²</a:t>
            </a:r>
            <a:endParaRPr lang="ar-LB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6A2F8F">
              <a:alpha val="9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9601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800" b="1" dirty="0">
                <a:solidFill>
                  <a:srgbClr val="6A2F8F"/>
                </a:solidFill>
              </a:rPr>
              <a:t>مجموعة المثلث</a:t>
            </a:r>
            <a:endParaRPr lang="ar-LB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1417320"/>
            <a:ext cx="238658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1) 5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2) 3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3) الأُسّان: 2 و6، 6 و2، 3 و4، 4 و3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4) متساويتان: 2 أُس 12</a:t>
            </a:r>
            <a:endParaRPr lang="ar-LB" sz="15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ar-LB" altLang="en-US" sz="1500" dirty="0">
                <a:solidFill>
                  <a:srgbClr val="1B262C"/>
                </a:solidFill>
              </a:rPr>
              <a:t>5) نضرب الأُسّين: 3 أُس 6 = 729</a:t>
            </a:r>
            <a:endParaRPr lang="ar-LB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أسئلة التقييم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060704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أيّهما يساوي 6 أُس 3: (أ) 6 × 3 أم (ب) 6 × 6 × 6؟ لماذا؟</a:t>
            </a:r>
            <a:endParaRPr lang="ar-LB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64208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810512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64208"/>
            <a:ext cx="7452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اكتب على شكل قوّة: 8 × 8 × 8 × 8 × 8، وكذلك y × y × y.</a:t>
            </a:r>
            <a:endParaRPr lang="ar-LB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2414016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2560320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41401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اكتب على شكل قوّة واحدة: (5 أُس 3) الكلّ أُس 4.</a:t>
            </a:r>
            <a:endParaRPr lang="ar-LB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414016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457200" y="3163824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3310128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احسب: (2 أُس 2) الكلّ أُس 4.</a:t>
            </a:r>
            <a:endParaRPr lang="ar-LB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16382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57200" y="3913632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5</a:t>
            </a:r>
            <a:endParaRPr lang="ar-LB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520440" y="391363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صندوق مكعّب طول حرفه 10 أُس 2 سم. احسب حجمه.</a:t>
            </a:r>
            <a:endParaRPr lang="ar-LB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9136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9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حلول التقييم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060704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(ب): 6 أُس 3 = 6 × 6 × 6 = 216، أما 6 × 3 = 18.</a:t>
            </a:r>
            <a:endParaRPr lang="ar-LB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216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64208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810512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664208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8 أُس 5، و y أُس 3.</a:t>
            </a:r>
            <a:endParaRPr lang="ar-LB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642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2414016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2560320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8388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41401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5 أُس 12.</a:t>
            </a:r>
            <a:endParaRPr lang="ar-LB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414016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3310128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2 أُس 8 = 256.</a:t>
            </a:r>
            <a:endParaRPr lang="ar-LB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16382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256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457200" y="3913632"/>
            <a:ext cx="8229600" cy="676656"/>
          </a:xfrm>
          <a:prstGeom prst="roundRect">
            <a:avLst>
              <a:gd name="adj" fmla="val 13514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5</a:t>
            </a:r>
            <a:endParaRPr lang="ar-LB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520440" y="391363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700" dirty="0">
                <a:solidFill>
                  <a:srgbClr val="1B262C"/>
                </a:solidFill>
              </a:rPr>
              <a:t>10 أُس 6 = مليون سنتيمتر مكعّب.</a:t>
            </a:r>
            <a:endParaRPr lang="ar-LB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9136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9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19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1 000 000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قيّم نفسك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097280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91440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أفرّق بين القوّة والضرب.</a:t>
            </a:r>
            <a:endParaRPr lang="ar-LB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83880" y="1965960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8388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أقرأ القوّة وأكتبها.</a:t>
            </a:r>
            <a:endParaRPr lang="ar-LB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3880" y="2834640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65176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أحسب قوّة القوّة.</a:t>
            </a:r>
            <a:endParaRPr lang="ar-LB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800" b="1" dirty="0">
                <a:solidFill>
                  <a:srgbClr val="0F4C5C"/>
                </a:solidFill>
              </a:rPr>
              <a:t>ارفع إبهامك: إلى أعلى (أستطيع أن أشرحه) • أفقيًا (أحتاج تدريبًا) • إلى أسفل (أحتاج مساعدة)</a:t>
            </a:r>
            <a:endParaRPr lang="ar-LB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wers Lesson">
  <a:themeElements>
    <a:clrScheme name="Powers Lesson">
      <a:dk1>
        <a:srgbClr val="1B262C"/>
      </a:dk1>
      <a:lt1>
        <a:srgbClr val="FFFFFF"/>
      </a:lt1>
      <a:dk2>
        <a:srgbClr val="0F4C5C"/>
      </a:dk2>
      <a:lt2>
        <a:srgbClr val="EAF4F4"/>
      </a:lt2>
      <a:accent1>
        <a:srgbClr val="E36414"/>
      </a:accent1>
      <a:accent2>
        <a:srgbClr val="0F8B8D"/>
      </a:accent2>
      <a:accent3>
        <a:srgbClr val="2E9E5B"/>
      </a:accent3>
      <a:accent4>
        <a:srgbClr val="2671B8"/>
      </a:accent4>
      <a:accent5>
        <a:srgbClr val="7B3FA0"/>
      </a:accent5>
      <a:accent6>
        <a:srgbClr val="E9A23B"/>
      </a:accent6>
      <a:hlink>
        <a:srgbClr val="2671B8"/>
      </a:hlink>
      <a:folHlink>
        <a:srgbClr val="7B3FA0"/>
      </a:folHlink>
    </a:clrScheme>
    <a:fontScheme name="Powers Less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القوى وقوة القوة - أنشطة الطلاب</dc:title>
  <dc:subject>PptxGenJS Presentation</dc:subject>
  <dc:creator>PptxGenJS</dc:creator>
  <cp:lastModifiedBy>PptxGenJS</cp:lastModifiedBy>
  <cp:revision>1</cp:revision>
  <dcterms:created xsi:type="dcterms:W3CDTF">2026-10-11T09:23:11Z</dcterms:created>
  <dcterms:modified xsi:type="dcterms:W3CDTF">2026-10-11T09:23:11Z</dcterms:modified>
</cp:coreProperties>
</file>