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بداية" id="{2d27beb4-7993-ebbb-2189-fcc70fa7a70b}">
          <p14:sldIdLst>
            <p14:sldId id="256"/>
            <p14:sldId id="257"/>
            <p14:sldId id="258"/>
          </p14:sldIdLst>
        </p14:section>
        <p14:section name="التمهيد" id="{9034c09c-6a86-dc90-6a57-86005b3d40af}">
          <p14:sldIdLst>
            <p14:sldId id="259"/>
          </p14:sldIdLst>
        </p14:section>
        <p14:section name="الاستكشاف" id="{f601f2ab-777f-232d-54b5-a8b038ce0443}">
          <p14:sldIdLst>
            <p14:sldId id="260"/>
            <p14:sldId id="261"/>
            <p14:sldId id="262"/>
            <p14:sldId id="263"/>
          </p14:sldIdLst>
        </p14:section>
        <p14:section name="التطبيق التمايزي" id="{da5099af-4dd8-bbfe-089d-1f111b00f2bb}">
          <p14:sldIdLst>
            <p14:sldId id="264"/>
            <p14:sldId id="265"/>
            <p14:sldId id="266"/>
            <p14:sldId id="267"/>
          </p14:sldIdLst>
        </p14:section>
        <p14:section name="التقييم" id="{1fba2653-c84d-a4ba-b22a-c1e4657c8b8f}">
          <p14:sldIdLst>
            <p14:sldId id="268"/>
            <p14:sldId id="269"/>
            <p14:sldId id="270"/>
          </p14:sldIdLst>
        </p14:section>
        <p14:section name="الختام" id="{43ba1ebd-deb3-2b16-ec85-c7031585cab4}">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العرض للمعلم ولضعاف البصر. كل معادلة مكتوبة أيضًا كما تُقرأ؛ اقرأها للطلاب ببطء ومرتين.
في كل شريحة لوحة «دليل المعلم» على اليمين: المرحلة، والوقت، والاستراتيجية، والأدوات.
بطاقات الطلاب: ملف «بطاقات-الطلاب-برايل-وخط-كبير.docx» (للتحويل إلى برايل أو للطباعة بخط كبير).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المجموع 45 دقيقة. إن تأخّرت: اختصر الاستكشاف 1 إلى 4 طيّات، وأعطِ كل مجموعة مهمتها الأساسية فقط.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 تعتمد على الإشارة («هذا»، «هنا»)؛ صِف بالكلمات دائمًا.
لضعاف البصر: شاشة قريبة أو تكبير، والخطوط كبيرة.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أربع خطوات فقط باللمس تكفي ليشعر الطالب بالفرق (8 مقابل 16). أخبرهم بالنتيجة بعد 10 خطوات.
سؤال الربط: «الضرب اختصار للجمع المتكرر؛ فهل يوجد اختصار للضرب المتكرر؟»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بعد 4 طيّات يصعب العدّ باللمس: اطلب التوقّع.
السؤال المفتاح: «بعد 5 طيّات: هل 10 أجزاء (2 × 5)؟» الجواب: لا، 32، لأننا نضاعف في كل مرة.
اكتب على الشريحة: 1 طيّة: جزءان؛ 2: 4؛ 3: 8؛ 4: 16؛ 5: 32.
دعم: ساعد يد الطالب على إيجاد خط الطيّ. إثراء: «وبعد 10 طيّات؟» (1024).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«القوّة ضرب متكرر لعامل واحد في نفسه. نكتب 2 أُس 5 ونقرؤها 2 أُس 5 أو 2 للقوّة 5».
القوّة 2 «مربّع» والقوّة 3 «مكعّب».
سؤال تحقّق: «7 أُس 3: كم خرزة؟ (3) كل خرزة تعني ضرب كم؟ (7)».
بالبرايل: الأساس، ثم مؤشّر الأُس المعتمد في مدرستكم، ثم الأُس.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الحل: عدد الخرزات = خرزات الخيط الواحد × عدد الخيوط: 3 × 2 = 6، و2 × 3 = 6.
مثال ثالث شفهي: (a أُس 4) الكلّ أُس 2 = a أُس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طالبين صياغة القاعدة قبل قراءتها.
تحقّق: (3 أُس 2) الكلّ أُس 2: 3 أُس 2 = 9، و9 × 9 = 81 = 3 أُس 4.
بالخيوط: جمع الأُسّين يعطي 5 خرزات، لكننا عددنا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وزّع الطلاب حسب ملاحظتك في الاستكشاف (لا تذكر «ضعيف» أو «متفوّق»؛ استعمل أسماء الأشكال).
ضع الشارة البارزة على طاولة كل مجموعة.
مراعاة الفروق أيضًا: ضعيف البصر يأخذ نسخة بخط كبير؛ قارئ البرايل المبتدئ يجيب شفهيًا أو بقارئ الشاشة؛ وقت إضافي للقراءة باللمس.
من ينهي مبكرًا ينتقل إلى بطاقة المجموعة التالية.
قف وقتًا أطول مع مجموعة الدائرة.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المهمة الأساسية: 1 و2 و3. إن بقي وقت: 4 و5.
المطابقة: (3×3×3×3، 3 أُس 4، 81)، (5×5×5، 5 أُس 3، 125)، (2×2×2×2×2×2، 2 أُس 6، 64)، (10×10، 10 أُس 2، 100)، (3+3+3+3، 4×3،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المهمة الأساسية: 1 و2. إن بقي وقت: 3 و4.
سؤال 4: ثلاثة خيوط على كلٍّ خرزتان = 6 خرزات، إذن 4 أُس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المهمة الأساسية: 1 و3 و4. إن بقي وقت: 2 و5.
من ينهي: يلبس شارة «خبير» ويساعد مجموعة الدائرة بالأسئلة لا بالإجابة.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سؤال مرتبط بهدف، فتعرف الهدف الذي لم يتحقّق عند كل طالب.
بديل: الطالب الذي لم يتقن البرايل يجيب شفهيًا لزميله ثم للمعلم.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لأن الطلاب لا يرون من يحتاج المساعدة: يقول الطالب «أحتاج خبيرًا» بصوت منخفض، فيأتيه الخبير الأقرب.
يكتب الزميل المدقّق اسمه بالبرايل آخر البطاقة.
تجوّل واستمع، وسجّل الأخطاء الشائعة لتعالجها في الختام.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تحقّق 5: 10 أُس 2 = 100 سم، و100 × 100 × 100 = 1000000 سم³.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اقرأ الخلاصة واطلب من الطلاب ترديدها.
سجّل إشارات الإبهام؛ من أشار إلى أسفل يحصل على دعم لمسي إضافي في الحصة القادمة.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4C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8046720" cy="1005840"/>
          </a:xfrm>
          <a:prstGeom prst="rect">
            <a:avLst/>
          </a:prstGeom>
          <a:noFill/>
          <a:ln/>
        </p:spPr>
        <p:txBody>
          <a:bodyPr wrap="square" rtlCol="0"/>
          <a:lstStyle>
            <a:lvl1pPr rtl="1" algn="r" indent="0" marL="0">
              <a:buNone/>
              <a:defRPr lang="en-US" sz="4400" b="1" dirty="0">
                <a:solidFill>
                  <a:srgbClr val="FFFFFF"/>
                </a:solidFill>
              </a:defRPr>
            </a:lvl1pPr>
          </a:lstStyle>
          <a:p>
            <a:pPr algn="r" indent="0" marL="0">
              <a:buNone/>
            </a:pPr>
            <a:endParaRPr lang="en-US" sz="4400" dirty="0"/>
          </a:p>
        </p:txBody>
      </p:sp>
      <p:sp>
        <p:nvSpPr>
          <p:cNvPr id="3" name="Text 0"/>
          <p:cNvSpPr/>
          <p:nvPr>
            <p:ph idx="101" type="body" hasCustomPrompt="1"/>
          </p:nvPr>
        </p:nvSpPr>
        <p:spPr>
          <a:xfrm>
            <a:off x="548640" y="2240280"/>
            <a:ext cx="8046720" cy="822960"/>
          </a:xfrm>
          <a:prstGeom prst="rect">
            <a:avLst/>
          </a:prstGeom>
          <a:noFill/>
          <a:ln/>
        </p:spPr>
        <p:txBody>
          <a:bodyPr wrap="square" rtlCol="0"/>
          <a:lstStyle>
            <a:lvl1pPr rtl="1" algn="r" indent="0" marL="0">
              <a:buNone/>
              <a:defRPr lang="en-US" sz="2200" dirty="0">
                <a:solidFill>
                  <a:srgbClr val="FFFFFF"/>
                </a:solidFill>
              </a:defRPr>
            </a:lvl1pPr>
          </a:lstStyle>
          <a:p>
            <a:pPr algn="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lstStyle>
            <a:lvl1pPr rtl="1" algn="r" indent="0" marL="0">
              <a:buNone/>
              <a:defRPr lang="en-US" sz="3000" b="1" dirty="0">
                <a:solidFill>
                  <a:srgbClr val="0F4C5C"/>
                </a:solidFill>
              </a:defRPr>
            </a:lvl1pPr>
          </a:lstStyle>
          <a:p>
            <a:pPr algn="r" indent="0" marL="0">
              <a:buNone/>
            </a:pPr>
            <a:endParaRPr lang="en-US" sz="30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8046720" cy="1005840"/>
          </a:xfrm>
          <a:prstGeom prst="rect">
            <a:avLst/>
          </a:prstGeom>
          <a:noFill/>
          <a:ln/>
        </p:spPr>
        <p:txBody>
          <a:bodyPr wrap="square" rtlCol="0"/>
          <a:lstStyle/>
          <a:p>
            <a:pPr rtl="1" algn="r" indent="0" marL="0">
              <a:buNone/>
            </a:pPr>
            <a:r>
              <a:rPr lang="en-US" sz="4400" b="1" dirty="0">
                <a:solidFill>
                  <a:srgbClr val="FFFFFF"/>
                </a:solidFill>
              </a:rPr>
              <a:t>القوى وقوّة القوّة</a:t>
            </a:r>
            <a:endParaRPr lang="en-US" sz="4400" dirty="0"/>
          </a:p>
        </p:txBody>
      </p:sp>
      <p:sp>
        <p:nvSpPr>
          <p:cNvPr id="3" name="Text 0"/>
          <p:cNvSpPr/>
          <p:nvPr>
            <p:ph idx="101" type="body" hasCustomPrompt="1"/>
          </p:nvPr>
        </p:nvSpPr>
        <p:spPr>
          <a:xfrm>
            <a:off x="548640" y="2240280"/>
            <a:ext cx="8046720" cy="822960"/>
          </a:xfrm>
          <a:prstGeom prst="rect">
            <a:avLst/>
          </a:prstGeom>
          <a:noFill/>
          <a:ln/>
        </p:spPr>
        <p:txBody>
          <a:bodyPr wrap="square" rtlCol="0"/>
          <a:lstStyle/>
          <a:p>
            <a:pPr rtl="1" algn="r" indent="0" marL="0">
              <a:buNone/>
            </a:pPr>
            <a:r>
              <a:rPr lang="en-US" sz="2200" dirty="0">
                <a:solidFill>
                  <a:srgbClr val="FFFFFF"/>
                </a:solidFill>
              </a:rPr>
              <a:t>حصة واحدة (45 دقيقة) للطلاب المكفوفين وضعاف البصر</a:t>
            </a:r>
            <a:endParaRPr lang="en-US" sz="2200" dirty="0"/>
          </a:p>
        </p:txBody>
      </p:sp>
      <p:sp>
        <p:nvSpPr>
          <p:cNvPr id="4" name="Text 2"/>
          <p:cNvSpPr txBox="1"/>
          <p:nvPr/>
        </p:nvSpPr>
        <p:spPr>
          <a:xfrm>
            <a:off x="548640" y="3291840"/>
            <a:ext cx="8046720" cy="548640"/>
          </a:xfrm>
          <a:prstGeom prst="rect">
            <a:avLst/>
          </a:prstGeom>
          <a:noFill/>
          <a:ln/>
        </p:spPr>
        <p:txBody>
          <a:bodyPr wrap="square" lIns="0" tIns="0" rIns="0" bIns="0" rtlCol="0" anchor="t"/>
          <a:lstStyle/>
          <a:p>
            <a:pPr rtl="1" algn="r" indent="0" marL="0">
              <a:buNone/>
            </a:pPr>
            <a:r>
              <a:rPr lang="ar-LB" altLang="en-US" sz="2400" b="1" dirty="0">
                <a:solidFill>
                  <a:srgbClr val="F2C46D"/>
                </a:solidFill>
              </a:rPr>
              <a:t>تمهيد ← استكشاف ← تطبيق تمايزي ← تقييم</a:t>
            </a:r>
            <a:endParaRPr lang="ar-LB"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000" b="1" dirty="0">
                <a:solidFill>
                  <a:srgbClr val="0F4C5C"/>
                </a:solidFill>
              </a:rPr>
              <a:t>خطة الحصة في لمحة</a:t>
            </a:r>
            <a:endParaRPr lang="en-US" sz="3000" dirty="0"/>
          </a:p>
        </p:txBody>
      </p:sp>
      <p:sp>
        <p:nvSpPr>
          <p:cNvPr id="3" name="Shape 1"/>
          <p:cNvSpPr/>
          <p:nvPr/>
        </p:nvSpPr>
        <p:spPr>
          <a:xfrm>
            <a:off x="5669280" y="914400"/>
            <a:ext cx="3017520" cy="411480"/>
          </a:xfrm>
          <a:prstGeom prst="rect">
            <a:avLst/>
          </a:prstGeom>
          <a:solidFill>
            <a:srgbClr val="0F4C5C"/>
          </a:solidFill>
          <a:ln w="12700">
            <a:solidFill>
              <a:srgbClr val="FFFFFF"/>
            </a:solidFill>
            <a:prstDash val="solid"/>
          </a:ln>
        </p:spPr>
      </p:sp>
      <p:sp>
        <p:nvSpPr>
          <p:cNvPr id="4" name="Text 2"/>
          <p:cNvSpPr txBox="1"/>
          <p:nvPr/>
        </p:nvSpPr>
        <p:spPr>
          <a:xfrm>
            <a:off x="5669280" y="914400"/>
            <a:ext cx="3017520" cy="411480"/>
          </a:xfrm>
          <a:prstGeom prst="rect">
            <a:avLst/>
          </a:prstGeom>
          <a:noFill/>
          <a:ln/>
        </p:spPr>
        <p:txBody>
          <a:bodyPr wrap="square" lIns="0" tIns="0" rIns="0" bIns="0" rtlCol="0" anchor="ctr"/>
          <a:lstStyle/>
          <a:p>
            <a:pPr rtl="1" algn="ctr" indent="0" marL="0">
              <a:buNone/>
            </a:pPr>
            <a:r>
              <a:rPr lang="ar-LB" altLang="en-US" sz="1500" b="1" dirty="0">
                <a:solidFill>
                  <a:srgbClr val="FFFFFF"/>
                </a:solidFill>
              </a:rPr>
              <a:t>المرحلة</a:t>
            </a:r>
            <a:endParaRPr lang="ar-LB" sz="1500" dirty="0"/>
          </a:p>
        </p:txBody>
      </p:sp>
      <p:sp>
        <p:nvSpPr>
          <p:cNvPr id="5" name="Shape 3"/>
          <p:cNvSpPr/>
          <p:nvPr/>
        </p:nvSpPr>
        <p:spPr>
          <a:xfrm>
            <a:off x="4846320" y="914400"/>
            <a:ext cx="822960" cy="411480"/>
          </a:xfrm>
          <a:prstGeom prst="rect">
            <a:avLst/>
          </a:prstGeom>
          <a:solidFill>
            <a:srgbClr val="0F4C5C"/>
          </a:solidFill>
          <a:ln w="12700">
            <a:solidFill>
              <a:srgbClr val="FFFFFF"/>
            </a:solidFill>
            <a:prstDash val="solid"/>
          </a:ln>
        </p:spPr>
      </p:sp>
      <p:sp>
        <p:nvSpPr>
          <p:cNvPr id="6" name="Text 4"/>
          <p:cNvSpPr txBox="1"/>
          <p:nvPr/>
        </p:nvSpPr>
        <p:spPr>
          <a:xfrm>
            <a:off x="4846320" y="914400"/>
            <a:ext cx="822960" cy="411480"/>
          </a:xfrm>
          <a:prstGeom prst="rect">
            <a:avLst/>
          </a:prstGeom>
          <a:noFill/>
          <a:ln/>
        </p:spPr>
        <p:txBody>
          <a:bodyPr wrap="square" lIns="0" tIns="0" rIns="0" bIns="0" rtlCol="0" anchor="ctr"/>
          <a:lstStyle/>
          <a:p>
            <a:pPr rtl="1" algn="ctr" indent="0" marL="0">
              <a:buNone/>
            </a:pPr>
            <a:r>
              <a:rPr lang="ar-LB" altLang="en-US" sz="1500" b="1" dirty="0">
                <a:solidFill>
                  <a:srgbClr val="FFFFFF"/>
                </a:solidFill>
              </a:rPr>
              <a:t>الوقت</a:t>
            </a:r>
            <a:endParaRPr lang="ar-LB" sz="1500" dirty="0"/>
          </a:p>
        </p:txBody>
      </p:sp>
      <p:sp>
        <p:nvSpPr>
          <p:cNvPr id="7" name="Shape 5"/>
          <p:cNvSpPr/>
          <p:nvPr/>
        </p:nvSpPr>
        <p:spPr>
          <a:xfrm>
            <a:off x="2468880" y="914400"/>
            <a:ext cx="2377440" cy="411480"/>
          </a:xfrm>
          <a:prstGeom prst="rect">
            <a:avLst/>
          </a:prstGeom>
          <a:solidFill>
            <a:srgbClr val="0F4C5C"/>
          </a:solidFill>
          <a:ln w="12700">
            <a:solidFill>
              <a:srgbClr val="FFFFFF"/>
            </a:solidFill>
            <a:prstDash val="solid"/>
          </a:ln>
        </p:spPr>
      </p:sp>
      <p:sp>
        <p:nvSpPr>
          <p:cNvPr id="8" name="Text 6"/>
          <p:cNvSpPr txBox="1"/>
          <p:nvPr/>
        </p:nvSpPr>
        <p:spPr>
          <a:xfrm>
            <a:off x="2468880" y="914400"/>
            <a:ext cx="2377440" cy="411480"/>
          </a:xfrm>
          <a:prstGeom prst="rect">
            <a:avLst/>
          </a:prstGeom>
          <a:noFill/>
          <a:ln/>
        </p:spPr>
        <p:txBody>
          <a:bodyPr wrap="square" lIns="0" tIns="0" rIns="0" bIns="0" rtlCol="0" anchor="ctr"/>
          <a:lstStyle/>
          <a:p>
            <a:pPr rtl="1" algn="ctr" indent="0" marL="0">
              <a:buNone/>
            </a:pPr>
            <a:r>
              <a:rPr lang="ar-LB" altLang="en-US" sz="1500" b="1" dirty="0">
                <a:solidFill>
                  <a:srgbClr val="FFFFFF"/>
                </a:solidFill>
              </a:rPr>
              <a:t>الاستراتيجية</a:t>
            </a:r>
            <a:endParaRPr lang="ar-LB" sz="1500" dirty="0"/>
          </a:p>
        </p:txBody>
      </p:sp>
      <p:sp>
        <p:nvSpPr>
          <p:cNvPr id="9" name="Shape 7"/>
          <p:cNvSpPr/>
          <p:nvPr/>
        </p:nvSpPr>
        <p:spPr>
          <a:xfrm>
            <a:off x="457200" y="914400"/>
            <a:ext cx="2011680" cy="411480"/>
          </a:xfrm>
          <a:prstGeom prst="rect">
            <a:avLst/>
          </a:prstGeom>
          <a:solidFill>
            <a:srgbClr val="0F4C5C"/>
          </a:solidFill>
          <a:ln w="12700">
            <a:solidFill>
              <a:srgbClr val="FFFFFF"/>
            </a:solidFill>
            <a:prstDash val="solid"/>
          </a:ln>
        </p:spPr>
      </p:sp>
      <p:sp>
        <p:nvSpPr>
          <p:cNvPr id="10" name="Text 8"/>
          <p:cNvSpPr txBox="1"/>
          <p:nvPr/>
        </p:nvSpPr>
        <p:spPr>
          <a:xfrm>
            <a:off x="457200" y="914400"/>
            <a:ext cx="2011680" cy="411480"/>
          </a:xfrm>
          <a:prstGeom prst="rect">
            <a:avLst/>
          </a:prstGeom>
          <a:noFill/>
          <a:ln/>
        </p:spPr>
        <p:txBody>
          <a:bodyPr wrap="square" lIns="0" tIns="0" rIns="0" bIns="0" rtlCol="0" anchor="ctr"/>
          <a:lstStyle/>
          <a:p>
            <a:pPr rtl="1" algn="ctr" indent="0" marL="0">
              <a:buNone/>
            </a:pPr>
            <a:r>
              <a:rPr lang="ar-LB" altLang="en-US" sz="1500" b="1" dirty="0">
                <a:solidFill>
                  <a:srgbClr val="FFFFFF"/>
                </a:solidFill>
              </a:rPr>
              <a:t>الأدوات</a:t>
            </a:r>
            <a:endParaRPr lang="ar-LB" sz="1500" dirty="0"/>
          </a:p>
        </p:txBody>
      </p:sp>
      <p:sp>
        <p:nvSpPr>
          <p:cNvPr id="11" name="Shape 9"/>
          <p:cNvSpPr/>
          <p:nvPr/>
        </p:nvSpPr>
        <p:spPr>
          <a:xfrm>
            <a:off x="5669280" y="1325880"/>
            <a:ext cx="3017520" cy="475488"/>
          </a:xfrm>
          <a:prstGeom prst="rect">
            <a:avLst/>
          </a:prstGeom>
          <a:solidFill>
            <a:srgbClr val="FFFFFF"/>
          </a:solidFill>
          <a:ln w="12700">
            <a:solidFill>
              <a:srgbClr val="9AA8B0"/>
            </a:solidFill>
            <a:prstDash val="solid"/>
          </a:ln>
        </p:spPr>
      </p:sp>
      <p:sp>
        <p:nvSpPr>
          <p:cNvPr id="12" name="Text 10"/>
          <p:cNvSpPr txBox="1"/>
          <p:nvPr/>
        </p:nvSpPr>
        <p:spPr>
          <a:xfrm>
            <a:off x="5742432" y="1325880"/>
            <a:ext cx="2871216" cy="475488"/>
          </a:xfrm>
          <a:prstGeom prst="rect">
            <a:avLst/>
          </a:prstGeom>
          <a:noFill/>
          <a:ln/>
        </p:spPr>
        <p:txBody>
          <a:bodyPr wrap="square" lIns="0" tIns="0" rIns="0" bIns="0" rtlCol="0" anchor="ctr"/>
          <a:lstStyle/>
          <a:p>
            <a:pPr rtl="1" algn="r" indent="0" marL="0">
              <a:buNone/>
            </a:pPr>
            <a:r>
              <a:rPr lang="ar-LB" altLang="en-US" sz="1400" b="1" dirty="0">
                <a:solidFill>
                  <a:srgbClr val="1B262C"/>
                </a:solidFill>
              </a:rPr>
              <a:t>تمهيد: أيّ المكافأتين؟</a:t>
            </a:r>
            <a:endParaRPr lang="ar-LB" sz="1400" dirty="0"/>
          </a:p>
        </p:txBody>
      </p:sp>
      <p:sp>
        <p:nvSpPr>
          <p:cNvPr id="13" name="Shape 11"/>
          <p:cNvSpPr/>
          <p:nvPr/>
        </p:nvSpPr>
        <p:spPr>
          <a:xfrm>
            <a:off x="4846320" y="1325880"/>
            <a:ext cx="822960" cy="475488"/>
          </a:xfrm>
          <a:prstGeom prst="rect">
            <a:avLst/>
          </a:prstGeom>
          <a:solidFill>
            <a:srgbClr val="FFFFFF"/>
          </a:solidFill>
          <a:ln w="12700">
            <a:solidFill>
              <a:srgbClr val="9AA8B0"/>
            </a:solidFill>
            <a:prstDash val="solid"/>
          </a:ln>
        </p:spPr>
      </p:sp>
      <p:sp>
        <p:nvSpPr>
          <p:cNvPr id="14" name="Text 12"/>
          <p:cNvSpPr txBox="1"/>
          <p:nvPr/>
        </p:nvSpPr>
        <p:spPr>
          <a:xfrm>
            <a:off x="4919472" y="1325880"/>
            <a:ext cx="676656" cy="475488"/>
          </a:xfrm>
          <a:prstGeom prst="rect">
            <a:avLst/>
          </a:prstGeom>
          <a:noFill/>
          <a:ln/>
        </p:spPr>
        <p:txBody>
          <a:bodyPr wrap="square" lIns="0" tIns="0" rIns="0" bIns="0" rtlCol="0" anchor="ctr"/>
          <a:lstStyle/>
          <a:p>
            <a:pPr rtl="1" algn="ctr" indent="0" marL="0">
              <a:buNone/>
            </a:pPr>
            <a:r>
              <a:rPr lang="ar-LB" altLang="en-US" sz="1400" dirty="0">
                <a:solidFill>
                  <a:srgbClr val="1B262C"/>
                </a:solidFill>
              </a:rPr>
              <a:t>5 د</a:t>
            </a:r>
            <a:endParaRPr lang="ar-LB" sz="1400" dirty="0"/>
          </a:p>
        </p:txBody>
      </p:sp>
      <p:sp>
        <p:nvSpPr>
          <p:cNvPr id="15" name="Shape 13"/>
          <p:cNvSpPr/>
          <p:nvPr/>
        </p:nvSpPr>
        <p:spPr>
          <a:xfrm>
            <a:off x="2468880" y="1325880"/>
            <a:ext cx="2377440" cy="475488"/>
          </a:xfrm>
          <a:prstGeom prst="rect">
            <a:avLst/>
          </a:prstGeom>
          <a:solidFill>
            <a:srgbClr val="FFFFFF"/>
          </a:solidFill>
          <a:ln w="12700">
            <a:solidFill>
              <a:srgbClr val="9AA8B0"/>
            </a:solidFill>
            <a:prstDash val="solid"/>
          </a:ln>
        </p:spPr>
      </p:sp>
      <p:sp>
        <p:nvSpPr>
          <p:cNvPr id="16" name="Text 14"/>
          <p:cNvSpPr txBox="1"/>
          <p:nvPr/>
        </p:nvSpPr>
        <p:spPr>
          <a:xfrm>
            <a:off x="2542032" y="1325880"/>
            <a:ext cx="2231136" cy="475488"/>
          </a:xfrm>
          <a:prstGeom prst="rect">
            <a:avLst/>
          </a:prstGeom>
          <a:noFill/>
          <a:ln/>
        </p:spPr>
        <p:txBody>
          <a:bodyPr wrap="square" lIns="0" tIns="0" rIns="0" bIns="0" rtlCol="0" anchor="ctr"/>
          <a:lstStyle/>
          <a:p>
            <a:pPr rtl="1" algn="ctr" indent="0" marL="0">
              <a:buNone/>
            </a:pPr>
            <a:r>
              <a:rPr lang="ar-LB" altLang="en-US" sz="1400" dirty="0">
                <a:solidFill>
                  <a:srgbClr val="1B262C"/>
                </a:solidFill>
              </a:rPr>
              <a:t>فكّر – زاوج – شارك</a:t>
            </a:r>
            <a:endParaRPr lang="ar-LB" sz="1400" dirty="0"/>
          </a:p>
        </p:txBody>
      </p:sp>
      <p:sp>
        <p:nvSpPr>
          <p:cNvPr id="17" name="Shape 15"/>
          <p:cNvSpPr/>
          <p:nvPr/>
        </p:nvSpPr>
        <p:spPr>
          <a:xfrm>
            <a:off x="457200" y="1325880"/>
            <a:ext cx="2011680" cy="475488"/>
          </a:xfrm>
          <a:prstGeom prst="rect">
            <a:avLst/>
          </a:prstGeom>
          <a:solidFill>
            <a:srgbClr val="FFFFFF"/>
          </a:solidFill>
          <a:ln w="12700">
            <a:solidFill>
              <a:srgbClr val="9AA8B0"/>
            </a:solidFill>
            <a:prstDash val="solid"/>
          </a:ln>
        </p:spPr>
      </p:sp>
      <p:sp>
        <p:nvSpPr>
          <p:cNvPr id="18" name="Text 16"/>
          <p:cNvSpPr txBox="1"/>
          <p:nvPr/>
        </p:nvSpPr>
        <p:spPr>
          <a:xfrm>
            <a:off x="530352" y="1325880"/>
            <a:ext cx="1865376" cy="475488"/>
          </a:xfrm>
          <a:prstGeom prst="rect">
            <a:avLst/>
          </a:prstGeom>
          <a:noFill/>
          <a:ln/>
        </p:spPr>
        <p:txBody>
          <a:bodyPr wrap="square" lIns="0" tIns="0" rIns="0" bIns="0" rtlCol="0" anchor="ctr"/>
          <a:lstStyle/>
          <a:p>
            <a:pPr rtl="1" algn="ctr" indent="0" marL="0">
              <a:buNone/>
            </a:pPr>
            <a:r>
              <a:rPr lang="ar-LB" altLang="en-US" sz="1400" dirty="0">
                <a:solidFill>
                  <a:srgbClr val="1B262C"/>
                </a:solidFill>
              </a:rPr>
              <a:t>خرز</a:t>
            </a:r>
            <a:endParaRPr lang="ar-LB" sz="1400" dirty="0"/>
          </a:p>
        </p:txBody>
      </p:sp>
      <p:sp>
        <p:nvSpPr>
          <p:cNvPr id="19" name="Shape 17"/>
          <p:cNvSpPr/>
          <p:nvPr/>
        </p:nvSpPr>
        <p:spPr>
          <a:xfrm>
            <a:off x="5669280" y="1801368"/>
            <a:ext cx="3017520" cy="475488"/>
          </a:xfrm>
          <a:prstGeom prst="rect">
            <a:avLst/>
          </a:prstGeom>
          <a:solidFill>
            <a:srgbClr val="EEF4F5"/>
          </a:solidFill>
          <a:ln w="12700">
            <a:solidFill>
              <a:srgbClr val="9AA8B0"/>
            </a:solidFill>
            <a:prstDash val="solid"/>
          </a:ln>
        </p:spPr>
      </p:sp>
      <p:sp>
        <p:nvSpPr>
          <p:cNvPr id="20" name="Text 18"/>
          <p:cNvSpPr txBox="1"/>
          <p:nvPr/>
        </p:nvSpPr>
        <p:spPr>
          <a:xfrm>
            <a:off x="5742432" y="1801368"/>
            <a:ext cx="2871216" cy="475488"/>
          </a:xfrm>
          <a:prstGeom prst="rect">
            <a:avLst/>
          </a:prstGeom>
          <a:noFill/>
          <a:ln/>
        </p:spPr>
        <p:txBody>
          <a:bodyPr wrap="square" lIns="0" tIns="0" rIns="0" bIns="0" rtlCol="0" anchor="ctr"/>
          <a:lstStyle/>
          <a:p>
            <a:pPr rtl="1" algn="r" indent="0" marL="0">
              <a:buNone/>
            </a:pPr>
            <a:r>
              <a:rPr lang="ar-LB" altLang="en-US" sz="1400" b="1" dirty="0">
                <a:solidFill>
                  <a:srgbClr val="1B262C"/>
                </a:solidFill>
              </a:rPr>
              <a:t>استكشاف 1: طيّ الورقة</a:t>
            </a:r>
            <a:endParaRPr lang="ar-LB" sz="1400" dirty="0"/>
          </a:p>
        </p:txBody>
      </p:sp>
      <p:sp>
        <p:nvSpPr>
          <p:cNvPr id="21" name="Shape 19"/>
          <p:cNvSpPr/>
          <p:nvPr/>
        </p:nvSpPr>
        <p:spPr>
          <a:xfrm>
            <a:off x="4846320" y="1801368"/>
            <a:ext cx="822960" cy="475488"/>
          </a:xfrm>
          <a:prstGeom prst="rect">
            <a:avLst/>
          </a:prstGeom>
          <a:solidFill>
            <a:srgbClr val="EEF4F5"/>
          </a:solidFill>
          <a:ln w="12700">
            <a:solidFill>
              <a:srgbClr val="9AA8B0"/>
            </a:solidFill>
            <a:prstDash val="solid"/>
          </a:ln>
        </p:spPr>
      </p:sp>
      <p:sp>
        <p:nvSpPr>
          <p:cNvPr id="22" name="Text 20"/>
          <p:cNvSpPr txBox="1"/>
          <p:nvPr/>
        </p:nvSpPr>
        <p:spPr>
          <a:xfrm>
            <a:off x="4919472" y="1801368"/>
            <a:ext cx="676656" cy="475488"/>
          </a:xfrm>
          <a:prstGeom prst="rect">
            <a:avLst/>
          </a:prstGeom>
          <a:noFill/>
          <a:ln/>
        </p:spPr>
        <p:txBody>
          <a:bodyPr wrap="square" lIns="0" tIns="0" rIns="0" bIns="0" rtlCol="0" anchor="ctr"/>
          <a:lstStyle/>
          <a:p>
            <a:pPr rtl="1" algn="ctr" indent="0" marL="0">
              <a:buNone/>
            </a:pPr>
            <a:r>
              <a:rPr lang="ar-LB" altLang="en-US" sz="1400" dirty="0">
                <a:solidFill>
                  <a:srgbClr val="1B262C"/>
                </a:solidFill>
              </a:rPr>
              <a:t>8 د</a:t>
            </a:r>
            <a:endParaRPr lang="ar-LB" sz="1400" dirty="0"/>
          </a:p>
        </p:txBody>
      </p:sp>
      <p:sp>
        <p:nvSpPr>
          <p:cNvPr id="23" name="Shape 21"/>
          <p:cNvSpPr/>
          <p:nvPr/>
        </p:nvSpPr>
        <p:spPr>
          <a:xfrm>
            <a:off x="2468880" y="1801368"/>
            <a:ext cx="2377440" cy="475488"/>
          </a:xfrm>
          <a:prstGeom prst="rect">
            <a:avLst/>
          </a:prstGeom>
          <a:solidFill>
            <a:srgbClr val="EEF4F5"/>
          </a:solidFill>
          <a:ln w="12700">
            <a:solidFill>
              <a:srgbClr val="9AA8B0"/>
            </a:solidFill>
            <a:prstDash val="solid"/>
          </a:ln>
        </p:spPr>
      </p:sp>
      <p:sp>
        <p:nvSpPr>
          <p:cNvPr id="24" name="Text 22"/>
          <p:cNvSpPr txBox="1"/>
          <p:nvPr/>
        </p:nvSpPr>
        <p:spPr>
          <a:xfrm>
            <a:off x="2542032" y="1801368"/>
            <a:ext cx="2231136" cy="475488"/>
          </a:xfrm>
          <a:prstGeom prst="rect">
            <a:avLst/>
          </a:prstGeom>
          <a:noFill/>
          <a:ln/>
        </p:spPr>
        <p:txBody>
          <a:bodyPr wrap="square" lIns="0" tIns="0" rIns="0" bIns="0" rtlCol="0" anchor="ctr"/>
          <a:lstStyle/>
          <a:p>
            <a:pPr rtl="1" algn="ctr" indent="0" marL="0">
              <a:buNone/>
            </a:pPr>
            <a:r>
              <a:rPr lang="ar-LB" altLang="en-US" sz="1400" dirty="0">
                <a:solidFill>
                  <a:srgbClr val="1B262C"/>
                </a:solidFill>
              </a:rPr>
              <a:t>الاكتشاف باللمس</a:t>
            </a:r>
            <a:endParaRPr lang="ar-LB" sz="1400" dirty="0"/>
          </a:p>
        </p:txBody>
      </p:sp>
      <p:sp>
        <p:nvSpPr>
          <p:cNvPr id="25" name="Shape 23"/>
          <p:cNvSpPr/>
          <p:nvPr/>
        </p:nvSpPr>
        <p:spPr>
          <a:xfrm>
            <a:off x="457200" y="1801368"/>
            <a:ext cx="2011680" cy="475488"/>
          </a:xfrm>
          <a:prstGeom prst="rect">
            <a:avLst/>
          </a:prstGeom>
          <a:solidFill>
            <a:srgbClr val="EEF4F5"/>
          </a:solidFill>
          <a:ln w="12700">
            <a:solidFill>
              <a:srgbClr val="9AA8B0"/>
            </a:solidFill>
            <a:prstDash val="solid"/>
          </a:ln>
        </p:spPr>
      </p:sp>
      <p:sp>
        <p:nvSpPr>
          <p:cNvPr id="26" name="Text 24"/>
          <p:cNvSpPr txBox="1"/>
          <p:nvPr/>
        </p:nvSpPr>
        <p:spPr>
          <a:xfrm>
            <a:off x="530352" y="1801368"/>
            <a:ext cx="1865376" cy="475488"/>
          </a:xfrm>
          <a:prstGeom prst="rect">
            <a:avLst/>
          </a:prstGeom>
          <a:noFill/>
          <a:ln/>
        </p:spPr>
        <p:txBody>
          <a:bodyPr wrap="square" lIns="0" tIns="0" rIns="0" bIns="0" rtlCol="0" anchor="ctr"/>
          <a:lstStyle/>
          <a:p>
            <a:pPr rtl="1" algn="ctr" indent="0" marL="0">
              <a:buNone/>
            </a:pPr>
            <a:r>
              <a:rPr lang="ar-LB" altLang="en-US" sz="1400" dirty="0">
                <a:solidFill>
                  <a:srgbClr val="1B262C"/>
                </a:solidFill>
              </a:rPr>
              <a:t>ورق A4</a:t>
            </a:r>
            <a:endParaRPr lang="ar-LB" sz="1400" dirty="0"/>
          </a:p>
        </p:txBody>
      </p:sp>
      <p:sp>
        <p:nvSpPr>
          <p:cNvPr id="27" name="Shape 25"/>
          <p:cNvSpPr/>
          <p:nvPr/>
        </p:nvSpPr>
        <p:spPr>
          <a:xfrm>
            <a:off x="5669280" y="2276856"/>
            <a:ext cx="3017520" cy="475488"/>
          </a:xfrm>
          <a:prstGeom prst="rect">
            <a:avLst/>
          </a:prstGeom>
          <a:solidFill>
            <a:srgbClr val="FFFFFF"/>
          </a:solidFill>
          <a:ln w="12700">
            <a:solidFill>
              <a:srgbClr val="9AA8B0"/>
            </a:solidFill>
            <a:prstDash val="solid"/>
          </a:ln>
        </p:spPr>
      </p:sp>
      <p:sp>
        <p:nvSpPr>
          <p:cNvPr id="28" name="Text 26"/>
          <p:cNvSpPr txBox="1"/>
          <p:nvPr/>
        </p:nvSpPr>
        <p:spPr>
          <a:xfrm>
            <a:off x="5742432" y="2276856"/>
            <a:ext cx="2871216" cy="475488"/>
          </a:xfrm>
          <a:prstGeom prst="rect">
            <a:avLst/>
          </a:prstGeom>
          <a:noFill/>
          <a:ln/>
        </p:spPr>
        <p:txBody>
          <a:bodyPr wrap="square" lIns="0" tIns="0" rIns="0" bIns="0" rtlCol="0" anchor="ctr"/>
          <a:lstStyle/>
          <a:p>
            <a:pPr rtl="1" algn="r" indent="0" marL="0">
              <a:buNone/>
            </a:pPr>
            <a:r>
              <a:rPr lang="ar-LB" altLang="en-US" sz="1400" b="1" dirty="0">
                <a:solidFill>
                  <a:srgbClr val="1B262C"/>
                </a:solidFill>
              </a:rPr>
              <a:t>استكشاف 2: قوّة القوّة بالخيوط</a:t>
            </a:r>
            <a:endParaRPr lang="ar-LB" sz="1400" dirty="0"/>
          </a:p>
        </p:txBody>
      </p:sp>
      <p:sp>
        <p:nvSpPr>
          <p:cNvPr id="29" name="Shape 27"/>
          <p:cNvSpPr/>
          <p:nvPr/>
        </p:nvSpPr>
        <p:spPr>
          <a:xfrm>
            <a:off x="4846320" y="2276856"/>
            <a:ext cx="822960" cy="475488"/>
          </a:xfrm>
          <a:prstGeom prst="rect">
            <a:avLst/>
          </a:prstGeom>
          <a:solidFill>
            <a:srgbClr val="FFFFFF"/>
          </a:solidFill>
          <a:ln w="12700">
            <a:solidFill>
              <a:srgbClr val="9AA8B0"/>
            </a:solidFill>
            <a:prstDash val="solid"/>
          </a:ln>
        </p:spPr>
      </p:sp>
      <p:sp>
        <p:nvSpPr>
          <p:cNvPr id="30" name="Text 28"/>
          <p:cNvSpPr txBox="1"/>
          <p:nvPr/>
        </p:nvSpPr>
        <p:spPr>
          <a:xfrm>
            <a:off x="4919472" y="2276856"/>
            <a:ext cx="676656" cy="475488"/>
          </a:xfrm>
          <a:prstGeom prst="rect">
            <a:avLst/>
          </a:prstGeom>
          <a:noFill/>
          <a:ln/>
        </p:spPr>
        <p:txBody>
          <a:bodyPr wrap="square" lIns="0" tIns="0" rIns="0" bIns="0" rtlCol="0" anchor="ctr"/>
          <a:lstStyle/>
          <a:p>
            <a:pPr rtl="1" algn="ctr" indent="0" marL="0">
              <a:buNone/>
            </a:pPr>
            <a:r>
              <a:rPr lang="ar-LB" altLang="en-US" sz="1400" dirty="0">
                <a:solidFill>
                  <a:srgbClr val="1B262C"/>
                </a:solidFill>
              </a:rPr>
              <a:t>7 د</a:t>
            </a:r>
            <a:endParaRPr lang="ar-LB" sz="1400" dirty="0"/>
          </a:p>
        </p:txBody>
      </p:sp>
      <p:sp>
        <p:nvSpPr>
          <p:cNvPr id="31" name="Shape 29"/>
          <p:cNvSpPr/>
          <p:nvPr/>
        </p:nvSpPr>
        <p:spPr>
          <a:xfrm>
            <a:off x="2468880" y="2276856"/>
            <a:ext cx="2377440" cy="475488"/>
          </a:xfrm>
          <a:prstGeom prst="rect">
            <a:avLst/>
          </a:prstGeom>
          <a:solidFill>
            <a:srgbClr val="FFFFFF"/>
          </a:solidFill>
          <a:ln w="12700">
            <a:solidFill>
              <a:srgbClr val="9AA8B0"/>
            </a:solidFill>
            <a:prstDash val="solid"/>
          </a:ln>
        </p:spPr>
      </p:sp>
      <p:sp>
        <p:nvSpPr>
          <p:cNvPr id="32" name="Text 30"/>
          <p:cNvSpPr txBox="1"/>
          <p:nvPr/>
        </p:nvSpPr>
        <p:spPr>
          <a:xfrm>
            <a:off x="2542032" y="2276856"/>
            <a:ext cx="2231136" cy="475488"/>
          </a:xfrm>
          <a:prstGeom prst="rect">
            <a:avLst/>
          </a:prstGeom>
          <a:noFill/>
          <a:ln/>
        </p:spPr>
        <p:txBody>
          <a:bodyPr wrap="square" lIns="0" tIns="0" rIns="0" bIns="0" rtlCol="0" anchor="ctr"/>
          <a:lstStyle/>
          <a:p>
            <a:pPr rtl="1" algn="ctr" indent="0" marL="0">
              <a:buNone/>
            </a:pPr>
            <a:r>
              <a:rPr lang="ar-LB" altLang="en-US" sz="1400" dirty="0">
                <a:solidFill>
                  <a:srgbClr val="1B262C"/>
                </a:solidFill>
              </a:rPr>
              <a:t>النمذجة اللمسية</a:t>
            </a:r>
            <a:endParaRPr lang="ar-LB" sz="1400" dirty="0"/>
          </a:p>
        </p:txBody>
      </p:sp>
      <p:sp>
        <p:nvSpPr>
          <p:cNvPr id="33" name="Shape 31"/>
          <p:cNvSpPr/>
          <p:nvPr/>
        </p:nvSpPr>
        <p:spPr>
          <a:xfrm>
            <a:off x="457200" y="2276856"/>
            <a:ext cx="2011680" cy="475488"/>
          </a:xfrm>
          <a:prstGeom prst="rect">
            <a:avLst/>
          </a:prstGeom>
          <a:solidFill>
            <a:srgbClr val="FFFFFF"/>
          </a:solidFill>
          <a:ln w="12700">
            <a:solidFill>
              <a:srgbClr val="9AA8B0"/>
            </a:solidFill>
            <a:prstDash val="solid"/>
          </a:ln>
        </p:spPr>
      </p:sp>
      <p:sp>
        <p:nvSpPr>
          <p:cNvPr id="34" name="Text 32"/>
          <p:cNvSpPr txBox="1"/>
          <p:nvPr/>
        </p:nvSpPr>
        <p:spPr>
          <a:xfrm>
            <a:off x="530352" y="2276856"/>
            <a:ext cx="1865376" cy="475488"/>
          </a:xfrm>
          <a:prstGeom prst="rect">
            <a:avLst/>
          </a:prstGeom>
          <a:noFill/>
          <a:ln/>
        </p:spPr>
        <p:txBody>
          <a:bodyPr wrap="square" lIns="0" tIns="0" rIns="0" bIns="0" rtlCol="0" anchor="ctr"/>
          <a:lstStyle/>
          <a:p>
            <a:pPr rtl="1" algn="ctr" indent="0" marL="0">
              <a:buNone/>
            </a:pPr>
            <a:r>
              <a:rPr lang="ar-LB" altLang="en-US" sz="1400" dirty="0">
                <a:solidFill>
                  <a:srgbClr val="1B262C"/>
                </a:solidFill>
              </a:rPr>
              <a:t>خيوط وخرز</a:t>
            </a:r>
            <a:endParaRPr lang="ar-LB" sz="1400" dirty="0"/>
          </a:p>
        </p:txBody>
      </p:sp>
      <p:sp>
        <p:nvSpPr>
          <p:cNvPr id="35" name="Shape 33"/>
          <p:cNvSpPr/>
          <p:nvPr/>
        </p:nvSpPr>
        <p:spPr>
          <a:xfrm>
            <a:off x="5669280" y="2752344"/>
            <a:ext cx="3017520" cy="475488"/>
          </a:xfrm>
          <a:prstGeom prst="rect">
            <a:avLst/>
          </a:prstGeom>
          <a:solidFill>
            <a:srgbClr val="EEF4F5"/>
          </a:solidFill>
          <a:ln w="12700">
            <a:solidFill>
              <a:srgbClr val="9AA8B0"/>
            </a:solidFill>
            <a:prstDash val="solid"/>
          </a:ln>
        </p:spPr>
      </p:sp>
      <p:sp>
        <p:nvSpPr>
          <p:cNvPr id="36" name="Text 34"/>
          <p:cNvSpPr txBox="1"/>
          <p:nvPr/>
        </p:nvSpPr>
        <p:spPr>
          <a:xfrm>
            <a:off x="5742432" y="2752344"/>
            <a:ext cx="2871216" cy="475488"/>
          </a:xfrm>
          <a:prstGeom prst="rect">
            <a:avLst/>
          </a:prstGeom>
          <a:noFill/>
          <a:ln/>
        </p:spPr>
        <p:txBody>
          <a:bodyPr wrap="square" lIns="0" tIns="0" rIns="0" bIns="0" rtlCol="0" anchor="ctr"/>
          <a:lstStyle/>
          <a:p>
            <a:pPr rtl="1" algn="r" indent="0" marL="0">
              <a:buNone/>
            </a:pPr>
            <a:r>
              <a:rPr lang="ar-LB" altLang="en-US" sz="1400" b="1" dirty="0">
                <a:solidFill>
                  <a:srgbClr val="1B262C"/>
                </a:solidFill>
              </a:rPr>
              <a:t>نستنتج القاعدة</a:t>
            </a:r>
            <a:endParaRPr lang="ar-LB" sz="1400" dirty="0"/>
          </a:p>
        </p:txBody>
      </p:sp>
      <p:sp>
        <p:nvSpPr>
          <p:cNvPr id="37" name="Shape 35"/>
          <p:cNvSpPr/>
          <p:nvPr/>
        </p:nvSpPr>
        <p:spPr>
          <a:xfrm>
            <a:off x="4846320" y="2752344"/>
            <a:ext cx="822960" cy="475488"/>
          </a:xfrm>
          <a:prstGeom prst="rect">
            <a:avLst/>
          </a:prstGeom>
          <a:solidFill>
            <a:srgbClr val="EEF4F5"/>
          </a:solidFill>
          <a:ln w="12700">
            <a:solidFill>
              <a:srgbClr val="9AA8B0"/>
            </a:solidFill>
            <a:prstDash val="solid"/>
          </a:ln>
        </p:spPr>
      </p:sp>
      <p:sp>
        <p:nvSpPr>
          <p:cNvPr id="38" name="Text 36"/>
          <p:cNvSpPr txBox="1"/>
          <p:nvPr/>
        </p:nvSpPr>
        <p:spPr>
          <a:xfrm>
            <a:off x="4919472" y="2752344"/>
            <a:ext cx="676656" cy="475488"/>
          </a:xfrm>
          <a:prstGeom prst="rect">
            <a:avLst/>
          </a:prstGeom>
          <a:noFill/>
          <a:ln/>
        </p:spPr>
        <p:txBody>
          <a:bodyPr wrap="square" lIns="0" tIns="0" rIns="0" bIns="0" rtlCol="0" anchor="ctr"/>
          <a:lstStyle/>
          <a:p>
            <a:pPr rtl="1" algn="ctr" indent="0" marL="0">
              <a:buNone/>
            </a:pPr>
            <a:r>
              <a:rPr lang="ar-LB" altLang="en-US" sz="1400" dirty="0">
                <a:solidFill>
                  <a:srgbClr val="1B262C"/>
                </a:solidFill>
              </a:rPr>
              <a:t>3 د</a:t>
            </a:r>
            <a:endParaRPr lang="ar-LB" sz="1400" dirty="0"/>
          </a:p>
        </p:txBody>
      </p:sp>
      <p:sp>
        <p:nvSpPr>
          <p:cNvPr id="39" name="Shape 37"/>
          <p:cNvSpPr/>
          <p:nvPr/>
        </p:nvSpPr>
        <p:spPr>
          <a:xfrm>
            <a:off x="2468880" y="2752344"/>
            <a:ext cx="2377440" cy="475488"/>
          </a:xfrm>
          <a:prstGeom prst="rect">
            <a:avLst/>
          </a:prstGeom>
          <a:solidFill>
            <a:srgbClr val="EEF4F5"/>
          </a:solidFill>
          <a:ln w="12700">
            <a:solidFill>
              <a:srgbClr val="9AA8B0"/>
            </a:solidFill>
            <a:prstDash val="solid"/>
          </a:ln>
        </p:spPr>
      </p:sp>
      <p:sp>
        <p:nvSpPr>
          <p:cNvPr id="40" name="Text 38"/>
          <p:cNvSpPr txBox="1"/>
          <p:nvPr/>
        </p:nvSpPr>
        <p:spPr>
          <a:xfrm>
            <a:off x="2542032" y="2752344"/>
            <a:ext cx="2231136" cy="475488"/>
          </a:xfrm>
          <a:prstGeom prst="rect">
            <a:avLst/>
          </a:prstGeom>
          <a:noFill/>
          <a:ln/>
        </p:spPr>
        <p:txBody>
          <a:bodyPr wrap="square" lIns="0" tIns="0" rIns="0" bIns="0" rtlCol="0" anchor="ctr"/>
          <a:lstStyle/>
          <a:p>
            <a:pPr rtl="1" algn="ctr" indent="0" marL="0">
              <a:buNone/>
            </a:pPr>
            <a:r>
              <a:rPr lang="ar-LB" altLang="en-US" sz="1400" dirty="0">
                <a:solidFill>
                  <a:srgbClr val="1B262C"/>
                </a:solidFill>
              </a:rPr>
              <a:t>الأسئلة الموجّهة</a:t>
            </a:r>
            <a:endParaRPr lang="ar-LB" sz="1400" dirty="0"/>
          </a:p>
        </p:txBody>
      </p:sp>
      <p:sp>
        <p:nvSpPr>
          <p:cNvPr id="41" name="Shape 39"/>
          <p:cNvSpPr/>
          <p:nvPr/>
        </p:nvSpPr>
        <p:spPr>
          <a:xfrm>
            <a:off x="457200" y="2752344"/>
            <a:ext cx="2011680" cy="475488"/>
          </a:xfrm>
          <a:prstGeom prst="rect">
            <a:avLst/>
          </a:prstGeom>
          <a:solidFill>
            <a:srgbClr val="EEF4F5"/>
          </a:solidFill>
          <a:ln w="12700">
            <a:solidFill>
              <a:srgbClr val="9AA8B0"/>
            </a:solidFill>
            <a:prstDash val="solid"/>
          </a:ln>
        </p:spPr>
      </p:sp>
      <p:sp>
        <p:nvSpPr>
          <p:cNvPr id="42" name="Text 40"/>
          <p:cNvSpPr txBox="1"/>
          <p:nvPr/>
        </p:nvSpPr>
        <p:spPr>
          <a:xfrm>
            <a:off x="530352" y="2752344"/>
            <a:ext cx="1865376" cy="475488"/>
          </a:xfrm>
          <a:prstGeom prst="rect">
            <a:avLst/>
          </a:prstGeom>
          <a:noFill/>
          <a:ln/>
        </p:spPr>
        <p:txBody>
          <a:bodyPr wrap="square" lIns="0" tIns="0" rIns="0" bIns="0" rtlCol="0" anchor="ctr"/>
          <a:lstStyle/>
          <a:p>
            <a:pPr rtl="1" algn="ctr" indent="0" marL="0">
              <a:buNone/>
            </a:pPr>
            <a:r>
              <a:rPr lang="ar-LB" altLang="en-US" sz="1400" dirty="0">
                <a:solidFill>
                  <a:srgbClr val="1B262C"/>
                </a:solidFill>
              </a:rPr>
              <a:t>—</a:t>
            </a:r>
            <a:endParaRPr lang="ar-LB" sz="1400" dirty="0"/>
          </a:p>
        </p:txBody>
      </p:sp>
      <p:sp>
        <p:nvSpPr>
          <p:cNvPr id="43" name="Shape 41"/>
          <p:cNvSpPr/>
          <p:nvPr/>
        </p:nvSpPr>
        <p:spPr>
          <a:xfrm>
            <a:off x="5669280" y="3227832"/>
            <a:ext cx="3017520" cy="475488"/>
          </a:xfrm>
          <a:prstGeom prst="rect">
            <a:avLst/>
          </a:prstGeom>
          <a:solidFill>
            <a:srgbClr val="FFFFFF"/>
          </a:solidFill>
          <a:ln w="12700">
            <a:solidFill>
              <a:srgbClr val="9AA8B0"/>
            </a:solidFill>
            <a:prstDash val="solid"/>
          </a:ln>
        </p:spPr>
      </p:sp>
      <p:sp>
        <p:nvSpPr>
          <p:cNvPr id="44" name="Text 42"/>
          <p:cNvSpPr txBox="1"/>
          <p:nvPr/>
        </p:nvSpPr>
        <p:spPr>
          <a:xfrm>
            <a:off x="5742432" y="3227832"/>
            <a:ext cx="2871216" cy="475488"/>
          </a:xfrm>
          <a:prstGeom prst="rect">
            <a:avLst/>
          </a:prstGeom>
          <a:noFill/>
          <a:ln/>
        </p:spPr>
        <p:txBody>
          <a:bodyPr wrap="square" lIns="0" tIns="0" rIns="0" bIns="0" rtlCol="0" anchor="ctr"/>
          <a:lstStyle/>
          <a:p>
            <a:pPr rtl="1" algn="r" indent="0" marL="0">
              <a:buNone/>
            </a:pPr>
            <a:r>
              <a:rPr lang="ar-LB" altLang="en-US" sz="1400" b="1" dirty="0">
                <a:solidFill>
                  <a:srgbClr val="1B262C"/>
                </a:solidFill>
              </a:rPr>
              <a:t>تطبيق تمايزي: 3 مجموعات</a:t>
            </a:r>
            <a:endParaRPr lang="ar-LB" sz="1400" dirty="0"/>
          </a:p>
        </p:txBody>
      </p:sp>
      <p:sp>
        <p:nvSpPr>
          <p:cNvPr id="45" name="Shape 43"/>
          <p:cNvSpPr/>
          <p:nvPr/>
        </p:nvSpPr>
        <p:spPr>
          <a:xfrm>
            <a:off x="4846320" y="3227832"/>
            <a:ext cx="822960" cy="475488"/>
          </a:xfrm>
          <a:prstGeom prst="rect">
            <a:avLst/>
          </a:prstGeom>
          <a:solidFill>
            <a:srgbClr val="FFFFFF"/>
          </a:solidFill>
          <a:ln w="12700">
            <a:solidFill>
              <a:srgbClr val="9AA8B0"/>
            </a:solidFill>
            <a:prstDash val="solid"/>
          </a:ln>
        </p:spPr>
      </p:sp>
      <p:sp>
        <p:nvSpPr>
          <p:cNvPr id="46" name="Text 44"/>
          <p:cNvSpPr txBox="1"/>
          <p:nvPr/>
        </p:nvSpPr>
        <p:spPr>
          <a:xfrm>
            <a:off x="4919472" y="3227832"/>
            <a:ext cx="676656" cy="475488"/>
          </a:xfrm>
          <a:prstGeom prst="rect">
            <a:avLst/>
          </a:prstGeom>
          <a:noFill/>
          <a:ln/>
        </p:spPr>
        <p:txBody>
          <a:bodyPr wrap="square" lIns="0" tIns="0" rIns="0" bIns="0" rtlCol="0" anchor="ctr"/>
          <a:lstStyle/>
          <a:p>
            <a:pPr rtl="1" algn="ctr" indent="0" marL="0">
              <a:buNone/>
            </a:pPr>
            <a:r>
              <a:rPr lang="ar-LB" altLang="en-US" sz="1400" dirty="0">
                <a:solidFill>
                  <a:srgbClr val="1B262C"/>
                </a:solidFill>
              </a:rPr>
              <a:t>13 د</a:t>
            </a:r>
            <a:endParaRPr lang="ar-LB" sz="1400" dirty="0"/>
          </a:p>
        </p:txBody>
      </p:sp>
      <p:sp>
        <p:nvSpPr>
          <p:cNvPr id="47" name="Shape 45"/>
          <p:cNvSpPr/>
          <p:nvPr/>
        </p:nvSpPr>
        <p:spPr>
          <a:xfrm>
            <a:off x="2468880" y="3227832"/>
            <a:ext cx="2377440" cy="475488"/>
          </a:xfrm>
          <a:prstGeom prst="rect">
            <a:avLst/>
          </a:prstGeom>
          <a:solidFill>
            <a:srgbClr val="FFFFFF"/>
          </a:solidFill>
          <a:ln w="12700">
            <a:solidFill>
              <a:srgbClr val="9AA8B0"/>
            </a:solidFill>
            <a:prstDash val="solid"/>
          </a:ln>
        </p:spPr>
      </p:sp>
      <p:sp>
        <p:nvSpPr>
          <p:cNvPr id="48" name="Text 46"/>
          <p:cNvSpPr txBox="1"/>
          <p:nvPr/>
        </p:nvSpPr>
        <p:spPr>
          <a:xfrm>
            <a:off x="2542032" y="3227832"/>
            <a:ext cx="2231136" cy="475488"/>
          </a:xfrm>
          <a:prstGeom prst="rect">
            <a:avLst/>
          </a:prstGeom>
          <a:noFill/>
          <a:ln/>
        </p:spPr>
        <p:txBody>
          <a:bodyPr wrap="square" lIns="0" tIns="0" rIns="0" bIns="0" rtlCol="0" anchor="ctr"/>
          <a:lstStyle/>
          <a:p>
            <a:pPr rtl="1" algn="ctr" indent="0" marL="0">
              <a:buNone/>
            </a:pPr>
            <a:r>
              <a:rPr lang="ar-LB" altLang="en-US" sz="1400" dirty="0">
                <a:solidFill>
                  <a:srgbClr val="1B262C"/>
                </a:solidFill>
              </a:rPr>
              <a:t>تعاوني بالأدوار</a:t>
            </a:r>
            <a:endParaRPr lang="ar-LB" sz="1400" dirty="0"/>
          </a:p>
        </p:txBody>
      </p:sp>
      <p:sp>
        <p:nvSpPr>
          <p:cNvPr id="49" name="Shape 47"/>
          <p:cNvSpPr/>
          <p:nvPr/>
        </p:nvSpPr>
        <p:spPr>
          <a:xfrm>
            <a:off x="457200" y="3227832"/>
            <a:ext cx="2011680" cy="475488"/>
          </a:xfrm>
          <a:prstGeom prst="rect">
            <a:avLst/>
          </a:prstGeom>
          <a:solidFill>
            <a:srgbClr val="FFFFFF"/>
          </a:solidFill>
          <a:ln w="12700">
            <a:solidFill>
              <a:srgbClr val="9AA8B0"/>
            </a:solidFill>
            <a:prstDash val="solid"/>
          </a:ln>
        </p:spPr>
      </p:sp>
      <p:sp>
        <p:nvSpPr>
          <p:cNvPr id="50" name="Text 48"/>
          <p:cNvSpPr txBox="1"/>
          <p:nvPr/>
        </p:nvSpPr>
        <p:spPr>
          <a:xfrm>
            <a:off x="530352" y="3227832"/>
            <a:ext cx="1865376" cy="475488"/>
          </a:xfrm>
          <a:prstGeom prst="rect">
            <a:avLst/>
          </a:prstGeom>
          <a:noFill/>
          <a:ln/>
        </p:spPr>
        <p:txBody>
          <a:bodyPr wrap="square" lIns="0" tIns="0" rIns="0" bIns="0" rtlCol="0" anchor="ctr"/>
          <a:lstStyle/>
          <a:p>
            <a:pPr rtl="1" algn="ctr" indent="0" marL="0">
              <a:buNone/>
            </a:pPr>
            <a:r>
              <a:rPr lang="ar-LB" altLang="en-US" sz="1400" dirty="0">
                <a:solidFill>
                  <a:srgbClr val="1B262C"/>
                </a:solidFill>
              </a:rPr>
              <a:t>بطاقات برايل، مكعّبات</a:t>
            </a:r>
            <a:endParaRPr lang="ar-LB" sz="1400" dirty="0"/>
          </a:p>
        </p:txBody>
      </p:sp>
      <p:sp>
        <p:nvSpPr>
          <p:cNvPr id="51" name="Shape 49"/>
          <p:cNvSpPr/>
          <p:nvPr/>
        </p:nvSpPr>
        <p:spPr>
          <a:xfrm>
            <a:off x="5669280" y="3703320"/>
            <a:ext cx="3017520" cy="475488"/>
          </a:xfrm>
          <a:prstGeom prst="rect">
            <a:avLst/>
          </a:prstGeom>
          <a:solidFill>
            <a:srgbClr val="EEF4F5"/>
          </a:solidFill>
          <a:ln w="12700">
            <a:solidFill>
              <a:srgbClr val="9AA8B0"/>
            </a:solidFill>
            <a:prstDash val="solid"/>
          </a:ln>
        </p:spPr>
      </p:sp>
      <p:sp>
        <p:nvSpPr>
          <p:cNvPr id="52" name="Text 50"/>
          <p:cNvSpPr txBox="1"/>
          <p:nvPr/>
        </p:nvSpPr>
        <p:spPr>
          <a:xfrm>
            <a:off x="5742432" y="3703320"/>
            <a:ext cx="2871216" cy="475488"/>
          </a:xfrm>
          <a:prstGeom prst="rect">
            <a:avLst/>
          </a:prstGeom>
          <a:noFill/>
          <a:ln/>
        </p:spPr>
        <p:txBody>
          <a:bodyPr wrap="square" lIns="0" tIns="0" rIns="0" bIns="0" rtlCol="0" anchor="ctr"/>
          <a:lstStyle/>
          <a:p>
            <a:pPr rtl="1" algn="r" indent="0" marL="0">
              <a:buNone/>
            </a:pPr>
            <a:r>
              <a:rPr lang="ar-LB" altLang="en-US" sz="1400" b="1" dirty="0">
                <a:solidFill>
                  <a:srgbClr val="1B262C"/>
                </a:solidFill>
              </a:rPr>
              <a:t>تقييم وتناقل المعرفة</a:t>
            </a:r>
            <a:endParaRPr lang="ar-LB" sz="1400" dirty="0"/>
          </a:p>
        </p:txBody>
      </p:sp>
      <p:sp>
        <p:nvSpPr>
          <p:cNvPr id="53" name="Shape 51"/>
          <p:cNvSpPr/>
          <p:nvPr/>
        </p:nvSpPr>
        <p:spPr>
          <a:xfrm>
            <a:off x="4846320" y="3703320"/>
            <a:ext cx="822960" cy="475488"/>
          </a:xfrm>
          <a:prstGeom prst="rect">
            <a:avLst/>
          </a:prstGeom>
          <a:solidFill>
            <a:srgbClr val="EEF4F5"/>
          </a:solidFill>
          <a:ln w="12700">
            <a:solidFill>
              <a:srgbClr val="9AA8B0"/>
            </a:solidFill>
            <a:prstDash val="solid"/>
          </a:ln>
        </p:spPr>
      </p:sp>
      <p:sp>
        <p:nvSpPr>
          <p:cNvPr id="54" name="Text 52"/>
          <p:cNvSpPr txBox="1"/>
          <p:nvPr/>
        </p:nvSpPr>
        <p:spPr>
          <a:xfrm>
            <a:off x="4919472" y="3703320"/>
            <a:ext cx="676656" cy="475488"/>
          </a:xfrm>
          <a:prstGeom prst="rect">
            <a:avLst/>
          </a:prstGeom>
          <a:noFill/>
          <a:ln/>
        </p:spPr>
        <p:txBody>
          <a:bodyPr wrap="square" lIns="0" tIns="0" rIns="0" bIns="0" rtlCol="0" anchor="ctr"/>
          <a:lstStyle/>
          <a:p>
            <a:pPr rtl="1" algn="ctr" indent="0" marL="0">
              <a:buNone/>
            </a:pPr>
            <a:r>
              <a:rPr lang="ar-LB" altLang="en-US" sz="1400" dirty="0">
                <a:solidFill>
                  <a:srgbClr val="1B262C"/>
                </a:solidFill>
              </a:rPr>
              <a:t>7 د</a:t>
            </a:r>
            <a:endParaRPr lang="ar-LB" sz="1400" dirty="0"/>
          </a:p>
        </p:txBody>
      </p:sp>
      <p:sp>
        <p:nvSpPr>
          <p:cNvPr id="55" name="Shape 53"/>
          <p:cNvSpPr/>
          <p:nvPr/>
        </p:nvSpPr>
        <p:spPr>
          <a:xfrm>
            <a:off x="2468880" y="3703320"/>
            <a:ext cx="2377440" cy="475488"/>
          </a:xfrm>
          <a:prstGeom prst="rect">
            <a:avLst/>
          </a:prstGeom>
          <a:solidFill>
            <a:srgbClr val="EEF4F5"/>
          </a:solidFill>
          <a:ln w="12700">
            <a:solidFill>
              <a:srgbClr val="9AA8B0"/>
            </a:solidFill>
            <a:prstDash val="solid"/>
          </a:ln>
        </p:spPr>
      </p:sp>
      <p:sp>
        <p:nvSpPr>
          <p:cNvPr id="56" name="Text 54"/>
          <p:cNvSpPr txBox="1"/>
          <p:nvPr/>
        </p:nvSpPr>
        <p:spPr>
          <a:xfrm>
            <a:off x="2542032" y="3703320"/>
            <a:ext cx="2231136" cy="475488"/>
          </a:xfrm>
          <a:prstGeom prst="rect">
            <a:avLst/>
          </a:prstGeom>
          <a:noFill/>
          <a:ln/>
        </p:spPr>
        <p:txBody>
          <a:bodyPr wrap="square" lIns="0" tIns="0" rIns="0" bIns="0" rtlCol="0" anchor="ctr"/>
          <a:lstStyle/>
          <a:p>
            <a:pPr rtl="1" algn="ctr" indent="0" marL="0">
              <a:buNone/>
            </a:pPr>
            <a:r>
              <a:rPr lang="ar-LB" altLang="en-US" sz="1400" dirty="0">
                <a:solidFill>
                  <a:srgbClr val="1B262C"/>
                </a:solidFill>
              </a:rPr>
              <a:t>اسأل ثلاثة قبل المعلم</a:t>
            </a:r>
            <a:endParaRPr lang="ar-LB" sz="1400" dirty="0"/>
          </a:p>
        </p:txBody>
      </p:sp>
      <p:sp>
        <p:nvSpPr>
          <p:cNvPr id="57" name="Shape 55"/>
          <p:cNvSpPr/>
          <p:nvPr/>
        </p:nvSpPr>
        <p:spPr>
          <a:xfrm>
            <a:off x="457200" y="3703320"/>
            <a:ext cx="2011680" cy="475488"/>
          </a:xfrm>
          <a:prstGeom prst="rect">
            <a:avLst/>
          </a:prstGeom>
          <a:solidFill>
            <a:srgbClr val="EEF4F5"/>
          </a:solidFill>
          <a:ln w="12700">
            <a:solidFill>
              <a:srgbClr val="9AA8B0"/>
            </a:solidFill>
            <a:prstDash val="solid"/>
          </a:ln>
        </p:spPr>
      </p:sp>
      <p:sp>
        <p:nvSpPr>
          <p:cNvPr id="58" name="Text 56"/>
          <p:cNvSpPr txBox="1"/>
          <p:nvPr/>
        </p:nvSpPr>
        <p:spPr>
          <a:xfrm>
            <a:off x="530352" y="3703320"/>
            <a:ext cx="1865376" cy="475488"/>
          </a:xfrm>
          <a:prstGeom prst="rect">
            <a:avLst/>
          </a:prstGeom>
          <a:noFill/>
          <a:ln/>
        </p:spPr>
        <p:txBody>
          <a:bodyPr wrap="square" lIns="0" tIns="0" rIns="0" bIns="0" rtlCol="0" anchor="ctr"/>
          <a:lstStyle/>
          <a:p>
            <a:pPr rtl="1" algn="ctr" indent="0" marL="0">
              <a:buNone/>
            </a:pPr>
            <a:r>
              <a:rPr lang="ar-LB" altLang="en-US" sz="1400" dirty="0">
                <a:solidFill>
                  <a:srgbClr val="1B262C"/>
                </a:solidFill>
              </a:rPr>
              <a:t>بطاقة التقييم</a:t>
            </a:r>
            <a:endParaRPr lang="ar-LB" sz="1400" dirty="0"/>
          </a:p>
        </p:txBody>
      </p:sp>
      <p:sp>
        <p:nvSpPr>
          <p:cNvPr id="59" name="Shape 57"/>
          <p:cNvSpPr/>
          <p:nvPr/>
        </p:nvSpPr>
        <p:spPr>
          <a:xfrm>
            <a:off x="5669280" y="4178808"/>
            <a:ext cx="3017520" cy="475488"/>
          </a:xfrm>
          <a:prstGeom prst="rect">
            <a:avLst/>
          </a:prstGeom>
          <a:solidFill>
            <a:srgbClr val="FFFFFF"/>
          </a:solidFill>
          <a:ln w="12700">
            <a:solidFill>
              <a:srgbClr val="9AA8B0"/>
            </a:solidFill>
            <a:prstDash val="solid"/>
          </a:ln>
        </p:spPr>
      </p:sp>
      <p:sp>
        <p:nvSpPr>
          <p:cNvPr id="60" name="Text 58"/>
          <p:cNvSpPr txBox="1"/>
          <p:nvPr/>
        </p:nvSpPr>
        <p:spPr>
          <a:xfrm>
            <a:off x="5742432" y="4178808"/>
            <a:ext cx="2871216" cy="475488"/>
          </a:xfrm>
          <a:prstGeom prst="rect">
            <a:avLst/>
          </a:prstGeom>
          <a:noFill/>
          <a:ln/>
        </p:spPr>
        <p:txBody>
          <a:bodyPr wrap="square" lIns="0" tIns="0" rIns="0" bIns="0" rtlCol="0" anchor="ctr"/>
          <a:lstStyle/>
          <a:p>
            <a:pPr rtl="1" algn="r" indent="0" marL="0">
              <a:buNone/>
            </a:pPr>
            <a:r>
              <a:rPr lang="ar-LB" altLang="en-US" sz="1400" b="1" dirty="0">
                <a:solidFill>
                  <a:srgbClr val="1B262C"/>
                </a:solidFill>
              </a:rPr>
              <a:t>ختام وتقويم ذاتي</a:t>
            </a:r>
            <a:endParaRPr lang="ar-LB" sz="1400" dirty="0"/>
          </a:p>
        </p:txBody>
      </p:sp>
      <p:sp>
        <p:nvSpPr>
          <p:cNvPr id="61" name="Shape 59"/>
          <p:cNvSpPr/>
          <p:nvPr/>
        </p:nvSpPr>
        <p:spPr>
          <a:xfrm>
            <a:off x="4846320" y="4178808"/>
            <a:ext cx="822960" cy="475488"/>
          </a:xfrm>
          <a:prstGeom prst="rect">
            <a:avLst/>
          </a:prstGeom>
          <a:solidFill>
            <a:srgbClr val="FFFFFF"/>
          </a:solidFill>
          <a:ln w="12700">
            <a:solidFill>
              <a:srgbClr val="9AA8B0"/>
            </a:solidFill>
            <a:prstDash val="solid"/>
          </a:ln>
        </p:spPr>
      </p:sp>
      <p:sp>
        <p:nvSpPr>
          <p:cNvPr id="62" name="Text 60"/>
          <p:cNvSpPr txBox="1"/>
          <p:nvPr/>
        </p:nvSpPr>
        <p:spPr>
          <a:xfrm>
            <a:off x="4919472" y="4178808"/>
            <a:ext cx="676656" cy="475488"/>
          </a:xfrm>
          <a:prstGeom prst="rect">
            <a:avLst/>
          </a:prstGeom>
          <a:noFill/>
          <a:ln/>
        </p:spPr>
        <p:txBody>
          <a:bodyPr wrap="square" lIns="0" tIns="0" rIns="0" bIns="0" rtlCol="0" anchor="ctr"/>
          <a:lstStyle/>
          <a:p>
            <a:pPr rtl="1" algn="ctr" indent="0" marL="0">
              <a:buNone/>
            </a:pPr>
            <a:r>
              <a:rPr lang="ar-LB" altLang="en-US" sz="1400" dirty="0">
                <a:solidFill>
                  <a:srgbClr val="1B262C"/>
                </a:solidFill>
              </a:rPr>
              <a:t>2 د</a:t>
            </a:r>
            <a:endParaRPr lang="ar-LB" sz="1400" dirty="0"/>
          </a:p>
        </p:txBody>
      </p:sp>
      <p:sp>
        <p:nvSpPr>
          <p:cNvPr id="63" name="Shape 61"/>
          <p:cNvSpPr/>
          <p:nvPr/>
        </p:nvSpPr>
        <p:spPr>
          <a:xfrm>
            <a:off x="2468880" y="4178808"/>
            <a:ext cx="2377440" cy="475488"/>
          </a:xfrm>
          <a:prstGeom prst="rect">
            <a:avLst/>
          </a:prstGeom>
          <a:solidFill>
            <a:srgbClr val="FFFFFF"/>
          </a:solidFill>
          <a:ln w="12700">
            <a:solidFill>
              <a:srgbClr val="9AA8B0"/>
            </a:solidFill>
            <a:prstDash val="solid"/>
          </a:ln>
        </p:spPr>
      </p:sp>
      <p:sp>
        <p:nvSpPr>
          <p:cNvPr id="64" name="Text 62"/>
          <p:cNvSpPr txBox="1"/>
          <p:nvPr/>
        </p:nvSpPr>
        <p:spPr>
          <a:xfrm>
            <a:off x="2542032" y="4178808"/>
            <a:ext cx="2231136" cy="475488"/>
          </a:xfrm>
          <a:prstGeom prst="rect">
            <a:avLst/>
          </a:prstGeom>
          <a:noFill/>
          <a:ln/>
        </p:spPr>
        <p:txBody>
          <a:bodyPr wrap="square" lIns="0" tIns="0" rIns="0" bIns="0" rtlCol="0" anchor="ctr"/>
          <a:lstStyle/>
          <a:p>
            <a:pPr rtl="1" algn="ctr" indent="0" marL="0">
              <a:buNone/>
            </a:pPr>
            <a:r>
              <a:rPr lang="ar-LB" altLang="en-US" sz="1400" dirty="0">
                <a:solidFill>
                  <a:srgbClr val="1B262C"/>
                </a:solidFill>
              </a:rPr>
              <a:t>الإبهام</a:t>
            </a:r>
            <a:endParaRPr lang="ar-LB" sz="1400" dirty="0"/>
          </a:p>
        </p:txBody>
      </p:sp>
      <p:sp>
        <p:nvSpPr>
          <p:cNvPr id="65" name="Shape 63"/>
          <p:cNvSpPr/>
          <p:nvPr/>
        </p:nvSpPr>
        <p:spPr>
          <a:xfrm>
            <a:off x="457200" y="4178808"/>
            <a:ext cx="2011680" cy="475488"/>
          </a:xfrm>
          <a:prstGeom prst="rect">
            <a:avLst/>
          </a:prstGeom>
          <a:solidFill>
            <a:srgbClr val="FFFFFF"/>
          </a:solidFill>
          <a:ln w="12700">
            <a:solidFill>
              <a:srgbClr val="9AA8B0"/>
            </a:solidFill>
            <a:prstDash val="solid"/>
          </a:ln>
        </p:spPr>
      </p:sp>
      <p:sp>
        <p:nvSpPr>
          <p:cNvPr id="66" name="Text 64"/>
          <p:cNvSpPr txBox="1"/>
          <p:nvPr/>
        </p:nvSpPr>
        <p:spPr>
          <a:xfrm>
            <a:off x="530352" y="4178808"/>
            <a:ext cx="1865376" cy="475488"/>
          </a:xfrm>
          <a:prstGeom prst="rect">
            <a:avLst/>
          </a:prstGeom>
          <a:noFill/>
          <a:ln/>
        </p:spPr>
        <p:txBody>
          <a:bodyPr wrap="square" lIns="0" tIns="0" rIns="0" bIns="0" rtlCol="0" anchor="ctr"/>
          <a:lstStyle/>
          <a:p>
            <a:pPr rtl="1" algn="ctr" indent="0" marL="0">
              <a:buNone/>
            </a:pPr>
            <a:r>
              <a:rPr lang="ar-LB" altLang="en-US" sz="1400" dirty="0">
                <a:solidFill>
                  <a:srgbClr val="1B262C"/>
                </a:solidFill>
              </a:rPr>
              <a:t>—</a:t>
            </a:r>
            <a:endParaRPr lang="ar-LB" sz="14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000" b="1" dirty="0">
                <a:solidFill>
                  <a:srgbClr val="0F4C5C"/>
                </a:solidFill>
              </a:rPr>
              <a:t>الأهداف والتحضير قبل الحصة</a:t>
            </a:r>
            <a:endParaRPr lang="en-US" sz="3000" dirty="0"/>
          </a:p>
        </p:txBody>
      </p:sp>
      <p:sp>
        <p:nvSpPr>
          <p:cNvPr id="3" name="Shape 1"/>
          <p:cNvSpPr/>
          <p:nvPr/>
        </p:nvSpPr>
        <p:spPr>
          <a:xfrm>
            <a:off x="457200" y="914400"/>
            <a:ext cx="5806440" cy="1737360"/>
          </a:xfrm>
          <a:prstGeom prst="roundRect">
            <a:avLst>
              <a:gd name="adj" fmla="val 5263"/>
            </a:avLst>
          </a:prstGeom>
          <a:solidFill>
            <a:srgbClr val="0B6E70">
              <a:alpha val="10000"/>
            </a:srgbClr>
          </a:solidFill>
          <a:ln w="19050">
            <a:solidFill>
              <a:srgbClr val="0B6E70"/>
            </a:solidFill>
            <a:prstDash val="solid"/>
          </a:ln>
        </p:spPr>
      </p:sp>
      <p:sp>
        <p:nvSpPr>
          <p:cNvPr id="4" name="Shape 2"/>
          <p:cNvSpPr/>
          <p:nvPr/>
        </p:nvSpPr>
        <p:spPr>
          <a:xfrm>
            <a:off x="5760720" y="1005840"/>
            <a:ext cx="384048" cy="384048"/>
          </a:xfrm>
          <a:prstGeom prst="ellipse">
            <a:avLst/>
          </a:prstGeom>
          <a:solidFill>
            <a:srgbClr val="0B6E70"/>
          </a:solidFill>
          <a:ln w="12700">
            <a:solidFill>
              <a:srgbClr val="0B6E70"/>
            </a:solidFill>
            <a:prstDash val="solid"/>
          </a:ln>
        </p:spPr>
      </p:sp>
      <p:pic>
        <p:nvPicPr>
          <p:cNvPr id="5" name="Image 0" descr="أيقونة يد: نشاط لمسي">    </p:cNvPr>
          <p:cNvPicPr>
            <a:picLocks noChangeAspect="1"/>
          </p:cNvPicPr>
          <p:nvPr/>
        </p:nvPicPr>
        <p:blipFill>
          <a:blip r:embed="rId1"/>
          <a:stretch>
            <a:fillRect/>
          </a:stretch>
        </p:blipFill>
        <p:spPr>
          <a:xfrm>
            <a:off x="5852892" y="1098012"/>
            <a:ext cx="199705" cy="199705"/>
          </a:xfrm>
          <a:prstGeom prst="rect">
            <a:avLst/>
          </a:prstGeom>
        </p:spPr>
      </p:pic>
      <p:sp>
        <p:nvSpPr>
          <p:cNvPr id="6" name="Text 3"/>
          <p:cNvSpPr txBox="1"/>
          <p:nvPr/>
        </p:nvSpPr>
        <p:spPr>
          <a:xfrm>
            <a:off x="548640" y="987552"/>
            <a:ext cx="5120640" cy="411480"/>
          </a:xfrm>
          <a:prstGeom prst="rect">
            <a:avLst/>
          </a:prstGeom>
          <a:noFill/>
          <a:ln/>
        </p:spPr>
        <p:txBody>
          <a:bodyPr wrap="square" lIns="0" tIns="0" rIns="0" bIns="0" rtlCol="0" anchor="ctr"/>
          <a:lstStyle/>
          <a:p>
            <a:pPr rtl="1" algn="r" indent="0" marL="0">
              <a:buNone/>
            </a:pPr>
            <a:r>
              <a:rPr lang="ar-LB" altLang="en-US" sz="1600" b="1" dirty="0">
                <a:solidFill>
                  <a:srgbClr val="0B6E70"/>
                </a:solidFill>
              </a:rPr>
              <a:t>أهداف الحصة: أن يكون الطالب قادرًا على أن</a:t>
            </a:r>
            <a:endParaRPr lang="ar-LB" sz="1600" dirty="0"/>
          </a:p>
        </p:txBody>
      </p:sp>
      <p:sp>
        <p:nvSpPr>
          <p:cNvPr id="7" name="Text 4"/>
          <p:cNvSpPr txBox="1"/>
          <p:nvPr/>
        </p:nvSpPr>
        <p:spPr>
          <a:xfrm>
            <a:off x="594360" y="1389888"/>
            <a:ext cx="5532120" cy="1216152"/>
          </a:xfrm>
          <a:prstGeom prst="rect">
            <a:avLst/>
          </a:prstGeom>
          <a:noFill/>
          <a:ln/>
        </p:spPr>
        <p:txBody>
          <a:bodyPr wrap="square" lIns="0" tIns="0" rIns="0" bIns="0" rtlCol="0" anchor="t"/>
          <a:lstStyle/>
          <a:p>
            <a:pPr rtl="1" algn="r" indent="0" marL="0">
              <a:spcAft>
                <a:spcPts val="300"/>
              </a:spcAft>
              <a:buNone/>
            </a:pPr>
            <a:r>
              <a:rPr lang="ar-LB" altLang="en-US" sz="1500" dirty="0">
                <a:solidFill>
                  <a:srgbClr val="1B262C"/>
                </a:solidFill>
              </a:rPr>
              <a:t>1. يفرّق بين القوّة (ضرب متكرر) والضرب (جمع متكرر).</a:t>
            </a:r>
            <a:endParaRPr lang="ar-LB" sz="1500" dirty="0"/>
          </a:p>
          <a:p>
            <a:pPr rtl="1" algn="r" indent="0" marL="0">
              <a:spcAft>
                <a:spcPts val="300"/>
              </a:spcAft>
              <a:buNone/>
            </a:pPr>
            <a:r>
              <a:rPr lang="ar-LB" altLang="en-US" sz="1500" dirty="0">
                <a:solidFill>
                  <a:srgbClr val="1B262C"/>
                </a:solidFill>
              </a:rPr>
              <a:t>2. يستخدم الترميز: يقرأ القوّة ويكتبها بالبرايل أو بالكلمات.</a:t>
            </a:r>
            <a:endParaRPr lang="ar-LB" sz="1500" dirty="0"/>
          </a:p>
          <a:p>
            <a:pPr rtl="1" algn="r" indent="0" marL="0">
              <a:spcAft>
                <a:spcPts val="300"/>
              </a:spcAft>
              <a:buNone/>
            </a:pPr>
            <a:r>
              <a:rPr lang="ar-LB" altLang="en-US" sz="1500" dirty="0">
                <a:solidFill>
                  <a:srgbClr val="1B262C"/>
                </a:solidFill>
              </a:rPr>
              <a:t>3. يحسب قوّة القوّة لعدد.</a:t>
            </a:r>
            <a:endParaRPr lang="ar-LB" sz="1500" dirty="0"/>
          </a:p>
        </p:txBody>
      </p:sp>
      <p:sp>
        <p:nvSpPr>
          <p:cNvPr id="8" name="Shape 5"/>
          <p:cNvSpPr/>
          <p:nvPr/>
        </p:nvSpPr>
        <p:spPr>
          <a:xfrm>
            <a:off x="457200" y="2743200"/>
            <a:ext cx="5806440" cy="1920240"/>
          </a:xfrm>
          <a:prstGeom prst="roundRect">
            <a:avLst>
              <a:gd name="adj" fmla="val 4762"/>
            </a:avLst>
          </a:prstGeom>
          <a:solidFill>
            <a:srgbClr val="1F7A45">
              <a:alpha val="10000"/>
            </a:srgbClr>
          </a:solidFill>
          <a:ln w="19050">
            <a:solidFill>
              <a:srgbClr val="1F7A45"/>
            </a:solidFill>
            <a:prstDash val="solid"/>
          </a:ln>
        </p:spPr>
      </p:sp>
      <p:sp>
        <p:nvSpPr>
          <p:cNvPr id="9" name="Shape 6"/>
          <p:cNvSpPr/>
          <p:nvPr/>
        </p:nvSpPr>
        <p:spPr>
          <a:xfrm>
            <a:off x="5760720" y="2834640"/>
            <a:ext cx="384048" cy="384048"/>
          </a:xfrm>
          <a:prstGeom prst="ellipse">
            <a:avLst/>
          </a:prstGeom>
          <a:solidFill>
            <a:srgbClr val="1F7A45"/>
          </a:solidFill>
          <a:ln w="12700">
            <a:solidFill>
              <a:srgbClr val="1F7A45"/>
            </a:solidFill>
            <a:prstDash val="solid"/>
          </a:ln>
        </p:spPr>
      </p:sp>
      <p:pic>
        <p:nvPicPr>
          <p:cNvPr id="10" name="Image 1" descr="أيقونة يد: نشاط لمسي">    </p:cNvPr>
          <p:cNvPicPr>
            <a:picLocks noChangeAspect="1"/>
          </p:cNvPicPr>
          <p:nvPr/>
        </p:nvPicPr>
        <p:blipFill>
          <a:blip r:embed="rId2"/>
          <a:stretch>
            <a:fillRect/>
          </a:stretch>
        </p:blipFill>
        <p:spPr>
          <a:xfrm>
            <a:off x="5852892" y="2926812"/>
            <a:ext cx="199705" cy="199705"/>
          </a:xfrm>
          <a:prstGeom prst="rect">
            <a:avLst/>
          </a:prstGeom>
        </p:spPr>
      </p:pic>
      <p:sp>
        <p:nvSpPr>
          <p:cNvPr id="11" name="Text 7"/>
          <p:cNvSpPr txBox="1"/>
          <p:nvPr/>
        </p:nvSpPr>
        <p:spPr>
          <a:xfrm>
            <a:off x="548640" y="2816352"/>
            <a:ext cx="5120640" cy="411480"/>
          </a:xfrm>
          <a:prstGeom prst="rect">
            <a:avLst/>
          </a:prstGeom>
          <a:noFill/>
          <a:ln/>
        </p:spPr>
        <p:txBody>
          <a:bodyPr wrap="square" lIns="0" tIns="0" rIns="0" bIns="0" rtlCol="0" anchor="ctr"/>
          <a:lstStyle/>
          <a:p>
            <a:pPr rtl="1" algn="r" indent="0" marL="0">
              <a:buNone/>
            </a:pPr>
            <a:r>
              <a:rPr lang="ar-LB" altLang="en-US" sz="1600" b="1" dirty="0">
                <a:solidFill>
                  <a:srgbClr val="1F7A45"/>
                </a:solidFill>
              </a:rPr>
              <a:t>حضّر لكل زوج من الطلاب</a:t>
            </a:r>
            <a:endParaRPr lang="ar-LB" sz="1600" dirty="0"/>
          </a:p>
        </p:txBody>
      </p:sp>
      <p:sp>
        <p:nvSpPr>
          <p:cNvPr id="12" name="Text 8"/>
          <p:cNvSpPr txBox="1"/>
          <p:nvPr/>
        </p:nvSpPr>
        <p:spPr>
          <a:xfrm>
            <a:off x="594360" y="3218688"/>
            <a:ext cx="5532120" cy="1399032"/>
          </a:xfrm>
          <a:prstGeom prst="rect">
            <a:avLst/>
          </a:prstGeom>
          <a:noFill/>
          <a:ln/>
        </p:spPr>
        <p:txBody>
          <a:bodyPr wrap="square" lIns="0" tIns="0" rIns="0" bIns="0" rtlCol="0" anchor="t"/>
          <a:lstStyle/>
          <a:p>
            <a:pPr rtl="1" algn="r" indent="0" marL="0">
              <a:spcAft>
                <a:spcPts val="300"/>
              </a:spcAft>
              <a:buNone/>
            </a:pPr>
            <a:r>
              <a:rPr lang="ar-LB" altLang="en-US" sz="1500" dirty="0">
                <a:solidFill>
                  <a:srgbClr val="1B262C"/>
                </a:solidFill>
              </a:rPr>
              <a:t>3 خيوط معقودة الطرف و12 خرزة كبيرة، وورقتا A4.</a:t>
            </a:r>
            <a:endParaRPr lang="ar-LB" sz="1500" dirty="0"/>
          </a:p>
          <a:p>
            <a:pPr rtl="1" algn="r" indent="0" marL="0">
              <a:spcAft>
                <a:spcPts val="300"/>
              </a:spcAft>
              <a:buNone/>
            </a:pPr>
            <a:r>
              <a:rPr lang="ar-LB" altLang="en-US" sz="1500" dirty="0">
                <a:solidFill>
                  <a:srgbClr val="1B262C"/>
                </a:solidFill>
              </a:rPr>
              <a:t>20 مكعّبًا متداخلًا، وبطاقة التقييم بالبرايل لكل طالب.</a:t>
            </a:r>
            <a:endParaRPr lang="ar-LB" sz="1500" dirty="0"/>
          </a:p>
          <a:p>
            <a:pPr rtl="1" algn="r" indent="0" marL="0">
              <a:spcAft>
                <a:spcPts val="300"/>
              </a:spcAft>
              <a:buNone/>
            </a:pPr>
            <a:r>
              <a:rPr lang="ar-LB" altLang="en-US" sz="1500" dirty="0">
                <a:solidFill>
                  <a:srgbClr val="1B262C"/>
                </a:solidFill>
              </a:rPr>
              <a:t>شارات بارزة: دائرة، مربّع، مثلث، وشارة «خبير».</a:t>
            </a:r>
            <a:endParaRPr lang="ar-LB" sz="1500" dirty="0"/>
          </a:p>
        </p:txBody>
      </p:sp>
      <p:sp>
        <p:nvSpPr>
          <p:cNvPr id="13" name="Shape 9"/>
          <p:cNvSpPr/>
          <p:nvPr/>
        </p:nvSpPr>
        <p:spPr>
          <a:xfrm>
            <a:off x="6446520" y="914400"/>
            <a:ext cx="2240280" cy="3749040"/>
          </a:xfrm>
          <a:prstGeom prst="roundRect">
            <a:avLst>
              <a:gd name="adj" fmla="val 4082"/>
            </a:avLst>
          </a:prstGeom>
          <a:solidFill>
            <a:srgbClr val="0F4C5C"/>
          </a:solidFill>
          <a:ln w="12700">
            <a:solidFill>
              <a:srgbClr val="0F4C5C"/>
            </a:solidFill>
            <a:prstDash val="solid"/>
          </a:ln>
        </p:spPr>
      </p:sp>
      <p:sp>
        <p:nvSpPr>
          <p:cNvPr id="14" name="Text 10"/>
          <p:cNvSpPr txBox="1"/>
          <p:nvPr/>
        </p:nvSpPr>
        <p:spPr>
          <a:xfrm>
            <a:off x="6537960" y="960120"/>
            <a:ext cx="2057400" cy="365760"/>
          </a:xfrm>
          <a:prstGeom prst="rect">
            <a:avLst/>
          </a:prstGeom>
          <a:noFill/>
          <a:ln/>
        </p:spPr>
        <p:txBody>
          <a:bodyPr wrap="square" lIns="0" tIns="0" rIns="0" bIns="0" rtlCol="0" anchor="t"/>
          <a:lstStyle/>
          <a:p>
            <a:pPr rtl="1" algn="r" indent="0" marL="0">
              <a:buNone/>
            </a:pPr>
            <a:r>
              <a:rPr lang="ar-LB" altLang="en-US" sz="1500" b="1" dirty="0">
                <a:solidFill>
                  <a:srgbClr val="F2C46D"/>
                </a:solidFill>
              </a:rPr>
              <a:t>دليل المعلم</a:t>
            </a:r>
            <a:endParaRPr lang="ar-LB" sz="1500" dirty="0"/>
          </a:p>
        </p:txBody>
      </p:sp>
      <p:sp>
        <p:nvSpPr>
          <p:cNvPr id="15" name="Text 11"/>
          <p:cNvSpPr txBox="1"/>
          <p:nvPr/>
        </p:nvSpPr>
        <p:spPr>
          <a:xfrm>
            <a:off x="6537960" y="1298448"/>
            <a:ext cx="2057400" cy="411480"/>
          </a:xfrm>
          <a:prstGeom prst="rect">
            <a:avLst/>
          </a:prstGeom>
          <a:noFill/>
          <a:ln/>
        </p:spPr>
        <p:txBody>
          <a:bodyPr wrap="square" lIns="0" tIns="0" rIns="0" bIns="0" rtlCol="0" anchor="t"/>
          <a:lstStyle/>
          <a:p>
            <a:pPr rtl="1" algn="r" indent="0" marL="0">
              <a:buNone/>
            </a:pPr>
            <a:r>
              <a:rPr lang="ar-LB" altLang="en-US" sz="1700" b="1" dirty="0">
                <a:solidFill>
                  <a:srgbClr val="FFFFFF"/>
                </a:solidFill>
              </a:rPr>
              <a:t>قبل الحصة</a:t>
            </a:r>
            <a:endParaRPr lang="ar-LB" sz="1700" dirty="0"/>
          </a:p>
        </p:txBody>
      </p:sp>
      <p:sp>
        <p:nvSpPr>
          <p:cNvPr id="16" name="Shape 12"/>
          <p:cNvSpPr/>
          <p:nvPr/>
        </p:nvSpPr>
        <p:spPr>
          <a:xfrm>
            <a:off x="8183880" y="1783080"/>
            <a:ext cx="384048" cy="384048"/>
          </a:xfrm>
          <a:prstGeom prst="ellipse">
            <a:avLst/>
          </a:prstGeom>
          <a:solidFill>
            <a:srgbClr val="C2500C"/>
          </a:solidFill>
          <a:ln w="12700">
            <a:solidFill>
              <a:srgbClr val="C2500C"/>
            </a:solidFill>
            <a:prstDash val="solid"/>
          </a:ln>
        </p:spPr>
      </p:sp>
      <p:pic>
        <p:nvPicPr>
          <p:cNvPr id="17" name="Image 2" descr="أيقونة ساعة: الوقت">    </p:cNvPr>
          <p:cNvPicPr>
            <a:picLocks noChangeAspect="1"/>
          </p:cNvPicPr>
          <p:nvPr/>
        </p:nvPicPr>
        <p:blipFill>
          <a:blip r:embed="rId3"/>
          <a:stretch>
            <a:fillRect/>
          </a:stretch>
        </p:blipFill>
        <p:spPr>
          <a:xfrm>
            <a:off x="8276052" y="1875252"/>
            <a:ext cx="199705" cy="199705"/>
          </a:xfrm>
          <a:prstGeom prst="rect">
            <a:avLst/>
          </a:prstGeom>
        </p:spPr>
      </p:pic>
      <p:sp>
        <p:nvSpPr>
          <p:cNvPr id="18" name="Text 13"/>
          <p:cNvSpPr txBox="1"/>
          <p:nvPr/>
        </p:nvSpPr>
        <p:spPr>
          <a:xfrm>
            <a:off x="6537960" y="1783080"/>
            <a:ext cx="1600200" cy="384048"/>
          </a:xfrm>
          <a:prstGeom prst="rect">
            <a:avLst/>
          </a:prstGeom>
          <a:noFill/>
          <a:ln/>
        </p:spPr>
        <p:txBody>
          <a:bodyPr wrap="square" lIns="0" tIns="0" rIns="0" bIns="0" rtlCol="0" anchor="ctr"/>
          <a:lstStyle/>
          <a:p>
            <a:pPr rtl="1" algn="r" indent="0" marL="0">
              <a:buNone/>
            </a:pPr>
            <a:r>
              <a:rPr lang="ar-LB" altLang="en-US" sz="1600" b="1" dirty="0">
                <a:solidFill>
                  <a:srgbClr val="FFFFFF"/>
                </a:solidFill>
              </a:rPr>
              <a:t>10 د تحضير</a:t>
            </a:r>
            <a:endParaRPr lang="ar-LB" sz="1600" dirty="0"/>
          </a:p>
        </p:txBody>
      </p:sp>
      <p:sp>
        <p:nvSpPr>
          <p:cNvPr id="19" name="Text 14"/>
          <p:cNvSpPr txBox="1"/>
          <p:nvPr/>
        </p:nvSpPr>
        <p:spPr>
          <a:xfrm>
            <a:off x="6537960" y="2286000"/>
            <a:ext cx="2057400" cy="2286000"/>
          </a:xfrm>
          <a:prstGeom prst="rect">
            <a:avLst/>
          </a:prstGeom>
          <a:noFill/>
          <a:ln/>
        </p:spPr>
        <p:txBody>
          <a:bodyPr wrap="square" lIns="0" tIns="0" rIns="0" bIns="0" rtlCol="0" anchor="t"/>
          <a:lstStyle/>
          <a:p>
            <a:pPr rtl="1" algn="r" indent="0" marL="0">
              <a:spcAft>
                <a:spcPts val="300"/>
              </a:spcAft>
              <a:buNone/>
            </a:pPr>
            <a:r>
              <a:rPr lang="ar-LB" altLang="en-US" sz="1300" b="1" dirty="0">
                <a:solidFill>
                  <a:srgbClr val="F2C46D"/>
                </a:solidFill>
              </a:rPr>
              <a:t>الاستراتيجية:</a:t>
            </a:r>
            <a:endParaRPr lang="ar-LB" sz="1300" dirty="0"/>
          </a:p>
          <a:p>
            <a:pPr rtl="1" algn="r" indent="0" marL="0">
              <a:spcAft>
                <a:spcPts val="300"/>
              </a:spcAft>
              <a:buNone/>
            </a:pPr>
            <a:r>
              <a:rPr lang="ar-LB" altLang="en-US" sz="1300" dirty="0">
                <a:solidFill>
                  <a:srgbClr val="FFFFFF"/>
                </a:solidFill>
              </a:rPr>
              <a:t>مقاعد ثابتة، وكل طالب يعرف اسم جاره الأيمن والأيسر.</a:t>
            </a:r>
            <a:endParaRPr lang="ar-LB" sz="1300" dirty="0"/>
          </a:p>
          <a:p>
            <a:pPr rtl="1" algn="r" indent="0" marL="0">
              <a:spcAft>
                <a:spcPts val="300"/>
              </a:spcAft>
              <a:buNone/>
            </a:pPr>
            <a:r>
              <a:rPr lang="ar-LB" altLang="en-US" sz="1300" b="1" dirty="0">
                <a:solidFill>
                  <a:srgbClr val="F2C46D"/>
                </a:solidFill>
              </a:rPr>
              <a:t>الأدوات:</a:t>
            </a:r>
            <a:endParaRPr lang="ar-LB" sz="1300" dirty="0"/>
          </a:p>
          <a:p>
            <a:pPr rtl="1" algn="r" indent="0" marL="0">
              <a:spcAft>
                <a:spcPts val="300"/>
              </a:spcAft>
              <a:buNone/>
            </a:pPr>
            <a:r>
              <a:rPr lang="ar-LB" altLang="en-US" sz="1300" dirty="0">
                <a:solidFill>
                  <a:srgbClr val="FFFFFF"/>
                </a:solidFill>
              </a:rPr>
              <a:t>بطاقات الطلاب مطبوعة بالبرايل أو بخط كبير.</a:t>
            </a:r>
            <a:endParaRPr lang="ar-LB" sz="13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000" b="1" dirty="0">
                <a:solidFill>
                  <a:srgbClr val="0F4C5C"/>
                </a:solidFill>
              </a:rPr>
              <a:t>التمهيد: أيّ المكافأتين تختار؟</a:t>
            </a:r>
            <a:endParaRPr lang="en-US" sz="3000" dirty="0"/>
          </a:p>
        </p:txBody>
      </p:sp>
      <p:sp>
        <p:nvSpPr>
          <p:cNvPr id="3" name="Shape 1"/>
          <p:cNvSpPr/>
          <p:nvPr/>
        </p:nvSpPr>
        <p:spPr>
          <a:xfrm>
            <a:off x="457200" y="914400"/>
            <a:ext cx="5806440" cy="1325880"/>
          </a:xfrm>
          <a:prstGeom prst="roundRect">
            <a:avLst>
              <a:gd name="adj" fmla="val 6897"/>
            </a:avLst>
          </a:prstGeom>
          <a:solidFill>
            <a:srgbClr val="C2500C">
              <a:alpha val="10000"/>
            </a:srgbClr>
          </a:solidFill>
          <a:ln w="19050">
            <a:solidFill>
              <a:srgbClr val="C2500C"/>
            </a:solidFill>
            <a:prstDash val="solid"/>
          </a:ln>
        </p:spPr>
      </p:sp>
      <p:sp>
        <p:nvSpPr>
          <p:cNvPr id="4" name="Shape 2"/>
          <p:cNvSpPr/>
          <p:nvPr/>
        </p:nvSpPr>
        <p:spPr>
          <a:xfrm>
            <a:off x="5760720" y="1005840"/>
            <a:ext cx="384048" cy="384048"/>
          </a:xfrm>
          <a:prstGeom prst="ellipse">
            <a:avLst/>
          </a:prstGeom>
          <a:solidFill>
            <a:srgbClr val="C2500C"/>
          </a:solidFill>
          <a:ln w="12700">
            <a:solidFill>
              <a:srgbClr val="C2500C"/>
            </a:solidFill>
            <a:prstDash val="solid"/>
          </a:ln>
        </p:spPr>
      </p:sp>
      <p:pic>
        <p:nvPicPr>
          <p:cNvPr id="5" name="Image 0" descr="أيقونة حديث: ما يقوله المعلم">    </p:cNvPr>
          <p:cNvPicPr>
            <a:picLocks noChangeAspect="1"/>
          </p:cNvPicPr>
          <p:nvPr/>
        </p:nvPicPr>
        <p:blipFill>
          <a:blip r:embed="rId1"/>
          <a:stretch>
            <a:fillRect/>
          </a:stretch>
        </p:blipFill>
        <p:spPr>
          <a:xfrm>
            <a:off x="5852892" y="1098012"/>
            <a:ext cx="199705" cy="199705"/>
          </a:xfrm>
          <a:prstGeom prst="rect">
            <a:avLst/>
          </a:prstGeom>
        </p:spPr>
      </p:pic>
      <p:sp>
        <p:nvSpPr>
          <p:cNvPr id="6" name="Text 3"/>
          <p:cNvSpPr txBox="1"/>
          <p:nvPr/>
        </p:nvSpPr>
        <p:spPr>
          <a:xfrm>
            <a:off x="548640" y="987552"/>
            <a:ext cx="5120640" cy="411480"/>
          </a:xfrm>
          <a:prstGeom prst="rect">
            <a:avLst/>
          </a:prstGeom>
          <a:noFill/>
          <a:ln/>
        </p:spPr>
        <p:txBody>
          <a:bodyPr wrap="square" lIns="0" tIns="0" rIns="0" bIns="0" rtlCol="0" anchor="ctr"/>
          <a:lstStyle/>
          <a:p>
            <a:pPr rtl="1" algn="r" indent="0" marL="0">
              <a:buNone/>
            </a:pPr>
            <a:r>
              <a:rPr lang="ar-LB" altLang="en-US" sz="1500" b="1" dirty="0">
                <a:solidFill>
                  <a:srgbClr val="C2500C"/>
                </a:solidFill>
              </a:rPr>
              <a:t>يقول المعلم:</a:t>
            </a:r>
            <a:endParaRPr lang="ar-LB" sz="1500" dirty="0"/>
          </a:p>
        </p:txBody>
      </p:sp>
      <p:sp>
        <p:nvSpPr>
          <p:cNvPr id="7" name="Text 4"/>
          <p:cNvSpPr txBox="1"/>
          <p:nvPr/>
        </p:nvSpPr>
        <p:spPr>
          <a:xfrm>
            <a:off x="594360" y="1371600"/>
            <a:ext cx="5532120" cy="822960"/>
          </a:xfrm>
          <a:prstGeom prst="rect">
            <a:avLst/>
          </a:prstGeom>
          <a:noFill/>
          <a:ln/>
        </p:spPr>
        <p:txBody>
          <a:bodyPr wrap="square" lIns="0" tIns="0" rIns="0" bIns="0" rtlCol="0" anchor="t"/>
          <a:lstStyle/>
          <a:p>
            <a:pPr rtl="1" algn="r" indent="0" marL="0">
              <a:buNone/>
            </a:pPr>
            <a:r>
              <a:rPr lang="ar-LB" altLang="en-US" sz="1500" dirty="0">
                <a:solidFill>
                  <a:srgbClr val="1B262C"/>
                </a:solidFill>
              </a:rPr>
              <a:t>«خيّر المدير طالبًا متفوّقًا بين عرضين من النقاط: العرض (أ): نجمع 2 عشر مرات. العرض (ب): نضرب 2 في نفسه عشر مرات. أيّهما تختار؟ ولماذا؟»</a:t>
            </a:r>
            <a:endParaRPr lang="ar-LB" sz="1500" dirty="0"/>
          </a:p>
        </p:txBody>
      </p:sp>
      <p:sp>
        <p:nvSpPr>
          <p:cNvPr id="8" name="Shape 5"/>
          <p:cNvSpPr/>
          <p:nvPr/>
        </p:nvSpPr>
        <p:spPr>
          <a:xfrm>
            <a:off x="457200" y="2331720"/>
            <a:ext cx="5806440" cy="1463040"/>
          </a:xfrm>
          <a:prstGeom prst="roundRect">
            <a:avLst>
              <a:gd name="adj" fmla="val 6250"/>
            </a:avLst>
          </a:prstGeom>
          <a:solidFill>
            <a:srgbClr val="1F7A45">
              <a:alpha val="10000"/>
            </a:srgbClr>
          </a:solidFill>
          <a:ln w="19050">
            <a:solidFill>
              <a:srgbClr val="1F7A45"/>
            </a:solidFill>
            <a:prstDash val="solid"/>
          </a:ln>
        </p:spPr>
      </p:sp>
      <p:sp>
        <p:nvSpPr>
          <p:cNvPr id="9" name="Shape 6"/>
          <p:cNvSpPr/>
          <p:nvPr/>
        </p:nvSpPr>
        <p:spPr>
          <a:xfrm>
            <a:off x="5760720" y="2423160"/>
            <a:ext cx="384048" cy="384048"/>
          </a:xfrm>
          <a:prstGeom prst="ellipse">
            <a:avLst/>
          </a:prstGeom>
          <a:solidFill>
            <a:srgbClr val="1F7A45"/>
          </a:solidFill>
          <a:ln w="12700">
            <a:solidFill>
              <a:srgbClr val="1F7A45"/>
            </a:solidFill>
            <a:prstDash val="solid"/>
          </a:ln>
        </p:spPr>
      </p:sp>
      <p:pic>
        <p:nvPicPr>
          <p:cNvPr id="10" name="Image 1" descr="أيقونة يد: نشاط لمسي">    </p:cNvPr>
          <p:cNvPicPr>
            <a:picLocks noChangeAspect="1"/>
          </p:cNvPicPr>
          <p:nvPr/>
        </p:nvPicPr>
        <p:blipFill>
          <a:blip r:embed="rId2"/>
          <a:stretch>
            <a:fillRect/>
          </a:stretch>
        </p:blipFill>
        <p:spPr>
          <a:xfrm>
            <a:off x="5852892" y="2515332"/>
            <a:ext cx="199705" cy="199705"/>
          </a:xfrm>
          <a:prstGeom prst="rect">
            <a:avLst/>
          </a:prstGeom>
        </p:spPr>
      </p:pic>
      <p:sp>
        <p:nvSpPr>
          <p:cNvPr id="11" name="Text 7"/>
          <p:cNvSpPr txBox="1"/>
          <p:nvPr/>
        </p:nvSpPr>
        <p:spPr>
          <a:xfrm>
            <a:off x="548640" y="2404872"/>
            <a:ext cx="5120640" cy="411480"/>
          </a:xfrm>
          <a:prstGeom prst="rect">
            <a:avLst/>
          </a:prstGeom>
          <a:noFill/>
          <a:ln/>
        </p:spPr>
        <p:txBody>
          <a:bodyPr wrap="square" lIns="0" tIns="0" rIns="0" bIns="0" rtlCol="0" anchor="ctr"/>
          <a:lstStyle/>
          <a:p>
            <a:pPr rtl="1" algn="r" indent="0" marL="0">
              <a:buNone/>
            </a:pPr>
            <a:r>
              <a:rPr lang="ar-LB" altLang="en-US" sz="1600" b="1" dirty="0">
                <a:solidFill>
                  <a:srgbClr val="1F7A45"/>
                </a:solidFill>
              </a:rPr>
              <a:t>يفعل الطلاب (باللمس)</a:t>
            </a:r>
            <a:endParaRPr lang="ar-LB" sz="1600" dirty="0"/>
          </a:p>
        </p:txBody>
      </p:sp>
      <p:sp>
        <p:nvSpPr>
          <p:cNvPr id="12" name="Text 8"/>
          <p:cNvSpPr txBox="1"/>
          <p:nvPr/>
        </p:nvSpPr>
        <p:spPr>
          <a:xfrm>
            <a:off x="594360" y="2807208"/>
            <a:ext cx="5532120" cy="941832"/>
          </a:xfrm>
          <a:prstGeom prst="rect">
            <a:avLst/>
          </a:prstGeom>
          <a:noFill/>
          <a:ln/>
        </p:spPr>
        <p:txBody>
          <a:bodyPr wrap="square" lIns="0" tIns="0" rIns="0" bIns="0" rtlCol="0" anchor="t"/>
          <a:lstStyle/>
          <a:p>
            <a:pPr rtl="1" algn="r" indent="0" marL="0">
              <a:spcAft>
                <a:spcPts val="300"/>
              </a:spcAft>
              <a:buNone/>
            </a:pPr>
            <a:r>
              <a:rPr lang="ar-LB" altLang="en-US" sz="1500" dirty="0">
                <a:solidFill>
                  <a:srgbClr val="1B262C"/>
                </a:solidFill>
              </a:rPr>
              <a:t>العرض (أ): أضف خرزتين كل خطوة: 2، 4، 6، 8.</a:t>
            </a:r>
            <a:endParaRPr lang="ar-LB" sz="1500" dirty="0"/>
          </a:p>
          <a:p>
            <a:pPr rtl="1" algn="r" indent="0" marL="0">
              <a:spcAft>
                <a:spcPts val="300"/>
              </a:spcAft>
              <a:buNone/>
            </a:pPr>
            <a:r>
              <a:rPr lang="ar-LB" altLang="en-US" sz="1500" dirty="0">
                <a:solidFill>
                  <a:srgbClr val="1B262C"/>
                </a:solidFill>
              </a:rPr>
              <a:t>العرض (ب): ضاعِف الكومة كل خطوة: 2، 4، 8، 16.</a:t>
            </a:r>
            <a:endParaRPr lang="ar-LB" sz="1500" dirty="0"/>
          </a:p>
          <a:p>
            <a:pPr rtl="1" algn="r" indent="0" marL="0">
              <a:spcAft>
                <a:spcPts val="300"/>
              </a:spcAft>
              <a:buNone/>
            </a:pPr>
            <a:r>
              <a:rPr lang="ar-LB" altLang="en-US" sz="1500" dirty="0">
                <a:solidFill>
                  <a:srgbClr val="1B262C"/>
                </a:solidFill>
              </a:rPr>
              <a:t>فكّر وحدك، ثم همس لزميلك، ثم شارك.</a:t>
            </a:r>
            <a:endParaRPr lang="ar-LB" sz="1500" dirty="0"/>
          </a:p>
        </p:txBody>
      </p:sp>
      <p:sp>
        <p:nvSpPr>
          <p:cNvPr id="13" name="Text 9"/>
          <p:cNvSpPr txBox="1"/>
          <p:nvPr/>
        </p:nvSpPr>
        <p:spPr>
          <a:xfrm>
            <a:off x="457200" y="3931920"/>
            <a:ext cx="5806440" cy="457200"/>
          </a:xfrm>
          <a:prstGeom prst="rect">
            <a:avLst/>
          </a:prstGeom>
          <a:noFill/>
          <a:ln/>
        </p:spPr>
        <p:txBody>
          <a:bodyPr wrap="square" lIns="0" tIns="0" rIns="0" bIns="0" rtlCol="0" anchor="t"/>
          <a:lstStyle/>
          <a:p>
            <a:pPr rtl="1" algn="ctr" indent="0" marL="0">
              <a:buNone/>
            </a:pPr>
            <a:r>
              <a:rPr lang="ar-LB" altLang="en-US" sz="1600" b="1" dirty="0">
                <a:solidFill>
                  <a:srgbClr val="0F4C5C"/>
                </a:solidFill>
              </a:rPr>
              <a:t>النتيجة بعد 10 خطوات: (أ) 20 نقطة  •  (ب) 1024 نقطة</a:t>
            </a:r>
            <a:endParaRPr lang="ar-LB" sz="1600" dirty="0"/>
          </a:p>
        </p:txBody>
      </p:sp>
      <p:sp>
        <p:nvSpPr>
          <p:cNvPr id="14" name="Shape 10"/>
          <p:cNvSpPr/>
          <p:nvPr/>
        </p:nvSpPr>
        <p:spPr>
          <a:xfrm>
            <a:off x="6446520" y="914400"/>
            <a:ext cx="2240280" cy="3749040"/>
          </a:xfrm>
          <a:prstGeom prst="roundRect">
            <a:avLst>
              <a:gd name="adj" fmla="val 4082"/>
            </a:avLst>
          </a:prstGeom>
          <a:solidFill>
            <a:srgbClr val="0F4C5C"/>
          </a:solidFill>
          <a:ln w="12700">
            <a:solidFill>
              <a:srgbClr val="0F4C5C"/>
            </a:solidFill>
            <a:prstDash val="solid"/>
          </a:ln>
        </p:spPr>
      </p:sp>
      <p:sp>
        <p:nvSpPr>
          <p:cNvPr id="15" name="Text 11"/>
          <p:cNvSpPr txBox="1"/>
          <p:nvPr/>
        </p:nvSpPr>
        <p:spPr>
          <a:xfrm>
            <a:off x="6537960" y="960120"/>
            <a:ext cx="2057400" cy="365760"/>
          </a:xfrm>
          <a:prstGeom prst="rect">
            <a:avLst/>
          </a:prstGeom>
          <a:noFill/>
          <a:ln/>
        </p:spPr>
        <p:txBody>
          <a:bodyPr wrap="square" lIns="0" tIns="0" rIns="0" bIns="0" rtlCol="0" anchor="t"/>
          <a:lstStyle/>
          <a:p>
            <a:pPr rtl="1" algn="r" indent="0" marL="0">
              <a:buNone/>
            </a:pPr>
            <a:r>
              <a:rPr lang="ar-LB" altLang="en-US" sz="1500" b="1" dirty="0">
                <a:solidFill>
                  <a:srgbClr val="F2C46D"/>
                </a:solidFill>
              </a:rPr>
              <a:t>دليل المعلم</a:t>
            </a:r>
            <a:endParaRPr lang="ar-LB" sz="1500" dirty="0"/>
          </a:p>
        </p:txBody>
      </p:sp>
      <p:sp>
        <p:nvSpPr>
          <p:cNvPr id="16" name="Text 12"/>
          <p:cNvSpPr txBox="1"/>
          <p:nvPr/>
        </p:nvSpPr>
        <p:spPr>
          <a:xfrm>
            <a:off x="6537960" y="1298448"/>
            <a:ext cx="2057400" cy="411480"/>
          </a:xfrm>
          <a:prstGeom prst="rect">
            <a:avLst/>
          </a:prstGeom>
          <a:noFill/>
          <a:ln/>
        </p:spPr>
        <p:txBody>
          <a:bodyPr wrap="square" lIns="0" tIns="0" rIns="0" bIns="0" rtlCol="0" anchor="t"/>
          <a:lstStyle/>
          <a:p>
            <a:pPr rtl="1" algn="r" indent="0" marL="0">
              <a:buNone/>
            </a:pPr>
            <a:r>
              <a:rPr lang="ar-LB" altLang="en-US" sz="1700" b="1" dirty="0">
                <a:solidFill>
                  <a:srgbClr val="FFFFFF"/>
                </a:solidFill>
              </a:rPr>
              <a:t>التمهيد</a:t>
            </a:r>
            <a:endParaRPr lang="ar-LB" sz="1700" dirty="0"/>
          </a:p>
        </p:txBody>
      </p:sp>
      <p:sp>
        <p:nvSpPr>
          <p:cNvPr id="17" name="Shape 13"/>
          <p:cNvSpPr/>
          <p:nvPr/>
        </p:nvSpPr>
        <p:spPr>
          <a:xfrm>
            <a:off x="8183880" y="1783080"/>
            <a:ext cx="384048" cy="384048"/>
          </a:xfrm>
          <a:prstGeom prst="ellipse">
            <a:avLst/>
          </a:prstGeom>
          <a:solidFill>
            <a:srgbClr val="C2500C"/>
          </a:solidFill>
          <a:ln w="12700">
            <a:solidFill>
              <a:srgbClr val="C2500C"/>
            </a:solidFill>
            <a:prstDash val="solid"/>
          </a:ln>
        </p:spPr>
      </p:sp>
      <p:pic>
        <p:nvPicPr>
          <p:cNvPr id="18" name="Image 2" descr="أيقونة ساعة: الوقت">    </p:cNvPr>
          <p:cNvPicPr>
            <a:picLocks noChangeAspect="1"/>
          </p:cNvPicPr>
          <p:nvPr/>
        </p:nvPicPr>
        <p:blipFill>
          <a:blip r:embed="rId3"/>
          <a:stretch>
            <a:fillRect/>
          </a:stretch>
        </p:blipFill>
        <p:spPr>
          <a:xfrm>
            <a:off x="8276052" y="1875252"/>
            <a:ext cx="199705" cy="199705"/>
          </a:xfrm>
          <a:prstGeom prst="rect">
            <a:avLst/>
          </a:prstGeom>
        </p:spPr>
      </p:pic>
      <p:sp>
        <p:nvSpPr>
          <p:cNvPr id="19" name="Text 14"/>
          <p:cNvSpPr txBox="1"/>
          <p:nvPr/>
        </p:nvSpPr>
        <p:spPr>
          <a:xfrm>
            <a:off x="6537960" y="1783080"/>
            <a:ext cx="1600200" cy="384048"/>
          </a:xfrm>
          <a:prstGeom prst="rect">
            <a:avLst/>
          </a:prstGeom>
          <a:noFill/>
          <a:ln/>
        </p:spPr>
        <p:txBody>
          <a:bodyPr wrap="square" lIns="0" tIns="0" rIns="0" bIns="0" rtlCol="0" anchor="ctr"/>
          <a:lstStyle/>
          <a:p>
            <a:pPr rtl="1" algn="r" indent="0" marL="0">
              <a:buNone/>
            </a:pPr>
            <a:r>
              <a:rPr lang="ar-LB" altLang="en-US" sz="1600" b="1" dirty="0">
                <a:solidFill>
                  <a:srgbClr val="FFFFFF"/>
                </a:solidFill>
              </a:rPr>
              <a:t>5 دقائق</a:t>
            </a:r>
            <a:endParaRPr lang="ar-LB" sz="1600" dirty="0"/>
          </a:p>
        </p:txBody>
      </p:sp>
      <p:sp>
        <p:nvSpPr>
          <p:cNvPr id="20" name="Text 15"/>
          <p:cNvSpPr txBox="1"/>
          <p:nvPr/>
        </p:nvSpPr>
        <p:spPr>
          <a:xfrm>
            <a:off x="6537960" y="2286000"/>
            <a:ext cx="2057400" cy="2286000"/>
          </a:xfrm>
          <a:prstGeom prst="rect">
            <a:avLst/>
          </a:prstGeom>
          <a:noFill/>
          <a:ln/>
        </p:spPr>
        <p:txBody>
          <a:bodyPr wrap="square" lIns="0" tIns="0" rIns="0" bIns="0" rtlCol="0" anchor="t"/>
          <a:lstStyle/>
          <a:p>
            <a:pPr rtl="1" algn="r" indent="0" marL="0">
              <a:spcAft>
                <a:spcPts val="300"/>
              </a:spcAft>
              <a:buNone/>
            </a:pPr>
            <a:r>
              <a:rPr lang="ar-LB" altLang="en-US" sz="1300" b="1" dirty="0">
                <a:solidFill>
                  <a:srgbClr val="F2C46D"/>
                </a:solidFill>
              </a:rPr>
              <a:t>الاستراتيجية:</a:t>
            </a:r>
            <a:endParaRPr lang="ar-LB" sz="1300" dirty="0"/>
          </a:p>
          <a:p>
            <a:pPr rtl="1" algn="r" indent="0" marL="0">
              <a:spcAft>
                <a:spcPts val="300"/>
              </a:spcAft>
              <a:buNone/>
            </a:pPr>
            <a:r>
              <a:rPr lang="ar-LB" altLang="en-US" sz="1300" dirty="0">
                <a:solidFill>
                  <a:srgbClr val="FFFFFF"/>
                </a:solidFill>
              </a:rPr>
              <a:t>فكّر – زاوج – شارك شفهيًا</a:t>
            </a:r>
            <a:endParaRPr lang="ar-LB" sz="1300" dirty="0"/>
          </a:p>
          <a:p>
            <a:pPr rtl="1" algn="r" indent="0" marL="0">
              <a:spcAft>
                <a:spcPts val="300"/>
              </a:spcAft>
              <a:buNone/>
            </a:pPr>
            <a:r>
              <a:rPr lang="ar-LB" altLang="en-US" sz="1300" b="1" dirty="0">
                <a:solidFill>
                  <a:srgbClr val="F2C46D"/>
                </a:solidFill>
              </a:rPr>
              <a:t>الأدوات:</a:t>
            </a:r>
            <a:endParaRPr lang="ar-LB" sz="1300" dirty="0"/>
          </a:p>
          <a:p>
            <a:pPr rtl="1" algn="r" indent="0" marL="0">
              <a:spcAft>
                <a:spcPts val="300"/>
              </a:spcAft>
              <a:buNone/>
            </a:pPr>
            <a:r>
              <a:rPr lang="ar-LB" altLang="en-US" sz="1300" dirty="0">
                <a:solidFill>
                  <a:srgbClr val="FFFFFF"/>
                </a:solidFill>
              </a:rPr>
              <a:t>كومة خرز لكل زوج</a:t>
            </a:r>
            <a:endParaRPr lang="ar-LB" sz="13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000" b="1" dirty="0">
                <a:solidFill>
                  <a:srgbClr val="0F4C5C"/>
                </a:solidFill>
              </a:rPr>
              <a:t>استكشاف 1: طيّ الورقة</a:t>
            </a:r>
            <a:endParaRPr lang="en-US" sz="3000" dirty="0"/>
          </a:p>
        </p:txBody>
      </p:sp>
      <p:sp>
        <p:nvSpPr>
          <p:cNvPr id="3" name="Shape 1"/>
          <p:cNvSpPr/>
          <p:nvPr/>
        </p:nvSpPr>
        <p:spPr>
          <a:xfrm>
            <a:off x="457200" y="914400"/>
            <a:ext cx="5806440" cy="1508760"/>
          </a:xfrm>
          <a:prstGeom prst="roundRect">
            <a:avLst>
              <a:gd name="adj" fmla="val 6061"/>
            </a:avLst>
          </a:prstGeom>
          <a:solidFill>
            <a:srgbClr val="1F7A45">
              <a:alpha val="10000"/>
            </a:srgbClr>
          </a:solidFill>
          <a:ln w="19050">
            <a:solidFill>
              <a:srgbClr val="1F7A45"/>
            </a:solidFill>
            <a:prstDash val="solid"/>
          </a:ln>
        </p:spPr>
      </p:sp>
      <p:sp>
        <p:nvSpPr>
          <p:cNvPr id="4" name="Shape 2"/>
          <p:cNvSpPr/>
          <p:nvPr/>
        </p:nvSpPr>
        <p:spPr>
          <a:xfrm>
            <a:off x="5760720" y="1005840"/>
            <a:ext cx="384048" cy="384048"/>
          </a:xfrm>
          <a:prstGeom prst="ellipse">
            <a:avLst/>
          </a:prstGeom>
          <a:solidFill>
            <a:srgbClr val="1F7A45"/>
          </a:solidFill>
          <a:ln w="12700">
            <a:solidFill>
              <a:srgbClr val="1F7A45"/>
            </a:solidFill>
            <a:prstDash val="solid"/>
          </a:ln>
        </p:spPr>
      </p:sp>
      <p:pic>
        <p:nvPicPr>
          <p:cNvPr id="5" name="Image 0" descr="أيقونة يد: نشاط لمسي">    </p:cNvPr>
          <p:cNvPicPr>
            <a:picLocks noChangeAspect="1"/>
          </p:cNvPicPr>
          <p:nvPr/>
        </p:nvPicPr>
        <p:blipFill>
          <a:blip r:embed="rId1"/>
          <a:stretch>
            <a:fillRect/>
          </a:stretch>
        </p:blipFill>
        <p:spPr>
          <a:xfrm>
            <a:off x="5852892" y="1098012"/>
            <a:ext cx="199705" cy="199705"/>
          </a:xfrm>
          <a:prstGeom prst="rect">
            <a:avLst/>
          </a:prstGeom>
        </p:spPr>
      </p:pic>
      <p:sp>
        <p:nvSpPr>
          <p:cNvPr id="6" name="Text 3"/>
          <p:cNvSpPr txBox="1"/>
          <p:nvPr/>
        </p:nvSpPr>
        <p:spPr>
          <a:xfrm>
            <a:off x="548640" y="987552"/>
            <a:ext cx="5120640" cy="411480"/>
          </a:xfrm>
          <a:prstGeom prst="rect">
            <a:avLst/>
          </a:prstGeom>
          <a:noFill/>
          <a:ln/>
        </p:spPr>
        <p:txBody>
          <a:bodyPr wrap="square" lIns="0" tIns="0" rIns="0" bIns="0" rtlCol="0" anchor="ctr"/>
          <a:lstStyle/>
          <a:p>
            <a:pPr rtl="1" algn="r" indent="0" marL="0">
              <a:buNone/>
            </a:pPr>
            <a:r>
              <a:rPr lang="ar-LB" altLang="en-US" sz="1600" b="1" dirty="0">
                <a:solidFill>
                  <a:srgbClr val="1F7A45"/>
                </a:solidFill>
              </a:rPr>
              <a:t>يفعل الطلاب</a:t>
            </a:r>
            <a:endParaRPr lang="ar-LB" sz="1600" dirty="0"/>
          </a:p>
        </p:txBody>
      </p:sp>
      <p:sp>
        <p:nvSpPr>
          <p:cNvPr id="7" name="Text 4"/>
          <p:cNvSpPr txBox="1"/>
          <p:nvPr/>
        </p:nvSpPr>
        <p:spPr>
          <a:xfrm>
            <a:off x="594360" y="1389888"/>
            <a:ext cx="5532120" cy="987552"/>
          </a:xfrm>
          <a:prstGeom prst="rect">
            <a:avLst/>
          </a:prstGeom>
          <a:noFill/>
          <a:ln/>
        </p:spPr>
        <p:txBody>
          <a:bodyPr wrap="square" lIns="0" tIns="0" rIns="0" bIns="0" rtlCol="0" anchor="t"/>
          <a:lstStyle/>
          <a:p>
            <a:pPr rtl="1" algn="r" indent="0" marL="0">
              <a:spcAft>
                <a:spcPts val="300"/>
              </a:spcAft>
              <a:buNone/>
            </a:pPr>
            <a:r>
              <a:rPr lang="ar-LB" altLang="en-US" sz="1500" dirty="0">
                <a:solidFill>
                  <a:srgbClr val="1B262C"/>
                </a:solidFill>
              </a:rPr>
              <a:t>اطوِ الورقة نصفين واضغط على خط الطيّ بإصبعك.</a:t>
            </a:r>
            <a:endParaRPr lang="ar-LB" sz="1500" dirty="0"/>
          </a:p>
          <a:p>
            <a:pPr rtl="1" algn="r" indent="0" marL="0">
              <a:spcAft>
                <a:spcPts val="300"/>
              </a:spcAft>
              <a:buNone/>
            </a:pPr>
            <a:r>
              <a:rPr lang="ar-LB" altLang="en-US" sz="1500" dirty="0">
                <a:solidFill>
                  <a:srgbClr val="1B262C"/>
                </a:solidFill>
              </a:rPr>
              <a:t>افتحها وتحسّس الخطوط وعُدّ الأجزاء، ثم زِد طيّة وعُدّ.</a:t>
            </a:r>
            <a:endParaRPr lang="ar-LB" sz="1500" dirty="0"/>
          </a:p>
          <a:p>
            <a:pPr rtl="1" algn="r" indent="0" marL="0">
              <a:spcAft>
                <a:spcPts val="300"/>
              </a:spcAft>
              <a:buNone/>
            </a:pPr>
            <a:r>
              <a:rPr lang="ar-LB" altLang="en-US" sz="1500" dirty="0">
                <a:solidFill>
                  <a:srgbClr val="1B262C"/>
                </a:solidFill>
              </a:rPr>
              <a:t>المتحدّث يقول العدد، والكاتب يسجّل بالبرايل.</a:t>
            </a:r>
            <a:endParaRPr lang="ar-LB" sz="1500" dirty="0"/>
          </a:p>
        </p:txBody>
      </p:sp>
      <p:sp>
        <p:nvSpPr>
          <p:cNvPr id="8" name="Text 5"/>
          <p:cNvSpPr txBox="1"/>
          <p:nvPr/>
        </p:nvSpPr>
        <p:spPr>
          <a:xfrm>
            <a:off x="3931920" y="2560320"/>
            <a:ext cx="2331720" cy="329184"/>
          </a:xfrm>
          <a:prstGeom prst="rect">
            <a:avLst/>
          </a:prstGeom>
          <a:noFill/>
          <a:ln/>
        </p:spPr>
        <p:txBody>
          <a:bodyPr wrap="square" lIns="0" tIns="0" rIns="0" bIns="0" rtlCol="0" anchor="ctr"/>
          <a:lstStyle/>
          <a:p>
            <a:pPr rtl="1" algn="r" indent="0" marL="0">
              <a:buNone/>
            </a:pPr>
            <a:r>
              <a:rPr lang="ar-LB" altLang="en-US" sz="1300" dirty="0">
                <a:solidFill>
                  <a:srgbClr val="1B262C"/>
                </a:solidFill>
              </a:rPr>
              <a:t>طيّة واحدة ← جزءان</a:t>
            </a:r>
            <a:endParaRPr lang="ar-LB" sz="1300" dirty="0"/>
          </a:p>
        </p:txBody>
      </p:sp>
      <p:sp>
        <p:nvSpPr>
          <p:cNvPr id="9" name="Text 6"/>
          <p:cNvSpPr txBox="1"/>
          <p:nvPr/>
        </p:nvSpPr>
        <p:spPr>
          <a:xfrm>
            <a:off x="457200" y="2560320"/>
            <a:ext cx="3383280" cy="329184"/>
          </a:xfrm>
          <a:prstGeom prst="rect">
            <a:avLst/>
          </a:prstGeom>
          <a:noFill/>
          <a:ln/>
        </p:spPr>
        <p:txBody>
          <a:bodyPr wrap="square" lIns="0" tIns="0" rIns="0" bIns="0" rtlCol="0" anchor="ctr"/>
          <a:lstStyle/>
          <a:p>
            <a:pPr rtl="0" algn="l" indent="0" marL="0">
              <a:buNone/>
            </a:pPr>
            <a:r>
              <a:rPr lang="en-US" sz="1400" dirty="0">
                <a:solidFill>
                  <a:srgbClr val="1B262C"/>
                </a:solidFill>
                <a:latin typeface="Arial" pitchFamily="34" charset="0"/>
                <a:ea typeface="Arial" pitchFamily="34" charset="-122"/>
                <a:cs typeface="Arial" pitchFamily="34" charset="-120"/>
              </a:rPr>
              <a:t>2</a:t>
            </a:r>
            <a:endParaRPr lang="en-US" sz="1400" dirty="0"/>
          </a:p>
        </p:txBody>
      </p:sp>
      <p:sp>
        <p:nvSpPr>
          <p:cNvPr id="10" name="Text 7"/>
          <p:cNvSpPr txBox="1"/>
          <p:nvPr/>
        </p:nvSpPr>
        <p:spPr>
          <a:xfrm>
            <a:off x="3931920" y="2889504"/>
            <a:ext cx="2331720" cy="329184"/>
          </a:xfrm>
          <a:prstGeom prst="rect">
            <a:avLst/>
          </a:prstGeom>
          <a:noFill/>
          <a:ln/>
        </p:spPr>
        <p:txBody>
          <a:bodyPr wrap="square" lIns="0" tIns="0" rIns="0" bIns="0" rtlCol="0" anchor="ctr"/>
          <a:lstStyle/>
          <a:p>
            <a:pPr rtl="1" algn="r" indent="0" marL="0">
              <a:buNone/>
            </a:pPr>
            <a:r>
              <a:rPr lang="ar-LB" altLang="en-US" sz="1300" dirty="0">
                <a:solidFill>
                  <a:srgbClr val="1B262C"/>
                </a:solidFill>
              </a:rPr>
              <a:t>طيّتان ← 4 أجزاء</a:t>
            </a:r>
            <a:endParaRPr lang="ar-LB" sz="1300" dirty="0"/>
          </a:p>
        </p:txBody>
      </p:sp>
      <p:sp>
        <p:nvSpPr>
          <p:cNvPr id="11" name="Text 8"/>
          <p:cNvSpPr txBox="1"/>
          <p:nvPr/>
        </p:nvSpPr>
        <p:spPr>
          <a:xfrm>
            <a:off x="457200" y="2889504"/>
            <a:ext cx="3383280" cy="329184"/>
          </a:xfrm>
          <a:prstGeom prst="rect">
            <a:avLst/>
          </a:prstGeom>
          <a:noFill/>
          <a:ln/>
        </p:spPr>
        <p:txBody>
          <a:bodyPr wrap="square" lIns="0" tIns="0" rIns="0" bIns="0" rtlCol="0" anchor="ctr"/>
          <a:lstStyle/>
          <a:p>
            <a:pPr rtl="0" algn="l" indent="0" marL="0">
              <a:buNone/>
            </a:pPr>
            <a:r>
              <a:rPr lang="en-US" sz="1400" dirty="0">
                <a:solidFill>
                  <a:srgbClr val="1B262C"/>
                </a:solidFill>
                <a:latin typeface="Arial" pitchFamily="34" charset="0"/>
                <a:ea typeface="Arial" pitchFamily="34" charset="-122"/>
                <a:cs typeface="Arial" pitchFamily="34" charset="-120"/>
              </a:rPr>
              <a:t>2 × 2</a:t>
            </a:r>
            <a:endParaRPr lang="en-US" sz="1400" dirty="0"/>
          </a:p>
        </p:txBody>
      </p:sp>
      <p:sp>
        <p:nvSpPr>
          <p:cNvPr id="12" name="Text 9"/>
          <p:cNvSpPr txBox="1"/>
          <p:nvPr/>
        </p:nvSpPr>
        <p:spPr>
          <a:xfrm>
            <a:off x="3931920" y="3218688"/>
            <a:ext cx="2331720" cy="329184"/>
          </a:xfrm>
          <a:prstGeom prst="rect">
            <a:avLst/>
          </a:prstGeom>
          <a:noFill/>
          <a:ln/>
        </p:spPr>
        <p:txBody>
          <a:bodyPr wrap="square" lIns="0" tIns="0" rIns="0" bIns="0" rtlCol="0" anchor="ctr"/>
          <a:lstStyle/>
          <a:p>
            <a:pPr rtl="1" algn="r" indent="0" marL="0">
              <a:buNone/>
            </a:pPr>
            <a:r>
              <a:rPr lang="ar-LB" altLang="en-US" sz="1300" dirty="0">
                <a:solidFill>
                  <a:srgbClr val="1B262C"/>
                </a:solidFill>
              </a:rPr>
              <a:t>3 طيّات ← 8 أجزاء</a:t>
            </a:r>
            <a:endParaRPr lang="ar-LB" sz="1300" dirty="0"/>
          </a:p>
        </p:txBody>
      </p:sp>
      <p:sp>
        <p:nvSpPr>
          <p:cNvPr id="13" name="Text 10"/>
          <p:cNvSpPr txBox="1"/>
          <p:nvPr/>
        </p:nvSpPr>
        <p:spPr>
          <a:xfrm>
            <a:off x="457200" y="3218688"/>
            <a:ext cx="3383280" cy="329184"/>
          </a:xfrm>
          <a:prstGeom prst="rect">
            <a:avLst/>
          </a:prstGeom>
          <a:noFill/>
          <a:ln/>
        </p:spPr>
        <p:txBody>
          <a:bodyPr wrap="square" lIns="0" tIns="0" rIns="0" bIns="0" rtlCol="0" anchor="ctr"/>
          <a:lstStyle/>
          <a:p>
            <a:pPr rtl="0" algn="l" indent="0" marL="0">
              <a:buNone/>
            </a:pPr>
            <a:r>
              <a:rPr lang="en-US" sz="1400" dirty="0">
                <a:solidFill>
                  <a:srgbClr val="1B262C"/>
                </a:solidFill>
                <a:latin typeface="Arial" pitchFamily="34" charset="0"/>
                <a:ea typeface="Arial" pitchFamily="34" charset="-122"/>
                <a:cs typeface="Arial" pitchFamily="34" charset="-120"/>
              </a:rPr>
              <a:t>2 × 2 × 2</a:t>
            </a:r>
            <a:endParaRPr lang="en-US" sz="1400" dirty="0"/>
          </a:p>
        </p:txBody>
      </p:sp>
      <p:sp>
        <p:nvSpPr>
          <p:cNvPr id="14" name="Text 11"/>
          <p:cNvSpPr txBox="1"/>
          <p:nvPr/>
        </p:nvSpPr>
        <p:spPr>
          <a:xfrm>
            <a:off x="3931920" y="3547872"/>
            <a:ext cx="2331720" cy="329184"/>
          </a:xfrm>
          <a:prstGeom prst="rect">
            <a:avLst/>
          </a:prstGeom>
          <a:noFill/>
          <a:ln/>
        </p:spPr>
        <p:txBody>
          <a:bodyPr wrap="square" lIns="0" tIns="0" rIns="0" bIns="0" rtlCol="0" anchor="ctr"/>
          <a:lstStyle/>
          <a:p>
            <a:pPr rtl="1" algn="r" indent="0" marL="0">
              <a:buNone/>
            </a:pPr>
            <a:r>
              <a:rPr lang="ar-LB" altLang="en-US" sz="1300" dirty="0">
                <a:solidFill>
                  <a:srgbClr val="1B262C"/>
                </a:solidFill>
              </a:rPr>
              <a:t>4 طيّات ← 16 جزءًا</a:t>
            </a:r>
            <a:endParaRPr lang="ar-LB" sz="1300" dirty="0"/>
          </a:p>
        </p:txBody>
      </p:sp>
      <p:sp>
        <p:nvSpPr>
          <p:cNvPr id="15" name="Text 12"/>
          <p:cNvSpPr txBox="1"/>
          <p:nvPr/>
        </p:nvSpPr>
        <p:spPr>
          <a:xfrm>
            <a:off x="457200" y="3547872"/>
            <a:ext cx="3383280" cy="329184"/>
          </a:xfrm>
          <a:prstGeom prst="rect">
            <a:avLst/>
          </a:prstGeom>
          <a:noFill/>
          <a:ln/>
        </p:spPr>
        <p:txBody>
          <a:bodyPr wrap="square" lIns="0" tIns="0" rIns="0" bIns="0" rtlCol="0" anchor="ctr"/>
          <a:lstStyle/>
          <a:p>
            <a:pPr rtl="0" algn="l" indent="0" marL="0">
              <a:buNone/>
            </a:pPr>
            <a:r>
              <a:rPr lang="en-US" sz="1400" dirty="0">
                <a:solidFill>
                  <a:srgbClr val="1B262C"/>
                </a:solidFill>
                <a:latin typeface="Arial" pitchFamily="34" charset="0"/>
                <a:ea typeface="Arial" pitchFamily="34" charset="-122"/>
                <a:cs typeface="Arial" pitchFamily="34" charset="-120"/>
              </a:rPr>
              <a:t>2 × 2 × 2 × 2</a:t>
            </a:r>
            <a:endParaRPr lang="en-US" sz="1400" dirty="0"/>
          </a:p>
        </p:txBody>
      </p:sp>
      <p:sp>
        <p:nvSpPr>
          <p:cNvPr id="16" name="Text 13"/>
          <p:cNvSpPr txBox="1"/>
          <p:nvPr/>
        </p:nvSpPr>
        <p:spPr>
          <a:xfrm>
            <a:off x="3931920" y="3877056"/>
            <a:ext cx="2331720" cy="329184"/>
          </a:xfrm>
          <a:prstGeom prst="rect">
            <a:avLst/>
          </a:prstGeom>
          <a:noFill/>
          <a:ln/>
        </p:spPr>
        <p:txBody>
          <a:bodyPr wrap="square" lIns="0" tIns="0" rIns="0" bIns="0" rtlCol="0" anchor="ctr"/>
          <a:lstStyle/>
          <a:p>
            <a:pPr rtl="1" algn="r" indent="0" marL="0">
              <a:buNone/>
            </a:pPr>
            <a:r>
              <a:rPr lang="ar-LB" altLang="en-US" sz="1300" dirty="0">
                <a:solidFill>
                  <a:srgbClr val="1B262C"/>
                </a:solidFill>
              </a:rPr>
              <a:t>5 طيّات ← 32 جزءًا</a:t>
            </a:r>
            <a:endParaRPr lang="ar-LB" sz="1300" dirty="0"/>
          </a:p>
        </p:txBody>
      </p:sp>
      <p:sp>
        <p:nvSpPr>
          <p:cNvPr id="17" name="Text 14"/>
          <p:cNvSpPr txBox="1"/>
          <p:nvPr/>
        </p:nvSpPr>
        <p:spPr>
          <a:xfrm>
            <a:off x="457200" y="3877056"/>
            <a:ext cx="3383280" cy="329184"/>
          </a:xfrm>
          <a:prstGeom prst="rect">
            <a:avLst/>
          </a:prstGeom>
          <a:noFill/>
          <a:ln/>
        </p:spPr>
        <p:txBody>
          <a:bodyPr wrap="square" lIns="0" tIns="0" rIns="0" bIns="0" rtlCol="0" anchor="ctr"/>
          <a:lstStyle/>
          <a:p>
            <a:pPr rtl="0" algn="l" indent="0" marL="0">
              <a:buNone/>
            </a:pPr>
            <a:r>
              <a:rPr lang="en-US" sz="1400" dirty="0">
                <a:solidFill>
                  <a:srgbClr val="1B262C"/>
                </a:solidFill>
                <a:latin typeface="Arial" pitchFamily="34" charset="0"/>
                <a:ea typeface="Arial" pitchFamily="34" charset="-122"/>
                <a:cs typeface="Arial" pitchFamily="34" charset="-120"/>
              </a:rPr>
              <a:t>2 × 2 × 2 × 2 × 2</a:t>
            </a:r>
            <a:endParaRPr lang="en-US" sz="1400" dirty="0"/>
          </a:p>
        </p:txBody>
      </p:sp>
      <p:sp>
        <p:nvSpPr>
          <p:cNvPr id="18" name="Text 15"/>
          <p:cNvSpPr txBox="1"/>
          <p:nvPr/>
        </p:nvSpPr>
        <p:spPr>
          <a:xfrm>
            <a:off x="457200" y="4206240"/>
            <a:ext cx="5806440" cy="320040"/>
          </a:xfrm>
          <a:prstGeom prst="rect">
            <a:avLst/>
          </a:prstGeom>
          <a:noFill/>
          <a:ln/>
        </p:spPr>
        <p:txBody>
          <a:bodyPr wrap="square" lIns="0" tIns="0" rIns="0" bIns="0" rtlCol="0" anchor="t"/>
          <a:lstStyle/>
          <a:p>
            <a:pPr rtl="1" algn="r" indent="0" marL="0">
              <a:buNone/>
            </a:pPr>
            <a:r>
              <a:rPr lang="ar-LB" altLang="en-US" sz="1200" dirty="0">
                <a:solidFill>
                  <a:srgbClr val="3E4A52"/>
                </a:solidFill>
              </a:rPr>
              <a:t>(الإجابات المتوقّعة للمعلم)</a:t>
            </a:r>
            <a:endParaRPr lang="ar-LB" sz="1200" dirty="0"/>
          </a:p>
        </p:txBody>
      </p:sp>
      <p:sp>
        <p:nvSpPr>
          <p:cNvPr id="19" name="Shape 16"/>
          <p:cNvSpPr/>
          <p:nvPr/>
        </p:nvSpPr>
        <p:spPr>
          <a:xfrm>
            <a:off x="6446520" y="914400"/>
            <a:ext cx="2240280" cy="3749040"/>
          </a:xfrm>
          <a:prstGeom prst="roundRect">
            <a:avLst>
              <a:gd name="adj" fmla="val 4082"/>
            </a:avLst>
          </a:prstGeom>
          <a:solidFill>
            <a:srgbClr val="0F4C5C"/>
          </a:solidFill>
          <a:ln w="12700">
            <a:solidFill>
              <a:srgbClr val="0F4C5C"/>
            </a:solidFill>
            <a:prstDash val="solid"/>
          </a:ln>
        </p:spPr>
      </p:sp>
      <p:sp>
        <p:nvSpPr>
          <p:cNvPr id="20" name="Text 17"/>
          <p:cNvSpPr txBox="1"/>
          <p:nvPr/>
        </p:nvSpPr>
        <p:spPr>
          <a:xfrm>
            <a:off x="6537960" y="960120"/>
            <a:ext cx="2057400" cy="365760"/>
          </a:xfrm>
          <a:prstGeom prst="rect">
            <a:avLst/>
          </a:prstGeom>
          <a:noFill/>
          <a:ln/>
        </p:spPr>
        <p:txBody>
          <a:bodyPr wrap="square" lIns="0" tIns="0" rIns="0" bIns="0" rtlCol="0" anchor="t"/>
          <a:lstStyle/>
          <a:p>
            <a:pPr rtl="1" algn="r" indent="0" marL="0">
              <a:buNone/>
            </a:pPr>
            <a:r>
              <a:rPr lang="ar-LB" altLang="en-US" sz="1500" b="1" dirty="0">
                <a:solidFill>
                  <a:srgbClr val="F2C46D"/>
                </a:solidFill>
              </a:rPr>
              <a:t>دليل المعلم</a:t>
            </a:r>
            <a:endParaRPr lang="ar-LB" sz="1500" dirty="0"/>
          </a:p>
        </p:txBody>
      </p:sp>
      <p:sp>
        <p:nvSpPr>
          <p:cNvPr id="21" name="Text 18"/>
          <p:cNvSpPr txBox="1"/>
          <p:nvPr/>
        </p:nvSpPr>
        <p:spPr>
          <a:xfrm>
            <a:off x="6537960" y="1298448"/>
            <a:ext cx="2057400" cy="411480"/>
          </a:xfrm>
          <a:prstGeom prst="rect">
            <a:avLst/>
          </a:prstGeom>
          <a:noFill/>
          <a:ln/>
        </p:spPr>
        <p:txBody>
          <a:bodyPr wrap="square" lIns="0" tIns="0" rIns="0" bIns="0" rtlCol="0" anchor="t"/>
          <a:lstStyle/>
          <a:p>
            <a:pPr rtl="1" algn="r" indent="0" marL="0">
              <a:buNone/>
            </a:pPr>
            <a:r>
              <a:rPr lang="ar-LB" altLang="en-US" sz="1700" b="1" dirty="0">
                <a:solidFill>
                  <a:srgbClr val="FFFFFF"/>
                </a:solidFill>
              </a:rPr>
              <a:t>الاستكشاف 1</a:t>
            </a:r>
            <a:endParaRPr lang="ar-LB" sz="1700" dirty="0"/>
          </a:p>
        </p:txBody>
      </p:sp>
      <p:sp>
        <p:nvSpPr>
          <p:cNvPr id="22" name="Shape 19"/>
          <p:cNvSpPr/>
          <p:nvPr/>
        </p:nvSpPr>
        <p:spPr>
          <a:xfrm>
            <a:off x="8183880" y="1783080"/>
            <a:ext cx="384048" cy="384048"/>
          </a:xfrm>
          <a:prstGeom prst="ellipse">
            <a:avLst/>
          </a:prstGeom>
          <a:solidFill>
            <a:srgbClr val="C2500C"/>
          </a:solidFill>
          <a:ln w="12700">
            <a:solidFill>
              <a:srgbClr val="C2500C"/>
            </a:solidFill>
            <a:prstDash val="solid"/>
          </a:ln>
        </p:spPr>
      </p:sp>
      <p:pic>
        <p:nvPicPr>
          <p:cNvPr id="23" name="Image 1" descr="أيقونة ساعة: الوقت">    </p:cNvPr>
          <p:cNvPicPr>
            <a:picLocks noChangeAspect="1"/>
          </p:cNvPicPr>
          <p:nvPr/>
        </p:nvPicPr>
        <p:blipFill>
          <a:blip r:embed="rId2"/>
          <a:stretch>
            <a:fillRect/>
          </a:stretch>
        </p:blipFill>
        <p:spPr>
          <a:xfrm>
            <a:off x="8276052" y="1875252"/>
            <a:ext cx="199705" cy="199705"/>
          </a:xfrm>
          <a:prstGeom prst="rect">
            <a:avLst/>
          </a:prstGeom>
        </p:spPr>
      </p:pic>
      <p:sp>
        <p:nvSpPr>
          <p:cNvPr id="24" name="Text 20"/>
          <p:cNvSpPr txBox="1"/>
          <p:nvPr/>
        </p:nvSpPr>
        <p:spPr>
          <a:xfrm>
            <a:off x="6537960" y="1783080"/>
            <a:ext cx="1600200" cy="384048"/>
          </a:xfrm>
          <a:prstGeom prst="rect">
            <a:avLst/>
          </a:prstGeom>
          <a:noFill/>
          <a:ln/>
        </p:spPr>
        <p:txBody>
          <a:bodyPr wrap="square" lIns="0" tIns="0" rIns="0" bIns="0" rtlCol="0" anchor="ctr"/>
          <a:lstStyle/>
          <a:p>
            <a:pPr rtl="1" algn="r" indent="0" marL="0">
              <a:buNone/>
            </a:pPr>
            <a:r>
              <a:rPr lang="ar-LB" altLang="en-US" sz="1600" b="1" dirty="0">
                <a:solidFill>
                  <a:srgbClr val="FFFFFF"/>
                </a:solidFill>
              </a:rPr>
              <a:t>8 دقائق</a:t>
            </a:r>
            <a:endParaRPr lang="ar-LB" sz="1600" dirty="0"/>
          </a:p>
        </p:txBody>
      </p:sp>
      <p:sp>
        <p:nvSpPr>
          <p:cNvPr id="25" name="Text 21"/>
          <p:cNvSpPr txBox="1"/>
          <p:nvPr/>
        </p:nvSpPr>
        <p:spPr>
          <a:xfrm>
            <a:off x="6537960" y="2286000"/>
            <a:ext cx="2057400" cy="2286000"/>
          </a:xfrm>
          <a:prstGeom prst="rect">
            <a:avLst/>
          </a:prstGeom>
          <a:noFill/>
          <a:ln/>
        </p:spPr>
        <p:txBody>
          <a:bodyPr wrap="square" lIns="0" tIns="0" rIns="0" bIns="0" rtlCol="0" anchor="t"/>
          <a:lstStyle/>
          <a:p>
            <a:pPr rtl="1" algn="r" indent="0" marL="0">
              <a:spcAft>
                <a:spcPts val="300"/>
              </a:spcAft>
              <a:buNone/>
            </a:pPr>
            <a:r>
              <a:rPr lang="ar-LB" altLang="en-US" sz="1300" b="1" dirty="0">
                <a:solidFill>
                  <a:srgbClr val="F2C46D"/>
                </a:solidFill>
              </a:rPr>
              <a:t>الاستراتيجية:</a:t>
            </a:r>
            <a:endParaRPr lang="ar-LB" sz="1300" dirty="0"/>
          </a:p>
          <a:p>
            <a:pPr rtl="1" algn="r" indent="0" marL="0">
              <a:spcAft>
                <a:spcPts val="300"/>
              </a:spcAft>
              <a:buNone/>
            </a:pPr>
            <a:r>
              <a:rPr lang="ar-LB" altLang="en-US" sz="1300" dirty="0">
                <a:solidFill>
                  <a:srgbClr val="FFFFFF"/>
                </a:solidFill>
              </a:rPr>
              <a:t>الاكتشاف باللمس في أزواج، ثم سؤال: «هل 5 طيّات تعطي 2 × 5؟»</a:t>
            </a:r>
            <a:endParaRPr lang="ar-LB" sz="1300" dirty="0"/>
          </a:p>
          <a:p>
            <a:pPr rtl="1" algn="r" indent="0" marL="0">
              <a:spcAft>
                <a:spcPts val="300"/>
              </a:spcAft>
              <a:buNone/>
            </a:pPr>
            <a:r>
              <a:rPr lang="ar-LB" altLang="en-US" sz="1300" b="1" dirty="0">
                <a:solidFill>
                  <a:srgbClr val="F2C46D"/>
                </a:solidFill>
              </a:rPr>
              <a:t>الأدوات:</a:t>
            </a:r>
            <a:endParaRPr lang="ar-LB" sz="1300" dirty="0"/>
          </a:p>
          <a:p>
            <a:pPr rtl="1" algn="r" indent="0" marL="0">
              <a:spcAft>
                <a:spcPts val="300"/>
              </a:spcAft>
              <a:buNone/>
            </a:pPr>
            <a:r>
              <a:rPr lang="ar-LB" altLang="en-US" sz="1300" dirty="0">
                <a:solidFill>
                  <a:srgbClr val="FFFFFF"/>
                </a:solidFill>
              </a:rPr>
              <a:t>ورقة A4 لكل طالب</a:t>
            </a:r>
            <a:endParaRPr lang="ar-LB" sz="13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000" b="1" dirty="0">
                <a:solidFill>
                  <a:srgbClr val="0F4C5C"/>
                </a:solidFill>
              </a:rPr>
              <a:t>نستنتج: القوّة ضرب متكرر</a:t>
            </a:r>
            <a:endParaRPr lang="en-US" sz="3000" dirty="0"/>
          </a:p>
        </p:txBody>
      </p:sp>
      <p:sp>
        <p:nvSpPr>
          <p:cNvPr id="3" name="Shape 1"/>
          <p:cNvSpPr/>
          <p:nvPr/>
        </p:nvSpPr>
        <p:spPr>
          <a:xfrm>
            <a:off x="3429000" y="914400"/>
            <a:ext cx="2834640" cy="1097280"/>
          </a:xfrm>
          <a:prstGeom prst="roundRect">
            <a:avLst>
              <a:gd name="adj" fmla="val 8333"/>
            </a:avLst>
          </a:prstGeom>
          <a:solidFill>
            <a:srgbClr val="C2500C">
              <a:alpha val="8000"/>
            </a:srgbClr>
          </a:solidFill>
          <a:ln w="19050">
            <a:solidFill>
              <a:srgbClr val="C2500C"/>
            </a:solidFill>
            <a:prstDash val="solid"/>
          </a:ln>
        </p:spPr>
      </p:sp>
      <p:sp>
        <p:nvSpPr>
          <p:cNvPr id="4" name="Text 2"/>
          <p:cNvSpPr txBox="1"/>
          <p:nvPr/>
        </p:nvSpPr>
        <p:spPr>
          <a:xfrm>
            <a:off x="3502152" y="950976"/>
            <a:ext cx="2688336" cy="548640"/>
          </a:xfrm>
          <a:prstGeom prst="rect">
            <a:avLst/>
          </a:prstGeom>
          <a:noFill/>
          <a:ln/>
        </p:spPr>
        <p:txBody>
          <a:bodyPr wrap="square" lIns="0" tIns="0" rIns="0" bIns="0" rtlCol="0" anchor="ctr"/>
          <a:lstStyle/>
          <a:p>
            <a:pPr rtl="0" algn="ctr" indent="0" marL="0">
              <a:buNone/>
            </a:pPr>
            <a:r>
              <a:rPr lang="en-US" sz="2200" b="1" dirty="0">
                <a:solidFill>
                  <a:srgbClr val="C2500C"/>
                </a:solidFill>
                <a:latin typeface="Arial" pitchFamily="34" charset="0"/>
                <a:ea typeface="Arial" pitchFamily="34" charset="-122"/>
                <a:cs typeface="Arial" pitchFamily="34" charset="-120"/>
              </a:rPr>
              <a:t>2 × 5 = 10</a:t>
            </a:r>
            <a:endParaRPr lang="en-US" sz="2200" dirty="0"/>
          </a:p>
        </p:txBody>
      </p:sp>
      <p:sp>
        <p:nvSpPr>
          <p:cNvPr id="5" name="Text 3"/>
          <p:cNvSpPr txBox="1"/>
          <p:nvPr/>
        </p:nvSpPr>
        <p:spPr>
          <a:xfrm>
            <a:off x="3520440" y="1484986"/>
            <a:ext cx="2651760" cy="493776"/>
          </a:xfrm>
          <a:prstGeom prst="rect">
            <a:avLst/>
          </a:prstGeom>
          <a:noFill/>
          <a:ln/>
        </p:spPr>
        <p:txBody>
          <a:bodyPr wrap="square" lIns="0" tIns="0" rIns="0" bIns="0" rtlCol="0" anchor="ctr"/>
          <a:lstStyle/>
          <a:p>
            <a:pPr rtl="1" algn="ctr" indent="0" marL="0">
              <a:buNone/>
            </a:pPr>
            <a:r>
              <a:rPr lang="ar-LB" altLang="en-US" sz="1300" dirty="0">
                <a:solidFill>
                  <a:srgbClr val="3E4A52"/>
                </a:solidFill>
              </a:rPr>
              <a:t>تُقرأ: 2 ضرب 5: جمع متكرر</a:t>
            </a:r>
            <a:endParaRPr lang="ar-LB" sz="1300" dirty="0"/>
          </a:p>
        </p:txBody>
      </p:sp>
      <p:sp>
        <p:nvSpPr>
          <p:cNvPr id="6" name="Shape 4"/>
          <p:cNvSpPr/>
          <p:nvPr/>
        </p:nvSpPr>
        <p:spPr>
          <a:xfrm>
            <a:off x="457200" y="914400"/>
            <a:ext cx="2834640" cy="1097280"/>
          </a:xfrm>
          <a:prstGeom prst="roundRect">
            <a:avLst>
              <a:gd name="adj" fmla="val 8333"/>
            </a:avLst>
          </a:prstGeom>
          <a:solidFill>
            <a:srgbClr val="1F7A45">
              <a:alpha val="8000"/>
            </a:srgbClr>
          </a:solidFill>
          <a:ln w="19050">
            <a:solidFill>
              <a:srgbClr val="1F7A45"/>
            </a:solidFill>
            <a:prstDash val="solid"/>
          </a:ln>
        </p:spPr>
      </p:sp>
      <p:sp>
        <p:nvSpPr>
          <p:cNvPr id="7" name="Text 5"/>
          <p:cNvSpPr txBox="1"/>
          <p:nvPr/>
        </p:nvSpPr>
        <p:spPr>
          <a:xfrm>
            <a:off x="530352" y="950976"/>
            <a:ext cx="2688336" cy="548640"/>
          </a:xfrm>
          <a:prstGeom prst="rect">
            <a:avLst/>
          </a:prstGeom>
          <a:noFill/>
          <a:ln/>
        </p:spPr>
        <p:txBody>
          <a:bodyPr wrap="square" lIns="0" tIns="0" rIns="0" bIns="0" rtlCol="0" anchor="ctr"/>
          <a:lstStyle/>
          <a:p>
            <a:pPr rtl="0" algn="ctr" indent="0" marL="0">
              <a:buNone/>
            </a:pPr>
            <a:r>
              <a:rPr lang="en-US" sz="2600" b="1" dirty="0">
                <a:solidFill>
                  <a:srgbClr val="1F7A45"/>
                </a:solidFill>
                <a:latin typeface="Arial" pitchFamily="34" charset="0"/>
                <a:ea typeface="Arial" pitchFamily="34" charset="-122"/>
                <a:cs typeface="Arial" pitchFamily="34" charset="-120"/>
              </a:rPr>
              <a:t>2</a:t>
            </a:r>
            <a:r>
              <a:rPr lang="en-US" sz="2600" b="1" baseline="30000" dirty="0">
                <a:solidFill>
                  <a:srgbClr val="1F7A45"/>
                </a:solidFill>
                <a:latin typeface="Arial" pitchFamily="34" charset="0"/>
                <a:ea typeface="Arial" pitchFamily="34" charset="-122"/>
                <a:cs typeface="Arial" pitchFamily="34" charset="-120"/>
              </a:rPr>
              <a:t>5</a:t>
            </a:r>
            <a:r>
              <a:rPr lang="en-US" sz="2600" b="1" dirty="0">
                <a:solidFill>
                  <a:srgbClr val="1F7A45"/>
                </a:solidFill>
                <a:latin typeface="Arial" pitchFamily="34" charset="0"/>
                <a:ea typeface="Arial" pitchFamily="34" charset="-122"/>
                <a:cs typeface="Arial" pitchFamily="34" charset="-120"/>
              </a:rPr>
              <a:t> = 32</a:t>
            </a:r>
            <a:endParaRPr lang="en-US" sz="2600" dirty="0"/>
          </a:p>
        </p:txBody>
      </p:sp>
      <p:sp>
        <p:nvSpPr>
          <p:cNvPr id="8" name="Text 6"/>
          <p:cNvSpPr txBox="1"/>
          <p:nvPr/>
        </p:nvSpPr>
        <p:spPr>
          <a:xfrm>
            <a:off x="548640" y="1484986"/>
            <a:ext cx="2651760" cy="493776"/>
          </a:xfrm>
          <a:prstGeom prst="rect">
            <a:avLst/>
          </a:prstGeom>
          <a:noFill/>
          <a:ln/>
        </p:spPr>
        <p:txBody>
          <a:bodyPr wrap="square" lIns="0" tIns="0" rIns="0" bIns="0" rtlCol="0" anchor="ctr"/>
          <a:lstStyle/>
          <a:p>
            <a:pPr rtl="1" algn="ctr" indent="0" marL="0">
              <a:buNone/>
            </a:pPr>
            <a:r>
              <a:rPr lang="ar-LB" altLang="en-US" sz="1300" dirty="0">
                <a:solidFill>
                  <a:srgbClr val="3E4A52"/>
                </a:solidFill>
              </a:rPr>
              <a:t>تُقرأ: 2 أُس 5 = 2 × 2 × 2 × 2 × 2</a:t>
            </a:r>
            <a:endParaRPr lang="ar-LB" sz="1300" dirty="0"/>
          </a:p>
        </p:txBody>
      </p:sp>
      <p:sp>
        <p:nvSpPr>
          <p:cNvPr id="9" name="Shape 7"/>
          <p:cNvSpPr/>
          <p:nvPr/>
        </p:nvSpPr>
        <p:spPr>
          <a:xfrm>
            <a:off x="457200" y="2148840"/>
            <a:ext cx="5806440" cy="1371600"/>
          </a:xfrm>
          <a:prstGeom prst="roundRect">
            <a:avLst>
              <a:gd name="adj" fmla="val 6667"/>
            </a:avLst>
          </a:prstGeom>
          <a:solidFill>
            <a:srgbClr val="0B6E70">
              <a:alpha val="10000"/>
            </a:srgbClr>
          </a:solidFill>
          <a:ln w="19050">
            <a:solidFill>
              <a:srgbClr val="0B6E70"/>
            </a:solidFill>
            <a:prstDash val="solid"/>
          </a:ln>
        </p:spPr>
      </p:sp>
      <p:sp>
        <p:nvSpPr>
          <p:cNvPr id="10" name="Shape 8"/>
          <p:cNvSpPr/>
          <p:nvPr/>
        </p:nvSpPr>
        <p:spPr>
          <a:xfrm>
            <a:off x="5760720" y="2240280"/>
            <a:ext cx="384048" cy="384048"/>
          </a:xfrm>
          <a:prstGeom prst="ellipse">
            <a:avLst/>
          </a:prstGeom>
          <a:solidFill>
            <a:srgbClr val="0B6E70"/>
          </a:solidFill>
          <a:ln w="12700">
            <a:solidFill>
              <a:srgbClr val="0B6E70"/>
            </a:solidFill>
            <a:prstDash val="solid"/>
          </a:ln>
        </p:spPr>
      </p:sp>
      <p:pic>
        <p:nvPicPr>
          <p:cNvPr id="11" name="Image 0" descr="أيقونة يد: نشاط لمسي">    </p:cNvPr>
          <p:cNvPicPr>
            <a:picLocks noChangeAspect="1"/>
          </p:cNvPicPr>
          <p:nvPr/>
        </p:nvPicPr>
        <p:blipFill>
          <a:blip r:embed="rId1"/>
          <a:stretch>
            <a:fillRect/>
          </a:stretch>
        </p:blipFill>
        <p:spPr>
          <a:xfrm>
            <a:off x="5852892" y="2332452"/>
            <a:ext cx="199705" cy="199705"/>
          </a:xfrm>
          <a:prstGeom prst="rect">
            <a:avLst/>
          </a:prstGeom>
        </p:spPr>
      </p:pic>
      <p:sp>
        <p:nvSpPr>
          <p:cNvPr id="12" name="Text 9"/>
          <p:cNvSpPr txBox="1"/>
          <p:nvPr/>
        </p:nvSpPr>
        <p:spPr>
          <a:xfrm>
            <a:off x="548640" y="2221992"/>
            <a:ext cx="5120640" cy="411480"/>
          </a:xfrm>
          <a:prstGeom prst="rect">
            <a:avLst/>
          </a:prstGeom>
          <a:noFill/>
          <a:ln/>
        </p:spPr>
        <p:txBody>
          <a:bodyPr wrap="square" lIns="0" tIns="0" rIns="0" bIns="0" rtlCol="0" anchor="ctr"/>
          <a:lstStyle/>
          <a:p>
            <a:pPr rtl="1" algn="r" indent="0" marL="0">
              <a:buNone/>
            </a:pPr>
            <a:r>
              <a:rPr lang="ar-LB" altLang="en-US" sz="1600" b="1" dirty="0">
                <a:solidFill>
                  <a:srgbClr val="0B6E70"/>
                </a:solidFill>
              </a:rPr>
              <a:t>خيط القوّة (نموذج لمسي)</a:t>
            </a:r>
            <a:endParaRPr lang="ar-LB" sz="1600" dirty="0"/>
          </a:p>
        </p:txBody>
      </p:sp>
      <p:sp>
        <p:nvSpPr>
          <p:cNvPr id="13" name="Text 10"/>
          <p:cNvSpPr txBox="1"/>
          <p:nvPr/>
        </p:nvSpPr>
        <p:spPr>
          <a:xfrm>
            <a:off x="594360" y="2624328"/>
            <a:ext cx="5532120" cy="850392"/>
          </a:xfrm>
          <a:prstGeom prst="rect">
            <a:avLst/>
          </a:prstGeom>
          <a:noFill/>
          <a:ln/>
        </p:spPr>
        <p:txBody>
          <a:bodyPr wrap="square" lIns="0" tIns="0" rIns="0" bIns="0" rtlCol="0" anchor="t"/>
          <a:lstStyle/>
          <a:p>
            <a:pPr rtl="1" algn="r" indent="0" marL="0">
              <a:spcAft>
                <a:spcPts val="300"/>
              </a:spcAft>
              <a:buNone/>
            </a:pPr>
            <a:r>
              <a:rPr lang="ar-LB" altLang="en-US" sz="1500" dirty="0">
                <a:solidFill>
                  <a:srgbClr val="1B262C"/>
                </a:solidFill>
              </a:rPr>
              <a:t>خيط عليه 5 خرزات، كل خرزة تعني «ضرب 2».</a:t>
            </a:r>
            <a:endParaRPr lang="ar-LB" sz="1500" dirty="0"/>
          </a:p>
          <a:p>
            <a:pPr rtl="1" algn="r" indent="0" marL="0">
              <a:spcAft>
                <a:spcPts val="300"/>
              </a:spcAft>
              <a:buNone/>
            </a:pPr>
            <a:r>
              <a:rPr lang="ar-LB" altLang="en-US" sz="1500" dirty="0">
                <a:solidFill>
                  <a:srgbClr val="1B262C"/>
                </a:solidFill>
              </a:rPr>
              <a:t>الأساس 2 هو العامل المكرّر، والأُس 5 هو عدد الخرزات.</a:t>
            </a:r>
            <a:endParaRPr lang="ar-LB" sz="1500" dirty="0"/>
          </a:p>
        </p:txBody>
      </p:sp>
      <p:sp>
        <p:nvSpPr>
          <p:cNvPr id="14" name="Shape 11"/>
          <p:cNvSpPr/>
          <p:nvPr/>
        </p:nvSpPr>
        <p:spPr>
          <a:xfrm>
            <a:off x="457200" y="3657600"/>
            <a:ext cx="5806440" cy="960120"/>
          </a:xfrm>
          <a:prstGeom prst="roundRect">
            <a:avLst>
              <a:gd name="adj" fmla="val 9524"/>
            </a:avLst>
          </a:prstGeom>
          <a:solidFill>
            <a:srgbClr val="C2500C">
              <a:alpha val="10000"/>
            </a:srgbClr>
          </a:solidFill>
          <a:ln w="19050">
            <a:solidFill>
              <a:srgbClr val="C2500C"/>
            </a:solidFill>
            <a:prstDash val="solid"/>
          </a:ln>
        </p:spPr>
      </p:sp>
      <p:sp>
        <p:nvSpPr>
          <p:cNvPr id="15" name="Shape 12"/>
          <p:cNvSpPr/>
          <p:nvPr/>
        </p:nvSpPr>
        <p:spPr>
          <a:xfrm>
            <a:off x="5760720" y="3749040"/>
            <a:ext cx="384048" cy="384048"/>
          </a:xfrm>
          <a:prstGeom prst="ellipse">
            <a:avLst/>
          </a:prstGeom>
          <a:solidFill>
            <a:srgbClr val="C2500C"/>
          </a:solidFill>
          <a:ln w="12700">
            <a:solidFill>
              <a:srgbClr val="C2500C"/>
            </a:solidFill>
            <a:prstDash val="solid"/>
          </a:ln>
        </p:spPr>
      </p:sp>
      <p:pic>
        <p:nvPicPr>
          <p:cNvPr id="16" name="Image 1" descr="أيقونة تنبيه">    </p:cNvPr>
          <p:cNvPicPr>
            <a:picLocks noChangeAspect="1"/>
          </p:cNvPicPr>
          <p:nvPr/>
        </p:nvPicPr>
        <p:blipFill>
          <a:blip r:embed="rId2"/>
          <a:stretch>
            <a:fillRect/>
          </a:stretch>
        </p:blipFill>
        <p:spPr>
          <a:xfrm>
            <a:off x="5852892" y="3841212"/>
            <a:ext cx="199705" cy="199705"/>
          </a:xfrm>
          <a:prstGeom prst="rect">
            <a:avLst/>
          </a:prstGeom>
        </p:spPr>
      </p:pic>
      <p:sp>
        <p:nvSpPr>
          <p:cNvPr id="17" name="Text 13"/>
          <p:cNvSpPr txBox="1"/>
          <p:nvPr/>
        </p:nvSpPr>
        <p:spPr>
          <a:xfrm>
            <a:off x="548640" y="3730752"/>
            <a:ext cx="5120640" cy="411480"/>
          </a:xfrm>
          <a:prstGeom prst="rect">
            <a:avLst/>
          </a:prstGeom>
          <a:noFill/>
          <a:ln/>
        </p:spPr>
        <p:txBody>
          <a:bodyPr wrap="square" lIns="0" tIns="0" rIns="0" bIns="0" rtlCol="0" anchor="ctr"/>
          <a:lstStyle/>
          <a:p>
            <a:pPr rtl="1" algn="r" indent="0" marL="0">
              <a:buNone/>
            </a:pPr>
            <a:r>
              <a:rPr lang="ar-LB" altLang="en-US" sz="1600" b="1" dirty="0">
                <a:solidFill>
                  <a:srgbClr val="C2500C"/>
                </a:solidFill>
              </a:rPr>
              <a:t>خطأ شائع</a:t>
            </a:r>
            <a:endParaRPr lang="ar-LB" sz="1600" dirty="0"/>
          </a:p>
        </p:txBody>
      </p:sp>
      <p:sp>
        <p:nvSpPr>
          <p:cNvPr id="18" name="Text 14"/>
          <p:cNvSpPr txBox="1"/>
          <p:nvPr/>
        </p:nvSpPr>
        <p:spPr>
          <a:xfrm>
            <a:off x="594360" y="4133088"/>
            <a:ext cx="5532120" cy="438912"/>
          </a:xfrm>
          <a:prstGeom prst="rect">
            <a:avLst/>
          </a:prstGeom>
          <a:noFill/>
          <a:ln/>
        </p:spPr>
        <p:txBody>
          <a:bodyPr wrap="square" lIns="0" tIns="0" rIns="0" bIns="0" rtlCol="0" anchor="t"/>
          <a:lstStyle/>
          <a:p>
            <a:pPr rtl="1" algn="r" indent="0" marL="0">
              <a:spcAft>
                <a:spcPts val="300"/>
              </a:spcAft>
              <a:buNone/>
            </a:pPr>
            <a:r>
              <a:rPr lang="ar-LB" altLang="en-US" sz="1500" dirty="0">
                <a:solidFill>
                  <a:srgbClr val="1B262C"/>
                </a:solidFill>
              </a:rPr>
              <a:t>5 أُس 2 = 5 × 5 = 25، وليس 5 × 2 = 10.</a:t>
            </a:r>
            <a:endParaRPr lang="ar-LB" sz="1500" dirty="0"/>
          </a:p>
        </p:txBody>
      </p:sp>
      <p:sp>
        <p:nvSpPr>
          <p:cNvPr id="19" name="Shape 15"/>
          <p:cNvSpPr/>
          <p:nvPr/>
        </p:nvSpPr>
        <p:spPr>
          <a:xfrm>
            <a:off x="6446520" y="914400"/>
            <a:ext cx="2240280" cy="3749040"/>
          </a:xfrm>
          <a:prstGeom prst="roundRect">
            <a:avLst>
              <a:gd name="adj" fmla="val 4082"/>
            </a:avLst>
          </a:prstGeom>
          <a:solidFill>
            <a:srgbClr val="0F4C5C"/>
          </a:solidFill>
          <a:ln w="12700">
            <a:solidFill>
              <a:srgbClr val="0F4C5C"/>
            </a:solidFill>
            <a:prstDash val="solid"/>
          </a:ln>
        </p:spPr>
      </p:sp>
      <p:sp>
        <p:nvSpPr>
          <p:cNvPr id="20" name="Text 16"/>
          <p:cNvSpPr txBox="1"/>
          <p:nvPr/>
        </p:nvSpPr>
        <p:spPr>
          <a:xfrm>
            <a:off x="6537960" y="960120"/>
            <a:ext cx="2057400" cy="365760"/>
          </a:xfrm>
          <a:prstGeom prst="rect">
            <a:avLst/>
          </a:prstGeom>
          <a:noFill/>
          <a:ln/>
        </p:spPr>
        <p:txBody>
          <a:bodyPr wrap="square" lIns="0" tIns="0" rIns="0" bIns="0" rtlCol="0" anchor="t"/>
          <a:lstStyle/>
          <a:p>
            <a:pPr rtl="1" algn="r" indent="0" marL="0">
              <a:buNone/>
            </a:pPr>
            <a:r>
              <a:rPr lang="ar-LB" altLang="en-US" sz="1500" b="1" dirty="0">
                <a:solidFill>
                  <a:srgbClr val="F2C46D"/>
                </a:solidFill>
              </a:rPr>
              <a:t>دليل المعلم</a:t>
            </a:r>
            <a:endParaRPr lang="ar-LB" sz="1500" dirty="0"/>
          </a:p>
        </p:txBody>
      </p:sp>
      <p:sp>
        <p:nvSpPr>
          <p:cNvPr id="21" name="Text 17"/>
          <p:cNvSpPr txBox="1"/>
          <p:nvPr/>
        </p:nvSpPr>
        <p:spPr>
          <a:xfrm>
            <a:off x="6537960" y="1298448"/>
            <a:ext cx="2057400" cy="411480"/>
          </a:xfrm>
          <a:prstGeom prst="rect">
            <a:avLst/>
          </a:prstGeom>
          <a:noFill/>
          <a:ln/>
        </p:spPr>
        <p:txBody>
          <a:bodyPr wrap="square" lIns="0" tIns="0" rIns="0" bIns="0" rtlCol="0" anchor="t"/>
          <a:lstStyle/>
          <a:p>
            <a:pPr rtl="1" algn="r" indent="0" marL="0">
              <a:buNone/>
            </a:pPr>
            <a:r>
              <a:rPr lang="ar-LB" altLang="en-US" sz="1700" b="1" dirty="0">
                <a:solidFill>
                  <a:srgbClr val="FFFFFF"/>
                </a:solidFill>
              </a:rPr>
              <a:t>تعميم المفهوم</a:t>
            </a:r>
            <a:endParaRPr lang="ar-LB" sz="1700" dirty="0"/>
          </a:p>
        </p:txBody>
      </p:sp>
      <p:sp>
        <p:nvSpPr>
          <p:cNvPr id="22" name="Shape 18"/>
          <p:cNvSpPr/>
          <p:nvPr/>
        </p:nvSpPr>
        <p:spPr>
          <a:xfrm>
            <a:off x="8183880" y="1783080"/>
            <a:ext cx="384048" cy="384048"/>
          </a:xfrm>
          <a:prstGeom prst="ellipse">
            <a:avLst/>
          </a:prstGeom>
          <a:solidFill>
            <a:srgbClr val="C2500C"/>
          </a:solidFill>
          <a:ln w="12700">
            <a:solidFill>
              <a:srgbClr val="C2500C"/>
            </a:solidFill>
            <a:prstDash val="solid"/>
          </a:ln>
        </p:spPr>
      </p:sp>
      <p:pic>
        <p:nvPicPr>
          <p:cNvPr id="23" name="Image 2" descr="أيقونة ساعة: الوقت">    </p:cNvPr>
          <p:cNvPicPr>
            <a:picLocks noChangeAspect="1"/>
          </p:cNvPicPr>
          <p:nvPr/>
        </p:nvPicPr>
        <p:blipFill>
          <a:blip r:embed="rId3"/>
          <a:stretch>
            <a:fillRect/>
          </a:stretch>
        </p:blipFill>
        <p:spPr>
          <a:xfrm>
            <a:off x="8276052" y="1875252"/>
            <a:ext cx="199705" cy="199705"/>
          </a:xfrm>
          <a:prstGeom prst="rect">
            <a:avLst/>
          </a:prstGeom>
        </p:spPr>
      </p:pic>
      <p:sp>
        <p:nvSpPr>
          <p:cNvPr id="24" name="Text 19"/>
          <p:cNvSpPr txBox="1"/>
          <p:nvPr/>
        </p:nvSpPr>
        <p:spPr>
          <a:xfrm>
            <a:off x="6537960" y="1783080"/>
            <a:ext cx="1600200" cy="384048"/>
          </a:xfrm>
          <a:prstGeom prst="rect">
            <a:avLst/>
          </a:prstGeom>
          <a:noFill/>
          <a:ln/>
        </p:spPr>
        <p:txBody>
          <a:bodyPr wrap="square" lIns="0" tIns="0" rIns="0" bIns="0" rtlCol="0" anchor="ctr"/>
          <a:lstStyle/>
          <a:p>
            <a:pPr rtl="1" algn="r" indent="0" marL="0">
              <a:buNone/>
            </a:pPr>
            <a:r>
              <a:rPr lang="ar-LB" altLang="en-US" sz="1600" b="1" dirty="0">
                <a:solidFill>
                  <a:srgbClr val="FFFFFF"/>
                </a:solidFill>
              </a:rPr>
              <a:t>جزء من 8 د</a:t>
            </a:r>
            <a:endParaRPr lang="ar-LB" sz="1600" dirty="0"/>
          </a:p>
        </p:txBody>
      </p:sp>
      <p:sp>
        <p:nvSpPr>
          <p:cNvPr id="25" name="Text 20"/>
          <p:cNvSpPr txBox="1"/>
          <p:nvPr/>
        </p:nvSpPr>
        <p:spPr>
          <a:xfrm>
            <a:off x="6537960" y="2286000"/>
            <a:ext cx="2057400" cy="2286000"/>
          </a:xfrm>
          <a:prstGeom prst="rect">
            <a:avLst/>
          </a:prstGeom>
          <a:noFill/>
          <a:ln/>
        </p:spPr>
        <p:txBody>
          <a:bodyPr wrap="square" lIns="0" tIns="0" rIns="0" bIns="0" rtlCol="0" anchor="t"/>
          <a:lstStyle/>
          <a:p>
            <a:pPr rtl="1" algn="r" indent="0" marL="0">
              <a:spcAft>
                <a:spcPts val="300"/>
              </a:spcAft>
              <a:buNone/>
            </a:pPr>
            <a:r>
              <a:rPr lang="ar-LB" altLang="en-US" sz="1300" b="1" dirty="0">
                <a:solidFill>
                  <a:srgbClr val="F2C46D"/>
                </a:solidFill>
              </a:rPr>
              <a:t>الاستراتيجية:</a:t>
            </a:r>
            <a:endParaRPr lang="ar-LB" sz="1300" dirty="0"/>
          </a:p>
          <a:p>
            <a:pPr rtl="1" algn="r" indent="0" marL="0">
              <a:spcAft>
                <a:spcPts val="300"/>
              </a:spcAft>
              <a:buNone/>
            </a:pPr>
            <a:r>
              <a:rPr lang="ar-LB" altLang="en-US" sz="1300" dirty="0">
                <a:solidFill>
                  <a:srgbClr val="FFFFFF"/>
                </a:solidFill>
              </a:rPr>
              <a:t>أسئلة موجّهة: «ما الأساس؟ ما الأُس؟ كم خرزة؟»</a:t>
            </a:r>
            <a:endParaRPr lang="ar-LB" sz="1300" dirty="0"/>
          </a:p>
          <a:p>
            <a:pPr rtl="1" algn="r" indent="0" marL="0">
              <a:spcAft>
                <a:spcPts val="300"/>
              </a:spcAft>
              <a:buNone/>
            </a:pPr>
            <a:r>
              <a:rPr lang="ar-LB" altLang="en-US" sz="1300" b="1" dirty="0">
                <a:solidFill>
                  <a:srgbClr val="F2C46D"/>
                </a:solidFill>
              </a:rPr>
              <a:t>الأدوات:</a:t>
            </a:r>
            <a:endParaRPr lang="ar-LB" sz="1300" dirty="0"/>
          </a:p>
          <a:p>
            <a:pPr rtl="1" algn="r" indent="0" marL="0">
              <a:spcAft>
                <a:spcPts val="300"/>
              </a:spcAft>
              <a:buNone/>
            </a:pPr>
            <a:r>
              <a:rPr lang="ar-LB" altLang="en-US" sz="1300" dirty="0">
                <a:solidFill>
                  <a:srgbClr val="FFFFFF"/>
                </a:solidFill>
              </a:rPr>
              <a:t>خيط عليه 5 خرزات</a:t>
            </a:r>
            <a:endParaRPr lang="ar-LB" sz="13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000" b="1" dirty="0">
                <a:solidFill>
                  <a:srgbClr val="0F4C5C"/>
                </a:solidFill>
              </a:rPr>
              <a:t>استكشاف 2: قوّة القوّة بالخيوط</a:t>
            </a:r>
            <a:endParaRPr lang="en-US" sz="3000" dirty="0"/>
          </a:p>
        </p:txBody>
      </p:sp>
      <p:sp>
        <p:nvSpPr>
          <p:cNvPr id="3" name="Shape 1"/>
          <p:cNvSpPr/>
          <p:nvPr/>
        </p:nvSpPr>
        <p:spPr>
          <a:xfrm>
            <a:off x="457200" y="914400"/>
            <a:ext cx="5806440" cy="1691640"/>
          </a:xfrm>
          <a:prstGeom prst="roundRect">
            <a:avLst>
              <a:gd name="adj" fmla="val 5405"/>
            </a:avLst>
          </a:prstGeom>
          <a:solidFill>
            <a:srgbClr val="1F7A45">
              <a:alpha val="10000"/>
            </a:srgbClr>
          </a:solidFill>
          <a:ln w="19050">
            <a:solidFill>
              <a:srgbClr val="1F7A45"/>
            </a:solidFill>
            <a:prstDash val="solid"/>
          </a:ln>
        </p:spPr>
      </p:sp>
      <p:sp>
        <p:nvSpPr>
          <p:cNvPr id="4" name="Shape 2"/>
          <p:cNvSpPr/>
          <p:nvPr/>
        </p:nvSpPr>
        <p:spPr>
          <a:xfrm>
            <a:off x="5760720" y="1005840"/>
            <a:ext cx="384048" cy="384048"/>
          </a:xfrm>
          <a:prstGeom prst="ellipse">
            <a:avLst/>
          </a:prstGeom>
          <a:solidFill>
            <a:srgbClr val="1F7A45"/>
          </a:solidFill>
          <a:ln w="12700">
            <a:solidFill>
              <a:srgbClr val="1F7A45"/>
            </a:solidFill>
            <a:prstDash val="solid"/>
          </a:ln>
        </p:spPr>
      </p:sp>
      <p:pic>
        <p:nvPicPr>
          <p:cNvPr id="5" name="Image 0" descr="أيقونة يد: نشاط لمسي">    </p:cNvPr>
          <p:cNvPicPr>
            <a:picLocks noChangeAspect="1"/>
          </p:cNvPicPr>
          <p:nvPr/>
        </p:nvPicPr>
        <p:blipFill>
          <a:blip r:embed="rId1"/>
          <a:stretch>
            <a:fillRect/>
          </a:stretch>
        </p:blipFill>
        <p:spPr>
          <a:xfrm>
            <a:off x="5852892" y="1098012"/>
            <a:ext cx="199705" cy="199705"/>
          </a:xfrm>
          <a:prstGeom prst="rect">
            <a:avLst/>
          </a:prstGeom>
        </p:spPr>
      </p:pic>
      <p:sp>
        <p:nvSpPr>
          <p:cNvPr id="6" name="Text 3"/>
          <p:cNvSpPr txBox="1"/>
          <p:nvPr/>
        </p:nvSpPr>
        <p:spPr>
          <a:xfrm>
            <a:off x="548640" y="987552"/>
            <a:ext cx="5120640" cy="411480"/>
          </a:xfrm>
          <a:prstGeom prst="rect">
            <a:avLst/>
          </a:prstGeom>
          <a:noFill/>
          <a:ln/>
        </p:spPr>
        <p:txBody>
          <a:bodyPr wrap="square" lIns="0" tIns="0" rIns="0" bIns="0" rtlCol="0" anchor="ctr"/>
          <a:lstStyle/>
          <a:p>
            <a:pPr rtl="1" algn="r" indent="0" marL="0">
              <a:buNone/>
            </a:pPr>
            <a:r>
              <a:rPr lang="ar-LB" altLang="en-US" sz="1600" b="1" dirty="0">
                <a:solidFill>
                  <a:srgbClr val="1F7A45"/>
                </a:solidFill>
              </a:rPr>
              <a:t>يفعل الطلاب</a:t>
            </a:r>
            <a:endParaRPr lang="ar-LB" sz="1600" dirty="0"/>
          </a:p>
        </p:txBody>
      </p:sp>
      <p:sp>
        <p:nvSpPr>
          <p:cNvPr id="7" name="Text 4"/>
          <p:cNvSpPr txBox="1"/>
          <p:nvPr/>
        </p:nvSpPr>
        <p:spPr>
          <a:xfrm>
            <a:off x="594360" y="1389888"/>
            <a:ext cx="5532120" cy="1170432"/>
          </a:xfrm>
          <a:prstGeom prst="rect">
            <a:avLst/>
          </a:prstGeom>
          <a:noFill/>
          <a:ln/>
        </p:spPr>
        <p:txBody>
          <a:bodyPr wrap="square" lIns="0" tIns="0" rIns="0" bIns="0" rtlCol="0" anchor="t"/>
          <a:lstStyle/>
          <a:p>
            <a:pPr rtl="1" algn="r" indent="0" marL="0">
              <a:spcAft>
                <a:spcPts val="300"/>
              </a:spcAft>
              <a:buNone/>
            </a:pPr>
            <a:r>
              <a:rPr lang="ar-LB" altLang="en-US" sz="1500" dirty="0">
                <a:solidFill>
                  <a:srgbClr val="1B262C"/>
                </a:solidFill>
              </a:rPr>
              <a:t>خيط عليه 3 خرزات = 2 أُس 3.</a:t>
            </a:r>
            <a:endParaRPr lang="ar-LB" sz="1500" dirty="0"/>
          </a:p>
          <a:p>
            <a:pPr rtl="1" algn="r" indent="0" marL="0">
              <a:spcAft>
                <a:spcPts val="300"/>
              </a:spcAft>
              <a:buNone/>
            </a:pPr>
            <a:r>
              <a:rPr lang="ar-LB" altLang="en-US" sz="1500" dirty="0">
                <a:solidFill>
                  <a:srgbClr val="1B262C"/>
                </a:solidFill>
              </a:rPr>
              <a:t>«(2 أُس 3) الكلّ أُس 2» تعني: نأخذ الخيط مرتين.</a:t>
            </a:r>
            <a:endParaRPr lang="ar-LB" sz="1500" dirty="0"/>
          </a:p>
          <a:p>
            <a:pPr rtl="1" algn="r" indent="0" marL="0">
              <a:spcAft>
                <a:spcPts val="300"/>
              </a:spcAft>
              <a:buNone/>
            </a:pPr>
            <a:r>
              <a:rPr lang="ar-LB" altLang="en-US" sz="1500" dirty="0">
                <a:solidFill>
                  <a:srgbClr val="1B262C"/>
                </a:solidFill>
              </a:rPr>
              <a:t>نربط الخيطين ونعدّ: 6 خرزات، إذن 2 أُس 6.</a:t>
            </a:r>
            <a:endParaRPr lang="ar-LB" sz="1500" dirty="0"/>
          </a:p>
        </p:txBody>
      </p:sp>
      <p:sp>
        <p:nvSpPr>
          <p:cNvPr id="8" name="Shape 5"/>
          <p:cNvSpPr/>
          <p:nvPr/>
        </p:nvSpPr>
        <p:spPr>
          <a:xfrm>
            <a:off x="3429000" y="2743200"/>
            <a:ext cx="2834640" cy="1143000"/>
          </a:xfrm>
          <a:prstGeom prst="roundRect">
            <a:avLst>
              <a:gd name="adj" fmla="val 8000"/>
            </a:avLst>
          </a:prstGeom>
          <a:solidFill>
            <a:srgbClr val="1B262C">
              <a:alpha val="8000"/>
            </a:srgbClr>
          </a:solidFill>
          <a:ln w="19050">
            <a:solidFill>
              <a:srgbClr val="1B262C"/>
            </a:solidFill>
            <a:prstDash val="solid"/>
          </a:ln>
        </p:spPr>
      </p:sp>
      <p:sp>
        <p:nvSpPr>
          <p:cNvPr id="9" name="Text 6"/>
          <p:cNvSpPr txBox="1"/>
          <p:nvPr/>
        </p:nvSpPr>
        <p:spPr>
          <a:xfrm>
            <a:off x="3502152" y="2779776"/>
            <a:ext cx="2688336" cy="571500"/>
          </a:xfrm>
          <a:prstGeom prst="rect">
            <a:avLst/>
          </a:prstGeom>
          <a:noFill/>
          <a:ln/>
        </p:spPr>
        <p:txBody>
          <a:bodyPr wrap="square" lIns="0" tIns="0" rIns="0" bIns="0" rtlCol="0" anchor="ctr"/>
          <a:lstStyle/>
          <a:p>
            <a:pPr rtl="0" algn="ctr" indent="0" marL="0">
              <a:buNone/>
            </a:pPr>
            <a:r>
              <a:rPr lang="en-US" sz="2000" b="1" dirty="0">
                <a:solidFill>
                  <a:srgbClr val="1B262C"/>
                </a:solidFill>
                <a:latin typeface="Arial" pitchFamily="34" charset="0"/>
                <a:ea typeface="Arial" pitchFamily="34" charset="-122"/>
                <a:cs typeface="Arial" pitchFamily="34" charset="-120"/>
              </a:rPr>
              <a:t>(2</a:t>
            </a:r>
            <a:r>
              <a:rPr lang="en-US" sz="2000" b="1" baseline="30000" dirty="0">
                <a:solidFill>
                  <a:srgbClr val="1B262C"/>
                </a:solidFill>
                <a:latin typeface="Arial" pitchFamily="34" charset="0"/>
                <a:ea typeface="Arial" pitchFamily="34" charset="-122"/>
                <a:cs typeface="Arial" pitchFamily="34" charset="-120"/>
              </a:rPr>
              <a:t>3</a:t>
            </a:r>
            <a:r>
              <a:rPr lang="en-US" sz="2000" b="1" dirty="0">
                <a:solidFill>
                  <a:srgbClr val="1B262C"/>
                </a:solidFill>
                <a:latin typeface="Arial" pitchFamily="34" charset="0"/>
                <a:ea typeface="Arial" pitchFamily="34" charset="-122"/>
                <a:cs typeface="Arial" pitchFamily="34" charset="-120"/>
              </a:rPr>
              <a:t>)</a:t>
            </a:r>
            <a:r>
              <a:rPr lang="en-US" sz="2000" b="1" baseline="30000" dirty="0">
                <a:solidFill>
                  <a:srgbClr val="1B262C"/>
                </a:solidFill>
                <a:latin typeface="Arial" pitchFamily="34" charset="0"/>
                <a:ea typeface="Arial" pitchFamily="34" charset="-122"/>
                <a:cs typeface="Arial" pitchFamily="34" charset="-120"/>
              </a:rPr>
              <a:t>2</a:t>
            </a:r>
            <a:r>
              <a:rPr lang="en-US" sz="2000" b="1" dirty="0">
                <a:solidFill>
                  <a:srgbClr val="1B262C"/>
                </a:solidFill>
                <a:latin typeface="Arial" pitchFamily="34" charset="0"/>
                <a:ea typeface="Arial" pitchFamily="34" charset="-122"/>
                <a:cs typeface="Arial" pitchFamily="34" charset="-120"/>
              </a:rPr>
              <a:t> = 2</a:t>
            </a:r>
            <a:r>
              <a:rPr lang="en-US" sz="2000" b="1" baseline="30000" dirty="0">
                <a:solidFill>
                  <a:srgbClr val="1B262C"/>
                </a:solidFill>
                <a:latin typeface="Arial" pitchFamily="34" charset="0"/>
                <a:ea typeface="Arial" pitchFamily="34" charset="-122"/>
                <a:cs typeface="Arial" pitchFamily="34" charset="-120"/>
              </a:rPr>
              <a:t>6</a:t>
            </a:r>
            <a:endParaRPr lang="en-US" sz="2000" dirty="0"/>
          </a:p>
        </p:txBody>
      </p:sp>
      <p:sp>
        <p:nvSpPr>
          <p:cNvPr id="10" name="Text 7"/>
          <p:cNvSpPr txBox="1"/>
          <p:nvPr/>
        </p:nvSpPr>
        <p:spPr>
          <a:xfrm>
            <a:off x="3520440" y="3337560"/>
            <a:ext cx="2651760" cy="514350"/>
          </a:xfrm>
          <a:prstGeom prst="rect">
            <a:avLst/>
          </a:prstGeom>
          <a:noFill/>
          <a:ln/>
        </p:spPr>
        <p:txBody>
          <a:bodyPr wrap="square" lIns="0" tIns="0" rIns="0" bIns="0" rtlCol="0" anchor="ctr"/>
          <a:lstStyle/>
          <a:p>
            <a:pPr rtl="1" algn="ctr" indent="0" marL="0">
              <a:buNone/>
            </a:pPr>
            <a:r>
              <a:rPr lang="ar-LB" altLang="en-US" sz="1300" dirty="0">
                <a:solidFill>
                  <a:srgbClr val="3E4A52"/>
                </a:solidFill>
              </a:rPr>
              <a:t>تُقرأ: (2 أُس 3) الكلّ أُس 2 = 2 أُس 6</a:t>
            </a:r>
            <a:endParaRPr lang="ar-LB" sz="1300" dirty="0"/>
          </a:p>
        </p:txBody>
      </p:sp>
      <p:sp>
        <p:nvSpPr>
          <p:cNvPr id="11" name="Shape 8"/>
          <p:cNvSpPr/>
          <p:nvPr/>
        </p:nvSpPr>
        <p:spPr>
          <a:xfrm>
            <a:off x="457200" y="2743200"/>
            <a:ext cx="2834640" cy="1143000"/>
          </a:xfrm>
          <a:prstGeom prst="roundRect">
            <a:avLst>
              <a:gd name="adj" fmla="val 8000"/>
            </a:avLst>
          </a:prstGeom>
          <a:solidFill>
            <a:srgbClr val="1B262C">
              <a:alpha val="8000"/>
            </a:srgbClr>
          </a:solidFill>
          <a:ln w="19050">
            <a:solidFill>
              <a:srgbClr val="1B262C"/>
            </a:solidFill>
            <a:prstDash val="solid"/>
          </a:ln>
        </p:spPr>
      </p:sp>
      <p:sp>
        <p:nvSpPr>
          <p:cNvPr id="12" name="Text 9"/>
          <p:cNvSpPr txBox="1"/>
          <p:nvPr/>
        </p:nvSpPr>
        <p:spPr>
          <a:xfrm>
            <a:off x="530352" y="2779776"/>
            <a:ext cx="2688336" cy="571500"/>
          </a:xfrm>
          <a:prstGeom prst="rect">
            <a:avLst/>
          </a:prstGeom>
          <a:noFill/>
          <a:ln/>
        </p:spPr>
        <p:txBody>
          <a:bodyPr wrap="square" lIns="0" tIns="0" rIns="0" bIns="0" rtlCol="0" anchor="ctr"/>
          <a:lstStyle/>
          <a:p>
            <a:pPr rtl="0" algn="ctr" indent="0" marL="0">
              <a:buNone/>
            </a:pPr>
            <a:r>
              <a:rPr lang="en-US" sz="2000" b="1" dirty="0">
                <a:solidFill>
                  <a:srgbClr val="1B262C"/>
                </a:solidFill>
                <a:latin typeface="Arial" pitchFamily="34" charset="0"/>
                <a:ea typeface="Arial" pitchFamily="34" charset="-122"/>
                <a:cs typeface="Arial" pitchFamily="34" charset="-120"/>
              </a:rPr>
              <a:t>(5</a:t>
            </a:r>
            <a:r>
              <a:rPr lang="en-US" sz="2000" b="1" baseline="30000" dirty="0">
                <a:solidFill>
                  <a:srgbClr val="1B262C"/>
                </a:solidFill>
                <a:latin typeface="Arial" pitchFamily="34" charset="0"/>
                <a:ea typeface="Arial" pitchFamily="34" charset="-122"/>
                <a:cs typeface="Arial" pitchFamily="34" charset="-120"/>
              </a:rPr>
              <a:t>2</a:t>
            </a:r>
            <a:r>
              <a:rPr lang="en-US" sz="2000" b="1" dirty="0">
                <a:solidFill>
                  <a:srgbClr val="1B262C"/>
                </a:solidFill>
                <a:latin typeface="Arial" pitchFamily="34" charset="0"/>
                <a:ea typeface="Arial" pitchFamily="34" charset="-122"/>
                <a:cs typeface="Arial" pitchFamily="34" charset="-120"/>
              </a:rPr>
              <a:t>)</a:t>
            </a:r>
            <a:r>
              <a:rPr lang="en-US" sz="2000" b="1" baseline="30000" dirty="0">
                <a:solidFill>
                  <a:srgbClr val="1B262C"/>
                </a:solidFill>
                <a:latin typeface="Arial" pitchFamily="34" charset="0"/>
                <a:ea typeface="Arial" pitchFamily="34" charset="-122"/>
                <a:cs typeface="Arial" pitchFamily="34" charset="-120"/>
              </a:rPr>
              <a:t>3</a:t>
            </a:r>
            <a:r>
              <a:rPr lang="en-US" sz="2000" b="1" dirty="0">
                <a:solidFill>
                  <a:srgbClr val="1B262C"/>
                </a:solidFill>
                <a:latin typeface="Arial" pitchFamily="34" charset="0"/>
                <a:ea typeface="Arial" pitchFamily="34" charset="-122"/>
                <a:cs typeface="Arial" pitchFamily="34" charset="-120"/>
              </a:rPr>
              <a:t> = 5</a:t>
            </a:r>
            <a:r>
              <a:rPr lang="en-US" sz="2000" b="1" baseline="30000" dirty="0">
                <a:solidFill>
                  <a:srgbClr val="1B262C"/>
                </a:solidFill>
                <a:latin typeface="Arial" pitchFamily="34" charset="0"/>
                <a:ea typeface="Arial" pitchFamily="34" charset="-122"/>
                <a:cs typeface="Arial" pitchFamily="34" charset="-120"/>
              </a:rPr>
              <a:t>6</a:t>
            </a:r>
            <a:endParaRPr lang="en-US" sz="2000" dirty="0"/>
          </a:p>
        </p:txBody>
      </p:sp>
      <p:sp>
        <p:nvSpPr>
          <p:cNvPr id="13" name="Text 10"/>
          <p:cNvSpPr txBox="1"/>
          <p:nvPr/>
        </p:nvSpPr>
        <p:spPr>
          <a:xfrm>
            <a:off x="548640" y="3337560"/>
            <a:ext cx="2651760" cy="514350"/>
          </a:xfrm>
          <a:prstGeom prst="rect">
            <a:avLst/>
          </a:prstGeom>
          <a:noFill/>
          <a:ln/>
        </p:spPr>
        <p:txBody>
          <a:bodyPr wrap="square" lIns="0" tIns="0" rIns="0" bIns="0" rtlCol="0" anchor="ctr"/>
          <a:lstStyle/>
          <a:p>
            <a:pPr rtl="1" algn="ctr" indent="0" marL="0">
              <a:buNone/>
            </a:pPr>
            <a:r>
              <a:rPr lang="ar-LB" altLang="en-US" sz="1300" dirty="0">
                <a:solidFill>
                  <a:srgbClr val="3E4A52"/>
                </a:solidFill>
              </a:rPr>
              <a:t>تُقرأ: 3 خيوط × خرزتان = 6</a:t>
            </a:r>
            <a:endParaRPr lang="ar-LB" sz="1300" dirty="0"/>
          </a:p>
        </p:txBody>
      </p:sp>
      <p:sp>
        <p:nvSpPr>
          <p:cNvPr id="14" name="Text 11"/>
          <p:cNvSpPr txBox="1"/>
          <p:nvPr/>
        </p:nvSpPr>
        <p:spPr>
          <a:xfrm>
            <a:off x="457200" y="4023360"/>
            <a:ext cx="5806440" cy="457200"/>
          </a:xfrm>
          <a:prstGeom prst="rect">
            <a:avLst/>
          </a:prstGeom>
          <a:noFill/>
          <a:ln/>
        </p:spPr>
        <p:txBody>
          <a:bodyPr wrap="square" lIns="0" tIns="0" rIns="0" bIns="0" rtlCol="0" anchor="t"/>
          <a:lstStyle/>
          <a:p>
            <a:pPr rtl="1" algn="r" indent="0" marL="0">
              <a:buNone/>
            </a:pPr>
            <a:r>
              <a:rPr lang="ar-LB" altLang="en-US" sz="1600" b="1" dirty="0">
                <a:solidFill>
                  <a:srgbClr val="0F4C5C"/>
                </a:solidFill>
              </a:rPr>
              <a:t>سؤال: كيف نعرف عدد الخرزات دون أن نعدّها؟</a:t>
            </a:r>
            <a:endParaRPr lang="ar-LB" sz="1600" dirty="0"/>
          </a:p>
        </p:txBody>
      </p:sp>
      <p:sp>
        <p:nvSpPr>
          <p:cNvPr id="15" name="Shape 12"/>
          <p:cNvSpPr/>
          <p:nvPr/>
        </p:nvSpPr>
        <p:spPr>
          <a:xfrm>
            <a:off x="6446520" y="914400"/>
            <a:ext cx="2240280" cy="3749040"/>
          </a:xfrm>
          <a:prstGeom prst="roundRect">
            <a:avLst>
              <a:gd name="adj" fmla="val 4082"/>
            </a:avLst>
          </a:prstGeom>
          <a:solidFill>
            <a:srgbClr val="0F4C5C"/>
          </a:solidFill>
          <a:ln w="12700">
            <a:solidFill>
              <a:srgbClr val="0F4C5C"/>
            </a:solidFill>
            <a:prstDash val="solid"/>
          </a:ln>
        </p:spPr>
      </p:sp>
      <p:sp>
        <p:nvSpPr>
          <p:cNvPr id="16" name="Text 13"/>
          <p:cNvSpPr txBox="1"/>
          <p:nvPr/>
        </p:nvSpPr>
        <p:spPr>
          <a:xfrm>
            <a:off x="6537960" y="960120"/>
            <a:ext cx="2057400" cy="365760"/>
          </a:xfrm>
          <a:prstGeom prst="rect">
            <a:avLst/>
          </a:prstGeom>
          <a:noFill/>
          <a:ln/>
        </p:spPr>
        <p:txBody>
          <a:bodyPr wrap="square" lIns="0" tIns="0" rIns="0" bIns="0" rtlCol="0" anchor="t"/>
          <a:lstStyle/>
          <a:p>
            <a:pPr rtl="1" algn="r" indent="0" marL="0">
              <a:buNone/>
            </a:pPr>
            <a:r>
              <a:rPr lang="ar-LB" altLang="en-US" sz="1500" b="1" dirty="0">
                <a:solidFill>
                  <a:srgbClr val="F2C46D"/>
                </a:solidFill>
              </a:rPr>
              <a:t>دليل المعلم</a:t>
            </a:r>
            <a:endParaRPr lang="ar-LB" sz="1500" dirty="0"/>
          </a:p>
        </p:txBody>
      </p:sp>
      <p:sp>
        <p:nvSpPr>
          <p:cNvPr id="17" name="Text 14"/>
          <p:cNvSpPr txBox="1"/>
          <p:nvPr/>
        </p:nvSpPr>
        <p:spPr>
          <a:xfrm>
            <a:off x="6537960" y="1298448"/>
            <a:ext cx="2057400" cy="411480"/>
          </a:xfrm>
          <a:prstGeom prst="rect">
            <a:avLst/>
          </a:prstGeom>
          <a:noFill/>
          <a:ln/>
        </p:spPr>
        <p:txBody>
          <a:bodyPr wrap="square" lIns="0" tIns="0" rIns="0" bIns="0" rtlCol="0" anchor="t"/>
          <a:lstStyle/>
          <a:p>
            <a:pPr rtl="1" algn="r" indent="0" marL="0">
              <a:buNone/>
            </a:pPr>
            <a:r>
              <a:rPr lang="ar-LB" altLang="en-US" sz="1700" b="1" dirty="0">
                <a:solidFill>
                  <a:srgbClr val="FFFFFF"/>
                </a:solidFill>
              </a:rPr>
              <a:t>الاستكشاف 2</a:t>
            </a:r>
            <a:endParaRPr lang="ar-LB" sz="1700" dirty="0"/>
          </a:p>
        </p:txBody>
      </p:sp>
      <p:sp>
        <p:nvSpPr>
          <p:cNvPr id="18" name="Shape 15"/>
          <p:cNvSpPr/>
          <p:nvPr/>
        </p:nvSpPr>
        <p:spPr>
          <a:xfrm>
            <a:off x="8183880" y="1783080"/>
            <a:ext cx="384048" cy="384048"/>
          </a:xfrm>
          <a:prstGeom prst="ellipse">
            <a:avLst/>
          </a:prstGeom>
          <a:solidFill>
            <a:srgbClr val="C2500C"/>
          </a:solidFill>
          <a:ln w="12700">
            <a:solidFill>
              <a:srgbClr val="C2500C"/>
            </a:solidFill>
            <a:prstDash val="solid"/>
          </a:ln>
        </p:spPr>
      </p:sp>
      <p:pic>
        <p:nvPicPr>
          <p:cNvPr id="19" name="Image 1" descr="أيقونة ساعة: الوقت">    </p:cNvPr>
          <p:cNvPicPr>
            <a:picLocks noChangeAspect="1"/>
          </p:cNvPicPr>
          <p:nvPr/>
        </p:nvPicPr>
        <p:blipFill>
          <a:blip r:embed="rId2"/>
          <a:stretch>
            <a:fillRect/>
          </a:stretch>
        </p:blipFill>
        <p:spPr>
          <a:xfrm>
            <a:off x="8276052" y="1875252"/>
            <a:ext cx="199705" cy="199705"/>
          </a:xfrm>
          <a:prstGeom prst="rect">
            <a:avLst/>
          </a:prstGeom>
        </p:spPr>
      </p:pic>
      <p:sp>
        <p:nvSpPr>
          <p:cNvPr id="20" name="Text 16"/>
          <p:cNvSpPr txBox="1"/>
          <p:nvPr/>
        </p:nvSpPr>
        <p:spPr>
          <a:xfrm>
            <a:off x="6537960" y="1783080"/>
            <a:ext cx="1600200" cy="384048"/>
          </a:xfrm>
          <a:prstGeom prst="rect">
            <a:avLst/>
          </a:prstGeom>
          <a:noFill/>
          <a:ln/>
        </p:spPr>
        <p:txBody>
          <a:bodyPr wrap="square" lIns="0" tIns="0" rIns="0" bIns="0" rtlCol="0" anchor="ctr"/>
          <a:lstStyle/>
          <a:p>
            <a:pPr rtl="1" algn="r" indent="0" marL="0">
              <a:buNone/>
            </a:pPr>
            <a:r>
              <a:rPr lang="ar-LB" altLang="en-US" sz="1600" b="1" dirty="0">
                <a:solidFill>
                  <a:srgbClr val="FFFFFF"/>
                </a:solidFill>
              </a:rPr>
              <a:t>7 دقائق</a:t>
            </a:r>
            <a:endParaRPr lang="ar-LB" sz="1600" dirty="0"/>
          </a:p>
        </p:txBody>
      </p:sp>
      <p:sp>
        <p:nvSpPr>
          <p:cNvPr id="21" name="Text 17"/>
          <p:cNvSpPr txBox="1"/>
          <p:nvPr/>
        </p:nvSpPr>
        <p:spPr>
          <a:xfrm>
            <a:off x="6537960" y="2286000"/>
            <a:ext cx="2057400" cy="2286000"/>
          </a:xfrm>
          <a:prstGeom prst="rect">
            <a:avLst/>
          </a:prstGeom>
          <a:noFill/>
          <a:ln/>
        </p:spPr>
        <p:txBody>
          <a:bodyPr wrap="square" lIns="0" tIns="0" rIns="0" bIns="0" rtlCol="0" anchor="t"/>
          <a:lstStyle/>
          <a:p>
            <a:pPr rtl="1" algn="r" indent="0" marL="0">
              <a:spcAft>
                <a:spcPts val="300"/>
              </a:spcAft>
              <a:buNone/>
            </a:pPr>
            <a:r>
              <a:rPr lang="ar-LB" altLang="en-US" sz="1300" b="1" dirty="0">
                <a:solidFill>
                  <a:srgbClr val="F2C46D"/>
                </a:solidFill>
              </a:rPr>
              <a:t>الاستراتيجية:</a:t>
            </a:r>
            <a:endParaRPr lang="ar-LB" sz="1300" dirty="0"/>
          </a:p>
          <a:p>
            <a:pPr rtl="1" algn="r" indent="0" marL="0">
              <a:spcAft>
                <a:spcPts val="300"/>
              </a:spcAft>
              <a:buNone/>
            </a:pPr>
            <a:r>
              <a:rPr lang="ar-LB" altLang="en-US" sz="1300" dirty="0">
                <a:solidFill>
                  <a:srgbClr val="FFFFFF"/>
                </a:solidFill>
              </a:rPr>
              <a:t>النمذجة اللمسية ثم الاكتشاف في أزواج</a:t>
            </a:r>
            <a:endParaRPr lang="ar-LB" sz="1300" dirty="0"/>
          </a:p>
          <a:p>
            <a:pPr rtl="1" algn="r" indent="0" marL="0">
              <a:spcAft>
                <a:spcPts val="300"/>
              </a:spcAft>
              <a:buNone/>
            </a:pPr>
            <a:r>
              <a:rPr lang="ar-LB" altLang="en-US" sz="1300" b="1" dirty="0">
                <a:solidFill>
                  <a:srgbClr val="F2C46D"/>
                </a:solidFill>
              </a:rPr>
              <a:t>الأدوات:</a:t>
            </a:r>
            <a:endParaRPr lang="ar-LB" sz="1300" dirty="0"/>
          </a:p>
          <a:p>
            <a:pPr rtl="1" algn="r" indent="0" marL="0">
              <a:spcAft>
                <a:spcPts val="300"/>
              </a:spcAft>
              <a:buNone/>
            </a:pPr>
            <a:r>
              <a:rPr lang="ar-LB" altLang="en-US" sz="1300" dirty="0">
                <a:solidFill>
                  <a:srgbClr val="FFFFFF"/>
                </a:solidFill>
              </a:rPr>
              <a:t>3 خيوط و12 خرزة لكل زوج</a:t>
            </a:r>
            <a:endParaRPr lang="ar-LB" sz="13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000" b="1" dirty="0">
                <a:solidFill>
                  <a:srgbClr val="0F4C5C"/>
                </a:solidFill>
              </a:rPr>
              <a:t>نستنتج القاعدة معًا</a:t>
            </a:r>
            <a:endParaRPr lang="en-US" sz="3000" dirty="0"/>
          </a:p>
        </p:txBody>
      </p:sp>
      <p:sp>
        <p:nvSpPr>
          <p:cNvPr id="3" name="Shape 1"/>
          <p:cNvSpPr/>
          <p:nvPr/>
        </p:nvSpPr>
        <p:spPr>
          <a:xfrm>
            <a:off x="457200" y="914400"/>
            <a:ext cx="5806440" cy="1234440"/>
          </a:xfrm>
          <a:prstGeom prst="roundRect">
            <a:avLst>
              <a:gd name="adj" fmla="val 8889"/>
            </a:avLst>
          </a:prstGeom>
          <a:solidFill>
            <a:srgbClr val="0F4C5C"/>
          </a:solidFill>
          <a:ln w="12700">
            <a:solidFill>
              <a:srgbClr val="0F4C5C"/>
            </a:solidFill>
            <a:prstDash val="solid"/>
          </a:ln>
        </p:spPr>
      </p:sp>
      <p:sp>
        <p:nvSpPr>
          <p:cNvPr id="4" name="Text 2"/>
          <p:cNvSpPr txBox="1"/>
          <p:nvPr/>
        </p:nvSpPr>
        <p:spPr>
          <a:xfrm>
            <a:off x="457200" y="914400"/>
            <a:ext cx="5806440" cy="822960"/>
          </a:xfrm>
          <a:prstGeom prst="rect">
            <a:avLst/>
          </a:prstGeom>
          <a:noFill/>
          <a:ln/>
        </p:spPr>
        <p:txBody>
          <a:bodyPr wrap="square" lIns="0" tIns="0" rIns="0" bIns="0" rtlCol="0" anchor="ctr"/>
          <a:lstStyle/>
          <a:p>
            <a:pPr rtl="0" algn="ctr" indent="0" marL="0">
              <a:buNone/>
            </a:pPr>
            <a:r>
              <a:rPr lang="en-US" sz="3800" b="1" dirty="0">
                <a:solidFill>
                  <a:srgbClr val="FFFFFF"/>
                </a:solidFill>
                <a:latin typeface="Arial" pitchFamily="34" charset="0"/>
                <a:ea typeface="Arial" pitchFamily="34" charset="-122"/>
                <a:cs typeface="Arial" pitchFamily="34" charset="-120"/>
              </a:rPr>
              <a:t>(a</a:t>
            </a:r>
            <a:r>
              <a:rPr lang="en-US" sz="3800" b="1" baseline="30000" dirty="0">
                <a:solidFill>
                  <a:srgbClr val="FFFFFF"/>
                </a:solidFill>
                <a:latin typeface="Arial" pitchFamily="34" charset="0"/>
                <a:ea typeface="Arial" pitchFamily="34" charset="-122"/>
                <a:cs typeface="Arial" pitchFamily="34" charset="-120"/>
              </a:rPr>
              <a:t>m</a:t>
            </a:r>
            <a:r>
              <a:rPr lang="en-US" sz="3800" b="1" dirty="0">
                <a:solidFill>
                  <a:srgbClr val="FFFFFF"/>
                </a:solidFill>
                <a:latin typeface="Arial" pitchFamily="34" charset="0"/>
                <a:ea typeface="Arial" pitchFamily="34" charset="-122"/>
                <a:cs typeface="Arial" pitchFamily="34" charset="-120"/>
              </a:rPr>
              <a:t>)</a:t>
            </a:r>
            <a:r>
              <a:rPr lang="en-US" sz="3800" b="1" baseline="30000" dirty="0">
                <a:solidFill>
                  <a:srgbClr val="FFFFFF"/>
                </a:solidFill>
                <a:latin typeface="Arial" pitchFamily="34" charset="0"/>
                <a:ea typeface="Arial" pitchFamily="34" charset="-122"/>
                <a:cs typeface="Arial" pitchFamily="34" charset="-120"/>
              </a:rPr>
              <a:t>n</a:t>
            </a:r>
            <a:r>
              <a:rPr lang="en-US" sz="3800" b="1" dirty="0">
                <a:solidFill>
                  <a:srgbClr val="FFFFFF"/>
                </a:solidFill>
                <a:latin typeface="Arial" pitchFamily="34" charset="0"/>
                <a:ea typeface="Arial" pitchFamily="34" charset="-122"/>
                <a:cs typeface="Arial" pitchFamily="34" charset="-120"/>
              </a:rPr>
              <a:t> = a</a:t>
            </a:r>
            <a:r>
              <a:rPr lang="en-US" sz="3800" b="1" baseline="30000" dirty="0">
                <a:solidFill>
                  <a:srgbClr val="FFFFFF"/>
                </a:solidFill>
                <a:latin typeface="Arial" pitchFamily="34" charset="0"/>
                <a:ea typeface="Arial" pitchFamily="34" charset="-122"/>
                <a:cs typeface="Arial" pitchFamily="34" charset="-120"/>
              </a:rPr>
              <a:t>m × n</a:t>
            </a:r>
            <a:endParaRPr lang="en-US" sz="3800" dirty="0"/>
          </a:p>
        </p:txBody>
      </p:sp>
      <p:sp>
        <p:nvSpPr>
          <p:cNvPr id="5" name="Text 3"/>
          <p:cNvSpPr txBox="1"/>
          <p:nvPr/>
        </p:nvSpPr>
        <p:spPr>
          <a:xfrm>
            <a:off x="548640" y="1691640"/>
            <a:ext cx="5623560" cy="411480"/>
          </a:xfrm>
          <a:prstGeom prst="rect">
            <a:avLst/>
          </a:prstGeom>
          <a:noFill/>
          <a:ln/>
        </p:spPr>
        <p:txBody>
          <a:bodyPr wrap="square" lIns="0" tIns="0" rIns="0" bIns="0" rtlCol="0" anchor="t"/>
          <a:lstStyle/>
          <a:p>
            <a:pPr rtl="1" algn="ctr" indent="0" marL="0">
              <a:buNone/>
            </a:pPr>
            <a:r>
              <a:rPr lang="ar-LB" altLang="en-US" sz="1500" dirty="0">
                <a:solidFill>
                  <a:srgbClr val="FFFFFF"/>
                </a:solidFill>
              </a:rPr>
              <a:t>تُقرأ: (a أُس m) الكلّ أُس n = a أُس (m ضرب n)</a:t>
            </a:r>
            <a:endParaRPr lang="ar-LB" sz="1500" dirty="0"/>
          </a:p>
        </p:txBody>
      </p:sp>
      <p:sp>
        <p:nvSpPr>
          <p:cNvPr id="6" name="Text 4"/>
          <p:cNvSpPr txBox="1"/>
          <p:nvPr/>
        </p:nvSpPr>
        <p:spPr>
          <a:xfrm>
            <a:off x="457200" y="2240280"/>
            <a:ext cx="5806440" cy="457200"/>
          </a:xfrm>
          <a:prstGeom prst="rect">
            <a:avLst/>
          </a:prstGeom>
          <a:noFill/>
          <a:ln/>
        </p:spPr>
        <p:txBody>
          <a:bodyPr wrap="square" lIns="0" tIns="0" rIns="0" bIns="0" rtlCol="0" anchor="t"/>
          <a:lstStyle/>
          <a:p>
            <a:pPr rtl="1" algn="ctr" indent="0" marL="0">
              <a:buNone/>
            </a:pPr>
            <a:r>
              <a:rPr lang="ar-LB" altLang="en-US" sz="2000" b="1" dirty="0">
                <a:solidFill>
                  <a:srgbClr val="0F4C5C"/>
                </a:solidFill>
              </a:rPr>
              <a:t>نُبقي الأساس، ونضرب الأُسّين.</a:t>
            </a:r>
            <a:endParaRPr lang="ar-LB" sz="2000" dirty="0"/>
          </a:p>
        </p:txBody>
      </p:sp>
      <p:sp>
        <p:nvSpPr>
          <p:cNvPr id="7" name="Shape 5"/>
          <p:cNvSpPr/>
          <p:nvPr/>
        </p:nvSpPr>
        <p:spPr>
          <a:xfrm>
            <a:off x="3429000" y="2788920"/>
            <a:ext cx="2834640" cy="1143000"/>
          </a:xfrm>
          <a:prstGeom prst="roundRect">
            <a:avLst>
              <a:gd name="adj" fmla="val 8000"/>
            </a:avLst>
          </a:prstGeom>
          <a:solidFill>
            <a:srgbClr val="1F7A45">
              <a:alpha val="8000"/>
            </a:srgbClr>
          </a:solidFill>
          <a:ln w="19050">
            <a:solidFill>
              <a:srgbClr val="1F7A45"/>
            </a:solidFill>
            <a:prstDash val="solid"/>
          </a:ln>
        </p:spPr>
      </p:sp>
      <p:sp>
        <p:nvSpPr>
          <p:cNvPr id="8" name="Text 6"/>
          <p:cNvSpPr txBox="1"/>
          <p:nvPr/>
        </p:nvSpPr>
        <p:spPr>
          <a:xfrm>
            <a:off x="3502152" y="2825496"/>
            <a:ext cx="2688336" cy="571500"/>
          </a:xfrm>
          <a:prstGeom prst="rect">
            <a:avLst/>
          </a:prstGeom>
          <a:noFill/>
          <a:ln/>
        </p:spPr>
        <p:txBody>
          <a:bodyPr wrap="square" lIns="0" tIns="0" rIns="0" bIns="0" rtlCol="0" anchor="ctr"/>
          <a:lstStyle/>
          <a:p>
            <a:pPr rtl="0" algn="ctr" indent="0" marL="0">
              <a:buNone/>
            </a:pPr>
            <a:r>
              <a:rPr lang="en-US" sz="2000" b="1" dirty="0">
                <a:solidFill>
                  <a:srgbClr val="1F7A45"/>
                </a:solidFill>
                <a:latin typeface="Arial" pitchFamily="34" charset="0"/>
                <a:ea typeface="Arial" pitchFamily="34" charset="-122"/>
                <a:cs typeface="Arial" pitchFamily="34" charset="-120"/>
              </a:rPr>
              <a:t>(3</a:t>
            </a:r>
            <a:r>
              <a:rPr lang="en-US" sz="2000" b="1" baseline="30000" dirty="0">
                <a:solidFill>
                  <a:srgbClr val="1F7A45"/>
                </a:solidFill>
                <a:latin typeface="Arial" pitchFamily="34" charset="0"/>
                <a:ea typeface="Arial" pitchFamily="34" charset="-122"/>
                <a:cs typeface="Arial" pitchFamily="34" charset="-120"/>
              </a:rPr>
              <a:t>2</a:t>
            </a:r>
            <a:r>
              <a:rPr lang="en-US" sz="2000" b="1" dirty="0">
                <a:solidFill>
                  <a:srgbClr val="1F7A45"/>
                </a:solidFill>
                <a:latin typeface="Arial" pitchFamily="34" charset="0"/>
                <a:ea typeface="Arial" pitchFamily="34" charset="-122"/>
                <a:cs typeface="Arial" pitchFamily="34" charset="-120"/>
              </a:rPr>
              <a:t>)</a:t>
            </a:r>
            <a:r>
              <a:rPr lang="en-US" sz="2000" b="1" baseline="30000" dirty="0">
                <a:solidFill>
                  <a:srgbClr val="1F7A45"/>
                </a:solidFill>
                <a:latin typeface="Arial" pitchFamily="34" charset="0"/>
                <a:ea typeface="Arial" pitchFamily="34" charset="-122"/>
                <a:cs typeface="Arial" pitchFamily="34" charset="-120"/>
              </a:rPr>
              <a:t>2</a:t>
            </a:r>
            <a:r>
              <a:rPr lang="en-US" sz="2000" b="1" dirty="0">
                <a:solidFill>
                  <a:srgbClr val="1F7A45"/>
                </a:solidFill>
                <a:latin typeface="Arial" pitchFamily="34" charset="0"/>
                <a:ea typeface="Arial" pitchFamily="34" charset="-122"/>
                <a:cs typeface="Arial" pitchFamily="34" charset="-120"/>
              </a:rPr>
              <a:t> = 3</a:t>
            </a:r>
            <a:r>
              <a:rPr lang="en-US" sz="2000" b="1" baseline="30000" dirty="0">
                <a:solidFill>
                  <a:srgbClr val="1F7A45"/>
                </a:solidFill>
                <a:latin typeface="Arial" pitchFamily="34" charset="0"/>
                <a:ea typeface="Arial" pitchFamily="34" charset="-122"/>
                <a:cs typeface="Arial" pitchFamily="34" charset="-120"/>
              </a:rPr>
              <a:t>4</a:t>
            </a:r>
            <a:r>
              <a:rPr lang="en-US" sz="2000" b="1" dirty="0">
                <a:solidFill>
                  <a:srgbClr val="1F7A45"/>
                </a:solidFill>
                <a:latin typeface="Arial" pitchFamily="34" charset="0"/>
                <a:ea typeface="Arial" pitchFamily="34" charset="-122"/>
                <a:cs typeface="Arial" pitchFamily="34" charset="-120"/>
              </a:rPr>
              <a:t> = 81</a:t>
            </a:r>
            <a:endParaRPr lang="en-US" sz="2000" dirty="0"/>
          </a:p>
        </p:txBody>
      </p:sp>
      <p:sp>
        <p:nvSpPr>
          <p:cNvPr id="9" name="Text 7"/>
          <p:cNvSpPr txBox="1"/>
          <p:nvPr/>
        </p:nvSpPr>
        <p:spPr>
          <a:xfrm>
            <a:off x="3520440" y="3383280"/>
            <a:ext cx="2651760" cy="514350"/>
          </a:xfrm>
          <a:prstGeom prst="rect">
            <a:avLst/>
          </a:prstGeom>
          <a:noFill/>
          <a:ln/>
        </p:spPr>
        <p:txBody>
          <a:bodyPr wrap="square" lIns="0" tIns="0" rIns="0" bIns="0" rtlCol="0" anchor="ctr"/>
          <a:lstStyle/>
          <a:p>
            <a:pPr rtl="1" algn="ctr" indent="0" marL="0">
              <a:buNone/>
            </a:pPr>
            <a:r>
              <a:rPr lang="ar-LB" altLang="en-US" sz="1300" dirty="0">
                <a:solidFill>
                  <a:srgbClr val="3E4A52"/>
                </a:solidFill>
              </a:rPr>
              <a:t>تُقرأ: 3 أُس 4 = 81</a:t>
            </a:r>
            <a:endParaRPr lang="ar-LB" sz="1300" dirty="0"/>
          </a:p>
        </p:txBody>
      </p:sp>
      <p:sp>
        <p:nvSpPr>
          <p:cNvPr id="10" name="Shape 8"/>
          <p:cNvSpPr/>
          <p:nvPr/>
        </p:nvSpPr>
        <p:spPr>
          <a:xfrm>
            <a:off x="457200" y="2788920"/>
            <a:ext cx="2834640" cy="1143000"/>
          </a:xfrm>
          <a:prstGeom prst="roundRect">
            <a:avLst>
              <a:gd name="adj" fmla="val 8000"/>
            </a:avLst>
          </a:prstGeom>
          <a:solidFill>
            <a:srgbClr val="C2500C">
              <a:alpha val="8000"/>
            </a:srgbClr>
          </a:solidFill>
          <a:ln w="19050">
            <a:solidFill>
              <a:srgbClr val="C2500C"/>
            </a:solidFill>
            <a:prstDash val="solid"/>
          </a:ln>
        </p:spPr>
      </p:sp>
      <p:sp>
        <p:nvSpPr>
          <p:cNvPr id="11" name="Text 9"/>
          <p:cNvSpPr txBox="1"/>
          <p:nvPr/>
        </p:nvSpPr>
        <p:spPr>
          <a:xfrm>
            <a:off x="530352" y="2825496"/>
            <a:ext cx="2688336" cy="571500"/>
          </a:xfrm>
          <a:prstGeom prst="rect">
            <a:avLst/>
          </a:prstGeom>
          <a:noFill/>
          <a:ln/>
        </p:spPr>
        <p:txBody>
          <a:bodyPr wrap="square" lIns="0" tIns="0" rIns="0" bIns="0" rtlCol="0" anchor="ctr"/>
          <a:lstStyle/>
          <a:p>
            <a:pPr rtl="0" algn="ctr" indent="0" marL="0">
              <a:buNone/>
            </a:pPr>
            <a:r>
              <a:rPr lang="en-US" sz="2000" b="1" dirty="0">
                <a:solidFill>
                  <a:srgbClr val="C2500C"/>
                </a:solidFill>
                <a:latin typeface="Arial" pitchFamily="34" charset="0"/>
                <a:ea typeface="Arial" pitchFamily="34" charset="-122"/>
                <a:cs typeface="Arial" pitchFamily="34" charset="-120"/>
              </a:rPr>
              <a:t>(2</a:t>
            </a:r>
            <a:r>
              <a:rPr lang="en-US" sz="2000" b="1" baseline="30000" dirty="0">
                <a:solidFill>
                  <a:srgbClr val="C2500C"/>
                </a:solidFill>
                <a:latin typeface="Arial" pitchFamily="34" charset="0"/>
                <a:ea typeface="Arial" pitchFamily="34" charset="-122"/>
                <a:cs typeface="Arial" pitchFamily="34" charset="-120"/>
              </a:rPr>
              <a:t>3</a:t>
            </a:r>
            <a:r>
              <a:rPr lang="en-US" sz="2000" b="1" dirty="0">
                <a:solidFill>
                  <a:srgbClr val="C2500C"/>
                </a:solidFill>
                <a:latin typeface="Arial" pitchFamily="34" charset="0"/>
                <a:ea typeface="Arial" pitchFamily="34" charset="-122"/>
                <a:cs typeface="Arial" pitchFamily="34" charset="-120"/>
              </a:rPr>
              <a:t>)</a:t>
            </a:r>
            <a:r>
              <a:rPr lang="en-US" sz="2000" b="1" baseline="30000" dirty="0">
                <a:solidFill>
                  <a:srgbClr val="C2500C"/>
                </a:solidFill>
                <a:latin typeface="Arial" pitchFamily="34" charset="0"/>
                <a:ea typeface="Arial" pitchFamily="34" charset="-122"/>
                <a:cs typeface="Arial" pitchFamily="34" charset="-120"/>
              </a:rPr>
              <a:t>2</a:t>
            </a:r>
            <a:r>
              <a:rPr lang="en-US" sz="2000" b="1" dirty="0">
                <a:solidFill>
                  <a:srgbClr val="C2500C"/>
                </a:solidFill>
                <a:latin typeface="Arial" pitchFamily="34" charset="0"/>
                <a:ea typeface="Arial" pitchFamily="34" charset="-122"/>
                <a:cs typeface="Arial" pitchFamily="34" charset="-120"/>
              </a:rPr>
              <a:t> ≠ 2</a:t>
            </a:r>
            <a:r>
              <a:rPr lang="en-US" sz="2000" b="1" baseline="30000" dirty="0">
                <a:solidFill>
                  <a:srgbClr val="C2500C"/>
                </a:solidFill>
                <a:latin typeface="Arial" pitchFamily="34" charset="0"/>
                <a:ea typeface="Arial" pitchFamily="34" charset="-122"/>
                <a:cs typeface="Arial" pitchFamily="34" charset="-120"/>
              </a:rPr>
              <a:t>5</a:t>
            </a:r>
            <a:endParaRPr lang="en-US" sz="2000" dirty="0"/>
          </a:p>
        </p:txBody>
      </p:sp>
      <p:sp>
        <p:nvSpPr>
          <p:cNvPr id="12" name="Text 10"/>
          <p:cNvSpPr txBox="1"/>
          <p:nvPr/>
        </p:nvSpPr>
        <p:spPr>
          <a:xfrm>
            <a:off x="548640" y="3383280"/>
            <a:ext cx="2651760" cy="514350"/>
          </a:xfrm>
          <a:prstGeom prst="rect">
            <a:avLst/>
          </a:prstGeom>
          <a:noFill/>
          <a:ln/>
        </p:spPr>
        <p:txBody>
          <a:bodyPr wrap="square" lIns="0" tIns="0" rIns="0" bIns="0" rtlCol="0" anchor="ctr"/>
          <a:lstStyle/>
          <a:p>
            <a:pPr rtl="1" algn="ctr" indent="0" marL="0">
              <a:buNone/>
            </a:pPr>
            <a:r>
              <a:rPr lang="ar-LB" altLang="en-US" sz="1300" dirty="0">
                <a:solidFill>
                  <a:srgbClr val="3E4A52"/>
                </a:solidFill>
              </a:rPr>
              <a:t>تُقرأ: خطأ: لا نجمع الأُسّين</a:t>
            </a:r>
            <a:endParaRPr lang="ar-LB" sz="1300" dirty="0"/>
          </a:p>
        </p:txBody>
      </p:sp>
      <p:sp>
        <p:nvSpPr>
          <p:cNvPr id="13" name="Shape 11"/>
          <p:cNvSpPr/>
          <p:nvPr/>
        </p:nvSpPr>
        <p:spPr>
          <a:xfrm>
            <a:off x="6446520" y="914400"/>
            <a:ext cx="2240280" cy="3749040"/>
          </a:xfrm>
          <a:prstGeom prst="roundRect">
            <a:avLst>
              <a:gd name="adj" fmla="val 4082"/>
            </a:avLst>
          </a:prstGeom>
          <a:solidFill>
            <a:srgbClr val="0F4C5C"/>
          </a:solidFill>
          <a:ln w="12700">
            <a:solidFill>
              <a:srgbClr val="0F4C5C"/>
            </a:solidFill>
            <a:prstDash val="solid"/>
          </a:ln>
        </p:spPr>
      </p:sp>
      <p:sp>
        <p:nvSpPr>
          <p:cNvPr id="14" name="Text 12"/>
          <p:cNvSpPr txBox="1"/>
          <p:nvPr/>
        </p:nvSpPr>
        <p:spPr>
          <a:xfrm>
            <a:off x="6537960" y="960120"/>
            <a:ext cx="2057400" cy="365760"/>
          </a:xfrm>
          <a:prstGeom prst="rect">
            <a:avLst/>
          </a:prstGeom>
          <a:noFill/>
          <a:ln/>
        </p:spPr>
        <p:txBody>
          <a:bodyPr wrap="square" lIns="0" tIns="0" rIns="0" bIns="0" rtlCol="0" anchor="t"/>
          <a:lstStyle/>
          <a:p>
            <a:pPr rtl="1" algn="r" indent="0" marL="0">
              <a:buNone/>
            </a:pPr>
            <a:r>
              <a:rPr lang="ar-LB" altLang="en-US" sz="1500" b="1" dirty="0">
                <a:solidFill>
                  <a:srgbClr val="F2C46D"/>
                </a:solidFill>
              </a:rPr>
              <a:t>دليل المعلم</a:t>
            </a:r>
            <a:endParaRPr lang="ar-LB" sz="1500" dirty="0"/>
          </a:p>
        </p:txBody>
      </p:sp>
      <p:sp>
        <p:nvSpPr>
          <p:cNvPr id="15" name="Text 13"/>
          <p:cNvSpPr txBox="1"/>
          <p:nvPr/>
        </p:nvSpPr>
        <p:spPr>
          <a:xfrm>
            <a:off x="6537960" y="1298448"/>
            <a:ext cx="2057400" cy="411480"/>
          </a:xfrm>
          <a:prstGeom prst="rect">
            <a:avLst/>
          </a:prstGeom>
          <a:noFill/>
          <a:ln/>
        </p:spPr>
        <p:txBody>
          <a:bodyPr wrap="square" lIns="0" tIns="0" rIns="0" bIns="0" rtlCol="0" anchor="t"/>
          <a:lstStyle/>
          <a:p>
            <a:pPr rtl="1" algn="r" indent="0" marL="0">
              <a:buNone/>
            </a:pPr>
            <a:r>
              <a:rPr lang="ar-LB" altLang="en-US" sz="1700" b="1" dirty="0">
                <a:solidFill>
                  <a:srgbClr val="FFFFFF"/>
                </a:solidFill>
              </a:rPr>
              <a:t>تعميم القاعدة</a:t>
            </a:r>
            <a:endParaRPr lang="ar-LB" sz="1700" dirty="0"/>
          </a:p>
        </p:txBody>
      </p:sp>
      <p:sp>
        <p:nvSpPr>
          <p:cNvPr id="16" name="Shape 14"/>
          <p:cNvSpPr/>
          <p:nvPr/>
        </p:nvSpPr>
        <p:spPr>
          <a:xfrm>
            <a:off x="8183880" y="1783080"/>
            <a:ext cx="384048" cy="384048"/>
          </a:xfrm>
          <a:prstGeom prst="ellipse">
            <a:avLst/>
          </a:prstGeom>
          <a:solidFill>
            <a:srgbClr val="C2500C"/>
          </a:solidFill>
          <a:ln w="12700">
            <a:solidFill>
              <a:srgbClr val="C2500C"/>
            </a:solidFill>
            <a:prstDash val="solid"/>
          </a:ln>
        </p:spPr>
      </p:sp>
      <p:pic>
        <p:nvPicPr>
          <p:cNvPr id="17" name="Image 0" descr="أيقونة ساعة: الوقت">    </p:cNvPr>
          <p:cNvPicPr>
            <a:picLocks noChangeAspect="1"/>
          </p:cNvPicPr>
          <p:nvPr/>
        </p:nvPicPr>
        <p:blipFill>
          <a:blip r:embed="rId1"/>
          <a:stretch>
            <a:fillRect/>
          </a:stretch>
        </p:blipFill>
        <p:spPr>
          <a:xfrm>
            <a:off x="8276052" y="1875252"/>
            <a:ext cx="199705" cy="199705"/>
          </a:xfrm>
          <a:prstGeom prst="rect">
            <a:avLst/>
          </a:prstGeom>
        </p:spPr>
      </p:pic>
      <p:sp>
        <p:nvSpPr>
          <p:cNvPr id="18" name="Text 15"/>
          <p:cNvSpPr txBox="1"/>
          <p:nvPr/>
        </p:nvSpPr>
        <p:spPr>
          <a:xfrm>
            <a:off x="6537960" y="1783080"/>
            <a:ext cx="1600200" cy="384048"/>
          </a:xfrm>
          <a:prstGeom prst="rect">
            <a:avLst/>
          </a:prstGeom>
          <a:noFill/>
          <a:ln/>
        </p:spPr>
        <p:txBody>
          <a:bodyPr wrap="square" lIns="0" tIns="0" rIns="0" bIns="0" rtlCol="0" anchor="ctr"/>
          <a:lstStyle/>
          <a:p>
            <a:pPr rtl="1" algn="r" indent="0" marL="0">
              <a:buNone/>
            </a:pPr>
            <a:r>
              <a:rPr lang="ar-LB" altLang="en-US" sz="1600" b="1" dirty="0">
                <a:solidFill>
                  <a:srgbClr val="FFFFFF"/>
                </a:solidFill>
              </a:rPr>
              <a:t>3 دقائق</a:t>
            </a:r>
            <a:endParaRPr lang="ar-LB" sz="1600" dirty="0"/>
          </a:p>
        </p:txBody>
      </p:sp>
      <p:sp>
        <p:nvSpPr>
          <p:cNvPr id="19" name="Text 16"/>
          <p:cNvSpPr txBox="1"/>
          <p:nvPr/>
        </p:nvSpPr>
        <p:spPr>
          <a:xfrm>
            <a:off x="6537960" y="2286000"/>
            <a:ext cx="2057400" cy="2286000"/>
          </a:xfrm>
          <a:prstGeom prst="rect">
            <a:avLst/>
          </a:prstGeom>
          <a:noFill/>
          <a:ln/>
        </p:spPr>
        <p:txBody>
          <a:bodyPr wrap="square" lIns="0" tIns="0" rIns="0" bIns="0" rtlCol="0" anchor="t"/>
          <a:lstStyle/>
          <a:p>
            <a:pPr rtl="1" algn="r" indent="0" marL="0">
              <a:spcAft>
                <a:spcPts val="300"/>
              </a:spcAft>
              <a:buNone/>
            </a:pPr>
            <a:r>
              <a:rPr lang="ar-LB" altLang="en-US" sz="1300" b="1" dirty="0">
                <a:solidFill>
                  <a:srgbClr val="F2C46D"/>
                </a:solidFill>
              </a:rPr>
              <a:t>الاستراتيجية:</a:t>
            </a:r>
            <a:endParaRPr lang="ar-LB" sz="1300" dirty="0"/>
          </a:p>
          <a:p>
            <a:pPr rtl="1" algn="r" indent="0" marL="0">
              <a:spcAft>
                <a:spcPts val="300"/>
              </a:spcAft>
              <a:buNone/>
            </a:pPr>
            <a:r>
              <a:rPr lang="ar-LB" altLang="en-US" sz="1300" dirty="0">
                <a:solidFill>
                  <a:srgbClr val="FFFFFF"/>
                </a:solidFill>
              </a:rPr>
              <a:t>يصوغ الطلاب القاعدة بكلماتهم أولًا</a:t>
            </a:r>
            <a:endParaRPr lang="ar-LB" sz="1300" dirty="0"/>
          </a:p>
          <a:p>
            <a:pPr rtl="1" algn="r" indent="0" marL="0">
              <a:spcAft>
                <a:spcPts val="300"/>
              </a:spcAft>
              <a:buNone/>
            </a:pPr>
            <a:r>
              <a:rPr lang="ar-LB" altLang="en-US" sz="1300" b="1" dirty="0">
                <a:solidFill>
                  <a:srgbClr val="F2C46D"/>
                </a:solidFill>
              </a:rPr>
              <a:t>الأدوات:</a:t>
            </a:r>
            <a:endParaRPr lang="ar-LB" sz="1300" dirty="0"/>
          </a:p>
          <a:p>
            <a:pPr rtl="1" algn="r" indent="0" marL="0">
              <a:spcAft>
                <a:spcPts val="300"/>
              </a:spcAft>
              <a:buNone/>
            </a:pPr>
            <a:r>
              <a:rPr lang="ar-LB" altLang="en-US" sz="1300" dirty="0">
                <a:solidFill>
                  <a:srgbClr val="FFFFFF"/>
                </a:solidFill>
              </a:rPr>
              <a:t>—</a:t>
            </a:r>
            <a:endParaRPr lang="ar-LB" sz="13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000" b="1" dirty="0">
                <a:solidFill>
                  <a:srgbClr val="0F4C5C"/>
                </a:solidFill>
              </a:rPr>
              <a:t>التطبيق التمايزي: ثلاث مجموعات</a:t>
            </a:r>
            <a:endParaRPr lang="en-US" sz="3000" dirty="0"/>
          </a:p>
        </p:txBody>
      </p:sp>
      <p:sp>
        <p:nvSpPr>
          <p:cNvPr id="3" name="Shape 1"/>
          <p:cNvSpPr/>
          <p:nvPr/>
        </p:nvSpPr>
        <p:spPr>
          <a:xfrm>
            <a:off x="457200" y="914400"/>
            <a:ext cx="5806440" cy="841248"/>
          </a:xfrm>
          <a:prstGeom prst="roundRect">
            <a:avLst>
              <a:gd name="adj" fmla="val 10870"/>
            </a:avLst>
          </a:prstGeom>
          <a:solidFill>
            <a:srgbClr val="1F7A45">
              <a:alpha val="10000"/>
            </a:srgbClr>
          </a:solidFill>
          <a:ln w="19050">
            <a:solidFill>
              <a:srgbClr val="1F7A45"/>
            </a:solidFill>
            <a:prstDash val="solid"/>
          </a:ln>
        </p:spPr>
      </p:sp>
      <p:sp>
        <p:nvSpPr>
          <p:cNvPr id="4" name="Text 2"/>
          <p:cNvSpPr txBox="1"/>
          <p:nvPr/>
        </p:nvSpPr>
        <p:spPr>
          <a:xfrm>
            <a:off x="3749040" y="914400"/>
            <a:ext cx="2377440" cy="841248"/>
          </a:xfrm>
          <a:prstGeom prst="rect">
            <a:avLst/>
          </a:prstGeom>
          <a:noFill/>
          <a:ln/>
        </p:spPr>
        <p:txBody>
          <a:bodyPr wrap="square" lIns="0" tIns="0" rIns="0" bIns="0" rtlCol="0" anchor="ctr"/>
          <a:lstStyle/>
          <a:p>
            <a:pPr rtl="1" algn="r" indent="0" marL="0">
              <a:buNone/>
            </a:pPr>
            <a:r>
              <a:rPr lang="ar-LB" altLang="en-US" sz="1700" b="1" dirty="0">
                <a:solidFill>
                  <a:srgbClr val="1F7A45"/>
                </a:solidFill>
              </a:rPr>
              <a:t>الدائرة: دعم لمسي</a:t>
            </a:r>
            <a:endParaRPr lang="ar-LB" sz="1700" dirty="0"/>
          </a:p>
        </p:txBody>
      </p:sp>
      <p:sp>
        <p:nvSpPr>
          <p:cNvPr id="5" name="Text 3"/>
          <p:cNvSpPr txBox="1"/>
          <p:nvPr/>
        </p:nvSpPr>
        <p:spPr>
          <a:xfrm>
            <a:off x="594360" y="914400"/>
            <a:ext cx="3154680" cy="841248"/>
          </a:xfrm>
          <a:prstGeom prst="rect">
            <a:avLst/>
          </a:prstGeom>
          <a:noFill/>
          <a:ln/>
        </p:spPr>
        <p:txBody>
          <a:bodyPr wrap="square" lIns="0" tIns="0" rIns="0" bIns="0" rtlCol="0" anchor="ctr"/>
          <a:lstStyle/>
          <a:p>
            <a:pPr rtl="1" algn="r" indent="0" marL="0">
              <a:buNone/>
            </a:pPr>
            <a:r>
              <a:rPr lang="ar-LB" altLang="en-US" sz="1400" dirty="0">
                <a:solidFill>
                  <a:srgbClr val="1B262C"/>
                </a:solidFill>
              </a:rPr>
              <a:t>لمن تعثّر في التمييز بين الضرب والقوّة</a:t>
            </a:r>
            <a:endParaRPr lang="ar-LB" sz="1400" dirty="0"/>
          </a:p>
        </p:txBody>
      </p:sp>
      <p:sp>
        <p:nvSpPr>
          <p:cNvPr id="6" name="Shape 4"/>
          <p:cNvSpPr/>
          <p:nvPr/>
        </p:nvSpPr>
        <p:spPr>
          <a:xfrm>
            <a:off x="457200" y="1874520"/>
            <a:ext cx="5806440" cy="841248"/>
          </a:xfrm>
          <a:prstGeom prst="roundRect">
            <a:avLst>
              <a:gd name="adj" fmla="val 10870"/>
            </a:avLst>
          </a:prstGeom>
          <a:solidFill>
            <a:srgbClr val="1F5C99">
              <a:alpha val="10000"/>
            </a:srgbClr>
          </a:solidFill>
          <a:ln w="19050">
            <a:solidFill>
              <a:srgbClr val="1F5C99"/>
            </a:solidFill>
            <a:prstDash val="solid"/>
          </a:ln>
        </p:spPr>
      </p:sp>
      <p:sp>
        <p:nvSpPr>
          <p:cNvPr id="7" name="Text 5"/>
          <p:cNvSpPr txBox="1"/>
          <p:nvPr/>
        </p:nvSpPr>
        <p:spPr>
          <a:xfrm>
            <a:off x="3749040" y="1874520"/>
            <a:ext cx="2377440" cy="841248"/>
          </a:xfrm>
          <a:prstGeom prst="rect">
            <a:avLst/>
          </a:prstGeom>
          <a:noFill/>
          <a:ln/>
        </p:spPr>
        <p:txBody>
          <a:bodyPr wrap="square" lIns="0" tIns="0" rIns="0" bIns="0" rtlCol="0" anchor="ctr"/>
          <a:lstStyle/>
          <a:p>
            <a:pPr rtl="1" algn="r" indent="0" marL="0">
              <a:buNone/>
            </a:pPr>
            <a:r>
              <a:rPr lang="ar-LB" altLang="en-US" sz="1700" b="1" dirty="0">
                <a:solidFill>
                  <a:srgbClr val="1F5C99"/>
                </a:solidFill>
              </a:rPr>
              <a:t>المربّع: تمكّن</a:t>
            </a:r>
            <a:endParaRPr lang="ar-LB" sz="1700" dirty="0"/>
          </a:p>
        </p:txBody>
      </p:sp>
      <p:sp>
        <p:nvSpPr>
          <p:cNvPr id="8" name="Text 6"/>
          <p:cNvSpPr txBox="1"/>
          <p:nvPr/>
        </p:nvSpPr>
        <p:spPr>
          <a:xfrm>
            <a:off x="594360" y="1874520"/>
            <a:ext cx="3154680" cy="841248"/>
          </a:xfrm>
          <a:prstGeom prst="rect">
            <a:avLst/>
          </a:prstGeom>
          <a:noFill/>
          <a:ln/>
        </p:spPr>
        <p:txBody>
          <a:bodyPr wrap="square" lIns="0" tIns="0" rIns="0" bIns="0" rtlCol="0" anchor="ctr"/>
          <a:lstStyle/>
          <a:p>
            <a:pPr rtl="1" algn="r" indent="0" marL="0">
              <a:buNone/>
            </a:pPr>
            <a:r>
              <a:rPr lang="ar-LB" altLang="en-US" sz="1400" dirty="0">
                <a:solidFill>
                  <a:srgbClr val="1B262C"/>
                </a:solidFill>
              </a:rPr>
              <a:t>لمن فهم القوّة ويحتاج تدريبًا على القاعدة</a:t>
            </a:r>
            <a:endParaRPr lang="ar-LB" sz="1400" dirty="0"/>
          </a:p>
        </p:txBody>
      </p:sp>
      <p:sp>
        <p:nvSpPr>
          <p:cNvPr id="9" name="Shape 7"/>
          <p:cNvSpPr/>
          <p:nvPr/>
        </p:nvSpPr>
        <p:spPr>
          <a:xfrm>
            <a:off x="457200" y="2834640"/>
            <a:ext cx="5806440" cy="841248"/>
          </a:xfrm>
          <a:prstGeom prst="roundRect">
            <a:avLst>
              <a:gd name="adj" fmla="val 10870"/>
            </a:avLst>
          </a:prstGeom>
          <a:solidFill>
            <a:srgbClr val="6A2F8F">
              <a:alpha val="10000"/>
            </a:srgbClr>
          </a:solidFill>
          <a:ln w="19050">
            <a:solidFill>
              <a:srgbClr val="6A2F8F"/>
            </a:solidFill>
            <a:prstDash val="solid"/>
          </a:ln>
        </p:spPr>
      </p:sp>
      <p:sp>
        <p:nvSpPr>
          <p:cNvPr id="10" name="Text 8"/>
          <p:cNvSpPr txBox="1"/>
          <p:nvPr/>
        </p:nvSpPr>
        <p:spPr>
          <a:xfrm>
            <a:off x="3749040" y="2834640"/>
            <a:ext cx="2377440" cy="841248"/>
          </a:xfrm>
          <a:prstGeom prst="rect">
            <a:avLst/>
          </a:prstGeom>
          <a:noFill/>
          <a:ln/>
        </p:spPr>
        <p:txBody>
          <a:bodyPr wrap="square" lIns="0" tIns="0" rIns="0" bIns="0" rtlCol="0" anchor="ctr"/>
          <a:lstStyle/>
          <a:p>
            <a:pPr rtl="1" algn="r" indent="0" marL="0">
              <a:buNone/>
            </a:pPr>
            <a:r>
              <a:rPr lang="ar-LB" altLang="en-US" sz="1700" b="1" dirty="0">
                <a:solidFill>
                  <a:srgbClr val="6A2F8F"/>
                </a:solidFill>
              </a:rPr>
              <a:t>المثلث: إثراء</a:t>
            </a:r>
            <a:endParaRPr lang="ar-LB" sz="1700" dirty="0"/>
          </a:p>
        </p:txBody>
      </p:sp>
      <p:sp>
        <p:nvSpPr>
          <p:cNvPr id="11" name="Text 9"/>
          <p:cNvSpPr txBox="1"/>
          <p:nvPr/>
        </p:nvSpPr>
        <p:spPr>
          <a:xfrm>
            <a:off x="594360" y="2834640"/>
            <a:ext cx="3154680" cy="841248"/>
          </a:xfrm>
          <a:prstGeom prst="rect">
            <a:avLst/>
          </a:prstGeom>
          <a:noFill/>
          <a:ln/>
        </p:spPr>
        <p:txBody>
          <a:bodyPr wrap="square" lIns="0" tIns="0" rIns="0" bIns="0" rtlCol="0" anchor="ctr"/>
          <a:lstStyle/>
          <a:p>
            <a:pPr rtl="1" algn="r" indent="0" marL="0">
              <a:buNone/>
            </a:pPr>
            <a:r>
              <a:rPr lang="ar-LB" altLang="en-US" sz="1400" dirty="0">
                <a:solidFill>
                  <a:srgbClr val="1B262C"/>
                </a:solidFill>
              </a:rPr>
              <a:t>لمن أتقن القاعدة بسرعة</a:t>
            </a:r>
            <a:endParaRPr lang="ar-LB" sz="1400" dirty="0"/>
          </a:p>
        </p:txBody>
      </p:sp>
      <p:sp>
        <p:nvSpPr>
          <p:cNvPr id="12" name="Text 10"/>
          <p:cNvSpPr txBox="1"/>
          <p:nvPr/>
        </p:nvSpPr>
        <p:spPr>
          <a:xfrm>
            <a:off x="457200" y="3840480"/>
            <a:ext cx="5806440" cy="731520"/>
          </a:xfrm>
          <a:prstGeom prst="rect">
            <a:avLst/>
          </a:prstGeom>
          <a:noFill/>
          <a:ln/>
        </p:spPr>
        <p:txBody>
          <a:bodyPr wrap="square" lIns="0" tIns="0" rIns="0" bIns="0" rtlCol="0" anchor="t"/>
          <a:lstStyle/>
          <a:p>
            <a:pPr rtl="1" algn="r" indent="0" marL="0">
              <a:buNone/>
            </a:pPr>
            <a:r>
              <a:rPr lang="ar-LB" altLang="en-US" sz="1500" b="1" dirty="0">
                <a:solidFill>
                  <a:srgbClr val="0F4C5C"/>
                </a:solidFill>
              </a:rPr>
              <a:t>الأدوار: القارئ (يقرأ البطاقة بالبرايل)، الكاتب، المدقّق (بالخرز)، المتحدّث.</a:t>
            </a:r>
            <a:endParaRPr lang="ar-LB" sz="1500" dirty="0"/>
          </a:p>
        </p:txBody>
      </p:sp>
      <p:sp>
        <p:nvSpPr>
          <p:cNvPr id="13" name="Shape 11"/>
          <p:cNvSpPr/>
          <p:nvPr/>
        </p:nvSpPr>
        <p:spPr>
          <a:xfrm>
            <a:off x="6446520" y="914400"/>
            <a:ext cx="2240280" cy="3749040"/>
          </a:xfrm>
          <a:prstGeom prst="roundRect">
            <a:avLst>
              <a:gd name="adj" fmla="val 4082"/>
            </a:avLst>
          </a:prstGeom>
          <a:solidFill>
            <a:srgbClr val="0F4C5C"/>
          </a:solidFill>
          <a:ln w="12700">
            <a:solidFill>
              <a:srgbClr val="0F4C5C"/>
            </a:solidFill>
            <a:prstDash val="solid"/>
          </a:ln>
        </p:spPr>
      </p:sp>
      <p:sp>
        <p:nvSpPr>
          <p:cNvPr id="14" name="Text 12"/>
          <p:cNvSpPr txBox="1"/>
          <p:nvPr/>
        </p:nvSpPr>
        <p:spPr>
          <a:xfrm>
            <a:off x="6537960" y="960120"/>
            <a:ext cx="2057400" cy="365760"/>
          </a:xfrm>
          <a:prstGeom prst="rect">
            <a:avLst/>
          </a:prstGeom>
          <a:noFill/>
          <a:ln/>
        </p:spPr>
        <p:txBody>
          <a:bodyPr wrap="square" lIns="0" tIns="0" rIns="0" bIns="0" rtlCol="0" anchor="t"/>
          <a:lstStyle/>
          <a:p>
            <a:pPr rtl="1" algn="r" indent="0" marL="0">
              <a:buNone/>
            </a:pPr>
            <a:r>
              <a:rPr lang="ar-LB" altLang="en-US" sz="1500" b="1" dirty="0">
                <a:solidFill>
                  <a:srgbClr val="F2C46D"/>
                </a:solidFill>
              </a:rPr>
              <a:t>دليل المعلم</a:t>
            </a:r>
            <a:endParaRPr lang="ar-LB" sz="1500" dirty="0"/>
          </a:p>
        </p:txBody>
      </p:sp>
      <p:sp>
        <p:nvSpPr>
          <p:cNvPr id="15" name="Text 13"/>
          <p:cNvSpPr txBox="1"/>
          <p:nvPr/>
        </p:nvSpPr>
        <p:spPr>
          <a:xfrm>
            <a:off x="6537960" y="1298448"/>
            <a:ext cx="2057400" cy="411480"/>
          </a:xfrm>
          <a:prstGeom prst="rect">
            <a:avLst/>
          </a:prstGeom>
          <a:noFill/>
          <a:ln/>
        </p:spPr>
        <p:txBody>
          <a:bodyPr wrap="square" lIns="0" tIns="0" rIns="0" bIns="0" rtlCol="0" anchor="t"/>
          <a:lstStyle/>
          <a:p>
            <a:pPr rtl="1" algn="r" indent="0" marL="0">
              <a:buNone/>
            </a:pPr>
            <a:r>
              <a:rPr lang="ar-LB" altLang="en-US" sz="1700" b="1" dirty="0">
                <a:solidFill>
                  <a:srgbClr val="FFFFFF"/>
                </a:solidFill>
              </a:rPr>
              <a:t>التطبيق التمايزي</a:t>
            </a:r>
            <a:endParaRPr lang="ar-LB" sz="1700" dirty="0"/>
          </a:p>
        </p:txBody>
      </p:sp>
      <p:sp>
        <p:nvSpPr>
          <p:cNvPr id="16" name="Shape 14"/>
          <p:cNvSpPr/>
          <p:nvPr/>
        </p:nvSpPr>
        <p:spPr>
          <a:xfrm>
            <a:off x="8183880" y="1783080"/>
            <a:ext cx="384048" cy="384048"/>
          </a:xfrm>
          <a:prstGeom prst="ellipse">
            <a:avLst/>
          </a:prstGeom>
          <a:solidFill>
            <a:srgbClr val="C2500C"/>
          </a:solidFill>
          <a:ln w="12700">
            <a:solidFill>
              <a:srgbClr val="C2500C"/>
            </a:solidFill>
            <a:prstDash val="solid"/>
          </a:ln>
        </p:spPr>
      </p:sp>
      <p:pic>
        <p:nvPicPr>
          <p:cNvPr id="17" name="Image 0" descr="أيقونة ساعة: الوقت">    </p:cNvPr>
          <p:cNvPicPr>
            <a:picLocks noChangeAspect="1"/>
          </p:cNvPicPr>
          <p:nvPr/>
        </p:nvPicPr>
        <p:blipFill>
          <a:blip r:embed="rId1"/>
          <a:stretch>
            <a:fillRect/>
          </a:stretch>
        </p:blipFill>
        <p:spPr>
          <a:xfrm>
            <a:off x="8276052" y="1875252"/>
            <a:ext cx="199705" cy="199705"/>
          </a:xfrm>
          <a:prstGeom prst="rect">
            <a:avLst/>
          </a:prstGeom>
        </p:spPr>
      </p:pic>
      <p:sp>
        <p:nvSpPr>
          <p:cNvPr id="18" name="Text 15"/>
          <p:cNvSpPr txBox="1"/>
          <p:nvPr/>
        </p:nvSpPr>
        <p:spPr>
          <a:xfrm>
            <a:off x="6537960" y="1783080"/>
            <a:ext cx="1600200" cy="384048"/>
          </a:xfrm>
          <a:prstGeom prst="rect">
            <a:avLst/>
          </a:prstGeom>
          <a:noFill/>
          <a:ln/>
        </p:spPr>
        <p:txBody>
          <a:bodyPr wrap="square" lIns="0" tIns="0" rIns="0" bIns="0" rtlCol="0" anchor="ctr"/>
          <a:lstStyle/>
          <a:p>
            <a:pPr rtl="1" algn="r" indent="0" marL="0">
              <a:buNone/>
            </a:pPr>
            <a:r>
              <a:rPr lang="ar-LB" altLang="en-US" sz="1600" b="1" dirty="0">
                <a:solidFill>
                  <a:srgbClr val="FFFFFF"/>
                </a:solidFill>
              </a:rPr>
              <a:t>13 دقيقة</a:t>
            </a:r>
            <a:endParaRPr lang="ar-LB" sz="1600" dirty="0"/>
          </a:p>
        </p:txBody>
      </p:sp>
      <p:sp>
        <p:nvSpPr>
          <p:cNvPr id="19" name="Text 16"/>
          <p:cNvSpPr txBox="1"/>
          <p:nvPr/>
        </p:nvSpPr>
        <p:spPr>
          <a:xfrm>
            <a:off x="6537960" y="2286000"/>
            <a:ext cx="2057400" cy="2286000"/>
          </a:xfrm>
          <a:prstGeom prst="rect">
            <a:avLst/>
          </a:prstGeom>
          <a:noFill/>
          <a:ln/>
        </p:spPr>
        <p:txBody>
          <a:bodyPr wrap="square" lIns="0" tIns="0" rIns="0" bIns="0" rtlCol="0" anchor="t"/>
          <a:lstStyle/>
          <a:p>
            <a:pPr rtl="1" algn="r" indent="0" marL="0">
              <a:spcAft>
                <a:spcPts val="300"/>
              </a:spcAft>
              <a:buNone/>
            </a:pPr>
            <a:r>
              <a:rPr lang="ar-LB" altLang="en-US" sz="1300" b="1" dirty="0">
                <a:solidFill>
                  <a:srgbClr val="F2C46D"/>
                </a:solidFill>
              </a:rPr>
              <a:t>الاستراتيجية:</a:t>
            </a:r>
            <a:endParaRPr lang="ar-LB" sz="1300" dirty="0"/>
          </a:p>
          <a:p>
            <a:pPr rtl="1" algn="r" indent="0" marL="0">
              <a:spcAft>
                <a:spcPts val="300"/>
              </a:spcAft>
              <a:buNone/>
            </a:pPr>
            <a:r>
              <a:rPr lang="ar-LB" altLang="en-US" sz="1300" dirty="0">
                <a:solidFill>
                  <a:srgbClr val="FFFFFF"/>
                </a:solidFill>
              </a:rPr>
              <a:t>تعلّم تعاوني بالأدوار، ومجموعات مرنة حسب أداء الاستكشاف</a:t>
            </a:r>
            <a:endParaRPr lang="ar-LB" sz="1300" dirty="0"/>
          </a:p>
          <a:p>
            <a:pPr rtl="1" algn="r" indent="0" marL="0">
              <a:spcAft>
                <a:spcPts val="300"/>
              </a:spcAft>
              <a:buNone/>
            </a:pPr>
            <a:r>
              <a:rPr lang="ar-LB" altLang="en-US" sz="1300" b="1" dirty="0">
                <a:solidFill>
                  <a:srgbClr val="F2C46D"/>
                </a:solidFill>
              </a:rPr>
              <a:t>الأدوات:</a:t>
            </a:r>
            <a:endParaRPr lang="ar-LB" sz="1300" dirty="0"/>
          </a:p>
          <a:p>
            <a:pPr rtl="1" algn="r" indent="0" marL="0">
              <a:spcAft>
                <a:spcPts val="300"/>
              </a:spcAft>
              <a:buNone/>
            </a:pPr>
            <a:r>
              <a:rPr lang="ar-LB" altLang="en-US" sz="1300" dirty="0">
                <a:solidFill>
                  <a:srgbClr val="FFFFFF"/>
                </a:solidFill>
              </a:rPr>
              <a:t>بطاقات المجموعات بالبرايل، شارات بارزة، خرز، مكعّبات</a:t>
            </a:r>
            <a:endParaRPr lang="ar-LB" sz="13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000" b="1" dirty="0">
                <a:solidFill>
                  <a:srgbClr val="0F4C5C"/>
                </a:solidFill>
              </a:rPr>
              <a:t>مجموعة الدائرة: دعم لمسي</a:t>
            </a:r>
            <a:endParaRPr lang="en-US" sz="3000" dirty="0"/>
          </a:p>
        </p:txBody>
      </p:sp>
      <p:sp>
        <p:nvSpPr>
          <p:cNvPr id="3" name="Shape 1"/>
          <p:cNvSpPr/>
          <p:nvPr/>
        </p:nvSpPr>
        <p:spPr>
          <a:xfrm>
            <a:off x="457200" y="914400"/>
            <a:ext cx="5806440" cy="2514600"/>
          </a:xfrm>
          <a:prstGeom prst="roundRect">
            <a:avLst>
              <a:gd name="adj" fmla="val 3636"/>
            </a:avLst>
          </a:prstGeom>
          <a:solidFill>
            <a:srgbClr val="1F7A45">
              <a:alpha val="10000"/>
            </a:srgbClr>
          </a:solidFill>
          <a:ln w="19050">
            <a:solidFill>
              <a:srgbClr val="1F7A45"/>
            </a:solidFill>
            <a:prstDash val="solid"/>
          </a:ln>
        </p:spPr>
      </p:sp>
      <p:sp>
        <p:nvSpPr>
          <p:cNvPr id="4" name="Shape 2"/>
          <p:cNvSpPr/>
          <p:nvPr/>
        </p:nvSpPr>
        <p:spPr>
          <a:xfrm>
            <a:off x="5760720" y="1005840"/>
            <a:ext cx="384048" cy="384048"/>
          </a:xfrm>
          <a:prstGeom prst="ellipse">
            <a:avLst/>
          </a:prstGeom>
          <a:solidFill>
            <a:srgbClr val="1F7A45"/>
          </a:solidFill>
          <a:ln w="12700">
            <a:solidFill>
              <a:srgbClr val="1F7A45"/>
            </a:solidFill>
            <a:prstDash val="solid"/>
          </a:ln>
        </p:spPr>
      </p:sp>
      <p:pic>
        <p:nvPicPr>
          <p:cNvPr id="5" name="Image 0" descr="أيقونة يد: نشاط لمسي">    </p:cNvPr>
          <p:cNvPicPr>
            <a:picLocks noChangeAspect="1"/>
          </p:cNvPicPr>
          <p:nvPr/>
        </p:nvPicPr>
        <p:blipFill>
          <a:blip r:embed="rId1"/>
          <a:stretch>
            <a:fillRect/>
          </a:stretch>
        </p:blipFill>
        <p:spPr>
          <a:xfrm>
            <a:off x="5852892" y="1098012"/>
            <a:ext cx="199705" cy="199705"/>
          </a:xfrm>
          <a:prstGeom prst="rect">
            <a:avLst/>
          </a:prstGeom>
        </p:spPr>
      </p:pic>
      <p:sp>
        <p:nvSpPr>
          <p:cNvPr id="6" name="Text 3"/>
          <p:cNvSpPr txBox="1"/>
          <p:nvPr/>
        </p:nvSpPr>
        <p:spPr>
          <a:xfrm>
            <a:off x="548640" y="987552"/>
            <a:ext cx="5120640" cy="411480"/>
          </a:xfrm>
          <a:prstGeom prst="rect">
            <a:avLst/>
          </a:prstGeom>
          <a:noFill/>
          <a:ln/>
        </p:spPr>
        <p:txBody>
          <a:bodyPr wrap="square" lIns="0" tIns="0" rIns="0" bIns="0" rtlCol="0" anchor="ctr"/>
          <a:lstStyle/>
          <a:p>
            <a:pPr rtl="1" algn="r" indent="0" marL="0">
              <a:buNone/>
            </a:pPr>
            <a:r>
              <a:rPr lang="ar-LB" altLang="en-US" sz="1600" b="1" dirty="0">
                <a:solidFill>
                  <a:srgbClr val="1F7A45"/>
                </a:solidFill>
              </a:rPr>
              <a:t>المهام (من بطاقة المجموعة)</a:t>
            </a:r>
            <a:endParaRPr lang="ar-LB" sz="1600" dirty="0"/>
          </a:p>
        </p:txBody>
      </p:sp>
      <p:sp>
        <p:nvSpPr>
          <p:cNvPr id="7" name="Text 4"/>
          <p:cNvSpPr txBox="1"/>
          <p:nvPr/>
        </p:nvSpPr>
        <p:spPr>
          <a:xfrm>
            <a:off x="594360" y="1389888"/>
            <a:ext cx="5532120" cy="1993392"/>
          </a:xfrm>
          <a:prstGeom prst="rect">
            <a:avLst/>
          </a:prstGeom>
          <a:noFill/>
          <a:ln/>
        </p:spPr>
        <p:txBody>
          <a:bodyPr wrap="square" lIns="0" tIns="0" rIns="0" bIns="0" rtlCol="0" anchor="t"/>
          <a:lstStyle/>
          <a:p>
            <a:pPr rtl="1" algn="r" indent="0" marL="0">
              <a:spcAft>
                <a:spcPts val="300"/>
              </a:spcAft>
              <a:buNone/>
            </a:pPr>
            <a:r>
              <a:rPr lang="ar-LB" altLang="en-US" sz="1400" dirty="0">
                <a:solidFill>
                  <a:srgbClr val="1B262C"/>
                </a:solidFill>
              </a:rPr>
              <a:t>خيط عليه 4 خرزات، كل خرزة «ضرب 3»: ما القوّة؟ ما قيمتها؟</a:t>
            </a:r>
            <a:endParaRPr lang="ar-LB" sz="1400" dirty="0"/>
          </a:p>
          <a:p>
            <a:pPr rtl="1" algn="r" indent="0" marL="0">
              <a:spcAft>
                <a:spcPts val="300"/>
              </a:spcAft>
              <a:buNone/>
            </a:pPr>
            <a:r>
              <a:rPr lang="ar-LB" altLang="en-US" sz="1400" dirty="0">
                <a:solidFill>
                  <a:srgbClr val="1B262C"/>
                </a:solidFill>
              </a:rPr>
              <a:t>مطابقة 15 بطاقة برايل في 5 مجموعات (مطوّلة، مختصرة، قيمة).</a:t>
            </a:r>
            <a:endParaRPr lang="ar-LB" sz="1400" dirty="0"/>
          </a:p>
          <a:p>
            <a:pPr rtl="1" algn="r" indent="0" marL="0">
              <a:spcAft>
                <a:spcPts val="300"/>
              </a:spcAft>
              <a:buNone/>
            </a:pPr>
            <a:r>
              <a:rPr lang="ar-LB" altLang="en-US" sz="1400" dirty="0">
                <a:solidFill>
                  <a:srgbClr val="1B262C"/>
                </a:solidFill>
              </a:rPr>
              <a:t>أيّ مجموعة تمثّل ضربًا لا قوّة؟</a:t>
            </a:r>
            <a:endParaRPr lang="ar-LB" sz="1400" dirty="0"/>
          </a:p>
          <a:p>
            <a:pPr rtl="1" algn="r" indent="0" marL="0">
              <a:spcAft>
                <a:spcPts val="300"/>
              </a:spcAft>
              <a:buNone/>
            </a:pPr>
            <a:r>
              <a:rPr lang="ar-LB" altLang="en-US" sz="1400" dirty="0">
                <a:solidFill>
                  <a:srgbClr val="1B262C"/>
                </a:solidFill>
              </a:rPr>
              <a:t>(2 أُس 2) الكلّ أُس 2 بالخيوط، و(3 أُس 2) الكلّ أُس 2.</a:t>
            </a:r>
            <a:endParaRPr lang="ar-LB" sz="1400" dirty="0"/>
          </a:p>
          <a:p>
            <a:pPr rtl="1" algn="r" indent="0" marL="0">
              <a:spcAft>
                <a:spcPts val="300"/>
              </a:spcAft>
              <a:buNone/>
            </a:pPr>
            <a:r>
              <a:rPr lang="ar-LB" altLang="en-US" sz="1400" dirty="0">
                <a:solidFill>
                  <a:srgbClr val="1B262C"/>
                </a:solidFill>
              </a:rPr>
              <a:t>مربّع مكعّبات طول ضلعه 2 أُس 2 = 4: كم مكعّبًا؟</a:t>
            </a:r>
            <a:endParaRPr lang="ar-LB" sz="1400" dirty="0"/>
          </a:p>
        </p:txBody>
      </p:sp>
      <p:sp>
        <p:nvSpPr>
          <p:cNvPr id="8" name="Shape 5"/>
          <p:cNvSpPr/>
          <p:nvPr/>
        </p:nvSpPr>
        <p:spPr>
          <a:xfrm>
            <a:off x="457200" y="3566160"/>
            <a:ext cx="5806440" cy="1097280"/>
          </a:xfrm>
          <a:prstGeom prst="roundRect">
            <a:avLst>
              <a:gd name="adj" fmla="val 8333"/>
            </a:avLst>
          </a:prstGeom>
          <a:solidFill>
            <a:srgbClr val="0F4C5C">
              <a:alpha val="7000"/>
            </a:srgbClr>
          </a:solidFill>
          <a:ln w="19050">
            <a:solidFill>
              <a:srgbClr val="0F4C5C"/>
            </a:solidFill>
            <a:prstDash val="solid"/>
          </a:ln>
        </p:spPr>
      </p:sp>
      <p:sp>
        <p:nvSpPr>
          <p:cNvPr id="9" name="Text 6"/>
          <p:cNvSpPr txBox="1"/>
          <p:nvPr/>
        </p:nvSpPr>
        <p:spPr>
          <a:xfrm>
            <a:off x="594360" y="3611880"/>
            <a:ext cx="5532120" cy="1005840"/>
          </a:xfrm>
          <a:prstGeom prst="rect">
            <a:avLst/>
          </a:prstGeom>
          <a:noFill/>
          <a:ln/>
        </p:spPr>
        <p:txBody>
          <a:bodyPr wrap="square" lIns="0" tIns="0" rIns="0" bIns="0" rtlCol="0" anchor="ctr"/>
          <a:lstStyle/>
          <a:p>
            <a:pPr rtl="1" algn="r" indent="0" marL="0">
              <a:buNone/>
            </a:pPr>
            <a:r>
              <a:rPr lang="ar-LB" altLang="en-US" sz="1300" b="1" dirty="0">
                <a:solidFill>
                  <a:srgbClr val="0F4C5C"/>
                </a:solidFill>
              </a:rPr>
              <a:t>الإجابات: </a:t>
            </a:r>
            <a:r>
              <a:rPr lang="ar-LB" altLang="en-US" sz="1300" dirty="0">
                <a:solidFill>
                  <a:srgbClr val="1B262C"/>
                </a:solidFill>
              </a:rPr>
              <a:t>3 أُس 4 = 81 • المطابقة في المفتاح • 3+3+3+3 = 4 × 3 = 12 ضرب لا قوّة • 2 أُس 4 = 16 و3 أُس 4 = 81 • 16 مكعّبًا.</a:t>
            </a:r>
            <a:endParaRPr lang="ar-LB" sz="1300" dirty="0"/>
          </a:p>
        </p:txBody>
      </p:sp>
      <p:sp>
        <p:nvSpPr>
          <p:cNvPr id="10" name="Shape 7"/>
          <p:cNvSpPr/>
          <p:nvPr/>
        </p:nvSpPr>
        <p:spPr>
          <a:xfrm>
            <a:off x="6446520" y="914400"/>
            <a:ext cx="2240280" cy="3749040"/>
          </a:xfrm>
          <a:prstGeom prst="roundRect">
            <a:avLst>
              <a:gd name="adj" fmla="val 4082"/>
            </a:avLst>
          </a:prstGeom>
          <a:solidFill>
            <a:srgbClr val="0F4C5C"/>
          </a:solidFill>
          <a:ln w="12700">
            <a:solidFill>
              <a:srgbClr val="0F4C5C"/>
            </a:solidFill>
            <a:prstDash val="solid"/>
          </a:ln>
        </p:spPr>
      </p:sp>
      <p:sp>
        <p:nvSpPr>
          <p:cNvPr id="11" name="Text 8"/>
          <p:cNvSpPr txBox="1"/>
          <p:nvPr/>
        </p:nvSpPr>
        <p:spPr>
          <a:xfrm>
            <a:off x="6537960" y="960120"/>
            <a:ext cx="2057400" cy="365760"/>
          </a:xfrm>
          <a:prstGeom prst="rect">
            <a:avLst/>
          </a:prstGeom>
          <a:noFill/>
          <a:ln/>
        </p:spPr>
        <p:txBody>
          <a:bodyPr wrap="square" lIns="0" tIns="0" rIns="0" bIns="0" rtlCol="0" anchor="t"/>
          <a:lstStyle/>
          <a:p>
            <a:pPr rtl="1" algn="r" indent="0" marL="0">
              <a:buNone/>
            </a:pPr>
            <a:r>
              <a:rPr lang="ar-LB" altLang="en-US" sz="1500" b="1" dirty="0">
                <a:solidFill>
                  <a:srgbClr val="F2C46D"/>
                </a:solidFill>
              </a:rPr>
              <a:t>دليل المعلم</a:t>
            </a:r>
            <a:endParaRPr lang="ar-LB" sz="1500" dirty="0"/>
          </a:p>
        </p:txBody>
      </p:sp>
      <p:sp>
        <p:nvSpPr>
          <p:cNvPr id="12" name="Text 9"/>
          <p:cNvSpPr txBox="1"/>
          <p:nvPr/>
        </p:nvSpPr>
        <p:spPr>
          <a:xfrm>
            <a:off x="6537960" y="1298448"/>
            <a:ext cx="2057400" cy="411480"/>
          </a:xfrm>
          <a:prstGeom prst="rect">
            <a:avLst/>
          </a:prstGeom>
          <a:noFill/>
          <a:ln/>
        </p:spPr>
        <p:txBody>
          <a:bodyPr wrap="square" lIns="0" tIns="0" rIns="0" bIns="0" rtlCol="0" anchor="t"/>
          <a:lstStyle/>
          <a:p>
            <a:pPr rtl="1" algn="r" indent="0" marL="0">
              <a:buNone/>
            </a:pPr>
            <a:r>
              <a:rPr lang="ar-LB" altLang="en-US" sz="1700" b="1" dirty="0">
                <a:solidFill>
                  <a:srgbClr val="FFFFFF"/>
                </a:solidFill>
              </a:rPr>
              <a:t>مجموعة الدائرة</a:t>
            </a:r>
            <a:endParaRPr lang="ar-LB" sz="1700" dirty="0"/>
          </a:p>
        </p:txBody>
      </p:sp>
      <p:sp>
        <p:nvSpPr>
          <p:cNvPr id="13" name="Shape 10"/>
          <p:cNvSpPr/>
          <p:nvPr/>
        </p:nvSpPr>
        <p:spPr>
          <a:xfrm>
            <a:off x="8183880" y="1783080"/>
            <a:ext cx="384048" cy="384048"/>
          </a:xfrm>
          <a:prstGeom prst="ellipse">
            <a:avLst/>
          </a:prstGeom>
          <a:solidFill>
            <a:srgbClr val="C2500C"/>
          </a:solidFill>
          <a:ln w="12700">
            <a:solidFill>
              <a:srgbClr val="C2500C"/>
            </a:solidFill>
            <a:prstDash val="solid"/>
          </a:ln>
        </p:spPr>
      </p:sp>
      <p:pic>
        <p:nvPicPr>
          <p:cNvPr id="14" name="Image 1" descr="أيقونة ساعة: الوقت">    </p:cNvPr>
          <p:cNvPicPr>
            <a:picLocks noChangeAspect="1"/>
          </p:cNvPicPr>
          <p:nvPr/>
        </p:nvPicPr>
        <p:blipFill>
          <a:blip r:embed="rId2"/>
          <a:stretch>
            <a:fillRect/>
          </a:stretch>
        </p:blipFill>
        <p:spPr>
          <a:xfrm>
            <a:off x="8276052" y="1875252"/>
            <a:ext cx="199705" cy="199705"/>
          </a:xfrm>
          <a:prstGeom prst="rect">
            <a:avLst/>
          </a:prstGeom>
        </p:spPr>
      </p:pic>
      <p:sp>
        <p:nvSpPr>
          <p:cNvPr id="15" name="Text 11"/>
          <p:cNvSpPr txBox="1"/>
          <p:nvPr/>
        </p:nvSpPr>
        <p:spPr>
          <a:xfrm>
            <a:off x="6537960" y="1783080"/>
            <a:ext cx="1600200" cy="384048"/>
          </a:xfrm>
          <a:prstGeom prst="rect">
            <a:avLst/>
          </a:prstGeom>
          <a:noFill/>
          <a:ln/>
        </p:spPr>
        <p:txBody>
          <a:bodyPr wrap="square" lIns="0" tIns="0" rIns="0" bIns="0" rtlCol="0" anchor="ctr"/>
          <a:lstStyle/>
          <a:p>
            <a:pPr rtl="1" algn="r" indent="0" marL="0">
              <a:buNone/>
            </a:pPr>
            <a:r>
              <a:rPr lang="ar-LB" altLang="en-US" sz="1600" b="1" dirty="0">
                <a:solidFill>
                  <a:srgbClr val="FFFFFF"/>
                </a:solidFill>
              </a:rPr>
              <a:t>من الـ13 د</a:t>
            </a:r>
            <a:endParaRPr lang="ar-LB" sz="1600" dirty="0"/>
          </a:p>
        </p:txBody>
      </p:sp>
      <p:sp>
        <p:nvSpPr>
          <p:cNvPr id="16" name="Text 12"/>
          <p:cNvSpPr txBox="1"/>
          <p:nvPr/>
        </p:nvSpPr>
        <p:spPr>
          <a:xfrm>
            <a:off x="6537960" y="2286000"/>
            <a:ext cx="2057400" cy="2286000"/>
          </a:xfrm>
          <a:prstGeom prst="rect">
            <a:avLst/>
          </a:prstGeom>
          <a:noFill/>
          <a:ln/>
        </p:spPr>
        <p:txBody>
          <a:bodyPr wrap="square" lIns="0" tIns="0" rIns="0" bIns="0" rtlCol="0" anchor="t"/>
          <a:lstStyle/>
          <a:p>
            <a:pPr rtl="1" algn="r" indent="0" marL="0">
              <a:spcAft>
                <a:spcPts val="300"/>
              </a:spcAft>
              <a:buNone/>
            </a:pPr>
            <a:r>
              <a:rPr lang="ar-LB" altLang="en-US" sz="1300" b="1" dirty="0">
                <a:solidFill>
                  <a:srgbClr val="F2C46D"/>
                </a:solidFill>
              </a:rPr>
              <a:t>الاستراتيجية:</a:t>
            </a:r>
            <a:endParaRPr lang="ar-LB" sz="1300" dirty="0"/>
          </a:p>
          <a:p>
            <a:pPr rtl="1" algn="r" indent="0" marL="0">
              <a:spcAft>
                <a:spcPts val="300"/>
              </a:spcAft>
              <a:buNone/>
            </a:pPr>
            <a:r>
              <a:rPr lang="ar-LB" altLang="en-US" sz="1300" dirty="0">
                <a:solidFill>
                  <a:srgbClr val="FFFFFF"/>
                </a:solidFill>
              </a:rPr>
              <a:t>نمذجة لمسية مع دعم مباشر من المعلم</a:t>
            </a:r>
            <a:endParaRPr lang="ar-LB" sz="1300" dirty="0"/>
          </a:p>
          <a:p>
            <a:pPr rtl="1" algn="r" indent="0" marL="0">
              <a:spcAft>
                <a:spcPts val="300"/>
              </a:spcAft>
              <a:buNone/>
            </a:pPr>
            <a:r>
              <a:rPr lang="ar-LB" altLang="en-US" sz="1300" b="1" dirty="0">
                <a:solidFill>
                  <a:srgbClr val="F2C46D"/>
                </a:solidFill>
              </a:rPr>
              <a:t>الأدوات:</a:t>
            </a:r>
            <a:endParaRPr lang="ar-LB" sz="1300" dirty="0"/>
          </a:p>
          <a:p>
            <a:pPr rtl="1" algn="r" indent="0" marL="0">
              <a:spcAft>
                <a:spcPts val="300"/>
              </a:spcAft>
              <a:buNone/>
            </a:pPr>
            <a:r>
              <a:rPr lang="ar-LB" altLang="en-US" sz="1300" dirty="0">
                <a:solidFill>
                  <a:srgbClr val="FFFFFF"/>
                </a:solidFill>
              </a:rPr>
              <a:t>خيوط وخرز، 16 مكعّبًا، بطاقات المطابقة</a:t>
            </a:r>
            <a:endParaRPr lang="ar-LB" sz="13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000" b="1" dirty="0">
                <a:solidFill>
                  <a:srgbClr val="0F4C5C"/>
                </a:solidFill>
              </a:rPr>
              <a:t>مجموعة المربّع: تمكّن</a:t>
            </a:r>
            <a:endParaRPr lang="en-US" sz="3000" dirty="0"/>
          </a:p>
        </p:txBody>
      </p:sp>
      <p:sp>
        <p:nvSpPr>
          <p:cNvPr id="3" name="Shape 1"/>
          <p:cNvSpPr/>
          <p:nvPr/>
        </p:nvSpPr>
        <p:spPr>
          <a:xfrm>
            <a:off x="457200" y="914400"/>
            <a:ext cx="5806440" cy="2514600"/>
          </a:xfrm>
          <a:prstGeom prst="roundRect">
            <a:avLst>
              <a:gd name="adj" fmla="val 3636"/>
            </a:avLst>
          </a:prstGeom>
          <a:solidFill>
            <a:srgbClr val="1F5C99">
              <a:alpha val="10000"/>
            </a:srgbClr>
          </a:solidFill>
          <a:ln w="19050">
            <a:solidFill>
              <a:srgbClr val="1F5C99"/>
            </a:solidFill>
            <a:prstDash val="solid"/>
          </a:ln>
        </p:spPr>
      </p:sp>
      <p:sp>
        <p:nvSpPr>
          <p:cNvPr id="4" name="Shape 2"/>
          <p:cNvSpPr/>
          <p:nvPr/>
        </p:nvSpPr>
        <p:spPr>
          <a:xfrm>
            <a:off x="5760720" y="1005840"/>
            <a:ext cx="384048" cy="384048"/>
          </a:xfrm>
          <a:prstGeom prst="ellipse">
            <a:avLst/>
          </a:prstGeom>
          <a:solidFill>
            <a:srgbClr val="1F5C99"/>
          </a:solidFill>
          <a:ln w="12700">
            <a:solidFill>
              <a:srgbClr val="1F5C99"/>
            </a:solidFill>
            <a:prstDash val="solid"/>
          </a:ln>
        </p:spPr>
      </p:sp>
      <p:pic>
        <p:nvPicPr>
          <p:cNvPr id="5" name="Image 0" descr="أيقونة يد: نشاط لمسي">    </p:cNvPr>
          <p:cNvPicPr>
            <a:picLocks noChangeAspect="1"/>
          </p:cNvPicPr>
          <p:nvPr/>
        </p:nvPicPr>
        <p:blipFill>
          <a:blip r:embed="rId1"/>
          <a:stretch>
            <a:fillRect/>
          </a:stretch>
        </p:blipFill>
        <p:spPr>
          <a:xfrm>
            <a:off x="5852892" y="1098012"/>
            <a:ext cx="199705" cy="199705"/>
          </a:xfrm>
          <a:prstGeom prst="rect">
            <a:avLst/>
          </a:prstGeom>
        </p:spPr>
      </p:pic>
      <p:sp>
        <p:nvSpPr>
          <p:cNvPr id="6" name="Text 3"/>
          <p:cNvSpPr txBox="1"/>
          <p:nvPr/>
        </p:nvSpPr>
        <p:spPr>
          <a:xfrm>
            <a:off x="548640" y="987552"/>
            <a:ext cx="5120640" cy="411480"/>
          </a:xfrm>
          <a:prstGeom prst="rect">
            <a:avLst/>
          </a:prstGeom>
          <a:noFill/>
          <a:ln/>
        </p:spPr>
        <p:txBody>
          <a:bodyPr wrap="square" lIns="0" tIns="0" rIns="0" bIns="0" rtlCol="0" anchor="ctr"/>
          <a:lstStyle/>
          <a:p>
            <a:pPr rtl="1" algn="r" indent="0" marL="0">
              <a:buNone/>
            </a:pPr>
            <a:r>
              <a:rPr lang="ar-LB" altLang="en-US" sz="1600" b="1" dirty="0">
                <a:solidFill>
                  <a:srgbClr val="1F5C99"/>
                </a:solidFill>
              </a:rPr>
              <a:t>المهام (من بطاقة المجموعة)</a:t>
            </a:r>
            <a:endParaRPr lang="ar-LB" sz="1600" dirty="0"/>
          </a:p>
        </p:txBody>
      </p:sp>
      <p:sp>
        <p:nvSpPr>
          <p:cNvPr id="7" name="Text 4"/>
          <p:cNvSpPr txBox="1"/>
          <p:nvPr/>
        </p:nvSpPr>
        <p:spPr>
          <a:xfrm>
            <a:off x="594360" y="1389888"/>
            <a:ext cx="5532120" cy="1993392"/>
          </a:xfrm>
          <a:prstGeom prst="rect">
            <a:avLst/>
          </a:prstGeom>
          <a:noFill/>
          <a:ln/>
        </p:spPr>
        <p:txBody>
          <a:bodyPr wrap="square" lIns="0" tIns="0" rIns="0" bIns="0" rtlCol="0" anchor="t"/>
          <a:lstStyle/>
          <a:p>
            <a:pPr rtl="1" algn="r" indent="0" marL="0">
              <a:spcAft>
                <a:spcPts val="300"/>
              </a:spcAft>
              <a:buNone/>
            </a:pPr>
            <a:r>
              <a:rPr lang="ar-LB" altLang="en-US" sz="1400" dirty="0">
                <a:solidFill>
                  <a:srgbClr val="1B262C"/>
                </a:solidFill>
              </a:rPr>
              <a:t>قوّة واحدة ثم احسب: (2 أُس 4) الكلّ أُس 2، (10 أُس 2) الكلّ أُس 4، (3 أُس 3) الكلّ أُس 2.</a:t>
            </a:r>
            <a:endParaRPr lang="ar-LB" sz="1400" dirty="0"/>
          </a:p>
          <a:p>
            <a:pPr rtl="1" algn="r" indent="0" marL="0">
              <a:spcAft>
                <a:spcPts val="300"/>
              </a:spcAft>
              <a:buNone/>
            </a:pPr>
            <a:r>
              <a:rPr lang="ar-LB" altLang="en-US" sz="1400" dirty="0">
                <a:solidFill>
                  <a:srgbClr val="1B262C"/>
                </a:solidFill>
              </a:rPr>
              <a:t>صح أم خطأ: (4 أُس 2) الكلّ أُس 3 = 4 أُس 5؛ 5 أُس 2 = 10؛ (a أُس 5) الكلّ أُس 2 = a أُس 10.</a:t>
            </a:r>
            <a:endParaRPr lang="ar-LB" sz="1400" dirty="0"/>
          </a:p>
          <a:p>
            <a:pPr rtl="1" algn="r" indent="0" marL="0">
              <a:spcAft>
                <a:spcPts val="300"/>
              </a:spcAft>
              <a:buNone/>
            </a:pPr>
            <a:r>
              <a:rPr lang="ar-LB" altLang="en-US" sz="1400" dirty="0">
                <a:solidFill>
                  <a:srgbClr val="1B262C"/>
                </a:solidFill>
              </a:rPr>
              <a:t>مزرعة مربّعة طول ضلعها 10 أُس 2 مترًا: مساحتها؟</a:t>
            </a:r>
            <a:endParaRPr lang="ar-LB" sz="1400" dirty="0"/>
          </a:p>
          <a:p>
            <a:pPr rtl="1" algn="r" indent="0" marL="0">
              <a:spcAft>
                <a:spcPts val="300"/>
              </a:spcAft>
              <a:buNone/>
            </a:pPr>
            <a:r>
              <a:rPr lang="ar-LB" altLang="en-US" sz="1400" dirty="0">
                <a:solidFill>
                  <a:srgbClr val="1B262C"/>
                </a:solidFill>
              </a:rPr>
              <a:t>اشرح لزميلك بالخيوط لماذا (4 أُس 2) الكلّ أُس 3 ليست 4 أُس 5.</a:t>
            </a:r>
            <a:endParaRPr lang="ar-LB" sz="1400" dirty="0"/>
          </a:p>
        </p:txBody>
      </p:sp>
      <p:sp>
        <p:nvSpPr>
          <p:cNvPr id="8" name="Shape 5"/>
          <p:cNvSpPr/>
          <p:nvPr/>
        </p:nvSpPr>
        <p:spPr>
          <a:xfrm>
            <a:off x="457200" y="3566160"/>
            <a:ext cx="5806440" cy="1097280"/>
          </a:xfrm>
          <a:prstGeom prst="roundRect">
            <a:avLst>
              <a:gd name="adj" fmla="val 8333"/>
            </a:avLst>
          </a:prstGeom>
          <a:solidFill>
            <a:srgbClr val="0F4C5C">
              <a:alpha val="7000"/>
            </a:srgbClr>
          </a:solidFill>
          <a:ln w="19050">
            <a:solidFill>
              <a:srgbClr val="0F4C5C"/>
            </a:solidFill>
            <a:prstDash val="solid"/>
          </a:ln>
        </p:spPr>
      </p:sp>
      <p:sp>
        <p:nvSpPr>
          <p:cNvPr id="9" name="Text 6"/>
          <p:cNvSpPr txBox="1"/>
          <p:nvPr/>
        </p:nvSpPr>
        <p:spPr>
          <a:xfrm>
            <a:off x="594360" y="3611880"/>
            <a:ext cx="5532120" cy="1005840"/>
          </a:xfrm>
          <a:prstGeom prst="rect">
            <a:avLst/>
          </a:prstGeom>
          <a:noFill/>
          <a:ln/>
        </p:spPr>
        <p:txBody>
          <a:bodyPr wrap="square" lIns="0" tIns="0" rIns="0" bIns="0" rtlCol="0" anchor="ctr"/>
          <a:lstStyle/>
          <a:p>
            <a:pPr rtl="1" algn="r" indent="0" marL="0">
              <a:buNone/>
            </a:pPr>
            <a:r>
              <a:rPr lang="ar-LB" altLang="en-US" sz="1300" b="1" dirty="0">
                <a:solidFill>
                  <a:srgbClr val="0F4C5C"/>
                </a:solidFill>
              </a:rPr>
              <a:t>الإجابات: </a:t>
            </a:r>
            <a:r>
              <a:rPr lang="ar-LB" altLang="en-US" sz="1300" dirty="0">
                <a:solidFill>
                  <a:srgbClr val="1B262C"/>
                </a:solidFill>
              </a:rPr>
              <a:t>2 أُس 8 = 256 • 10 أُس 8 = 100000000 • 3 أُس 6 = 729 • خطأ (4 أُس 6) • خطأ (25) • صح • 10 أُس 4 = 10000 م².</a:t>
            </a:r>
            <a:endParaRPr lang="ar-LB" sz="1300" dirty="0"/>
          </a:p>
        </p:txBody>
      </p:sp>
      <p:sp>
        <p:nvSpPr>
          <p:cNvPr id="10" name="Shape 7"/>
          <p:cNvSpPr/>
          <p:nvPr/>
        </p:nvSpPr>
        <p:spPr>
          <a:xfrm>
            <a:off x="6446520" y="914400"/>
            <a:ext cx="2240280" cy="3749040"/>
          </a:xfrm>
          <a:prstGeom prst="roundRect">
            <a:avLst>
              <a:gd name="adj" fmla="val 4082"/>
            </a:avLst>
          </a:prstGeom>
          <a:solidFill>
            <a:srgbClr val="0F4C5C"/>
          </a:solidFill>
          <a:ln w="12700">
            <a:solidFill>
              <a:srgbClr val="0F4C5C"/>
            </a:solidFill>
            <a:prstDash val="solid"/>
          </a:ln>
        </p:spPr>
      </p:sp>
      <p:sp>
        <p:nvSpPr>
          <p:cNvPr id="11" name="Text 8"/>
          <p:cNvSpPr txBox="1"/>
          <p:nvPr/>
        </p:nvSpPr>
        <p:spPr>
          <a:xfrm>
            <a:off x="6537960" y="960120"/>
            <a:ext cx="2057400" cy="365760"/>
          </a:xfrm>
          <a:prstGeom prst="rect">
            <a:avLst/>
          </a:prstGeom>
          <a:noFill/>
          <a:ln/>
        </p:spPr>
        <p:txBody>
          <a:bodyPr wrap="square" lIns="0" tIns="0" rIns="0" bIns="0" rtlCol="0" anchor="t"/>
          <a:lstStyle/>
          <a:p>
            <a:pPr rtl="1" algn="r" indent="0" marL="0">
              <a:buNone/>
            </a:pPr>
            <a:r>
              <a:rPr lang="ar-LB" altLang="en-US" sz="1500" b="1" dirty="0">
                <a:solidFill>
                  <a:srgbClr val="F2C46D"/>
                </a:solidFill>
              </a:rPr>
              <a:t>دليل المعلم</a:t>
            </a:r>
            <a:endParaRPr lang="ar-LB" sz="1500" dirty="0"/>
          </a:p>
        </p:txBody>
      </p:sp>
      <p:sp>
        <p:nvSpPr>
          <p:cNvPr id="12" name="Text 9"/>
          <p:cNvSpPr txBox="1"/>
          <p:nvPr/>
        </p:nvSpPr>
        <p:spPr>
          <a:xfrm>
            <a:off x="6537960" y="1298448"/>
            <a:ext cx="2057400" cy="411480"/>
          </a:xfrm>
          <a:prstGeom prst="rect">
            <a:avLst/>
          </a:prstGeom>
          <a:noFill/>
          <a:ln/>
        </p:spPr>
        <p:txBody>
          <a:bodyPr wrap="square" lIns="0" tIns="0" rIns="0" bIns="0" rtlCol="0" anchor="t"/>
          <a:lstStyle/>
          <a:p>
            <a:pPr rtl="1" algn="r" indent="0" marL="0">
              <a:buNone/>
            </a:pPr>
            <a:r>
              <a:rPr lang="ar-LB" altLang="en-US" sz="1700" b="1" dirty="0">
                <a:solidFill>
                  <a:srgbClr val="FFFFFF"/>
                </a:solidFill>
              </a:rPr>
              <a:t>مجموعة المربّع</a:t>
            </a:r>
            <a:endParaRPr lang="ar-LB" sz="1700" dirty="0"/>
          </a:p>
        </p:txBody>
      </p:sp>
      <p:sp>
        <p:nvSpPr>
          <p:cNvPr id="13" name="Shape 10"/>
          <p:cNvSpPr/>
          <p:nvPr/>
        </p:nvSpPr>
        <p:spPr>
          <a:xfrm>
            <a:off x="8183880" y="1783080"/>
            <a:ext cx="384048" cy="384048"/>
          </a:xfrm>
          <a:prstGeom prst="ellipse">
            <a:avLst/>
          </a:prstGeom>
          <a:solidFill>
            <a:srgbClr val="C2500C"/>
          </a:solidFill>
          <a:ln w="12700">
            <a:solidFill>
              <a:srgbClr val="C2500C"/>
            </a:solidFill>
            <a:prstDash val="solid"/>
          </a:ln>
        </p:spPr>
      </p:sp>
      <p:pic>
        <p:nvPicPr>
          <p:cNvPr id="14" name="Image 1" descr="أيقونة ساعة: الوقت">    </p:cNvPr>
          <p:cNvPicPr>
            <a:picLocks noChangeAspect="1"/>
          </p:cNvPicPr>
          <p:nvPr/>
        </p:nvPicPr>
        <p:blipFill>
          <a:blip r:embed="rId2"/>
          <a:stretch>
            <a:fillRect/>
          </a:stretch>
        </p:blipFill>
        <p:spPr>
          <a:xfrm>
            <a:off x="8276052" y="1875252"/>
            <a:ext cx="199705" cy="199705"/>
          </a:xfrm>
          <a:prstGeom prst="rect">
            <a:avLst/>
          </a:prstGeom>
        </p:spPr>
      </p:pic>
      <p:sp>
        <p:nvSpPr>
          <p:cNvPr id="15" name="Text 11"/>
          <p:cNvSpPr txBox="1"/>
          <p:nvPr/>
        </p:nvSpPr>
        <p:spPr>
          <a:xfrm>
            <a:off x="6537960" y="1783080"/>
            <a:ext cx="1600200" cy="384048"/>
          </a:xfrm>
          <a:prstGeom prst="rect">
            <a:avLst/>
          </a:prstGeom>
          <a:noFill/>
          <a:ln/>
        </p:spPr>
        <p:txBody>
          <a:bodyPr wrap="square" lIns="0" tIns="0" rIns="0" bIns="0" rtlCol="0" anchor="ctr"/>
          <a:lstStyle/>
          <a:p>
            <a:pPr rtl="1" algn="r" indent="0" marL="0">
              <a:buNone/>
            </a:pPr>
            <a:r>
              <a:rPr lang="ar-LB" altLang="en-US" sz="1600" b="1" dirty="0">
                <a:solidFill>
                  <a:srgbClr val="FFFFFF"/>
                </a:solidFill>
              </a:rPr>
              <a:t>من الـ13 د</a:t>
            </a:r>
            <a:endParaRPr lang="ar-LB" sz="1600" dirty="0"/>
          </a:p>
        </p:txBody>
      </p:sp>
      <p:sp>
        <p:nvSpPr>
          <p:cNvPr id="16" name="Text 12"/>
          <p:cNvSpPr txBox="1"/>
          <p:nvPr/>
        </p:nvSpPr>
        <p:spPr>
          <a:xfrm>
            <a:off x="6537960" y="2286000"/>
            <a:ext cx="2057400" cy="2286000"/>
          </a:xfrm>
          <a:prstGeom prst="rect">
            <a:avLst/>
          </a:prstGeom>
          <a:noFill/>
          <a:ln/>
        </p:spPr>
        <p:txBody>
          <a:bodyPr wrap="square" lIns="0" tIns="0" rIns="0" bIns="0" rtlCol="0" anchor="t"/>
          <a:lstStyle/>
          <a:p>
            <a:pPr rtl="1" algn="r" indent="0" marL="0">
              <a:spcAft>
                <a:spcPts val="300"/>
              </a:spcAft>
              <a:buNone/>
            </a:pPr>
            <a:r>
              <a:rPr lang="ar-LB" altLang="en-US" sz="1300" b="1" dirty="0">
                <a:solidFill>
                  <a:srgbClr val="F2C46D"/>
                </a:solidFill>
              </a:rPr>
              <a:t>الاستراتيجية:</a:t>
            </a:r>
            <a:endParaRPr lang="ar-LB" sz="1300" dirty="0"/>
          </a:p>
          <a:p>
            <a:pPr rtl="1" algn="r" indent="0" marL="0">
              <a:spcAft>
                <a:spcPts val="300"/>
              </a:spcAft>
              <a:buNone/>
            </a:pPr>
            <a:r>
              <a:rPr lang="ar-LB" altLang="en-US" sz="1300" dirty="0">
                <a:solidFill>
                  <a:srgbClr val="FFFFFF"/>
                </a:solidFill>
              </a:rPr>
              <a:t>تطبيق القاعدة واكتشاف الأخطاء</a:t>
            </a:r>
            <a:endParaRPr lang="ar-LB" sz="1300" dirty="0"/>
          </a:p>
          <a:p>
            <a:pPr rtl="1" algn="r" indent="0" marL="0">
              <a:spcAft>
                <a:spcPts val="300"/>
              </a:spcAft>
              <a:buNone/>
            </a:pPr>
            <a:r>
              <a:rPr lang="ar-LB" altLang="en-US" sz="1300" b="1" dirty="0">
                <a:solidFill>
                  <a:srgbClr val="F2C46D"/>
                </a:solidFill>
              </a:rPr>
              <a:t>الأدوات:</a:t>
            </a:r>
            <a:endParaRPr lang="ar-LB" sz="1300" dirty="0"/>
          </a:p>
          <a:p>
            <a:pPr rtl="1" algn="r" indent="0" marL="0">
              <a:spcAft>
                <a:spcPts val="300"/>
              </a:spcAft>
              <a:buNone/>
            </a:pPr>
            <a:r>
              <a:rPr lang="ar-LB" altLang="en-US" sz="1300" dirty="0">
                <a:solidFill>
                  <a:srgbClr val="FFFFFF"/>
                </a:solidFill>
              </a:rPr>
              <a:t>بطاقة المربّع بالبرايل، خيوط للتحقّق</a:t>
            </a:r>
            <a:endParaRPr lang="ar-LB" sz="13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000" b="1" dirty="0">
                <a:solidFill>
                  <a:srgbClr val="0F4C5C"/>
                </a:solidFill>
              </a:rPr>
              <a:t>مجموعة المثلث: إثراء</a:t>
            </a:r>
            <a:endParaRPr lang="en-US" sz="3000" dirty="0"/>
          </a:p>
        </p:txBody>
      </p:sp>
      <p:sp>
        <p:nvSpPr>
          <p:cNvPr id="3" name="Shape 1"/>
          <p:cNvSpPr/>
          <p:nvPr/>
        </p:nvSpPr>
        <p:spPr>
          <a:xfrm>
            <a:off x="457200" y="914400"/>
            <a:ext cx="5806440" cy="2514600"/>
          </a:xfrm>
          <a:prstGeom prst="roundRect">
            <a:avLst>
              <a:gd name="adj" fmla="val 3636"/>
            </a:avLst>
          </a:prstGeom>
          <a:solidFill>
            <a:srgbClr val="6A2F8F">
              <a:alpha val="10000"/>
            </a:srgbClr>
          </a:solidFill>
          <a:ln w="19050">
            <a:solidFill>
              <a:srgbClr val="6A2F8F"/>
            </a:solidFill>
            <a:prstDash val="solid"/>
          </a:ln>
        </p:spPr>
      </p:sp>
      <p:sp>
        <p:nvSpPr>
          <p:cNvPr id="4" name="Shape 2"/>
          <p:cNvSpPr/>
          <p:nvPr/>
        </p:nvSpPr>
        <p:spPr>
          <a:xfrm>
            <a:off x="5760720" y="1005840"/>
            <a:ext cx="384048" cy="384048"/>
          </a:xfrm>
          <a:prstGeom prst="ellipse">
            <a:avLst/>
          </a:prstGeom>
          <a:solidFill>
            <a:srgbClr val="6A2F8F"/>
          </a:solidFill>
          <a:ln w="12700">
            <a:solidFill>
              <a:srgbClr val="6A2F8F"/>
            </a:solidFill>
            <a:prstDash val="solid"/>
          </a:ln>
        </p:spPr>
      </p:sp>
      <p:pic>
        <p:nvPicPr>
          <p:cNvPr id="5" name="Image 0" descr="أيقونة يد: نشاط لمسي">    </p:cNvPr>
          <p:cNvPicPr>
            <a:picLocks noChangeAspect="1"/>
          </p:cNvPicPr>
          <p:nvPr/>
        </p:nvPicPr>
        <p:blipFill>
          <a:blip r:embed="rId1"/>
          <a:stretch>
            <a:fillRect/>
          </a:stretch>
        </p:blipFill>
        <p:spPr>
          <a:xfrm>
            <a:off x="5852892" y="1098012"/>
            <a:ext cx="199705" cy="199705"/>
          </a:xfrm>
          <a:prstGeom prst="rect">
            <a:avLst/>
          </a:prstGeom>
        </p:spPr>
      </p:pic>
      <p:sp>
        <p:nvSpPr>
          <p:cNvPr id="6" name="Text 3"/>
          <p:cNvSpPr txBox="1"/>
          <p:nvPr/>
        </p:nvSpPr>
        <p:spPr>
          <a:xfrm>
            <a:off x="548640" y="987552"/>
            <a:ext cx="5120640" cy="411480"/>
          </a:xfrm>
          <a:prstGeom prst="rect">
            <a:avLst/>
          </a:prstGeom>
          <a:noFill/>
          <a:ln/>
        </p:spPr>
        <p:txBody>
          <a:bodyPr wrap="square" lIns="0" tIns="0" rIns="0" bIns="0" rtlCol="0" anchor="ctr"/>
          <a:lstStyle/>
          <a:p>
            <a:pPr rtl="1" algn="r" indent="0" marL="0">
              <a:buNone/>
            </a:pPr>
            <a:r>
              <a:rPr lang="ar-LB" altLang="en-US" sz="1600" b="1" dirty="0">
                <a:solidFill>
                  <a:srgbClr val="6A2F8F"/>
                </a:solidFill>
              </a:rPr>
              <a:t>المهام (من بطاقة المجموعة)</a:t>
            </a:r>
            <a:endParaRPr lang="ar-LB" sz="1600" dirty="0"/>
          </a:p>
        </p:txBody>
      </p:sp>
      <p:sp>
        <p:nvSpPr>
          <p:cNvPr id="7" name="Text 4"/>
          <p:cNvSpPr txBox="1"/>
          <p:nvPr/>
        </p:nvSpPr>
        <p:spPr>
          <a:xfrm>
            <a:off x="594360" y="1389888"/>
            <a:ext cx="5532120" cy="1993392"/>
          </a:xfrm>
          <a:prstGeom prst="rect">
            <a:avLst/>
          </a:prstGeom>
          <a:noFill/>
          <a:ln/>
        </p:spPr>
        <p:txBody>
          <a:bodyPr wrap="square" lIns="0" tIns="0" rIns="0" bIns="0" rtlCol="0" anchor="t"/>
          <a:lstStyle/>
          <a:p>
            <a:pPr rtl="1" algn="r" indent="0" marL="0">
              <a:spcAft>
                <a:spcPts val="300"/>
              </a:spcAft>
              <a:buNone/>
            </a:pPr>
            <a:r>
              <a:rPr lang="ar-LB" altLang="en-US" sz="1400" dirty="0">
                <a:solidFill>
                  <a:srgbClr val="1B262C"/>
                </a:solidFill>
              </a:rPr>
              <a:t>العدد الناقص: (2 أُس ؟) الكلّ أُس 3 = 2 أُس 15؛ (؟ أُس 2) الكلّ أُس 2 = 81.</a:t>
            </a:r>
            <a:endParaRPr lang="ar-LB" sz="1400" dirty="0"/>
          </a:p>
          <a:p>
            <a:pPr rtl="1" algn="r" indent="0" marL="0">
              <a:spcAft>
                <a:spcPts val="300"/>
              </a:spcAft>
              <a:buNone/>
            </a:pPr>
            <a:r>
              <a:rPr lang="ar-LB" altLang="en-US" sz="1400" dirty="0">
                <a:solidFill>
                  <a:srgbClr val="1B262C"/>
                </a:solidFill>
              </a:rPr>
              <a:t>اكتب x أُس 12 كقوّة قوّة بكل الطرق (أُسس أكبر من 1).</a:t>
            </a:r>
            <a:endParaRPr lang="ar-LB" sz="1400" dirty="0"/>
          </a:p>
          <a:p>
            <a:pPr rtl="1" algn="r" indent="0" marL="0">
              <a:spcAft>
                <a:spcPts val="300"/>
              </a:spcAft>
              <a:buNone/>
            </a:pPr>
            <a:r>
              <a:rPr lang="ar-LB" altLang="en-US" sz="1400" dirty="0">
                <a:solidFill>
                  <a:srgbClr val="1B262C"/>
                </a:solidFill>
              </a:rPr>
              <a:t>قارن ذهنيًا: (2 أُس 3) الكلّ أُس 4 و(4 أُس 2) الكلّ أُس 3.</a:t>
            </a:r>
            <a:endParaRPr lang="ar-LB" sz="1400" dirty="0"/>
          </a:p>
          <a:p>
            <a:pPr rtl="1" algn="r" indent="0" marL="0">
              <a:spcAft>
                <a:spcPts val="300"/>
              </a:spcAft>
              <a:buNone/>
            </a:pPr>
            <a:r>
              <a:rPr lang="ar-LB" altLang="en-US" sz="1400" dirty="0">
                <a:solidFill>
                  <a:srgbClr val="1B262C"/>
                </a:solidFill>
              </a:rPr>
              <a:t>اكتشف خطأ سامي: (3 أُس 2) الكلّ أُس 3 = 3 أُس 5.</a:t>
            </a:r>
            <a:endParaRPr lang="ar-LB" sz="1400" dirty="0"/>
          </a:p>
          <a:p>
            <a:pPr rtl="1" algn="r" indent="0" marL="0">
              <a:spcAft>
                <a:spcPts val="300"/>
              </a:spcAft>
              <a:buNone/>
            </a:pPr>
            <a:r>
              <a:rPr lang="ar-LB" altLang="en-US" sz="1400" dirty="0">
                <a:solidFill>
                  <a:srgbClr val="1B262C"/>
                </a:solidFill>
              </a:rPr>
              <a:t>مكعّب حرفه 2 أُس 2 سم: حجمه؟ وكم مكعّبًا صغيرًا يملؤه؟</a:t>
            </a:r>
            <a:endParaRPr lang="ar-LB" sz="1400" dirty="0"/>
          </a:p>
        </p:txBody>
      </p:sp>
      <p:sp>
        <p:nvSpPr>
          <p:cNvPr id="8" name="Shape 5"/>
          <p:cNvSpPr/>
          <p:nvPr/>
        </p:nvSpPr>
        <p:spPr>
          <a:xfrm>
            <a:off x="457200" y="3566160"/>
            <a:ext cx="5806440" cy="1097280"/>
          </a:xfrm>
          <a:prstGeom prst="roundRect">
            <a:avLst>
              <a:gd name="adj" fmla="val 8333"/>
            </a:avLst>
          </a:prstGeom>
          <a:solidFill>
            <a:srgbClr val="0F4C5C">
              <a:alpha val="7000"/>
            </a:srgbClr>
          </a:solidFill>
          <a:ln w="19050">
            <a:solidFill>
              <a:srgbClr val="0F4C5C"/>
            </a:solidFill>
            <a:prstDash val="solid"/>
          </a:ln>
        </p:spPr>
      </p:sp>
      <p:sp>
        <p:nvSpPr>
          <p:cNvPr id="9" name="Text 6"/>
          <p:cNvSpPr txBox="1"/>
          <p:nvPr/>
        </p:nvSpPr>
        <p:spPr>
          <a:xfrm>
            <a:off x="594360" y="3611880"/>
            <a:ext cx="5532120" cy="1005840"/>
          </a:xfrm>
          <a:prstGeom prst="rect">
            <a:avLst/>
          </a:prstGeom>
          <a:noFill/>
          <a:ln/>
        </p:spPr>
        <p:txBody>
          <a:bodyPr wrap="square" lIns="0" tIns="0" rIns="0" bIns="0" rtlCol="0" anchor="ctr"/>
          <a:lstStyle/>
          <a:p>
            <a:pPr rtl="1" algn="r" indent="0" marL="0">
              <a:buNone/>
            </a:pPr>
            <a:r>
              <a:rPr lang="ar-LB" altLang="en-US" sz="1300" b="1" dirty="0">
                <a:solidFill>
                  <a:srgbClr val="0F4C5C"/>
                </a:solidFill>
              </a:rPr>
              <a:t>الإجابات: </a:t>
            </a:r>
            <a:r>
              <a:rPr lang="ar-LB" altLang="en-US" sz="1300" dirty="0">
                <a:solidFill>
                  <a:srgbClr val="1B262C"/>
                </a:solidFill>
              </a:rPr>
              <a:t>5 و3 • أربع طرق: الأُسّان 2 و6، 6 و2، 3 و4، 4 و3 • متساويتان (2 أُس 12) • الصحيح 3 أُس 6 = 729 • 2 أُس 6 = 64 سم³، 64 مكعّبًا.</a:t>
            </a:r>
            <a:endParaRPr lang="ar-LB" sz="1300" dirty="0"/>
          </a:p>
        </p:txBody>
      </p:sp>
      <p:sp>
        <p:nvSpPr>
          <p:cNvPr id="10" name="Shape 7"/>
          <p:cNvSpPr/>
          <p:nvPr/>
        </p:nvSpPr>
        <p:spPr>
          <a:xfrm>
            <a:off x="6446520" y="914400"/>
            <a:ext cx="2240280" cy="3749040"/>
          </a:xfrm>
          <a:prstGeom prst="roundRect">
            <a:avLst>
              <a:gd name="adj" fmla="val 4082"/>
            </a:avLst>
          </a:prstGeom>
          <a:solidFill>
            <a:srgbClr val="0F4C5C"/>
          </a:solidFill>
          <a:ln w="12700">
            <a:solidFill>
              <a:srgbClr val="0F4C5C"/>
            </a:solidFill>
            <a:prstDash val="solid"/>
          </a:ln>
        </p:spPr>
      </p:sp>
      <p:sp>
        <p:nvSpPr>
          <p:cNvPr id="11" name="Text 8"/>
          <p:cNvSpPr txBox="1"/>
          <p:nvPr/>
        </p:nvSpPr>
        <p:spPr>
          <a:xfrm>
            <a:off x="6537960" y="960120"/>
            <a:ext cx="2057400" cy="365760"/>
          </a:xfrm>
          <a:prstGeom prst="rect">
            <a:avLst/>
          </a:prstGeom>
          <a:noFill/>
          <a:ln/>
        </p:spPr>
        <p:txBody>
          <a:bodyPr wrap="square" lIns="0" tIns="0" rIns="0" bIns="0" rtlCol="0" anchor="t"/>
          <a:lstStyle/>
          <a:p>
            <a:pPr rtl="1" algn="r" indent="0" marL="0">
              <a:buNone/>
            </a:pPr>
            <a:r>
              <a:rPr lang="ar-LB" altLang="en-US" sz="1500" b="1" dirty="0">
                <a:solidFill>
                  <a:srgbClr val="F2C46D"/>
                </a:solidFill>
              </a:rPr>
              <a:t>دليل المعلم</a:t>
            </a:r>
            <a:endParaRPr lang="ar-LB" sz="1500" dirty="0"/>
          </a:p>
        </p:txBody>
      </p:sp>
      <p:sp>
        <p:nvSpPr>
          <p:cNvPr id="12" name="Text 9"/>
          <p:cNvSpPr txBox="1"/>
          <p:nvPr/>
        </p:nvSpPr>
        <p:spPr>
          <a:xfrm>
            <a:off x="6537960" y="1298448"/>
            <a:ext cx="2057400" cy="411480"/>
          </a:xfrm>
          <a:prstGeom prst="rect">
            <a:avLst/>
          </a:prstGeom>
          <a:noFill/>
          <a:ln/>
        </p:spPr>
        <p:txBody>
          <a:bodyPr wrap="square" lIns="0" tIns="0" rIns="0" bIns="0" rtlCol="0" anchor="t"/>
          <a:lstStyle/>
          <a:p>
            <a:pPr rtl="1" algn="r" indent="0" marL="0">
              <a:buNone/>
            </a:pPr>
            <a:r>
              <a:rPr lang="ar-LB" altLang="en-US" sz="1700" b="1" dirty="0">
                <a:solidFill>
                  <a:srgbClr val="FFFFFF"/>
                </a:solidFill>
              </a:rPr>
              <a:t>مجموعة المثلث</a:t>
            </a:r>
            <a:endParaRPr lang="ar-LB" sz="1700" dirty="0"/>
          </a:p>
        </p:txBody>
      </p:sp>
      <p:sp>
        <p:nvSpPr>
          <p:cNvPr id="13" name="Shape 10"/>
          <p:cNvSpPr/>
          <p:nvPr/>
        </p:nvSpPr>
        <p:spPr>
          <a:xfrm>
            <a:off x="8183880" y="1783080"/>
            <a:ext cx="384048" cy="384048"/>
          </a:xfrm>
          <a:prstGeom prst="ellipse">
            <a:avLst/>
          </a:prstGeom>
          <a:solidFill>
            <a:srgbClr val="C2500C"/>
          </a:solidFill>
          <a:ln w="12700">
            <a:solidFill>
              <a:srgbClr val="C2500C"/>
            </a:solidFill>
            <a:prstDash val="solid"/>
          </a:ln>
        </p:spPr>
      </p:sp>
      <p:pic>
        <p:nvPicPr>
          <p:cNvPr id="14" name="Image 1" descr="أيقونة ساعة: الوقت">    </p:cNvPr>
          <p:cNvPicPr>
            <a:picLocks noChangeAspect="1"/>
          </p:cNvPicPr>
          <p:nvPr/>
        </p:nvPicPr>
        <p:blipFill>
          <a:blip r:embed="rId2"/>
          <a:stretch>
            <a:fillRect/>
          </a:stretch>
        </p:blipFill>
        <p:spPr>
          <a:xfrm>
            <a:off x="8276052" y="1875252"/>
            <a:ext cx="199705" cy="199705"/>
          </a:xfrm>
          <a:prstGeom prst="rect">
            <a:avLst/>
          </a:prstGeom>
        </p:spPr>
      </p:pic>
      <p:sp>
        <p:nvSpPr>
          <p:cNvPr id="15" name="Text 11"/>
          <p:cNvSpPr txBox="1"/>
          <p:nvPr/>
        </p:nvSpPr>
        <p:spPr>
          <a:xfrm>
            <a:off x="6537960" y="1783080"/>
            <a:ext cx="1600200" cy="384048"/>
          </a:xfrm>
          <a:prstGeom prst="rect">
            <a:avLst/>
          </a:prstGeom>
          <a:noFill/>
          <a:ln/>
        </p:spPr>
        <p:txBody>
          <a:bodyPr wrap="square" lIns="0" tIns="0" rIns="0" bIns="0" rtlCol="0" anchor="ctr"/>
          <a:lstStyle/>
          <a:p>
            <a:pPr rtl="1" algn="r" indent="0" marL="0">
              <a:buNone/>
            </a:pPr>
            <a:r>
              <a:rPr lang="ar-LB" altLang="en-US" sz="1600" b="1" dirty="0">
                <a:solidFill>
                  <a:srgbClr val="FFFFFF"/>
                </a:solidFill>
              </a:rPr>
              <a:t>من الـ13 د</a:t>
            </a:r>
            <a:endParaRPr lang="ar-LB" sz="1600" dirty="0"/>
          </a:p>
        </p:txBody>
      </p:sp>
      <p:sp>
        <p:nvSpPr>
          <p:cNvPr id="16" name="Text 12"/>
          <p:cNvSpPr txBox="1"/>
          <p:nvPr/>
        </p:nvSpPr>
        <p:spPr>
          <a:xfrm>
            <a:off x="6537960" y="2286000"/>
            <a:ext cx="2057400" cy="2286000"/>
          </a:xfrm>
          <a:prstGeom prst="rect">
            <a:avLst/>
          </a:prstGeom>
          <a:noFill/>
          <a:ln/>
        </p:spPr>
        <p:txBody>
          <a:bodyPr wrap="square" lIns="0" tIns="0" rIns="0" bIns="0" rtlCol="0" anchor="t"/>
          <a:lstStyle/>
          <a:p>
            <a:pPr rtl="1" algn="r" indent="0" marL="0">
              <a:spcAft>
                <a:spcPts val="300"/>
              </a:spcAft>
              <a:buNone/>
            </a:pPr>
            <a:r>
              <a:rPr lang="ar-LB" altLang="en-US" sz="1300" b="1" dirty="0">
                <a:solidFill>
                  <a:srgbClr val="F2C46D"/>
                </a:solidFill>
              </a:rPr>
              <a:t>الاستراتيجية:</a:t>
            </a:r>
            <a:endParaRPr lang="ar-LB" sz="1300" dirty="0"/>
          </a:p>
          <a:p>
            <a:pPr rtl="1" algn="r" indent="0" marL="0">
              <a:spcAft>
                <a:spcPts val="300"/>
              </a:spcAft>
              <a:buNone/>
            </a:pPr>
            <a:r>
              <a:rPr lang="ar-LB" altLang="en-US" sz="1300" dirty="0">
                <a:solidFill>
                  <a:srgbClr val="FFFFFF"/>
                </a:solidFill>
              </a:rPr>
              <a:t>مسائل مفتوحة وتبرير، ثم يصبحون «خبراء»</a:t>
            </a:r>
            <a:endParaRPr lang="ar-LB" sz="1300" dirty="0"/>
          </a:p>
          <a:p>
            <a:pPr rtl="1" algn="r" indent="0" marL="0">
              <a:spcAft>
                <a:spcPts val="300"/>
              </a:spcAft>
              <a:buNone/>
            </a:pPr>
            <a:r>
              <a:rPr lang="ar-LB" altLang="en-US" sz="1300" b="1" dirty="0">
                <a:solidFill>
                  <a:srgbClr val="F2C46D"/>
                </a:solidFill>
              </a:rPr>
              <a:t>الأدوات:</a:t>
            </a:r>
            <a:endParaRPr lang="ar-LB" sz="1300" dirty="0"/>
          </a:p>
          <a:p>
            <a:pPr rtl="1" algn="r" indent="0" marL="0">
              <a:spcAft>
                <a:spcPts val="300"/>
              </a:spcAft>
              <a:buNone/>
            </a:pPr>
            <a:r>
              <a:rPr lang="ar-LB" altLang="en-US" sz="1300" dirty="0">
                <a:solidFill>
                  <a:srgbClr val="FFFFFF"/>
                </a:solidFill>
              </a:rPr>
              <a:t>بطاقة المثلث بالبرايل، شارات «خبير»</a:t>
            </a:r>
            <a:endParaRPr lang="ar-LB" sz="13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000" b="1" dirty="0">
                <a:solidFill>
                  <a:srgbClr val="0F4C5C"/>
                </a:solidFill>
              </a:rPr>
              <a:t>التقييم: أسئلة بطاقة الخروج</a:t>
            </a:r>
            <a:endParaRPr lang="en-US" sz="3000" dirty="0"/>
          </a:p>
        </p:txBody>
      </p:sp>
      <p:sp>
        <p:nvSpPr>
          <p:cNvPr id="3" name="Text 1"/>
          <p:cNvSpPr txBox="1"/>
          <p:nvPr/>
        </p:nvSpPr>
        <p:spPr>
          <a:xfrm>
            <a:off x="457200" y="914400"/>
            <a:ext cx="5806440" cy="3749040"/>
          </a:xfrm>
          <a:prstGeom prst="rect">
            <a:avLst/>
          </a:prstGeom>
          <a:noFill/>
          <a:ln/>
        </p:spPr>
        <p:txBody>
          <a:bodyPr wrap="square" lIns="0" tIns="0" rIns="0" bIns="0" rtlCol="0" anchor="t"/>
          <a:lstStyle/>
          <a:p>
            <a:pPr rtl="1" algn="r" indent="0" marL="0">
              <a:spcAft>
                <a:spcPts val="700"/>
              </a:spcAft>
              <a:buNone/>
            </a:pPr>
            <a:r>
              <a:rPr lang="ar-LB" altLang="en-US" sz="1500" dirty="0">
                <a:solidFill>
                  <a:srgbClr val="1B262C"/>
                </a:solidFill>
              </a:rPr>
              <a:t>1. (الهدف 1) أيّهما يساوي 6 أُس 3: (أ) 6 × 3، أم (ب) 6 × 6 × 6؟ اشرح.</a:t>
            </a:r>
            <a:endParaRPr lang="ar-LB" sz="1500" dirty="0"/>
          </a:p>
          <a:p>
            <a:pPr rtl="1" algn="r" indent="0" marL="0">
              <a:spcAft>
                <a:spcPts val="700"/>
              </a:spcAft>
              <a:buNone/>
            </a:pPr>
            <a:r>
              <a:rPr lang="ar-LB" altLang="en-US" sz="1500" dirty="0">
                <a:solidFill>
                  <a:srgbClr val="1B262C"/>
                </a:solidFill>
              </a:rPr>
              <a:t>2. (الهدف 2) اكتب بالبرايل على شكل قوّة: 8 × 8 × 8 × 8 × 8، وy × y × y.</a:t>
            </a:r>
            <a:endParaRPr lang="ar-LB" sz="1500" dirty="0"/>
          </a:p>
          <a:p>
            <a:pPr rtl="1" algn="r" indent="0" marL="0">
              <a:spcAft>
                <a:spcPts val="700"/>
              </a:spcAft>
              <a:buNone/>
            </a:pPr>
            <a:r>
              <a:rPr lang="ar-LB" altLang="en-US" sz="1500" dirty="0">
                <a:solidFill>
                  <a:srgbClr val="1B262C"/>
                </a:solidFill>
              </a:rPr>
              <a:t>3. (الهدف 3) اكتب كقوّة واحدة: (5 أُس 3) الكلّ أُس 4، و(b أُس 2) الكلّ أُس 7.</a:t>
            </a:r>
            <a:endParaRPr lang="ar-LB" sz="1500" dirty="0"/>
          </a:p>
          <a:p>
            <a:pPr rtl="1" algn="r" indent="0" marL="0">
              <a:spcAft>
                <a:spcPts val="700"/>
              </a:spcAft>
              <a:buNone/>
            </a:pPr>
            <a:r>
              <a:rPr lang="ar-LB" altLang="en-US" sz="1500" dirty="0">
                <a:solidFill>
                  <a:srgbClr val="1B262C"/>
                </a:solidFill>
              </a:rPr>
              <a:t>4. (الهدف 3) احسب: (2 أُس 2) الكلّ أُس 4.</a:t>
            </a:r>
            <a:endParaRPr lang="ar-LB" sz="1500" dirty="0"/>
          </a:p>
          <a:p>
            <a:pPr rtl="1" algn="r" indent="0" marL="0">
              <a:spcAft>
                <a:spcPts val="700"/>
              </a:spcAft>
              <a:buNone/>
            </a:pPr>
            <a:r>
              <a:rPr lang="ar-LB" altLang="en-US" sz="1500" dirty="0">
                <a:solidFill>
                  <a:srgbClr val="1B262C"/>
                </a:solidFill>
              </a:rPr>
              <a:t>5. (مسألة) صندوق مكعّب طول حرفه 10 أُس 2 سم: احسب حجمه.</a:t>
            </a:r>
            <a:endParaRPr lang="ar-LB" sz="1500" dirty="0"/>
          </a:p>
        </p:txBody>
      </p:sp>
      <p:sp>
        <p:nvSpPr>
          <p:cNvPr id="4" name="Shape 2"/>
          <p:cNvSpPr/>
          <p:nvPr/>
        </p:nvSpPr>
        <p:spPr>
          <a:xfrm>
            <a:off x="6446520" y="914400"/>
            <a:ext cx="2240280" cy="3749040"/>
          </a:xfrm>
          <a:prstGeom prst="roundRect">
            <a:avLst>
              <a:gd name="adj" fmla="val 4082"/>
            </a:avLst>
          </a:prstGeom>
          <a:solidFill>
            <a:srgbClr val="0F4C5C"/>
          </a:solidFill>
          <a:ln w="12700">
            <a:solidFill>
              <a:srgbClr val="0F4C5C"/>
            </a:solidFill>
            <a:prstDash val="solid"/>
          </a:ln>
        </p:spPr>
      </p:sp>
      <p:sp>
        <p:nvSpPr>
          <p:cNvPr id="5" name="Text 3"/>
          <p:cNvSpPr txBox="1"/>
          <p:nvPr/>
        </p:nvSpPr>
        <p:spPr>
          <a:xfrm>
            <a:off x="6537960" y="960120"/>
            <a:ext cx="2057400" cy="365760"/>
          </a:xfrm>
          <a:prstGeom prst="rect">
            <a:avLst/>
          </a:prstGeom>
          <a:noFill/>
          <a:ln/>
        </p:spPr>
        <p:txBody>
          <a:bodyPr wrap="square" lIns="0" tIns="0" rIns="0" bIns="0" rtlCol="0" anchor="t"/>
          <a:lstStyle/>
          <a:p>
            <a:pPr rtl="1" algn="r" indent="0" marL="0">
              <a:buNone/>
            </a:pPr>
            <a:r>
              <a:rPr lang="ar-LB" altLang="en-US" sz="1500" b="1" dirty="0">
                <a:solidFill>
                  <a:srgbClr val="F2C46D"/>
                </a:solidFill>
              </a:rPr>
              <a:t>دليل المعلم</a:t>
            </a:r>
            <a:endParaRPr lang="ar-LB" sz="1500" dirty="0"/>
          </a:p>
        </p:txBody>
      </p:sp>
      <p:sp>
        <p:nvSpPr>
          <p:cNvPr id="6" name="Text 4"/>
          <p:cNvSpPr txBox="1"/>
          <p:nvPr/>
        </p:nvSpPr>
        <p:spPr>
          <a:xfrm>
            <a:off x="6537960" y="1298448"/>
            <a:ext cx="2057400" cy="411480"/>
          </a:xfrm>
          <a:prstGeom prst="rect">
            <a:avLst/>
          </a:prstGeom>
          <a:noFill/>
          <a:ln/>
        </p:spPr>
        <p:txBody>
          <a:bodyPr wrap="square" lIns="0" tIns="0" rIns="0" bIns="0" rtlCol="0" anchor="t"/>
          <a:lstStyle/>
          <a:p>
            <a:pPr rtl="1" algn="r" indent="0" marL="0">
              <a:buNone/>
            </a:pPr>
            <a:r>
              <a:rPr lang="ar-LB" altLang="en-US" sz="1700" b="1" dirty="0">
                <a:solidFill>
                  <a:srgbClr val="FFFFFF"/>
                </a:solidFill>
              </a:rPr>
              <a:t>التقييم</a:t>
            </a:r>
            <a:endParaRPr lang="ar-LB" sz="1700" dirty="0"/>
          </a:p>
        </p:txBody>
      </p:sp>
      <p:sp>
        <p:nvSpPr>
          <p:cNvPr id="7" name="Shape 5"/>
          <p:cNvSpPr/>
          <p:nvPr/>
        </p:nvSpPr>
        <p:spPr>
          <a:xfrm>
            <a:off x="8183880" y="1783080"/>
            <a:ext cx="384048" cy="384048"/>
          </a:xfrm>
          <a:prstGeom prst="ellipse">
            <a:avLst/>
          </a:prstGeom>
          <a:solidFill>
            <a:srgbClr val="C2500C"/>
          </a:solidFill>
          <a:ln w="12700">
            <a:solidFill>
              <a:srgbClr val="C2500C"/>
            </a:solidFill>
            <a:prstDash val="solid"/>
          </a:ln>
        </p:spPr>
      </p:sp>
      <p:pic>
        <p:nvPicPr>
          <p:cNvPr id="8" name="Image 0" descr="أيقونة ساعة: الوقت">    </p:cNvPr>
          <p:cNvPicPr>
            <a:picLocks noChangeAspect="1"/>
          </p:cNvPicPr>
          <p:nvPr/>
        </p:nvPicPr>
        <p:blipFill>
          <a:blip r:embed="rId1"/>
          <a:stretch>
            <a:fillRect/>
          </a:stretch>
        </p:blipFill>
        <p:spPr>
          <a:xfrm>
            <a:off x="8276052" y="1875252"/>
            <a:ext cx="199705" cy="199705"/>
          </a:xfrm>
          <a:prstGeom prst="rect">
            <a:avLst/>
          </a:prstGeom>
        </p:spPr>
      </p:pic>
      <p:sp>
        <p:nvSpPr>
          <p:cNvPr id="9" name="Text 6"/>
          <p:cNvSpPr txBox="1"/>
          <p:nvPr/>
        </p:nvSpPr>
        <p:spPr>
          <a:xfrm>
            <a:off x="6537960" y="1783080"/>
            <a:ext cx="1600200" cy="384048"/>
          </a:xfrm>
          <a:prstGeom prst="rect">
            <a:avLst/>
          </a:prstGeom>
          <a:noFill/>
          <a:ln/>
        </p:spPr>
        <p:txBody>
          <a:bodyPr wrap="square" lIns="0" tIns="0" rIns="0" bIns="0" rtlCol="0" anchor="ctr"/>
          <a:lstStyle/>
          <a:p>
            <a:pPr rtl="1" algn="r" indent="0" marL="0">
              <a:buNone/>
            </a:pPr>
            <a:r>
              <a:rPr lang="ar-LB" altLang="en-US" sz="1600" b="1" dirty="0">
                <a:solidFill>
                  <a:srgbClr val="FFFFFF"/>
                </a:solidFill>
              </a:rPr>
              <a:t>4 دقائق حلّ</a:t>
            </a:r>
            <a:endParaRPr lang="ar-LB" sz="1600" dirty="0"/>
          </a:p>
        </p:txBody>
      </p:sp>
      <p:sp>
        <p:nvSpPr>
          <p:cNvPr id="10" name="Text 7"/>
          <p:cNvSpPr txBox="1"/>
          <p:nvPr/>
        </p:nvSpPr>
        <p:spPr>
          <a:xfrm>
            <a:off x="6537960" y="2286000"/>
            <a:ext cx="2057400" cy="2286000"/>
          </a:xfrm>
          <a:prstGeom prst="rect">
            <a:avLst/>
          </a:prstGeom>
          <a:noFill/>
          <a:ln/>
        </p:spPr>
        <p:txBody>
          <a:bodyPr wrap="square" lIns="0" tIns="0" rIns="0" bIns="0" rtlCol="0" anchor="t"/>
          <a:lstStyle/>
          <a:p>
            <a:pPr rtl="1" algn="r" indent="0" marL="0">
              <a:spcAft>
                <a:spcPts val="300"/>
              </a:spcAft>
              <a:buNone/>
            </a:pPr>
            <a:r>
              <a:rPr lang="ar-LB" altLang="en-US" sz="1300" b="1" dirty="0">
                <a:solidFill>
                  <a:srgbClr val="F2C46D"/>
                </a:solidFill>
              </a:rPr>
              <a:t>الاستراتيجية:</a:t>
            </a:r>
            <a:endParaRPr lang="ar-LB" sz="1300" dirty="0"/>
          </a:p>
          <a:p>
            <a:pPr rtl="1" algn="r" indent="0" marL="0">
              <a:spcAft>
                <a:spcPts val="300"/>
              </a:spcAft>
              <a:buNone/>
            </a:pPr>
            <a:r>
              <a:rPr lang="ar-LB" altLang="en-US" sz="1300" dirty="0">
                <a:solidFill>
                  <a:srgbClr val="FFFFFF"/>
                </a:solidFill>
              </a:rPr>
              <a:t>حلّ فردي بالبرايل أو شفهيًا</a:t>
            </a:r>
            <a:endParaRPr lang="ar-LB" sz="1300" dirty="0"/>
          </a:p>
          <a:p>
            <a:pPr rtl="1" algn="r" indent="0" marL="0">
              <a:spcAft>
                <a:spcPts val="300"/>
              </a:spcAft>
              <a:buNone/>
            </a:pPr>
            <a:r>
              <a:rPr lang="ar-LB" altLang="en-US" sz="1300" b="1" dirty="0">
                <a:solidFill>
                  <a:srgbClr val="F2C46D"/>
                </a:solidFill>
              </a:rPr>
              <a:t>الأدوات:</a:t>
            </a:r>
            <a:endParaRPr lang="ar-LB" sz="1300" dirty="0"/>
          </a:p>
          <a:p>
            <a:pPr rtl="1" algn="r" indent="0" marL="0">
              <a:spcAft>
                <a:spcPts val="300"/>
              </a:spcAft>
              <a:buNone/>
            </a:pPr>
            <a:r>
              <a:rPr lang="ar-LB" altLang="en-US" sz="1300" dirty="0">
                <a:solidFill>
                  <a:srgbClr val="FFFFFF"/>
                </a:solidFill>
              </a:rPr>
              <a:t>بطاقة التقييم بالبرايل لكل طالب</a:t>
            </a:r>
            <a:endParaRPr lang="ar-LB" sz="13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000" b="1" dirty="0">
                <a:solidFill>
                  <a:srgbClr val="0F4C5C"/>
                </a:solidFill>
              </a:rPr>
              <a:t>تناقل المعرفة: اسأل ثلاثة قبل المعلم</a:t>
            </a:r>
            <a:endParaRPr lang="en-US" sz="3000" dirty="0"/>
          </a:p>
        </p:txBody>
      </p:sp>
      <p:sp>
        <p:nvSpPr>
          <p:cNvPr id="3" name="Shape 1"/>
          <p:cNvSpPr/>
          <p:nvPr/>
        </p:nvSpPr>
        <p:spPr>
          <a:xfrm>
            <a:off x="457200" y="914400"/>
            <a:ext cx="5806440" cy="804672"/>
          </a:xfrm>
          <a:prstGeom prst="roundRect">
            <a:avLst>
              <a:gd name="adj" fmla="val 11364"/>
            </a:avLst>
          </a:prstGeom>
          <a:solidFill>
            <a:srgbClr val="0B6E70">
              <a:alpha val="10000"/>
            </a:srgbClr>
          </a:solidFill>
          <a:ln w="19050">
            <a:solidFill>
              <a:srgbClr val="0B6E70"/>
            </a:solidFill>
            <a:prstDash val="solid"/>
          </a:ln>
        </p:spPr>
      </p:sp>
      <p:sp>
        <p:nvSpPr>
          <p:cNvPr id="4" name="Text 2"/>
          <p:cNvSpPr txBox="1"/>
          <p:nvPr/>
        </p:nvSpPr>
        <p:spPr>
          <a:xfrm>
            <a:off x="4480560" y="914400"/>
            <a:ext cx="1691640" cy="804672"/>
          </a:xfrm>
          <a:prstGeom prst="rect">
            <a:avLst/>
          </a:prstGeom>
          <a:noFill/>
          <a:ln/>
        </p:spPr>
        <p:txBody>
          <a:bodyPr wrap="square" lIns="0" tIns="0" rIns="0" bIns="0" rtlCol="0" anchor="ctr"/>
          <a:lstStyle/>
          <a:p>
            <a:pPr rtl="1" algn="r" indent="0" marL="0">
              <a:buNone/>
            </a:pPr>
            <a:r>
              <a:rPr lang="ar-LB" altLang="en-US" sz="1600" b="1" dirty="0">
                <a:solidFill>
                  <a:srgbClr val="0B6E70"/>
                </a:solidFill>
              </a:rPr>
              <a:t>1. أحلّ وحدي</a:t>
            </a:r>
            <a:endParaRPr lang="ar-LB" sz="1600" dirty="0"/>
          </a:p>
        </p:txBody>
      </p:sp>
      <p:sp>
        <p:nvSpPr>
          <p:cNvPr id="5" name="Text 3"/>
          <p:cNvSpPr txBox="1"/>
          <p:nvPr/>
        </p:nvSpPr>
        <p:spPr>
          <a:xfrm>
            <a:off x="594360" y="914400"/>
            <a:ext cx="3840480" cy="804672"/>
          </a:xfrm>
          <a:prstGeom prst="rect">
            <a:avLst/>
          </a:prstGeom>
          <a:noFill/>
          <a:ln/>
        </p:spPr>
        <p:txBody>
          <a:bodyPr wrap="square" lIns="0" tIns="0" rIns="0" bIns="0" rtlCol="0" anchor="ctr"/>
          <a:lstStyle/>
          <a:p>
            <a:pPr rtl="1" algn="r" indent="0" marL="0">
              <a:buNone/>
            </a:pPr>
            <a:r>
              <a:rPr lang="ar-LB" altLang="en-US" sz="1400" dirty="0">
                <a:solidFill>
                  <a:srgbClr val="1B262C"/>
                </a:solidFill>
              </a:rPr>
              <a:t>بالبرايل أو شفهيًا.</a:t>
            </a:r>
            <a:endParaRPr lang="ar-LB" sz="1400" dirty="0"/>
          </a:p>
        </p:txBody>
      </p:sp>
      <p:sp>
        <p:nvSpPr>
          <p:cNvPr id="6" name="Shape 4"/>
          <p:cNvSpPr/>
          <p:nvPr/>
        </p:nvSpPr>
        <p:spPr>
          <a:xfrm>
            <a:off x="457200" y="1828800"/>
            <a:ext cx="5806440" cy="804672"/>
          </a:xfrm>
          <a:prstGeom prst="roundRect">
            <a:avLst>
              <a:gd name="adj" fmla="val 11364"/>
            </a:avLst>
          </a:prstGeom>
          <a:solidFill>
            <a:srgbClr val="0B6E70">
              <a:alpha val="10000"/>
            </a:srgbClr>
          </a:solidFill>
          <a:ln w="19050">
            <a:solidFill>
              <a:srgbClr val="0B6E70"/>
            </a:solidFill>
            <a:prstDash val="solid"/>
          </a:ln>
        </p:spPr>
      </p:sp>
      <p:sp>
        <p:nvSpPr>
          <p:cNvPr id="7" name="Text 5"/>
          <p:cNvSpPr txBox="1"/>
          <p:nvPr/>
        </p:nvSpPr>
        <p:spPr>
          <a:xfrm>
            <a:off x="4480560" y="1828800"/>
            <a:ext cx="1691640" cy="804672"/>
          </a:xfrm>
          <a:prstGeom prst="rect">
            <a:avLst/>
          </a:prstGeom>
          <a:noFill/>
          <a:ln/>
        </p:spPr>
        <p:txBody>
          <a:bodyPr wrap="square" lIns="0" tIns="0" rIns="0" bIns="0" rtlCol="0" anchor="ctr"/>
          <a:lstStyle/>
          <a:p>
            <a:pPr rtl="1" algn="r" indent="0" marL="0">
              <a:buNone/>
            </a:pPr>
            <a:r>
              <a:rPr lang="ar-LB" altLang="en-US" sz="1600" b="1" dirty="0">
                <a:solidFill>
                  <a:srgbClr val="0B6E70"/>
                </a:solidFill>
              </a:rPr>
              <a:t>2. أقرأ لجاري</a:t>
            </a:r>
            <a:endParaRPr lang="ar-LB" sz="1600" dirty="0"/>
          </a:p>
        </p:txBody>
      </p:sp>
      <p:sp>
        <p:nvSpPr>
          <p:cNvPr id="8" name="Text 6"/>
          <p:cNvSpPr txBox="1"/>
          <p:nvPr/>
        </p:nvSpPr>
        <p:spPr>
          <a:xfrm>
            <a:off x="594360" y="1828800"/>
            <a:ext cx="3840480" cy="804672"/>
          </a:xfrm>
          <a:prstGeom prst="rect">
            <a:avLst/>
          </a:prstGeom>
          <a:noFill/>
          <a:ln/>
        </p:spPr>
        <p:txBody>
          <a:bodyPr wrap="square" lIns="0" tIns="0" rIns="0" bIns="0" rtlCol="0" anchor="ctr"/>
          <a:lstStyle/>
          <a:p>
            <a:pPr rtl="1" algn="r" indent="0" marL="0">
              <a:buNone/>
            </a:pPr>
            <a:r>
              <a:rPr lang="ar-LB" altLang="en-US" sz="1400" dirty="0">
                <a:solidFill>
                  <a:srgbClr val="1B262C"/>
                </a:solidFill>
              </a:rPr>
              <a:t>أقرأ إجاباتي بصوت منخفض، فيقول: «موافق» أو «لست متأكدًا».</a:t>
            </a:r>
            <a:endParaRPr lang="ar-LB" sz="1400" dirty="0"/>
          </a:p>
        </p:txBody>
      </p:sp>
      <p:sp>
        <p:nvSpPr>
          <p:cNvPr id="9" name="Shape 7"/>
          <p:cNvSpPr/>
          <p:nvPr/>
        </p:nvSpPr>
        <p:spPr>
          <a:xfrm>
            <a:off x="457200" y="2743200"/>
            <a:ext cx="5806440" cy="804672"/>
          </a:xfrm>
          <a:prstGeom prst="roundRect">
            <a:avLst>
              <a:gd name="adj" fmla="val 11364"/>
            </a:avLst>
          </a:prstGeom>
          <a:solidFill>
            <a:srgbClr val="0B6E70">
              <a:alpha val="10000"/>
            </a:srgbClr>
          </a:solidFill>
          <a:ln w="19050">
            <a:solidFill>
              <a:srgbClr val="0B6E70"/>
            </a:solidFill>
            <a:prstDash val="solid"/>
          </a:ln>
        </p:spPr>
      </p:sp>
      <p:sp>
        <p:nvSpPr>
          <p:cNvPr id="10" name="Text 8"/>
          <p:cNvSpPr txBox="1"/>
          <p:nvPr/>
        </p:nvSpPr>
        <p:spPr>
          <a:xfrm>
            <a:off x="4480560" y="2743200"/>
            <a:ext cx="1691640" cy="804672"/>
          </a:xfrm>
          <a:prstGeom prst="rect">
            <a:avLst/>
          </a:prstGeom>
          <a:noFill/>
          <a:ln/>
        </p:spPr>
        <p:txBody>
          <a:bodyPr wrap="square" lIns="0" tIns="0" rIns="0" bIns="0" rtlCol="0" anchor="ctr"/>
          <a:lstStyle/>
          <a:p>
            <a:pPr rtl="1" algn="r" indent="0" marL="0">
              <a:buNone/>
            </a:pPr>
            <a:r>
              <a:rPr lang="ar-LB" altLang="en-US" sz="1600" b="1" dirty="0">
                <a:solidFill>
                  <a:srgbClr val="0B6E70"/>
                </a:solidFill>
              </a:rPr>
              <a:t>3. نتحقّق معًا</a:t>
            </a:r>
            <a:endParaRPr lang="ar-LB" sz="1600" dirty="0"/>
          </a:p>
        </p:txBody>
      </p:sp>
      <p:sp>
        <p:nvSpPr>
          <p:cNvPr id="11" name="Text 9"/>
          <p:cNvSpPr txBox="1"/>
          <p:nvPr/>
        </p:nvSpPr>
        <p:spPr>
          <a:xfrm>
            <a:off x="594360" y="2743200"/>
            <a:ext cx="3840480" cy="804672"/>
          </a:xfrm>
          <a:prstGeom prst="rect">
            <a:avLst/>
          </a:prstGeom>
          <a:noFill/>
          <a:ln/>
        </p:spPr>
        <p:txBody>
          <a:bodyPr wrap="square" lIns="0" tIns="0" rIns="0" bIns="0" rtlCol="0" anchor="ctr"/>
          <a:lstStyle/>
          <a:p>
            <a:pPr rtl="1" algn="r" indent="0" marL="0">
              <a:buNone/>
            </a:pPr>
            <a:r>
              <a:rPr lang="ar-LB" altLang="en-US" sz="1400" dirty="0">
                <a:solidFill>
                  <a:srgbClr val="1B262C"/>
                </a:solidFill>
              </a:rPr>
              <a:t>عند الاختلاف نشرح بالخرز، ثم نسأل زميلًا ثالثًا ثم رابعًا بالاسم.</a:t>
            </a:r>
            <a:endParaRPr lang="ar-LB" sz="1400" dirty="0"/>
          </a:p>
        </p:txBody>
      </p:sp>
      <p:sp>
        <p:nvSpPr>
          <p:cNvPr id="12" name="Shape 10"/>
          <p:cNvSpPr/>
          <p:nvPr/>
        </p:nvSpPr>
        <p:spPr>
          <a:xfrm>
            <a:off x="457200" y="3657600"/>
            <a:ext cx="5806440" cy="804672"/>
          </a:xfrm>
          <a:prstGeom prst="roundRect">
            <a:avLst>
              <a:gd name="adj" fmla="val 11364"/>
            </a:avLst>
          </a:prstGeom>
          <a:solidFill>
            <a:srgbClr val="C2500C">
              <a:alpha val="10000"/>
            </a:srgbClr>
          </a:solidFill>
          <a:ln w="19050">
            <a:solidFill>
              <a:srgbClr val="C2500C"/>
            </a:solidFill>
            <a:prstDash val="solid"/>
          </a:ln>
        </p:spPr>
      </p:sp>
      <p:sp>
        <p:nvSpPr>
          <p:cNvPr id="13" name="Text 11"/>
          <p:cNvSpPr txBox="1"/>
          <p:nvPr/>
        </p:nvSpPr>
        <p:spPr>
          <a:xfrm>
            <a:off x="4480560" y="3657600"/>
            <a:ext cx="1691640" cy="804672"/>
          </a:xfrm>
          <a:prstGeom prst="rect">
            <a:avLst/>
          </a:prstGeom>
          <a:noFill/>
          <a:ln/>
        </p:spPr>
        <p:txBody>
          <a:bodyPr wrap="square" lIns="0" tIns="0" rIns="0" bIns="0" rtlCol="0" anchor="ctr"/>
          <a:lstStyle/>
          <a:p>
            <a:pPr rtl="1" algn="r" indent="0" marL="0">
              <a:buNone/>
            </a:pPr>
            <a:r>
              <a:rPr lang="ar-LB" altLang="en-US" sz="1600" b="1" dirty="0">
                <a:solidFill>
                  <a:srgbClr val="C2500C"/>
                </a:solidFill>
              </a:rPr>
              <a:t>4. ثم المعلم</a:t>
            </a:r>
            <a:endParaRPr lang="ar-LB" sz="1600" dirty="0"/>
          </a:p>
        </p:txBody>
      </p:sp>
      <p:sp>
        <p:nvSpPr>
          <p:cNvPr id="14" name="Text 12"/>
          <p:cNvSpPr txBox="1"/>
          <p:nvPr/>
        </p:nvSpPr>
        <p:spPr>
          <a:xfrm>
            <a:off x="594360" y="3657600"/>
            <a:ext cx="3840480" cy="804672"/>
          </a:xfrm>
          <a:prstGeom prst="rect">
            <a:avLst/>
          </a:prstGeom>
          <a:noFill/>
          <a:ln/>
        </p:spPr>
        <p:txBody>
          <a:bodyPr wrap="square" lIns="0" tIns="0" rIns="0" bIns="0" rtlCol="0" anchor="ctr"/>
          <a:lstStyle/>
          <a:p>
            <a:pPr rtl="1" algn="r" indent="0" marL="0">
              <a:buNone/>
            </a:pPr>
            <a:r>
              <a:rPr lang="ar-LB" altLang="en-US" sz="1400" dirty="0">
                <a:solidFill>
                  <a:srgbClr val="1B262C"/>
                </a:solidFill>
              </a:rPr>
              <a:t>فقط إذا لم نتّفق بعد ثلاثة زملاء.</a:t>
            </a:r>
            <a:endParaRPr lang="ar-LB" sz="1400" dirty="0"/>
          </a:p>
        </p:txBody>
      </p:sp>
      <p:sp>
        <p:nvSpPr>
          <p:cNvPr id="15" name="Shape 13"/>
          <p:cNvSpPr/>
          <p:nvPr/>
        </p:nvSpPr>
        <p:spPr>
          <a:xfrm>
            <a:off x="6446520" y="914400"/>
            <a:ext cx="2240280" cy="3749040"/>
          </a:xfrm>
          <a:prstGeom prst="roundRect">
            <a:avLst>
              <a:gd name="adj" fmla="val 4082"/>
            </a:avLst>
          </a:prstGeom>
          <a:solidFill>
            <a:srgbClr val="0F4C5C"/>
          </a:solidFill>
          <a:ln w="12700">
            <a:solidFill>
              <a:srgbClr val="0F4C5C"/>
            </a:solidFill>
            <a:prstDash val="solid"/>
          </a:ln>
        </p:spPr>
      </p:sp>
      <p:sp>
        <p:nvSpPr>
          <p:cNvPr id="16" name="Text 14"/>
          <p:cNvSpPr txBox="1"/>
          <p:nvPr/>
        </p:nvSpPr>
        <p:spPr>
          <a:xfrm>
            <a:off x="6537960" y="960120"/>
            <a:ext cx="2057400" cy="365760"/>
          </a:xfrm>
          <a:prstGeom prst="rect">
            <a:avLst/>
          </a:prstGeom>
          <a:noFill/>
          <a:ln/>
        </p:spPr>
        <p:txBody>
          <a:bodyPr wrap="square" lIns="0" tIns="0" rIns="0" bIns="0" rtlCol="0" anchor="t"/>
          <a:lstStyle/>
          <a:p>
            <a:pPr rtl="1" algn="r" indent="0" marL="0">
              <a:buNone/>
            </a:pPr>
            <a:r>
              <a:rPr lang="ar-LB" altLang="en-US" sz="1500" b="1" dirty="0">
                <a:solidFill>
                  <a:srgbClr val="F2C46D"/>
                </a:solidFill>
              </a:rPr>
              <a:t>دليل المعلم</a:t>
            </a:r>
            <a:endParaRPr lang="ar-LB" sz="1500" dirty="0"/>
          </a:p>
        </p:txBody>
      </p:sp>
      <p:sp>
        <p:nvSpPr>
          <p:cNvPr id="17" name="Text 15"/>
          <p:cNvSpPr txBox="1"/>
          <p:nvPr/>
        </p:nvSpPr>
        <p:spPr>
          <a:xfrm>
            <a:off x="6537960" y="1298448"/>
            <a:ext cx="2057400" cy="411480"/>
          </a:xfrm>
          <a:prstGeom prst="rect">
            <a:avLst/>
          </a:prstGeom>
          <a:noFill/>
          <a:ln/>
        </p:spPr>
        <p:txBody>
          <a:bodyPr wrap="square" lIns="0" tIns="0" rIns="0" bIns="0" rtlCol="0" anchor="t"/>
          <a:lstStyle/>
          <a:p>
            <a:pPr rtl="1" algn="r" indent="0" marL="0">
              <a:buNone/>
            </a:pPr>
            <a:r>
              <a:rPr lang="ar-LB" altLang="en-US" sz="1700" b="1" dirty="0">
                <a:solidFill>
                  <a:srgbClr val="FFFFFF"/>
                </a:solidFill>
              </a:rPr>
              <a:t>التناقل والتحقّق</a:t>
            </a:r>
            <a:endParaRPr lang="ar-LB" sz="1700" dirty="0"/>
          </a:p>
        </p:txBody>
      </p:sp>
      <p:sp>
        <p:nvSpPr>
          <p:cNvPr id="18" name="Shape 16"/>
          <p:cNvSpPr/>
          <p:nvPr/>
        </p:nvSpPr>
        <p:spPr>
          <a:xfrm>
            <a:off x="8183880" y="1783080"/>
            <a:ext cx="384048" cy="384048"/>
          </a:xfrm>
          <a:prstGeom prst="ellipse">
            <a:avLst/>
          </a:prstGeom>
          <a:solidFill>
            <a:srgbClr val="C2500C"/>
          </a:solidFill>
          <a:ln w="12700">
            <a:solidFill>
              <a:srgbClr val="C2500C"/>
            </a:solidFill>
            <a:prstDash val="solid"/>
          </a:ln>
        </p:spPr>
      </p:sp>
      <p:pic>
        <p:nvPicPr>
          <p:cNvPr id="19" name="Image 0" descr="أيقونة ساعة: الوقت">    </p:cNvPr>
          <p:cNvPicPr>
            <a:picLocks noChangeAspect="1"/>
          </p:cNvPicPr>
          <p:nvPr/>
        </p:nvPicPr>
        <p:blipFill>
          <a:blip r:embed="rId1"/>
          <a:stretch>
            <a:fillRect/>
          </a:stretch>
        </p:blipFill>
        <p:spPr>
          <a:xfrm>
            <a:off x="8276052" y="1875252"/>
            <a:ext cx="199705" cy="199705"/>
          </a:xfrm>
          <a:prstGeom prst="rect">
            <a:avLst/>
          </a:prstGeom>
        </p:spPr>
      </p:pic>
      <p:sp>
        <p:nvSpPr>
          <p:cNvPr id="20" name="Text 17"/>
          <p:cNvSpPr txBox="1"/>
          <p:nvPr/>
        </p:nvSpPr>
        <p:spPr>
          <a:xfrm>
            <a:off x="6537960" y="1783080"/>
            <a:ext cx="1600200" cy="384048"/>
          </a:xfrm>
          <a:prstGeom prst="rect">
            <a:avLst/>
          </a:prstGeom>
          <a:noFill/>
          <a:ln/>
        </p:spPr>
        <p:txBody>
          <a:bodyPr wrap="square" lIns="0" tIns="0" rIns="0" bIns="0" rtlCol="0" anchor="ctr"/>
          <a:lstStyle/>
          <a:p>
            <a:pPr rtl="1" algn="r" indent="0" marL="0">
              <a:buNone/>
            </a:pPr>
            <a:r>
              <a:rPr lang="ar-LB" altLang="en-US" sz="1600" b="1" dirty="0">
                <a:solidFill>
                  <a:srgbClr val="FFFFFF"/>
                </a:solidFill>
              </a:rPr>
              <a:t>3 دقائق</a:t>
            </a:r>
            <a:endParaRPr lang="ar-LB" sz="1600" dirty="0"/>
          </a:p>
        </p:txBody>
      </p:sp>
      <p:sp>
        <p:nvSpPr>
          <p:cNvPr id="21" name="Text 18"/>
          <p:cNvSpPr txBox="1"/>
          <p:nvPr/>
        </p:nvSpPr>
        <p:spPr>
          <a:xfrm>
            <a:off x="6537960" y="2286000"/>
            <a:ext cx="2057400" cy="2286000"/>
          </a:xfrm>
          <a:prstGeom prst="rect">
            <a:avLst/>
          </a:prstGeom>
          <a:noFill/>
          <a:ln/>
        </p:spPr>
        <p:txBody>
          <a:bodyPr wrap="square" lIns="0" tIns="0" rIns="0" bIns="0" rtlCol="0" anchor="t"/>
          <a:lstStyle/>
          <a:p>
            <a:pPr rtl="1" algn="r" indent="0" marL="0">
              <a:spcAft>
                <a:spcPts val="300"/>
              </a:spcAft>
              <a:buNone/>
            </a:pPr>
            <a:r>
              <a:rPr lang="ar-LB" altLang="en-US" sz="1300" b="1" dirty="0">
                <a:solidFill>
                  <a:srgbClr val="F2C46D"/>
                </a:solidFill>
              </a:rPr>
              <a:t>الاستراتيجية:</a:t>
            </a:r>
            <a:endParaRPr lang="ar-LB" sz="1300" dirty="0"/>
          </a:p>
          <a:p>
            <a:pPr rtl="1" algn="r" indent="0" marL="0">
              <a:spcAft>
                <a:spcPts val="300"/>
              </a:spcAft>
              <a:buNone/>
            </a:pPr>
            <a:r>
              <a:rPr lang="ar-LB" altLang="en-US" sz="1300" dirty="0">
                <a:solidFill>
                  <a:srgbClr val="FFFFFF"/>
                </a:solidFill>
              </a:rPr>
              <a:t>تقييم الأقران و«اسأل ثلاثة قبل المعلم»</a:t>
            </a:r>
            <a:endParaRPr lang="ar-LB" sz="1300" dirty="0"/>
          </a:p>
          <a:p>
            <a:pPr rtl="1" algn="r" indent="0" marL="0">
              <a:spcAft>
                <a:spcPts val="300"/>
              </a:spcAft>
              <a:buNone/>
            </a:pPr>
            <a:r>
              <a:rPr lang="ar-LB" altLang="en-US" sz="1300" b="1" dirty="0">
                <a:solidFill>
                  <a:srgbClr val="F2C46D"/>
                </a:solidFill>
              </a:rPr>
              <a:t>الأدوات:</a:t>
            </a:r>
            <a:endParaRPr lang="ar-LB" sz="1300" dirty="0"/>
          </a:p>
          <a:p>
            <a:pPr rtl="1" algn="r" indent="0" marL="0">
              <a:spcAft>
                <a:spcPts val="300"/>
              </a:spcAft>
              <a:buNone/>
            </a:pPr>
            <a:r>
              <a:rPr lang="ar-LB" altLang="en-US" sz="1300" dirty="0">
                <a:solidFill>
                  <a:srgbClr val="FFFFFF"/>
                </a:solidFill>
              </a:rPr>
              <a:t>المقاعد الثابتة، شارات «خبير»</a:t>
            </a:r>
            <a:endParaRPr lang="ar-LB" sz="13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000" b="1" dirty="0">
                <a:solidFill>
                  <a:srgbClr val="0F4C5C"/>
                </a:solidFill>
              </a:rPr>
              <a:t>حلول التقييم وماذا أفعل بالنتائج</a:t>
            </a:r>
            <a:endParaRPr lang="en-US" sz="3000" dirty="0"/>
          </a:p>
        </p:txBody>
      </p:sp>
      <p:sp>
        <p:nvSpPr>
          <p:cNvPr id="3" name="Text 1"/>
          <p:cNvSpPr txBox="1"/>
          <p:nvPr/>
        </p:nvSpPr>
        <p:spPr>
          <a:xfrm>
            <a:off x="457200" y="914400"/>
            <a:ext cx="5806440" cy="2377440"/>
          </a:xfrm>
          <a:prstGeom prst="rect">
            <a:avLst/>
          </a:prstGeom>
          <a:noFill/>
          <a:ln/>
        </p:spPr>
        <p:txBody>
          <a:bodyPr wrap="square" lIns="0" tIns="0" rIns="0" bIns="0" rtlCol="0" anchor="t"/>
          <a:lstStyle/>
          <a:p>
            <a:pPr rtl="1" algn="r" indent="0" marL="0">
              <a:spcAft>
                <a:spcPts val="500"/>
              </a:spcAft>
              <a:buNone/>
            </a:pPr>
            <a:r>
              <a:rPr lang="ar-LB" altLang="en-US" sz="1500" dirty="0">
                <a:solidFill>
                  <a:srgbClr val="1B262C"/>
                </a:solidFill>
              </a:rPr>
              <a:t>1. (ب): 6 أُس 3 = 216، أما 6 × 3 = 18 فجمع متكرر.</a:t>
            </a:r>
            <a:endParaRPr lang="ar-LB" sz="1500" dirty="0"/>
          </a:p>
          <a:p>
            <a:pPr rtl="1" algn="r" indent="0" marL="0">
              <a:spcAft>
                <a:spcPts val="500"/>
              </a:spcAft>
              <a:buNone/>
            </a:pPr>
            <a:r>
              <a:rPr lang="ar-LB" altLang="en-US" sz="1500" dirty="0">
                <a:solidFill>
                  <a:srgbClr val="1B262C"/>
                </a:solidFill>
              </a:rPr>
              <a:t>2. 8 أُس 5، وy أُس 3.</a:t>
            </a:r>
            <a:endParaRPr lang="ar-LB" sz="1500" dirty="0"/>
          </a:p>
          <a:p>
            <a:pPr rtl="1" algn="r" indent="0" marL="0">
              <a:spcAft>
                <a:spcPts val="500"/>
              </a:spcAft>
              <a:buNone/>
            </a:pPr>
            <a:r>
              <a:rPr lang="ar-LB" altLang="en-US" sz="1500" dirty="0">
                <a:solidFill>
                  <a:srgbClr val="1B262C"/>
                </a:solidFill>
              </a:rPr>
              <a:t>3. 5 أُس 12، وb أُس 14.</a:t>
            </a:r>
            <a:endParaRPr lang="ar-LB" sz="1500" dirty="0"/>
          </a:p>
          <a:p>
            <a:pPr rtl="1" algn="r" indent="0" marL="0">
              <a:spcAft>
                <a:spcPts val="500"/>
              </a:spcAft>
              <a:buNone/>
            </a:pPr>
            <a:r>
              <a:rPr lang="ar-LB" altLang="en-US" sz="1500" dirty="0">
                <a:solidFill>
                  <a:srgbClr val="1B262C"/>
                </a:solidFill>
              </a:rPr>
              <a:t>4. 2 أُس 8 = 256.</a:t>
            </a:r>
            <a:endParaRPr lang="ar-LB" sz="1500" dirty="0"/>
          </a:p>
          <a:p>
            <a:pPr rtl="1" algn="r" indent="0" marL="0">
              <a:spcAft>
                <a:spcPts val="500"/>
              </a:spcAft>
              <a:buNone/>
            </a:pPr>
            <a:r>
              <a:rPr lang="ar-LB" altLang="en-US" sz="1500" dirty="0">
                <a:solidFill>
                  <a:srgbClr val="1B262C"/>
                </a:solidFill>
              </a:rPr>
              <a:t>5. (10 أُس 2) الكلّ أُس 3 = 10 أُس 6 = مليون سم³.</a:t>
            </a:r>
            <a:endParaRPr lang="ar-LB" sz="1500" dirty="0"/>
          </a:p>
        </p:txBody>
      </p:sp>
      <p:sp>
        <p:nvSpPr>
          <p:cNvPr id="4" name="Shape 2"/>
          <p:cNvSpPr/>
          <p:nvPr/>
        </p:nvSpPr>
        <p:spPr>
          <a:xfrm>
            <a:off x="457200" y="3337560"/>
            <a:ext cx="5806440" cy="1325880"/>
          </a:xfrm>
          <a:prstGeom prst="roundRect">
            <a:avLst>
              <a:gd name="adj" fmla="val 6897"/>
            </a:avLst>
          </a:prstGeom>
          <a:solidFill>
            <a:srgbClr val="9A6400">
              <a:alpha val="10000"/>
            </a:srgbClr>
          </a:solidFill>
          <a:ln w="19050">
            <a:solidFill>
              <a:srgbClr val="9A6400"/>
            </a:solidFill>
            <a:prstDash val="solid"/>
          </a:ln>
        </p:spPr>
      </p:sp>
      <p:sp>
        <p:nvSpPr>
          <p:cNvPr id="5" name="Shape 3"/>
          <p:cNvSpPr/>
          <p:nvPr/>
        </p:nvSpPr>
        <p:spPr>
          <a:xfrm>
            <a:off x="5760720" y="3429000"/>
            <a:ext cx="384048" cy="384048"/>
          </a:xfrm>
          <a:prstGeom prst="ellipse">
            <a:avLst/>
          </a:prstGeom>
          <a:solidFill>
            <a:srgbClr val="9A6400"/>
          </a:solidFill>
          <a:ln w="12700">
            <a:solidFill>
              <a:srgbClr val="9A6400"/>
            </a:solidFill>
            <a:prstDash val="solid"/>
          </a:ln>
        </p:spPr>
      </p:sp>
      <p:pic>
        <p:nvPicPr>
          <p:cNvPr id="6" name="Image 0" descr="أيقونة يد: نشاط لمسي">    </p:cNvPr>
          <p:cNvPicPr>
            <a:picLocks noChangeAspect="1"/>
          </p:cNvPicPr>
          <p:nvPr/>
        </p:nvPicPr>
        <p:blipFill>
          <a:blip r:embed="rId1"/>
          <a:stretch>
            <a:fillRect/>
          </a:stretch>
        </p:blipFill>
        <p:spPr>
          <a:xfrm>
            <a:off x="5852892" y="3521172"/>
            <a:ext cx="199705" cy="199705"/>
          </a:xfrm>
          <a:prstGeom prst="rect">
            <a:avLst/>
          </a:prstGeom>
        </p:spPr>
      </p:pic>
      <p:sp>
        <p:nvSpPr>
          <p:cNvPr id="7" name="Text 4"/>
          <p:cNvSpPr txBox="1"/>
          <p:nvPr/>
        </p:nvSpPr>
        <p:spPr>
          <a:xfrm>
            <a:off x="548640" y="3410712"/>
            <a:ext cx="5120640" cy="411480"/>
          </a:xfrm>
          <a:prstGeom prst="rect">
            <a:avLst/>
          </a:prstGeom>
          <a:noFill/>
          <a:ln/>
        </p:spPr>
        <p:txBody>
          <a:bodyPr wrap="square" lIns="0" tIns="0" rIns="0" bIns="0" rtlCol="0" anchor="ctr"/>
          <a:lstStyle/>
          <a:p>
            <a:pPr rtl="1" algn="r" indent="0" marL="0">
              <a:buNone/>
            </a:pPr>
            <a:r>
              <a:rPr lang="ar-LB" altLang="en-US" sz="1600" b="1" dirty="0">
                <a:solidFill>
                  <a:srgbClr val="9A6400"/>
                </a:solidFill>
              </a:rPr>
              <a:t>بعد التصحيح</a:t>
            </a:r>
            <a:endParaRPr lang="ar-LB" sz="1600" dirty="0"/>
          </a:p>
        </p:txBody>
      </p:sp>
      <p:sp>
        <p:nvSpPr>
          <p:cNvPr id="8" name="Text 5"/>
          <p:cNvSpPr txBox="1"/>
          <p:nvPr/>
        </p:nvSpPr>
        <p:spPr>
          <a:xfrm>
            <a:off x="594360" y="3813048"/>
            <a:ext cx="5532120" cy="804672"/>
          </a:xfrm>
          <a:prstGeom prst="rect">
            <a:avLst/>
          </a:prstGeom>
          <a:noFill/>
          <a:ln/>
        </p:spPr>
        <p:txBody>
          <a:bodyPr wrap="square" lIns="0" tIns="0" rIns="0" bIns="0" rtlCol="0" anchor="t"/>
          <a:lstStyle/>
          <a:p>
            <a:pPr rtl="1" algn="r" indent="0" marL="0">
              <a:spcAft>
                <a:spcPts val="300"/>
              </a:spcAft>
              <a:buNone/>
            </a:pPr>
            <a:r>
              <a:rPr lang="ar-LB" altLang="en-US" sz="1400" dirty="0">
                <a:solidFill>
                  <a:srgbClr val="1B262C"/>
                </a:solidFill>
              </a:rPr>
              <a:t>خطأ في 1: يعيد خيط القوّة مع خبير.</a:t>
            </a:r>
            <a:endParaRPr lang="ar-LB" sz="1400" dirty="0"/>
          </a:p>
          <a:p>
            <a:pPr rtl="1" algn="r" indent="0" marL="0">
              <a:spcAft>
                <a:spcPts val="300"/>
              </a:spcAft>
              <a:buNone/>
            </a:pPr>
            <a:r>
              <a:rPr lang="ar-LB" altLang="en-US" sz="1400" dirty="0">
                <a:solidFill>
                  <a:srgbClr val="1B262C"/>
                </a:solidFill>
              </a:rPr>
              <a:t>خطأ في 3 أو 4: يعيد قوّة القوّة بالخيطين في الحصة القادمة.</a:t>
            </a:r>
            <a:endParaRPr lang="ar-LB" sz="1400" dirty="0"/>
          </a:p>
        </p:txBody>
      </p:sp>
      <p:sp>
        <p:nvSpPr>
          <p:cNvPr id="9" name="Shape 6"/>
          <p:cNvSpPr/>
          <p:nvPr/>
        </p:nvSpPr>
        <p:spPr>
          <a:xfrm>
            <a:off x="6446520" y="914400"/>
            <a:ext cx="2240280" cy="3749040"/>
          </a:xfrm>
          <a:prstGeom prst="roundRect">
            <a:avLst>
              <a:gd name="adj" fmla="val 4082"/>
            </a:avLst>
          </a:prstGeom>
          <a:solidFill>
            <a:srgbClr val="0F4C5C"/>
          </a:solidFill>
          <a:ln w="12700">
            <a:solidFill>
              <a:srgbClr val="0F4C5C"/>
            </a:solidFill>
            <a:prstDash val="solid"/>
          </a:ln>
        </p:spPr>
      </p:sp>
      <p:sp>
        <p:nvSpPr>
          <p:cNvPr id="10" name="Text 7"/>
          <p:cNvSpPr txBox="1"/>
          <p:nvPr/>
        </p:nvSpPr>
        <p:spPr>
          <a:xfrm>
            <a:off x="6537960" y="960120"/>
            <a:ext cx="2057400" cy="365760"/>
          </a:xfrm>
          <a:prstGeom prst="rect">
            <a:avLst/>
          </a:prstGeom>
          <a:noFill/>
          <a:ln/>
        </p:spPr>
        <p:txBody>
          <a:bodyPr wrap="square" lIns="0" tIns="0" rIns="0" bIns="0" rtlCol="0" anchor="t"/>
          <a:lstStyle/>
          <a:p>
            <a:pPr rtl="1" algn="r" indent="0" marL="0">
              <a:buNone/>
            </a:pPr>
            <a:r>
              <a:rPr lang="ar-LB" altLang="en-US" sz="1500" b="1" dirty="0">
                <a:solidFill>
                  <a:srgbClr val="F2C46D"/>
                </a:solidFill>
              </a:rPr>
              <a:t>دليل المعلم</a:t>
            </a:r>
            <a:endParaRPr lang="ar-LB" sz="1500" dirty="0"/>
          </a:p>
        </p:txBody>
      </p:sp>
      <p:sp>
        <p:nvSpPr>
          <p:cNvPr id="11" name="Text 8"/>
          <p:cNvSpPr txBox="1"/>
          <p:nvPr/>
        </p:nvSpPr>
        <p:spPr>
          <a:xfrm>
            <a:off x="6537960" y="1298448"/>
            <a:ext cx="2057400" cy="411480"/>
          </a:xfrm>
          <a:prstGeom prst="rect">
            <a:avLst/>
          </a:prstGeom>
          <a:noFill/>
          <a:ln/>
        </p:spPr>
        <p:txBody>
          <a:bodyPr wrap="square" lIns="0" tIns="0" rIns="0" bIns="0" rtlCol="0" anchor="t"/>
          <a:lstStyle/>
          <a:p>
            <a:pPr rtl="1" algn="r" indent="0" marL="0">
              <a:buNone/>
            </a:pPr>
            <a:r>
              <a:rPr lang="ar-LB" altLang="en-US" sz="1700" b="1" dirty="0">
                <a:solidFill>
                  <a:srgbClr val="FFFFFF"/>
                </a:solidFill>
              </a:rPr>
              <a:t>التغذية الراجعة</a:t>
            </a:r>
            <a:endParaRPr lang="ar-LB" sz="1700" dirty="0"/>
          </a:p>
        </p:txBody>
      </p:sp>
      <p:sp>
        <p:nvSpPr>
          <p:cNvPr id="12" name="Shape 9"/>
          <p:cNvSpPr/>
          <p:nvPr/>
        </p:nvSpPr>
        <p:spPr>
          <a:xfrm>
            <a:off x="8183880" y="1783080"/>
            <a:ext cx="384048" cy="384048"/>
          </a:xfrm>
          <a:prstGeom prst="ellipse">
            <a:avLst/>
          </a:prstGeom>
          <a:solidFill>
            <a:srgbClr val="C2500C"/>
          </a:solidFill>
          <a:ln w="12700">
            <a:solidFill>
              <a:srgbClr val="C2500C"/>
            </a:solidFill>
            <a:prstDash val="solid"/>
          </a:ln>
        </p:spPr>
      </p:sp>
      <p:pic>
        <p:nvPicPr>
          <p:cNvPr id="13" name="Image 1" descr="أيقونة ساعة: الوقت">    </p:cNvPr>
          <p:cNvPicPr>
            <a:picLocks noChangeAspect="1"/>
          </p:cNvPicPr>
          <p:nvPr/>
        </p:nvPicPr>
        <p:blipFill>
          <a:blip r:embed="rId2"/>
          <a:stretch>
            <a:fillRect/>
          </a:stretch>
        </p:blipFill>
        <p:spPr>
          <a:xfrm>
            <a:off x="8276052" y="1875252"/>
            <a:ext cx="199705" cy="199705"/>
          </a:xfrm>
          <a:prstGeom prst="rect">
            <a:avLst/>
          </a:prstGeom>
        </p:spPr>
      </p:pic>
      <p:sp>
        <p:nvSpPr>
          <p:cNvPr id="14" name="Text 10"/>
          <p:cNvSpPr txBox="1"/>
          <p:nvPr/>
        </p:nvSpPr>
        <p:spPr>
          <a:xfrm>
            <a:off x="6537960" y="1783080"/>
            <a:ext cx="1600200" cy="384048"/>
          </a:xfrm>
          <a:prstGeom prst="rect">
            <a:avLst/>
          </a:prstGeom>
          <a:noFill/>
          <a:ln/>
        </p:spPr>
        <p:txBody>
          <a:bodyPr wrap="square" lIns="0" tIns="0" rIns="0" bIns="0" rtlCol="0" anchor="ctr"/>
          <a:lstStyle/>
          <a:p>
            <a:pPr rtl="1" algn="r" indent="0" marL="0">
              <a:buNone/>
            </a:pPr>
            <a:r>
              <a:rPr lang="ar-LB" altLang="en-US" sz="1600" b="1" dirty="0">
                <a:solidFill>
                  <a:srgbClr val="FFFFFF"/>
                </a:solidFill>
              </a:rPr>
              <a:t>من الـ7 د</a:t>
            </a:r>
            <a:endParaRPr lang="ar-LB" sz="1600" dirty="0"/>
          </a:p>
        </p:txBody>
      </p:sp>
      <p:sp>
        <p:nvSpPr>
          <p:cNvPr id="15" name="Text 11"/>
          <p:cNvSpPr txBox="1"/>
          <p:nvPr/>
        </p:nvSpPr>
        <p:spPr>
          <a:xfrm>
            <a:off x="6537960" y="2286000"/>
            <a:ext cx="2057400" cy="2286000"/>
          </a:xfrm>
          <a:prstGeom prst="rect">
            <a:avLst/>
          </a:prstGeom>
          <a:noFill/>
          <a:ln/>
        </p:spPr>
        <p:txBody>
          <a:bodyPr wrap="square" lIns="0" tIns="0" rIns="0" bIns="0" rtlCol="0" anchor="t"/>
          <a:lstStyle/>
          <a:p>
            <a:pPr rtl="1" algn="r" indent="0" marL="0">
              <a:spcAft>
                <a:spcPts val="300"/>
              </a:spcAft>
              <a:buNone/>
            </a:pPr>
            <a:r>
              <a:rPr lang="ar-LB" altLang="en-US" sz="1300" b="1" dirty="0">
                <a:solidFill>
                  <a:srgbClr val="F2C46D"/>
                </a:solidFill>
              </a:rPr>
              <a:t>الاستراتيجية:</a:t>
            </a:r>
            <a:endParaRPr lang="ar-LB" sz="1300" dirty="0"/>
          </a:p>
          <a:p>
            <a:pPr rtl="1" algn="r" indent="0" marL="0">
              <a:spcAft>
                <a:spcPts val="300"/>
              </a:spcAft>
              <a:buNone/>
            </a:pPr>
            <a:r>
              <a:rPr lang="ar-LB" altLang="en-US" sz="1300" dirty="0">
                <a:solidFill>
                  <a:srgbClr val="FFFFFF"/>
                </a:solidFill>
              </a:rPr>
              <a:t>اقرأ الحلول بصوتك، ويتحقّق الطالب بأصابعه</a:t>
            </a:r>
            <a:endParaRPr lang="ar-LB" sz="1300" dirty="0"/>
          </a:p>
          <a:p>
            <a:pPr rtl="1" algn="r" indent="0" marL="0">
              <a:spcAft>
                <a:spcPts val="300"/>
              </a:spcAft>
              <a:buNone/>
            </a:pPr>
            <a:r>
              <a:rPr lang="ar-LB" altLang="en-US" sz="1300" b="1" dirty="0">
                <a:solidFill>
                  <a:srgbClr val="F2C46D"/>
                </a:solidFill>
              </a:rPr>
              <a:t>الأدوات:</a:t>
            </a:r>
            <a:endParaRPr lang="ar-LB" sz="1300" dirty="0"/>
          </a:p>
          <a:p>
            <a:pPr rtl="1" algn="r" indent="0" marL="0">
              <a:spcAft>
                <a:spcPts val="300"/>
              </a:spcAft>
              <a:buNone/>
            </a:pPr>
            <a:r>
              <a:rPr lang="ar-LB" altLang="en-US" sz="1300" dirty="0">
                <a:solidFill>
                  <a:srgbClr val="FFFFFF"/>
                </a:solidFill>
              </a:rPr>
              <a:t>—</a:t>
            </a:r>
            <a:endParaRPr lang="ar-LB" sz="13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640080"/>
          </a:xfrm>
          <a:prstGeom prst="rect">
            <a:avLst/>
          </a:prstGeom>
          <a:noFill/>
          <a:ln/>
        </p:spPr>
        <p:txBody>
          <a:bodyPr wrap="square" rtlCol="0" anchor="ctr"/>
          <a:lstStyle/>
          <a:p>
            <a:pPr rtl="1" algn="r" indent="0" marL="0">
              <a:buNone/>
            </a:pPr>
            <a:r>
              <a:rPr lang="en-US" sz="3000" b="1" dirty="0">
                <a:solidFill>
                  <a:srgbClr val="0F4C5C"/>
                </a:solidFill>
              </a:rPr>
              <a:t>الختام والتقويم الذاتي</a:t>
            </a:r>
            <a:endParaRPr lang="en-US" sz="3000" dirty="0"/>
          </a:p>
        </p:txBody>
      </p:sp>
      <p:sp>
        <p:nvSpPr>
          <p:cNvPr id="3" name="Text 1"/>
          <p:cNvSpPr txBox="1"/>
          <p:nvPr/>
        </p:nvSpPr>
        <p:spPr>
          <a:xfrm>
            <a:off x="457200" y="914400"/>
            <a:ext cx="5806440" cy="1463040"/>
          </a:xfrm>
          <a:prstGeom prst="rect">
            <a:avLst/>
          </a:prstGeom>
          <a:noFill/>
          <a:ln/>
        </p:spPr>
        <p:txBody>
          <a:bodyPr wrap="square" lIns="0" tIns="0" rIns="0" bIns="0" rtlCol="0" anchor="t"/>
          <a:lstStyle/>
          <a:p>
            <a:pPr rtl="1" algn="r" indent="0" marL="0">
              <a:spcAft>
                <a:spcPts val="500"/>
              </a:spcAft>
              <a:buNone/>
            </a:pPr>
            <a:r>
              <a:rPr lang="ar-LB" altLang="en-US" sz="1700" b="1" dirty="0">
                <a:solidFill>
                  <a:srgbClr val="0F4C5C"/>
                </a:solidFill>
              </a:rPr>
              <a:t>الضرب جمع متكرر: 4 × 3 = 3 + 3 + 3 + 3.</a:t>
            </a:r>
            <a:endParaRPr lang="ar-LB" sz="1700" dirty="0"/>
          </a:p>
          <a:p>
            <a:pPr rtl="1" algn="r" indent="0" marL="0">
              <a:spcAft>
                <a:spcPts val="500"/>
              </a:spcAft>
              <a:buNone/>
            </a:pPr>
            <a:r>
              <a:rPr lang="ar-LB" altLang="en-US" sz="1700" b="1" dirty="0">
                <a:solidFill>
                  <a:srgbClr val="0F4C5C"/>
                </a:solidFill>
              </a:rPr>
              <a:t>القوّة ضرب متكرر: 3 أُس 4 = 3 × 3 × 3 × 3.</a:t>
            </a:r>
            <a:endParaRPr lang="ar-LB" sz="1700" dirty="0"/>
          </a:p>
          <a:p>
            <a:pPr rtl="1" algn="r" indent="0" marL="0">
              <a:spcAft>
                <a:spcPts val="500"/>
              </a:spcAft>
              <a:buNone/>
            </a:pPr>
            <a:r>
              <a:rPr lang="ar-LB" altLang="en-US" sz="1700" b="1" dirty="0">
                <a:solidFill>
                  <a:srgbClr val="0F4C5C"/>
                </a:solidFill>
              </a:rPr>
              <a:t>قوّة القوّة: نُبقي الأساس ونضرب الأُسّين.</a:t>
            </a:r>
            <a:endParaRPr lang="ar-LB" sz="1700" dirty="0"/>
          </a:p>
        </p:txBody>
      </p:sp>
      <p:sp>
        <p:nvSpPr>
          <p:cNvPr id="4" name="Shape 2"/>
          <p:cNvSpPr/>
          <p:nvPr/>
        </p:nvSpPr>
        <p:spPr>
          <a:xfrm>
            <a:off x="457200" y="2468880"/>
            <a:ext cx="5806440" cy="1188720"/>
          </a:xfrm>
          <a:prstGeom prst="roundRect">
            <a:avLst>
              <a:gd name="adj" fmla="val 7692"/>
            </a:avLst>
          </a:prstGeom>
          <a:solidFill>
            <a:srgbClr val="1F7A45">
              <a:alpha val="10000"/>
            </a:srgbClr>
          </a:solidFill>
          <a:ln w="19050">
            <a:solidFill>
              <a:srgbClr val="1F7A45"/>
            </a:solidFill>
            <a:prstDash val="solid"/>
          </a:ln>
        </p:spPr>
      </p:sp>
      <p:sp>
        <p:nvSpPr>
          <p:cNvPr id="5" name="Shape 3"/>
          <p:cNvSpPr/>
          <p:nvPr/>
        </p:nvSpPr>
        <p:spPr>
          <a:xfrm>
            <a:off x="5760720" y="2560320"/>
            <a:ext cx="384048" cy="384048"/>
          </a:xfrm>
          <a:prstGeom prst="ellipse">
            <a:avLst/>
          </a:prstGeom>
          <a:solidFill>
            <a:srgbClr val="1F7A45"/>
          </a:solidFill>
          <a:ln w="12700">
            <a:solidFill>
              <a:srgbClr val="1F7A45"/>
            </a:solidFill>
            <a:prstDash val="solid"/>
          </a:ln>
        </p:spPr>
      </p:sp>
      <p:pic>
        <p:nvPicPr>
          <p:cNvPr id="6" name="Image 0" descr="أيقونة يد: نشاط لمسي">    </p:cNvPr>
          <p:cNvPicPr>
            <a:picLocks noChangeAspect="1"/>
          </p:cNvPicPr>
          <p:nvPr/>
        </p:nvPicPr>
        <p:blipFill>
          <a:blip r:embed="rId1"/>
          <a:stretch>
            <a:fillRect/>
          </a:stretch>
        </p:blipFill>
        <p:spPr>
          <a:xfrm>
            <a:off x="5852892" y="2652492"/>
            <a:ext cx="199705" cy="199705"/>
          </a:xfrm>
          <a:prstGeom prst="rect">
            <a:avLst/>
          </a:prstGeom>
        </p:spPr>
      </p:pic>
      <p:sp>
        <p:nvSpPr>
          <p:cNvPr id="7" name="Text 4"/>
          <p:cNvSpPr txBox="1"/>
          <p:nvPr/>
        </p:nvSpPr>
        <p:spPr>
          <a:xfrm>
            <a:off x="548640" y="2542032"/>
            <a:ext cx="5120640" cy="411480"/>
          </a:xfrm>
          <a:prstGeom prst="rect">
            <a:avLst/>
          </a:prstGeom>
          <a:noFill/>
          <a:ln/>
        </p:spPr>
        <p:txBody>
          <a:bodyPr wrap="square" lIns="0" tIns="0" rIns="0" bIns="0" rtlCol="0" anchor="ctr"/>
          <a:lstStyle/>
          <a:p>
            <a:pPr rtl="1" algn="r" indent="0" marL="0">
              <a:buNone/>
            </a:pPr>
            <a:r>
              <a:rPr lang="ar-LB" altLang="en-US" sz="1600" b="1" dirty="0">
                <a:solidFill>
                  <a:srgbClr val="1F7A45"/>
                </a:solidFill>
              </a:rPr>
              <a:t>تقويم ذاتي بالإبهام لكل هدف</a:t>
            </a:r>
            <a:endParaRPr lang="ar-LB" sz="1600" dirty="0"/>
          </a:p>
        </p:txBody>
      </p:sp>
      <p:sp>
        <p:nvSpPr>
          <p:cNvPr id="8" name="Text 5"/>
          <p:cNvSpPr txBox="1"/>
          <p:nvPr/>
        </p:nvSpPr>
        <p:spPr>
          <a:xfrm>
            <a:off x="594360" y="2944368"/>
            <a:ext cx="5532120" cy="667512"/>
          </a:xfrm>
          <a:prstGeom prst="rect">
            <a:avLst/>
          </a:prstGeom>
          <a:noFill/>
          <a:ln/>
        </p:spPr>
        <p:txBody>
          <a:bodyPr wrap="square" lIns="0" tIns="0" rIns="0" bIns="0" rtlCol="0" anchor="t"/>
          <a:lstStyle/>
          <a:p>
            <a:pPr rtl="1" algn="r" indent="0" marL="0">
              <a:spcAft>
                <a:spcPts val="300"/>
              </a:spcAft>
              <a:buNone/>
            </a:pPr>
            <a:r>
              <a:rPr lang="ar-LB" altLang="en-US" sz="1400" dirty="0">
                <a:solidFill>
                  <a:srgbClr val="1B262C"/>
                </a:solidFill>
              </a:rPr>
              <a:t>أعلى: أستطيع أن أشرحه  •  أفقي: أحتاج تدريبًا  •  أسفل: أحتاج مساعدة.</a:t>
            </a:r>
            <a:endParaRPr lang="ar-LB" sz="1400" dirty="0"/>
          </a:p>
        </p:txBody>
      </p:sp>
      <p:sp>
        <p:nvSpPr>
          <p:cNvPr id="9" name="Shape 6"/>
          <p:cNvSpPr/>
          <p:nvPr/>
        </p:nvSpPr>
        <p:spPr>
          <a:xfrm>
            <a:off x="457200" y="3749040"/>
            <a:ext cx="5806440" cy="914400"/>
          </a:xfrm>
          <a:prstGeom prst="roundRect">
            <a:avLst>
              <a:gd name="adj" fmla="val 10000"/>
            </a:avLst>
          </a:prstGeom>
          <a:solidFill>
            <a:srgbClr val="1F5C99">
              <a:alpha val="10000"/>
            </a:srgbClr>
          </a:solidFill>
          <a:ln w="19050">
            <a:solidFill>
              <a:srgbClr val="1F5C99"/>
            </a:solidFill>
            <a:prstDash val="solid"/>
          </a:ln>
        </p:spPr>
      </p:sp>
      <p:sp>
        <p:nvSpPr>
          <p:cNvPr id="10" name="Shape 7"/>
          <p:cNvSpPr/>
          <p:nvPr/>
        </p:nvSpPr>
        <p:spPr>
          <a:xfrm>
            <a:off x="5760720" y="3840480"/>
            <a:ext cx="384048" cy="384048"/>
          </a:xfrm>
          <a:prstGeom prst="ellipse">
            <a:avLst/>
          </a:prstGeom>
          <a:solidFill>
            <a:srgbClr val="1F5C99"/>
          </a:solidFill>
          <a:ln w="12700">
            <a:solidFill>
              <a:srgbClr val="1F5C99"/>
            </a:solidFill>
            <a:prstDash val="solid"/>
          </a:ln>
        </p:spPr>
      </p:sp>
      <p:pic>
        <p:nvPicPr>
          <p:cNvPr id="11" name="Image 1" descr="أيقونة يد: نشاط لمسي">    </p:cNvPr>
          <p:cNvPicPr>
            <a:picLocks noChangeAspect="1"/>
          </p:cNvPicPr>
          <p:nvPr/>
        </p:nvPicPr>
        <p:blipFill>
          <a:blip r:embed="rId2"/>
          <a:stretch>
            <a:fillRect/>
          </a:stretch>
        </p:blipFill>
        <p:spPr>
          <a:xfrm>
            <a:off x="5852892" y="3932652"/>
            <a:ext cx="199705" cy="199705"/>
          </a:xfrm>
          <a:prstGeom prst="rect">
            <a:avLst/>
          </a:prstGeom>
        </p:spPr>
      </p:pic>
      <p:sp>
        <p:nvSpPr>
          <p:cNvPr id="12" name="Text 8"/>
          <p:cNvSpPr txBox="1"/>
          <p:nvPr/>
        </p:nvSpPr>
        <p:spPr>
          <a:xfrm>
            <a:off x="548640" y="3822192"/>
            <a:ext cx="5120640" cy="411480"/>
          </a:xfrm>
          <a:prstGeom prst="rect">
            <a:avLst/>
          </a:prstGeom>
          <a:noFill/>
          <a:ln/>
        </p:spPr>
        <p:txBody>
          <a:bodyPr wrap="square" lIns="0" tIns="0" rIns="0" bIns="0" rtlCol="0" anchor="ctr"/>
          <a:lstStyle/>
          <a:p>
            <a:pPr rtl="1" algn="r" indent="0" marL="0">
              <a:buNone/>
            </a:pPr>
            <a:r>
              <a:rPr lang="ar-LB" altLang="en-US" sz="1600" b="1" dirty="0">
                <a:solidFill>
                  <a:srgbClr val="1F5C99"/>
                </a:solidFill>
              </a:rPr>
              <a:t>واجب</a:t>
            </a:r>
            <a:endParaRPr lang="ar-LB" sz="1600" dirty="0"/>
          </a:p>
        </p:txBody>
      </p:sp>
      <p:sp>
        <p:nvSpPr>
          <p:cNvPr id="13" name="Text 9"/>
          <p:cNvSpPr txBox="1"/>
          <p:nvPr/>
        </p:nvSpPr>
        <p:spPr>
          <a:xfrm>
            <a:off x="594360" y="4224528"/>
            <a:ext cx="5532120" cy="393192"/>
          </a:xfrm>
          <a:prstGeom prst="rect">
            <a:avLst/>
          </a:prstGeom>
          <a:noFill/>
          <a:ln/>
        </p:spPr>
        <p:txBody>
          <a:bodyPr wrap="square" lIns="0" tIns="0" rIns="0" bIns="0" rtlCol="0" anchor="t"/>
          <a:lstStyle/>
          <a:p>
            <a:pPr rtl="1" algn="r" indent="0" marL="0">
              <a:spcAft>
                <a:spcPts val="300"/>
              </a:spcAft>
              <a:buNone/>
            </a:pPr>
            <a:r>
              <a:rPr lang="ar-LB" altLang="en-US" sz="1400" dirty="0">
                <a:solidFill>
                  <a:srgbClr val="1B262C"/>
                </a:solidFill>
              </a:rPr>
              <a:t>مثال من حياتك على قوّة وعلى قوّة قوّة: بالبرايل أو بتسجيل صوتي.</a:t>
            </a:r>
            <a:endParaRPr lang="ar-LB" sz="1400" dirty="0"/>
          </a:p>
        </p:txBody>
      </p:sp>
      <p:sp>
        <p:nvSpPr>
          <p:cNvPr id="14" name="Shape 10"/>
          <p:cNvSpPr/>
          <p:nvPr/>
        </p:nvSpPr>
        <p:spPr>
          <a:xfrm>
            <a:off x="6446520" y="914400"/>
            <a:ext cx="2240280" cy="3749040"/>
          </a:xfrm>
          <a:prstGeom prst="roundRect">
            <a:avLst>
              <a:gd name="adj" fmla="val 4082"/>
            </a:avLst>
          </a:prstGeom>
          <a:solidFill>
            <a:srgbClr val="0F4C5C"/>
          </a:solidFill>
          <a:ln w="12700">
            <a:solidFill>
              <a:srgbClr val="0F4C5C"/>
            </a:solidFill>
            <a:prstDash val="solid"/>
          </a:ln>
        </p:spPr>
      </p:sp>
      <p:sp>
        <p:nvSpPr>
          <p:cNvPr id="15" name="Text 11"/>
          <p:cNvSpPr txBox="1"/>
          <p:nvPr/>
        </p:nvSpPr>
        <p:spPr>
          <a:xfrm>
            <a:off x="6537960" y="960120"/>
            <a:ext cx="2057400" cy="365760"/>
          </a:xfrm>
          <a:prstGeom prst="rect">
            <a:avLst/>
          </a:prstGeom>
          <a:noFill/>
          <a:ln/>
        </p:spPr>
        <p:txBody>
          <a:bodyPr wrap="square" lIns="0" tIns="0" rIns="0" bIns="0" rtlCol="0" anchor="t"/>
          <a:lstStyle/>
          <a:p>
            <a:pPr rtl="1" algn="r" indent="0" marL="0">
              <a:buNone/>
            </a:pPr>
            <a:r>
              <a:rPr lang="ar-LB" altLang="en-US" sz="1500" b="1" dirty="0">
                <a:solidFill>
                  <a:srgbClr val="F2C46D"/>
                </a:solidFill>
              </a:rPr>
              <a:t>دليل المعلم</a:t>
            </a:r>
            <a:endParaRPr lang="ar-LB" sz="1500" dirty="0"/>
          </a:p>
        </p:txBody>
      </p:sp>
      <p:sp>
        <p:nvSpPr>
          <p:cNvPr id="16" name="Text 12"/>
          <p:cNvSpPr txBox="1"/>
          <p:nvPr/>
        </p:nvSpPr>
        <p:spPr>
          <a:xfrm>
            <a:off x="6537960" y="1298448"/>
            <a:ext cx="2057400" cy="411480"/>
          </a:xfrm>
          <a:prstGeom prst="rect">
            <a:avLst/>
          </a:prstGeom>
          <a:noFill/>
          <a:ln/>
        </p:spPr>
        <p:txBody>
          <a:bodyPr wrap="square" lIns="0" tIns="0" rIns="0" bIns="0" rtlCol="0" anchor="t"/>
          <a:lstStyle/>
          <a:p>
            <a:pPr rtl="1" algn="r" indent="0" marL="0">
              <a:buNone/>
            </a:pPr>
            <a:r>
              <a:rPr lang="ar-LB" altLang="en-US" sz="1700" b="1" dirty="0">
                <a:solidFill>
                  <a:srgbClr val="FFFFFF"/>
                </a:solidFill>
              </a:rPr>
              <a:t>الختام</a:t>
            </a:r>
            <a:endParaRPr lang="ar-LB" sz="1700" dirty="0"/>
          </a:p>
        </p:txBody>
      </p:sp>
      <p:sp>
        <p:nvSpPr>
          <p:cNvPr id="17" name="Shape 13"/>
          <p:cNvSpPr/>
          <p:nvPr/>
        </p:nvSpPr>
        <p:spPr>
          <a:xfrm>
            <a:off x="8183880" y="1783080"/>
            <a:ext cx="384048" cy="384048"/>
          </a:xfrm>
          <a:prstGeom prst="ellipse">
            <a:avLst/>
          </a:prstGeom>
          <a:solidFill>
            <a:srgbClr val="C2500C"/>
          </a:solidFill>
          <a:ln w="12700">
            <a:solidFill>
              <a:srgbClr val="C2500C"/>
            </a:solidFill>
            <a:prstDash val="solid"/>
          </a:ln>
        </p:spPr>
      </p:sp>
      <p:pic>
        <p:nvPicPr>
          <p:cNvPr id="18" name="Image 2" descr="أيقونة ساعة: الوقت">    </p:cNvPr>
          <p:cNvPicPr>
            <a:picLocks noChangeAspect="1"/>
          </p:cNvPicPr>
          <p:nvPr/>
        </p:nvPicPr>
        <p:blipFill>
          <a:blip r:embed="rId3"/>
          <a:stretch>
            <a:fillRect/>
          </a:stretch>
        </p:blipFill>
        <p:spPr>
          <a:xfrm>
            <a:off x="8276052" y="1875252"/>
            <a:ext cx="199705" cy="199705"/>
          </a:xfrm>
          <a:prstGeom prst="rect">
            <a:avLst/>
          </a:prstGeom>
        </p:spPr>
      </p:pic>
      <p:sp>
        <p:nvSpPr>
          <p:cNvPr id="19" name="Text 14"/>
          <p:cNvSpPr txBox="1"/>
          <p:nvPr/>
        </p:nvSpPr>
        <p:spPr>
          <a:xfrm>
            <a:off x="6537960" y="1783080"/>
            <a:ext cx="1600200" cy="384048"/>
          </a:xfrm>
          <a:prstGeom prst="rect">
            <a:avLst/>
          </a:prstGeom>
          <a:noFill/>
          <a:ln/>
        </p:spPr>
        <p:txBody>
          <a:bodyPr wrap="square" lIns="0" tIns="0" rIns="0" bIns="0" rtlCol="0" anchor="ctr"/>
          <a:lstStyle/>
          <a:p>
            <a:pPr rtl="1" algn="r" indent="0" marL="0">
              <a:buNone/>
            </a:pPr>
            <a:r>
              <a:rPr lang="ar-LB" altLang="en-US" sz="1600" b="1" dirty="0">
                <a:solidFill>
                  <a:srgbClr val="FFFFFF"/>
                </a:solidFill>
              </a:rPr>
              <a:t>2 دقيقة</a:t>
            </a:r>
            <a:endParaRPr lang="ar-LB" sz="1600" dirty="0"/>
          </a:p>
        </p:txBody>
      </p:sp>
      <p:sp>
        <p:nvSpPr>
          <p:cNvPr id="20" name="Text 15"/>
          <p:cNvSpPr txBox="1"/>
          <p:nvPr/>
        </p:nvSpPr>
        <p:spPr>
          <a:xfrm>
            <a:off x="6537960" y="2286000"/>
            <a:ext cx="2057400" cy="2286000"/>
          </a:xfrm>
          <a:prstGeom prst="rect">
            <a:avLst/>
          </a:prstGeom>
          <a:noFill/>
          <a:ln/>
        </p:spPr>
        <p:txBody>
          <a:bodyPr wrap="square" lIns="0" tIns="0" rIns="0" bIns="0" rtlCol="0" anchor="t"/>
          <a:lstStyle/>
          <a:p>
            <a:pPr rtl="1" algn="r" indent="0" marL="0">
              <a:spcAft>
                <a:spcPts val="300"/>
              </a:spcAft>
              <a:buNone/>
            </a:pPr>
            <a:r>
              <a:rPr lang="ar-LB" altLang="en-US" sz="1300" b="1" dirty="0">
                <a:solidFill>
                  <a:srgbClr val="F2C46D"/>
                </a:solidFill>
              </a:rPr>
              <a:t>الاستراتيجية:</a:t>
            </a:r>
            <a:endParaRPr lang="ar-LB" sz="1300" dirty="0"/>
          </a:p>
          <a:p>
            <a:pPr rtl="1" algn="r" indent="0" marL="0">
              <a:spcAft>
                <a:spcPts val="300"/>
              </a:spcAft>
              <a:buNone/>
            </a:pPr>
            <a:r>
              <a:rPr lang="ar-LB" altLang="en-US" sz="1300" dirty="0">
                <a:solidFill>
                  <a:srgbClr val="FFFFFF"/>
                </a:solidFill>
              </a:rPr>
              <a:t>تلخيص بترديد الطلاب، ثم تقويم ذاتي</a:t>
            </a:r>
            <a:endParaRPr lang="ar-LB" sz="1300" dirty="0"/>
          </a:p>
          <a:p>
            <a:pPr rtl="1" algn="r" indent="0" marL="0">
              <a:spcAft>
                <a:spcPts val="300"/>
              </a:spcAft>
              <a:buNone/>
            </a:pPr>
            <a:r>
              <a:rPr lang="ar-LB" altLang="en-US" sz="1300" b="1" dirty="0">
                <a:solidFill>
                  <a:srgbClr val="F2C46D"/>
                </a:solidFill>
              </a:rPr>
              <a:t>الأدوات:</a:t>
            </a:r>
            <a:endParaRPr lang="ar-LB" sz="1300" dirty="0"/>
          </a:p>
          <a:p>
            <a:pPr rtl="1" algn="r" indent="0" marL="0">
              <a:spcAft>
                <a:spcPts val="300"/>
              </a:spcAft>
              <a:buNone/>
            </a:pPr>
            <a:r>
              <a:rPr lang="ar-LB" altLang="en-US" sz="1300" dirty="0">
                <a:solidFill>
                  <a:srgbClr val="FFFFFF"/>
                </a:solidFill>
              </a:rPr>
              <a:t>—</a:t>
            </a:r>
            <a:endParaRPr lang="ar-LB" sz="1300" dirty="0"/>
          </a:p>
        </p:txBody>
      </p:sp>
      <p:sp>
        <p:nvSpPr>
          <p:cNvPr id="25" name="Slide Number Placeholder 0"/>
          <p:cNvSpPr>
            <a:spLocks noGrp="1"/>
          </p:cNvSpPr>
          <p:nvPr>
            <p:ph type="sldNum" sz="quarter" idx="4294967295"/>
          </p:nvPr>
        </p:nvSpPr>
        <p:spPr>
          <a:xfrm>
            <a:off x="274320" y="4754880"/>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3E4A52"/>
                </a:solidFill>
              </a:defRPr>
            </a:lvl1pPr>
          </a:lstStyle>
          <a:p>
            <a:pPr rtl="0" algn="l"/>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Powers Lesson">
  <a:themeElements>
    <a:clrScheme name="Powers Lesson">
      <a:dk1>
        <a:srgbClr val="1B262C"/>
      </a:dk1>
      <a:lt1>
        <a:srgbClr val="FFFFFF"/>
      </a:lt1>
      <a:dk2>
        <a:srgbClr val="0F4C5C"/>
      </a:dk2>
      <a:lt2>
        <a:srgbClr val="EAF4F4"/>
      </a:lt2>
      <a:accent1>
        <a:srgbClr val="E36414"/>
      </a:accent1>
      <a:accent2>
        <a:srgbClr val="0F8B8D"/>
      </a:accent2>
      <a:accent3>
        <a:srgbClr val="2E9E5B"/>
      </a:accent3>
      <a:accent4>
        <a:srgbClr val="2671B8"/>
      </a:accent4>
      <a:accent5>
        <a:srgbClr val="7B3FA0"/>
      </a:accent5>
      <a:accent6>
        <a:srgbClr val="E9A23B"/>
      </a:accent6>
      <a:hlink>
        <a:srgbClr val="2671B8"/>
      </a:hlink>
      <a:folHlink>
        <a:srgbClr val="7B3FA0"/>
      </a:folHlink>
    </a:clrScheme>
    <a:fontScheme name="Powers Less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القوى وقوة القوة - حصة واحدة للطلاب المكفوفين</dc:title>
  <dc:subject>PptxGenJS Presentation</dc:subject>
  <dc:creator>معلم الرياضيات</dc:creator>
  <cp:lastModifiedBy>معلم الرياضيات</cp:lastModifiedBy>
  <cp:revision>1</cp:revision>
  <dcterms:created xsi:type="dcterms:W3CDTF">2026-10-11T09:13:12Z</dcterms:created>
  <dcterms:modified xsi:type="dcterms:W3CDTF">2026-10-11T09:13:12Z</dcterms:modified>
</cp:coreProperties>
</file>