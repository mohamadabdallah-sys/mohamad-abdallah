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بطاقة 1 الاستكشاف" id="{068ca4aa-d574-5e42-5d12-d2cf4ad3ee46}">
          <p14:sldIdLst>
            <p14:sldId id="256"/>
          </p14:sldIdLst>
        </p14:section>
        <p14:section name="بطاقة 2 التطبيق الفردي" id="{35c388d6-0761-3e71-9726-33028c10fe38}">
          <p14:sldIdLst>
            <p14:sldId id="257"/>
          </p14:sldIdLst>
        </p14:section>
        <p14:section name="بطاقة المجموعة الخضراء" id="{b2bdaddb-9df9-9a39-1488-b8150f80d4a2}">
          <p14:sldIdLst>
            <p14:sldId id="258"/>
          </p14:sldIdLst>
        </p14:section>
        <p14:section name="بطاقات المطابقة" id="{97a78744-c617-d0f6-a3c1-2f365bf6f81d}">
          <p14:sldIdLst>
            <p14:sldId id="259"/>
          </p14:sldIdLst>
        </p14:section>
        <p14:section name="بطاقة المجموعة الزرقاء" id="{32b2fcc1-b728-f9e7-c66d-68d45930623d}">
          <p14:sldIdLst>
            <p14:sldId id="260"/>
          </p14:sldIdLst>
        </p14:section>
        <p14:section name="بطاقة المجموعة البنفسجية" id="{a58ffdbe-6a95-c943-a512-85f7cec47e73}">
          <p14:sldIdLst>
            <p14:sldId id="261"/>
          </p14:sldIdLst>
        </p14:section>
        <p14:section name="بطاقة التقييم" id="{3043579d-ae61-a6ca-42a0-c169e7970a2b}">
          <p14:sldIdLst>
            <p14:sldId id="262"/>
          </p14:sldIdLst>
        </p14:section>
        <p14:section name="بطاقات الأدوار" id="{c7f754cb-d180-b422-d378-fd13227dca67}">
          <p14:sldIdLst>
            <p14:sldId id="263"/>
          </p14:sldIdLst>
        </p14:section>
        <p14:section name="مفتاح الإجابات" id="{823327f8-14be-763c-09bc-0f86bac60ed0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بطاقة 1: نشاط طيّ الورقة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جماعي • 8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2588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أعضاء المجموعة: 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91640"/>
            <a:ext cx="6281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350" b="1" dirty="0">
                <a:solidFill>
                  <a:srgbClr val="0F4C5C"/>
                </a:solidFill>
              </a:rPr>
              <a:t>الأدوات: ورقة A4 واحدة لكل مجموعة.</a:t>
            </a:r>
            <a:endParaRPr lang="ar-LB" sz="1350" dirty="0"/>
          </a:p>
        </p:txBody>
      </p:sp>
      <p:sp>
        <p:nvSpPr>
          <p:cNvPr id="10" name="Shape 7"/>
          <p:cNvSpPr/>
          <p:nvPr/>
        </p:nvSpPr>
        <p:spPr>
          <a:xfrm>
            <a:off x="6629400" y="2075688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05740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اطوِ الورقة إلى نصفين، ثم افتحها وعُدّ الأجزاء (الطبقات) التي تكوّنت.</a:t>
            </a:r>
            <a:endParaRPr lang="ar-LB" sz="1350" dirty="0"/>
          </a:p>
        </p:txBody>
      </p:sp>
      <p:sp>
        <p:nvSpPr>
          <p:cNvPr id="13" name="Shape 10"/>
          <p:cNvSpPr/>
          <p:nvPr/>
        </p:nvSpPr>
        <p:spPr>
          <a:xfrm>
            <a:off x="6629400" y="2459736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44144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أعد طيّ الورقة، واطوِها مرة جديدة إلى نصفين، ثم افتحها وعُدّ.</a:t>
            </a:r>
            <a:endParaRPr lang="ar-LB" sz="1350" dirty="0"/>
          </a:p>
        </p:txBody>
      </p:sp>
      <p:sp>
        <p:nvSpPr>
          <p:cNvPr id="16" name="Shape 13"/>
          <p:cNvSpPr/>
          <p:nvPr/>
        </p:nvSpPr>
        <p:spPr>
          <a:xfrm>
            <a:off x="6629400" y="2843784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825496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كرّروا العمل وسجّلوا نتائجكم في الجدول. (السطر الأول مثال محلول)</a:t>
            </a:r>
            <a:endParaRPr lang="ar-LB" sz="1350" dirty="0"/>
          </a:p>
        </p:txBody>
      </p:sp>
      <p:sp>
        <p:nvSpPr>
          <p:cNvPr id="19" name="Shape 16"/>
          <p:cNvSpPr/>
          <p:nvPr/>
        </p:nvSpPr>
        <p:spPr>
          <a:xfrm>
            <a:off x="6144768" y="3291840"/>
            <a:ext cx="1234440" cy="329184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44768" y="3291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عدد الطيّات</a:t>
            </a:r>
            <a:endParaRPr lang="ar-LB" sz="1200" dirty="0"/>
          </a:p>
        </p:txBody>
      </p:sp>
      <p:sp>
        <p:nvSpPr>
          <p:cNvPr id="21" name="Shape 18"/>
          <p:cNvSpPr/>
          <p:nvPr/>
        </p:nvSpPr>
        <p:spPr>
          <a:xfrm>
            <a:off x="4910328" y="3291840"/>
            <a:ext cx="1234440" cy="329184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10328" y="3291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عدد الطبقات</a:t>
            </a:r>
            <a:endParaRPr lang="ar-LB" sz="1200" dirty="0"/>
          </a:p>
        </p:txBody>
      </p:sp>
      <p:sp>
        <p:nvSpPr>
          <p:cNvPr id="23" name="Shape 20"/>
          <p:cNvSpPr/>
          <p:nvPr/>
        </p:nvSpPr>
        <p:spPr>
          <a:xfrm>
            <a:off x="2304288" y="3291840"/>
            <a:ext cx="2606040" cy="329184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04288" y="32918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على شكل ضرب متكرر</a:t>
            </a:r>
            <a:endParaRPr lang="ar-LB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3291840"/>
            <a:ext cx="1664208" cy="329184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2918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بالترميز الأسّي</a:t>
            </a:r>
            <a:endParaRPr lang="ar-LB" sz="1200" dirty="0"/>
          </a:p>
        </p:txBody>
      </p:sp>
      <p:sp>
        <p:nvSpPr>
          <p:cNvPr id="27" name="Shape 24"/>
          <p:cNvSpPr/>
          <p:nvPr/>
        </p:nvSpPr>
        <p:spPr>
          <a:xfrm>
            <a:off x="6144768" y="3621024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44768" y="36210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910328" y="3621024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10328" y="36210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304288" y="3621024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04288" y="36210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0080" y="3621024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" y="362102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44768" y="4041648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44768" y="40416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910328" y="4041648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304288" y="404164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4041648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44768" y="4462272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144768" y="446227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910328" y="4462272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04288" y="4462272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0080" y="4462272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44768" y="4882896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44768" y="488289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910328" y="4882896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04288" y="4882896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0080" y="4882896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144768" y="5303520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144768" y="53035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4910328" y="5303520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304288" y="5303520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080" y="5303520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0080" y="5852160"/>
            <a:ext cx="6281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0F8B8D"/>
                </a:solidFill>
              </a:rPr>
              <a:t>ناقشوا وأجيبوا:</a:t>
            </a:r>
            <a:endParaRPr lang="ar-LB" sz="1400" dirty="0"/>
          </a:p>
        </p:txBody>
      </p:sp>
      <p:sp>
        <p:nvSpPr>
          <p:cNvPr id="56" name="Shape 53"/>
          <p:cNvSpPr/>
          <p:nvPr/>
        </p:nvSpPr>
        <p:spPr>
          <a:xfrm>
            <a:off x="6629400" y="6236208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629400" y="623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640080" y="621792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بعد 5 طيّات: كم طبقة حصلتم عليها؟ هل يساوي ذلك 2 × 5؟ لماذا؟</a:t>
            </a:r>
            <a:endParaRPr lang="ar-LB" sz="13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662940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60" name="Shape 57"/>
          <p:cNvSpPr/>
          <p:nvPr/>
        </p:nvSpPr>
        <p:spPr>
          <a:xfrm>
            <a:off x="6629400" y="7104888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629400" y="7104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708660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ما الفرق بين جمع العدد 2 خمس مرات، وضرب العدد 2 في نفسه خمس مرات؟</a:t>
            </a:r>
            <a:endParaRPr lang="ar-LB" sz="1350" dirty="0"/>
          </a:p>
        </p:txBody>
      </p:sp>
      <p:sp>
        <p:nvSpPr>
          <p:cNvPr id="63" name="Text 60"/>
          <p:cNvSpPr txBox="1"/>
          <p:nvPr/>
        </p:nvSpPr>
        <p:spPr>
          <a:xfrm>
            <a:off x="640080" y="749808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64" name="Shape 61"/>
          <p:cNvSpPr/>
          <p:nvPr/>
        </p:nvSpPr>
        <p:spPr>
          <a:xfrm>
            <a:off x="6629400" y="7973568"/>
            <a:ext cx="292608" cy="29260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629400" y="7973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" y="795528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اقترحوا طريقة مختصرة لكتابة الضرب المتكرر 2 × 2 × 2 × 2 × 2.</a:t>
            </a:r>
            <a:endParaRPr lang="ar-LB" sz="1350" dirty="0"/>
          </a:p>
        </p:txBody>
      </p:sp>
      <p:sp>
        <p:nvSpPr>
          <p:cNvPr id="67" name="Text 64"/>
          <p:cNvSpPr txBox="1"/>
          <p:nvPr/>
        </p:nvSpPr>
        <p:spPr>
          <a:xfrm>
            <a:off x="640080" y="836676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68" name="Shape 65"/>
          <p:cNvSpPr/>
          <p:nvPr/>
        </p:nvSpPr>
        <p:spPr>
          <a:xfrm>
            <a:off x="6629400" y="884224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629400" y="8842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640080" y="882396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تحدٍّ: كم طبقة نحصل عليها بعد 10 طيّات؟ اكتبوها بالترميز الأسّي.</a:t>
            </a:r>
            <a:endParaRPr lang="ar-LB" sz="1350" dirty="0"/>
          </a:p>
        </p:txBody>
      </p:sp>
      <p:sp>
        <p:nvSpPr>
          <p:cNvPr id="71" name="Text 68"/>
          <p:cNvSpPr txBox="1"/>
          <p:nvPr/>
        </p:nvSpPr>
        <p:spPr>
          <a:xfrm>
            <a:off x="640080" y="923544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488746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9050">
            <a:solidFill>
              <a:srgbClr val="E3641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بطاقة 2: أعمل وحدي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فردي • 7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28016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الاسم: ..............................................     الصف: ..............     التاريخ: ..............</a:t>
            </a:r>
            <a:endParaRPr lang="ar-LB" sz="1100" dirty="0"/>
          </a:p>
        </p:txBody>
      </p:sp>
      <p:sp>
        <p:nvSpPr>
          <p:cNvPr id="9" name="Shape 6"/>
          <p:cNvSpPr/>
          <p:nvPr/>
        </p:nvSpPr>
        <p:spPr>
          <a:xfrm>
            <a:off x="6144768" y="16002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4476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أساسي</a:t>
            </a:r>
            <a:endParaRPr lang="ar-LB" sz="1050" dirty="0"/>
          </a:p>
        </p:txBody>
      </p:sp>
      <p:sp>
        <p:nvSpPr>
          <p:cNvPr id="11" name="Shape 8"/>
          <p:cNvSpPr/>
          <p:nvPr/>
        </p:nvSpPr>
        <p:spPr>
          <a:xfrm>
            <a:off x="6629400" y="1929384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79476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على شكل قوّة:</a:t>
            </a:r>
            <a:endParaRPr lang="ar-LB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9 × 9 × 9 = ............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2304288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احسب، ثم قارن:</a:t>
            </a:r>
            <a:endParaRPr lang="ar-LB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       4 × 3 = ............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29400" y="2679192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794760" y="2642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ضع &gt; أو &lt; أو = :</a:t>
            </a:r>
            <a:endParaRPr lang="ar-LB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2642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......  4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......  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44768" y="30358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44768" y="3035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متوسط</a:t>
            </a:r>
            <a:endParaRPr lang="ar-LB" sz="1050" dirty="0"/>
          </a:p>
        </p:txBody>
      </p:sp>
      <p:sp>
        <p:nvSpPr>
          <p:cNvPr id="25" name="Shape 22"/>
          <p:cNvSpPr/>
          <p:nvPr/>
        </p:nvSpPr>
        <p:spPr>
          <a:xfrm>
            <a:off x="6629400" y="3364992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94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794760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على شكل قوّة واحدة:</a:t>
            </a:r>
            <a:endParaRPr lang="ar-LB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3328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       (a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29400" y="3739896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940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7947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احسب:</a:t>
            </a:r>
            <a:endParaRPr lang="ar-LB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= ............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44768" y="40965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44768" y="4096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متقدّم</a:t>
            </a:r>
            <a:endParaRPr lang="ar-LB" sz="1050" dirty="0"/>
          </a:p>
        </p:txBody>
      </p:sp>
      <p:sp>
        <p:nvSpPr>
          <p:cNvPr id="35" name="Shape 32"/>
          <p:cNvSpPr/>
          <p:nvPr/>
        </p:nvSpPr>
        <p:spPr>
          <a:xfrm>
            <a:off x="6629400" y="4425696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2940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6</a:t>
            </a:r>
            <a:endParaRPr lang="ar-LB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7947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أوجد العدد الناقص:</a:t>
            </a:r>
            <a:endParaRPr lang="ar-LB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629400" y="4800600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294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7</a:t>
            </a:r>
            <a:endParaRPr lang="ar-LB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3794760" y="4764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2¹² كقوّة قوّة بطريقتين:</a:t>
            </a:r>
            <a:endParaRPr lang="ar-LB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40080" y="4764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................ = ................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11480" y="5390388"/>
            <a:ext cx="6739128" cy="488746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9050">
            <a:solidFill>
              <a:srgbClr val="E36414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548640" y="5527548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0" y="5591556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5710428"/>
            <a:ext cx="274320" cy="27432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2103120" y="5527548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بطاقة 2: أعمل وحدي</a:t>
            </a:r>
            <a:endParaRPr lang="ar-LB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685800" y="55275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فردي • 7 دقائق</a:t>
            </a:r>
            <a:endParaRPr lang="ar-LB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640080" y="6259068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الاسم: ..............................................     الصف: ..............     التاريخ: ..............</a:t>
            </a:r>
            <a:endParaRPr lang="ar-LB" sz="1100" dirty="0"/>
          </a:p>
        </p:txBody>
      </p:sp>
      <p:sp>
        <p:nvSpPr>
          <p:cNvPr id="50" name="Shape 46"/>
          <p:cNvSpPr/>
          <p:nvPr/>
        </p:nvSpPr>
        <p:spPr>
          <a:xfrm>
            <a:off x="6144768" y="65791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144768" y="65791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أساسي</a:t>
            </a:r>
            <a:endParaRPr lang="ar-LB" sz="1050" dirty="0"/>
          </a:p>
        </p:txBody>
      </p:sp>
      <p:sp>
        <p:nvSpPr>
          <p:cNvPr id="52" name="Shape 48"/>
          <p:cNvSpPr/>
          <p:nvPr/>
        </p:nvSpPr>
        <p:spPr>
          <a:xfrm>
            <a:off x="6629400" y="6908292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629400" y="69082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3794760" y="68717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على شكل قوّة:</a:t>
            </a:r>
            <a:endParaRPr lang="ar-LB" sz="1250" dirty="0"/>
          </a:p>
        </p:txBody>
      </p:sp>
      <p:sp>
        <p:nvSpPr>
          <p:cNvPr id="55" name="Text 51"/>
          <p:cNvSpPr txBox="1"/>
          <p:nvPr/>
        </p:nvSpPr>
        <p:spPr>
          <a:xfrm>
            <a:off x="640080" y="68717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9 × 9 × 9 = ............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6629400" y="7283196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629400" y="7283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58" name="Text 54"/>
          <p:cNvSpPr txBox="1"/>
          <p:nvPr/>
        </p:nvSpPr>
        <p:spPr>
          <a:xfrm>
            <a:off x="3794760" y="72466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احسب، ثم قارن:</a:t>
            </a:r>
            <a:endParaRPr lang="ar-LB" sz="1250" dirty="0"/>
          </a:p>
        </p:txBody>
      </p:sp>
      <p:sp>
        <p:nvSpPr>
          <p:cNvPr id="59" name="Text 55"/>
          <p:cNvSpPr txBox="1"/>
          <p:nvPr/>
        </p:nvSpPr>
        <p:spPr>
          <a:xfrm>
            <a:off x="640080" y="72466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       4 × 3 = ............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6629400" y="7658100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629400" y="76581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62" name="Text 58"/>
          <p:cNvSpPr txBox="1"/>
          <p:nvPr/>
        </p:nvSpPr>
        <p:spPr>
          <a:xfrm>
            <a:off x="3794760" y="76215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ضع &gt; أو &lt; أو = :</a:t>
            </a:r>
            <a:endParaRPr lang="ar-LB" sz="1250" dirty="0"/>
          </a:p>
        </p:txBody>
      </p:sp>
      <p:sp>
        <p:nvSpPr>
          <p:cNvPr id="63" name="Text 59"/>
          <p:cNvSpPr txBox="1"/>
          <p:nvPr/>
        </p:nvSpPr>
        <p:spPr>
          <a:xfrm>
            <a:off x="640080" y="76215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......  4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......  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6144768" y="80147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6144768" y="80147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متوسط</a:t>
            </a:r>
            <a:endParaRPr lang="ar-LB" sz="1050" dirty="0"/>
          </a:p>
        </p:txBody>
      </p:sp>
      <p:sp>
        <p:nvSpPr>
          <p:cNvPr id="66" name="Shape 62"/>
          <p:cNvSpPr/>
          <p:nvPr/>
        </p:nvSpPr>
        <p:spPr>
          <a:xfrm>
            <a:off x="6629400" y="8343900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6629400" y="83439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68" name="Text 64"/>
          <p:cNvSpPr txBox="1"/>
          <p:nvPr/>
        </p:nvSpPr>
        <p:spPr>
          <a:xfrm>
            <a:off x="3794760" y="83073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على شكل قوّة واحدة:</a:t>
            </a:r>
            <a:endParaRPr lang="ar-LB" sz="1250" dirty="0"/>
          </a:p>
        </p:txBody>
      </p:sp>
      <p:sp>
        <p:nvSpPr>
          <p:cNvPr id="69" name="Text 65"/>
          <p:cNvSpPr txBox="1"/>
          <p:nvPr/>
        </p:nvSpPr>
        <p:spPr>
          <a:xfrm>
            <a:off x="640080" y="83073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       (a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6629400" y="8718804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629400" y="87188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72" name="Text 68"/>
          <p:cNvSpPr txBox="1"/>
          <p:nvPr/>
        </p:nvSpPr>
        <p:spPr>
          <a:xfrm>
            <a:off x="3794760" y="86822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احسب:</a:t>
            </a:r>
            <a:endParaRPr lang="ar-LB" sz="1250" dirty="0"/>
          </a:p>
        </p:txBody>
      </p:sp>
      <p:sp>
        <p:nvSpPr>
          <p:cNvPr id="73" name="Text 69"/>
          <p:cNvSpPr txBox="1"/>
          <p:nvPr/>
        </p:nvSpPr>
        <p:spPr>
          <a:xfrm>
            <a:off x="640080" y="86822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= ............</a:t>
            </a:r>
            <a:endParaRPr lang="en-US" sz="1200" dirty="0"/>
          </a:p>
        </p:txBody>
      </p:sp>
      <p:sp>
        <p:nvSpPr>
          <p:cNvPr id="74" name="Shape 70"/>
          <p:cNvSpPr/>
          <p:nvPr/>
        </p:nvSpPr>
        <p:spPr>
          <a:xfrm>
            <a:off x="6144768" y="90754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144768" y="90754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050" b="1" dirty="0">
                <a:solidFill>
                  <a:srgbClr val="FFFFFF"/>
                </a:solidFill>
              </a:rPr>
              <a:t>متقدّم</a:t>
            </a:r>
            <a:endParaRPr lang="ar-LB" sz="1050" dirty="0"/>
          </a:p>
        </p:txBody>
      </p:sp>
      <p:sp>
        <p:nvSpPr>
          <p:cNvPr id="76" name="Shape 72"/>
          <p:cNvSpPr/>
          <p:nvPr/>
        </p:nvSpPr>
        <p:spPr>
          <a:xfrm>
            <a:off x="6629400" y="9404604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6629400" y="9404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6</a:t>
            </a:r>
            <a:endParaRPr lang="ar-LB" sz="1200" dirty="0"/>
          </a:p>
        </p:txBody>
      </p:sp>
      <p:sp>
        <p:nvSpPr>
          <p:cNvPr id="78" name="Text 74"/>
          <p:cNvSpPr txBox="1"/>
          <p:nvPr/>
        </p:nvSpPr>
        <p:spPr>
          <a:xfrm>
            <a:off x="3794760" y="93680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أوجد العدد الناقص:</a:t>
            </a:r>
            <a:endParaRPr lang="ar-LB" sz="1250" dirty="0"/>
          </a:p>
        </p:txBody>
      </p:sp>
      <p:sp>
        <p:nvSpPr>
          <p:cNvPr id="79" name="Text 75"/>
          <p:cNvSpPr txBox="1"/>
          <p:nvPr/>
        </p:nvSpPr>
        <p:spPr>
          <a:xfrm>
            <a:off x="640080" y="93680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>
            <a:off x="6629400" y="977950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6629400" y="9779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7</a:t>
            </a:r>
            <a:endParaRPr lang="ar-LB" sz="1200" dirty="0"/>
          </a:p>
        </p:txBody>
      </p:sp>
      <p:sp>
        <p:nvSpPr>
          <p:cNvPr id="82" name="Text 78"/>
          <p:cNvSpPr txBox="1"/>
          <p:nvPr/>
        </p:nvSpPr>
        <p:spPr>
          <a:xfrm>
            <a:off x="3794760" y="97429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50" dirty="0">
                <a:solidFill>
                  <a:srgbClr val="1B262C"/>
                </a:solidFill>
              </a:rPr>
              <a:t>اكتب 2¹² كقوّة قوّة بطريقتين:</a:t>
            </a:r>
            <a:endParaRPr lang="ar-LB" sz="1250" dirty="0"/>
          </a:p>
        </p:txBody>
      </p:sp>
      <p:sp>
        <p:nvSpPr>
          <p:cNvPr id="83" name="Text 79"/>
          <p:cNvSpPr txBox="1"/>
          <p:nvPr/>
        </p:nvSpPr>
        <p:spPr>
          <a:xfrm>
            <a:off x="640080" y="97429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................ = ................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المجموعة الخضراء: ترسيخ المفهوم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جماعي • 10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2588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أعضاء المجموعة: 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6281928" cy="685800"/>
          </a:xfrm>
          <a:prstGeom prst="roundRect">
            <a:avLst>
              <a:gd name="adj" fmla="val 13333"/>
            </a:avLst>
          </a:prstGeom>
          <a:solidFill>
            <a:srgbClr val="2E9E5B">
              <a:alpha val="12000"/>
            </a:srgbClr>
          </a:solidFill>
          <a:ln w="12700">
            <a:solidFill>
              <a:srgbClr val="2E9E5B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691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00" b="1" dirty="0">
                <a:solidFill>
                  <a:srgbClr val="1B262C"/>
                </a:solidFill>
              </a:rPr>
              <a:t>تذكير: الضرب جمع متكرر،</a:t>
            </a:r>
            <a:endParaRPr lang="ar-LB" sz="1300" dirty="0"/>
          </a:p>
          <a:p>
            <a:pPr rtl="1" algn="r" indent="0" marL="0">
              <a:buNone/>
            </a:pPr>
            <a:r>
              <a:rPr lang="ar-LB" altLang="en-US" sz="1300" b="1" dirty="0">
                <a:solidFill>
                  <a:srgbClr val="1B262C"/>
                </a:solidFill>
              </a:rPr>
              <a:t>والقوّة ضرب متكرر.</a:t>
            </a:r>
            <a:endParaRPr lang="ar-LB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719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 = 3 + 3 + 3 + 3</a:t>
            </a:r>
            <a:endParaRPr lang="en-US" sz="1300" dirty="0"/>
          </a:p>
          <a:p>
            <a:pPr rtl="0" algn="l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baseline="3000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 × 3 × 3 × 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E9E5B"/>
                </a:solidFill>
              </a:rPr>
              <a:t>المهمة الأولى: المطابقة</a:t>
            </a:r>
            <a:endParaRPr lang="ar-LB" sz="1500" dirty="0"/>
          </a:p>
        </p:txBody>
      </p:sp>
      <p:sp>
        <p:nvSpPr>
          <p:cNvPr id="13" name="Shape 10"/>
          <p:cNvSpPr/>
          <p:nvPr/>
        </p:nvSpPr>
        <p:spPr>
          <a:xfrm>
            <a:off x="6629400" y="2944368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92608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اخلطوا بطاقات المطابقة الخمس عشرة، ثم كوّنوا 5 مجموعات ثلاثية: (طريقة الكتابة المطوّلة، الكتابة المختصرة، القيمة).</a:t>
            </a:r>
            <a:endParaRPr lang="ar-LB" sz="1350" dirty="0"/>
          </a:p>
        </p:txBody>
      </p:sp>
      <p:sp>
        <p:nvSpPr>
          <p:cNvPr id="16" name="Shape 13"/>
          <p:cNvSpPr/>
          <p:nvPr/>
        </p:nvSpPr>
        <p:spPr>
          <a:xfrm>
            <a:off x="6629400" y="3538728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5204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صنّفوا المجموعات الثلاثية في الجدول:</a:t>
            </a:r>
            <a:endParaRPr lang="ar-LB" sz="1350" dirty="0"/>
          </a:p>
        </p:txBody>
      </p:sp>
      <p:sp>
        <p:nvSpPr>
          <p:cNvPr id="19" name="Shape 16"/>
          <p:cNvSpPr/>
          <p:nvPr/>
        </p:nvSpPr>
        <p:spPr>
          <a:xfrm>
            <a:off x="3749040" y="3931920"/>
            <a:ext cx="3108960" cy="329184"/>
          </a:xfrm>
          <a:prstGeom prst="rect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49040" y="3931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جمع متكرر (ضرب)</a:t>
            </a:r>
            <a:endParaRPr lang="ar-LB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931920"/>
            <a:ext cx="3108960" cy="329184"/>
          </a:xfrm>
          <a:prstGeom prst="rect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931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ضرب متكرر (قوّة)</a:t>
            </a:r>
            <a:endParaRPr lang="ar-LB" sz="1200" dirty="0"/>
          </a:p>
        </p:txBody>
      </p:sp>
      <p:sp>
        <p:nvSpPr>
          <p:cNvPr id="23" name="Shape 20"/>
          <p:cNvSpPr/>
          <p:nvPr/>
        </p:nvSpPr>
        <p:spPr>
          <a:xfrm>
            <a:off x="3749040" y="426110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26110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49040" y="462686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462686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49040" y="499262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499262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49040" y="535838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5358384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5870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E9E5B"/>
                </a:solidFill>
              </a:rPr>
              <a:t>المهمة الثانية: قوّة القوّة خطوة بخطوة</a:t>
            </a:r>
            <a:endParaRPr lang="ar-LB" sz="1500" dirty="0"/>
          </a:p>
        </p:txBody>
      </p:sp>
      <p:sp>
        <p:nvSpPr>
          <p:cNvPr id="32" name="Shape 29"/>
          <p:cNvSpPr/>
          <p:nvPr/>
        </p:nvSpPr>
        <p:spPr>
          <a:xfrm>
            <a:off x="6629400" y="6236208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29400" y="623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21792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أكملوا الفراغات (المثال الأول محلول):</a:t>
            </a:r>
            <a:endParaRPr lang="ar-LB" sz="1350" dirty="0"/>
          </a:p>
        </p:txBody>
      </p:sp>
      <p:sp>
        <p:nvSpPr>
          <p:cNvPr id="35" name="Shape 32"/>
          <p:cNvSpPr/>
          <p:nvPr/>
        </p:nvSpPr>
        <p:spPr>
          <a:xfrm>
            <a:off x="640080" y="6629400"/>
            <a:ext cx="6281928" cy="457200"/>
          </a:xfrm>
          <a:prstGeom prst="roundRect">
            <a:avLst>
              <a:gd name="adj" fmla="val 16000"/>
            </a:avLst>
          </a:prstGeom>
          <a:solidFill>
            <a:srgbClr val="EEF7F1"/>
          </a:solidFill>
          <a:ln w="9525">
            <a:solidFill>
              <a:srgbClr val="9AA8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662940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5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5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2</a:t>
            </a:r>
            <a:r>
              <a:rPr lang="en-US" sz="15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5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5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0080" y="7178040"/>
            <a:ext cx="62819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9AA8B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77240" y="717804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2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640080" y="7726680"/>
            <a:ext cx="62819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9AA8B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772668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 × ......... = 3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40080" y="8275320"/>
            <a:ext cx="62819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9AA8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827532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 × ......... = 10</a:t>
            </a:r>
            <a:r>
              <a:rPr lang="en-US" sz="15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</a:t>
            </a:r>
            <a:r>
              <a:rPr lang="en-US" sz="15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..........................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629400" y="8887968"/>
            <a:ext cx="292608" cy="29260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29400" y="8887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886968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ماذا تلاحظون؟ كيف نحصل على الأُس الجديد من الأُسّين؟</a:t>
            </a:r>
            <a:endParaRPr lang="ar-LB" sz="135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9253728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964692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2671B8"/>
                </a:solidFill>
              </a:rPr>
              <a:t>أنهيتم؟ انتقلوا إلى بطاقة المجموعة الزرقاء.</a:t>
            </a:r>
            <a:endParaRPr lang="ar-LB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11480"/>
            <a:ext cx="6281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E9E5B"/>
                </a:solidFill>
              </a:rPr>
              <a:t>بطاقات المطابقة للمجموعة الخضراء (للقصّ)</a:t>
            </a:r>
            <a:endParaRPr lang="ar-LB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568" y="457200"/>
            <a:ext cx="274320" cy="274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04232" y="960120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41392" y="1097280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87112" y="1143000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30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657856" y="960120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795016" y="1097280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40736" y="1143000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11480" y="960120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48640" y="1097280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1143000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 × 3 × 3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904232" y="2823667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5041392" y="2960827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87112" y="3006547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2657856" y="2823667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2795016" y="2960827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40736" y="3006547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411480" y="2823667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48640" y="2960827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006547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4904232" y="4687214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5041392" y="4824374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87112" y="4870094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× 10</a:t>
            </a:r>
            <a:endParaRPr lang="en-US" sz="3000" dirty="0"/>
          </a:p>
        </p:txBody>
      </p:sp>
      <p:sp>
        <p:nvSpPr>
          <p:cNvPr id="25" name="Shape 22"/>
          <p:cNvSpPr/>
          <p:nvPr/>
        </p:nvSpPr>
        <p:spPr>
          <a:xfrm>
            <a:off x="2657856" y="4687214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795016" y="4824374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40736" y="4870094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3000" dirty="0"/>
          </a:p>
        </p:txBody>
      </p:sp>
      <p:sp>
        <p:nvSpPr>
          <p:cNvPr id="28" name="Shape 25"/>
          <p:cNvSpPr/>
          <p:nvPr/>
        </p:nvSpPr>
        <p:spPr>
          <a:xfrm>
            <a:off x="411480" y="4687214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48640" y="4824374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4870094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31" name="Shape 28"/>
          <p:cNvSpPr/>
          <p:nvPr/>
        </p:nvSpPr>
        <p:spPr>
          <a:xfrm>
            <a:off x="4904232" y="6550762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5041392" y="6687922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87112" y="6733642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0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2657856" y="6550762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2795016" y="6687922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840736" y="6733642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+ 3 + 3 + 3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11480" y="6550762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548640" y="6687922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" y="6733642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× 2 × 2 × 2 × 2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904232" y="8414309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5041392" y="8551469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87112" y="8597189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5 × 5</a:t>
            </a:r>
            <a:endParaRPr lang="en-US" sz="3000" dirty="0"/>
          </a:p>
        </p:txBody>
      </p:sp>
      <p:sp>
        <p:nvSpPr>
          <p:cNvPr id="43" name="Shape 40"/>
          <p:cNvSpPr/>
          <p:nvPr/>
        </p:nvSpPr>
        <p:spPr>
          <a:xfrm>
            <a:off x="2657856" y="8414309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2795016" y="8551469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840736" y="8597189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3000" b="1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46" name="Shape 43"/>
          <p:cNvSpPr/>
          <p:nvPr/>
        </p:nvSpPr>
        <p:spPr>
          <a:xfrm>
            <a:off x="411480" y="8414309"/>
            <a:ext cx="2246376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548640" y="8551469"/>
            <a:ext cx="1972056" cy="1589227"/>
          </a:xfrm>
          <a:prstGeom prst="roundRect">
            <a:avLst>
              <a:gd name="adj" fmla="val 6904"/>
            </a:avLst>
          </a:prstGeom>
          <a:solidFill>
            <a:srgbClr val="2E9E5B">
              <a:alpha val="10000"/>
            </a:srgbClr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94360" y="8597189"/>
            <a:ext cx="188061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9050">
            <a:solidFill>
              <a:srgbClr val="2671B8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المجموعة الزرقاء: تمكّن وتطبيق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جماعي • 10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2588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أعضاء المجموعة: 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671B8"/>
                </a:solidFill>
              </a:rPr>
              <a:t>المهمة الأولى: اكتبوا على شكل قوّة واحدة، ثم احسبوا</a:t>
            </a:r>
            <a:endParaRPr lang="ar-LB" sz="1500" dirty="0"/>
          </a:p>
        </p:txBody>
      </p:sp>
      <p:sp>
        <p:nvSpPr>
          <p:cNvPr id="10" name="Shape 7"/>
          <p:cNvSpPr/>
          <p:nvPr/>
        </p:nvSpPr>
        <p:spPr>
          <a:xfrm>
            <a:off x="6629400" y="2249424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194560"/>
            <a:ext cx="5687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= ......................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29400" y="2752344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697480"/>
            <a:ext cx="5687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= ......................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29400" y="3255264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200400"/>
            <a:ext cx="5687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............ = ......................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671B8"/>
                </a:solidFill>
              </a:rPr>
              <a:t>المهمة الثانية: صح أم خطأ؟ صحّحوا الخطأ</a:t>
            </a:r>
            <a:endParaRPr lang="ar-LB" sz="1500" dirty="0"/>
          </a:p>
        </p:txBody>
      </p:sp>
      <p:sp>
        <p:nvSpPr>
          <p:cNvPr id="20" name="Shape 17"/>
          <p:cNvSpPr/>
          <p:nvPr/>
        </p:nvSpPr>
        <p:spPr>
          <a:xfrm>
            <a:off x="4480560" y="4251960"/>
            <a:ext cx="2377440" cy="329184"/>
          </a:xfrm>
          <a:prstGeom prst="rect">
            <a:avLst/>
          </a:prstGeom>
          <a:solidFill>
            <a:srgbClr val="2671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4251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العبارة</a:t>
            </a:r>
            <a:endParaRPr lang="ar-LB" sz="1200" dirty="0"/>
          </a:p>
        </p:txBody>
      </p:sp>
      <p:sp>
        <p:nvSpPr>
          <p:cNvPr id="22" name="Shape 19"/>
          <p:cNvSpPr/>
          <p:nvPr/>
        </p:nvSpPr>
        <p:spPr>
          <a:xfrm>
            <a:off x="3017520" y="4251960"/>
            <a:ext cx="1463040" cy="329184"/>
          </a:xfrm>
          <a:prstGeom prst="rect">
            <a:avLst/>
          </a:prstGeom>
          <a:solidFill>
            <a:srgbClr val="2671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17520" y="4251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صح / خطأ</a:t>
            </a:r>
            <a:endParaRPr lang="ar-LB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251960"/>
            <a:ext cx="2377440" cy="329184"/>
          </a:xfrm>
          <a:prstGeom prst="rect">
            <a:avLst/>
          </a:prstGeom>
          <a:solidFill>
            <a:srgbClr val="2671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251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التصحيح</a:t>
            </a:r>
            <a:endParaRPr lang="ar-LB" sz="1200" dirty="0"/>
          </a:p>
        </p:txBody>
      </p:sp>
      <p:sp>
        <p:nvSpPr>
          <p:cNvPr id="26" name="Shape 23"/>
          <p:cNvSpPr/>
          <p:nvPr/>
        </p:nvSpPr>
        <p:spPr>
          <a:xfrm>
            <a:off x="4480560" y="45811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80560" y="4581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017520" y="4581144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45811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80560" y="50383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480560" y="5038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12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017520" y="5038344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" y="50383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54955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80560" y="54955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</a:t>
            </a:r>
            <a:r>
              <a:rPr lang="en-US" sz="14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017520" y="5495544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" y="54955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" y="6217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2671B8"/>
                </a:solidFill>
              </a:rPr>
              <a:t>المهمة الثالثة: مسألة من الحياة</a:t>
            </a:r>
            <a:endParaRPr lang="ar-LB" sz="1500" dirty="0"/>
          </a:p>
        </p:txBody>
      </p:sp>
      <p:sp>
        <p:nvSpPr>
          <p:cNvPr id="39" name="Shape 36"/>
          <p:cNvSpPr/>
          <p:nvPr/>
        </p:nvSpPr>
        <p:spPr>
          <a:xfrm>
            <a:off x="6629400" y="6601968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29400" y="6601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58368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مزرعة على شكل مربّع، طول ضلعها 10² مترًا.</a:t>
            </a:r>
            <a:endParaRPr lang="ar-LB" sz="1350" dirty="0"/>
          </a:p>
        </p:txBody>
      </p:sp>
      <p:sp>
        <p:nvSpPr>
          <p:cNvPr id="42" name="Shape 39"/>
          <p:cNvSpPr/>
          <p:nvPr/>
        </p:nvSpPr>
        <p:spPr>
          <a:xfrm>
            <a:off x="6629400" y="7013448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629400" y="7013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99516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اكتبوا مساحة المزرعة على شكل قوّة للعدد 10، ثم احسبوها.</a:t>
            </a:r>
            <a:endParaRPr lang="ar-LB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7498080"/>
            <a:ext cx="5961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المساحة = ..................................................... = .....................................  m²</a:t>
            </a:r>
            <a:endParaRPr lang="ar-LB" sz="1300" dirty="0"/>
          </a:p>
        </p:txBody>
      </p:sp>
      <p:sp>
        <p:nvSpPr>
          <p:cNvPr id="46" name="Shape 43"/>
          <p:cNvSpPr/>
          <p:nvPr/>
        </p:nvSpPr>
        <p:spPr>
          <a:xfrm>
            <a:off x="6629400" y="8110728"/>
            <a:ext cx="292608" cy="292608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629400" y="8110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6</a:t>
            </a:r>
            <a:endParaRPr lang="ar-LB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80924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اشرحوا لماذا (4²)³ لا تساوي 4⁵ باستخدام الضرب المتكرر.</a:t>
            </a:r>
            <a:endParaRPr lang="ar-LB" sz="1350" dirty="0"/>
          </a:p>
        </p:txBody>
      </p:sp>
      <p:sp>
        <p:nvSpPr>
          <p:cNvPr id="49" name="Text 46"/>
          <p:cNvSpPr txBox="1"/>
          <p:nvPr/>
        </p:nvSpPr>
        <p:spPr>
          <a:xfrm>
            <a:off x="640080" y="8503920"/>
            <a:ext cx="5961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964692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7B3FA0"/>
                </a:solidFill>
              </a:rPr>
              <a:t>أنهيتم؟ انتقلوا إلى بطاقة المجموعة البنفسجية.</a:t>
            </a:r>
            <a:endParaRPr lang="ar-LB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9050">
            <a:solidFill>
              <a:srgbClr val="7B3FA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المجموعة البنفسجية: إثراء وتحدٍّ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عمل جماعي • 10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2588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أعضاء المجموعة: 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7B3FA0"/>
                </a:solidFill>
              </a:rPr>
              <a:t>المهمة الأولى: الأعداد الناقصة</a:t>
            </a:r>
            <a:endParaRPr lang="ar-LB" sz="1500" dirty="0"/>
          </a:p>
        </p:txBody>
      </p:sp>
      <p:sp>
        <p:nvSpPr>
          <p:cNvPr id="10" name="Shape 7"/>
          <p:cNvSpPr/>
          <p:nvPr/>
        </p:nvSpPr>
        <p:spPr>
          <a:xfrm>
            <a:off x="6629400" y="216712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1488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أكملوا:</a:t>
            </a:r>
            <a:endParaRPr lang="ar-LB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523744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(......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29400" y="303580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01752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اكتبوا x¹² على شكل قوّة قوّة بكل الطرق الممكنة (الأُسّان عددان طبيعيان أكبر من 1):</a:t>
            </a:r>
            <a:endParaRPr lang="ar-LB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61188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7B3FA0"/>
                </a:solidFill>
              </a:rPr>
              <a:t>المهمة الثانية: قارنوا دون استعمال الآلة الحاسبة</a:t>
            </a:r>
            <a:endParaRPr lang="ar-LB" sz="1500" dirty="0"/>
          </a:p>
        </p:txBody>
      </p:sp>
      <p:sp>
        <p:nvSpPr>
          <p:cNvPr id="19" name="Shape 16"/>
          <p:cNvSpPr/>
          <p:nvPr/>
        </p:nvSpPr>
        <p:spPr>
          <a:xfrm>
            <a:off x="6629400" y="445312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4348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أيّهما أكبر؟ برّروا إجابتكم. (تلميح: 4 = 2²)</a:t>
            </a:r>
            <a:endParaRPr lang="ar-LB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809744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(4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257800"/>
            <a:ext cx="5961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035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7B3FA0"/>
                </a:solidFill>
              </a:rPr>
              <a:t>المهمة الثالثة: اكتشف الخطأ</a:t>
            </a:r>
            <a:endParaRPr lang="ar-LB" sz="1500" dirty="0"/>
          </a:p>
        </p:txBody>
      </p:sp>
      <p:sp>
        <p:nvSpPr>
          <p:cNvPr id="25" name="Shape 22"/>
          <p:cNvSpPr/>
          <p:nvPr/>
        </p:nvSpPr>
        <p:spPr>
          <a:xfrm>
            <a:off x="6629400" y="641908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9400" y="6419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0080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كتب سامي الحل التالي. أين الخطأ؟ صحّحوه.</a:t>
            </a:r>
            <a:endParaRPr lang="ar-LB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775704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80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243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722376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7680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7B3FA0"/>
                </a:solidFill>
              </a:rPr>
              <a:t>المهمة الرابعة: تحدٍّ من الحياة</a:t>
            </a:r>
            <a:endParaRPr lang="ar-LB" sz="1500" dirty="0"/>
          </a:p>
        </p:txBody>
      </p:sp>
      <p:sp>
        <p:nvSpPr>
          <p:cNvPr id="31" name="Shape 28"/>
          <p:cNvSpPr/>
          <p:nvPr/>
        </p:nvSpPr>
        <p:spPr>
          <a:xfrm>
            <a:off x="6629400" y="806500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29400" y="8065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804672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مكعّب طول حرفه 2² سم. احسبوا حجمه على شكل قوّة للعدد 2، ثم كعدد.</a:t>
            </a:r>
            <a:endParaRPr lang="ar-LB" sz="1350" dirty="0"/>
          </a:p>
        </p:txBody>
      </p:sp>
      <p:sp>
        <p:nvSpPr>
          <p:cNvPr id="34" name="Shape 31"/>
          <p:cNvSpPr/>
          <p:nvPr/>
        </p:nvSpPr>
        <p:spPr>
          <a:xfrm>
            <a:off x="6629400" y="8476488"/>
            <a:ext cx="292608" cy="29260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29400" y="8476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6</a:t>
            </a:r>
            <a:endParaRPr lang="ar-LB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845820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50" dirty="0">
                <a:solidFill>
                  <a:srgbClr val="1B262C"/>
                </a:solidFill>
              </a:rPr>
              <a:t>كم مكعّبًا صغيرًا طول حرفه 1 سم نحتاج لملء هذا المكعّب؟</a:t>
            </a:r>
            <a:endParaRPr lang="ar-LB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891540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9AA8B0"/>
                </a:solidFill>
              </a:rPr>
              <a:t>............................................................................................................................</a:t>
            </a:r>
            <a:endParaRPr lang="ar-LB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964692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E9A23B"/>
                </a:solidFill>
              </a:rPr>
              <a:t>أنهيتم؟ أصبحتم «خبراء»: ساعدوا مجموعة أخرى بالشرح، لا بإعطاء الإجابة.</a:t>
            </a:r>
            <a:endParaRPr lang="ar-LB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488746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9050">
            <a:solidFill>
              <a:srgbClr val="0F4C5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بطاقة التقييم (بطاقة الخروج)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فردي ثم تبادل • 8 دقائق</a:t>
            </a:r>
            <a:endParaRPr lang="ar-LB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280160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الاسم: ..............................................     الصف: ..............     التاريخ: ..............</a:t>
            </a:r>
            <a:endParaRPr lang="ar-LB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1655064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6184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أيّهما يساوي 6³: (أ) 6 × 3 أم (ب) 6 × 6 × 6؟ اشرح الفرق.</a:t>
            </a:r>
            <a:endParaRPr lang="ar-LB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618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dirty="0">
                <a:solidFill>
                  <a:srgbClr val="1B262C"/>
                </a:solidFill>
              </a:rPr>
              <a:t>الإجابة: ......  لأنّ ..............................</a:t>
            </a:r>
            <a:endParaRPr lang="ar-LB" sz="1150" dirty="0"/>
          </a:p>
        </p:txBody>
      </p:sp>
      <p:sp>
        <p:nvSpPr>
          <p:cNvPr id="13" name="Shape 10"/>
          <p:cNvSpPr/>
          <p:nvPr/>
        </p:nvSpPr>
        <p:spPr>
          <a:xfrm>
            <a:off x="6629400" y="2139696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2103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اكتب بالترميز الأسّي:</a:t>
            </a:r>
            <a:endParaRPr lang="ar-LB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103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8 × 8 × 8 × 8 = ........   y × y × y = .......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29400" y="2624328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25877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اكتب على شكل قوّة واحدة:</a:t>
            </a:r>
            <a:endParaRPr lang="ar-LB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258775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     (b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29400" y="3108960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940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30723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احسب:</a:t>
            </a:r>
            <a:endParaRPr lang="ar-LB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0723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= ..........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629400" y="3593592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940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35570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صندوق مكعّب طول حرفه 10² سم. احسب حجمه.</a:t>
            </a:r>
            <a:endParaRPr lang="ar-LB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35570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(10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= ................ cm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" y="4114800"/>
            <a:ext cx="6281928" cy="822960"/>
          </a:xfrm>
          <a:prstGeom prst="roundRect">
            <a:avLst>
              <a:gd name="adj" fmla="val 11111"/>
            </a:avLst>
          </a:prstGeom>
          <a:solidFill>
            <a:srgbClr val="E9A23B">
              <a:alpha val="15000"/>
            </a:srgbClr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160520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b="1" dirty="0">
                <a:solidFill>
                  <a:srgbClr val="1B262C"/>
                </a:solidFill>
              </a:rPr>
              <a:t>تحقّق زميلي: الاسم ....................................   عدد الإجابات الصحيحة: ...... / 5</a:t>
            </a:r>
            <a:endParaRPr lang="ar-LB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4526280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dirty="0">
                <a:solidFill>
                  <a:srgbClr val="1B262C"/>
                </a:solidFill>
              </a:rPr>
              <a:t>قيّم نفسك (لوّن الدائرة أخضر أو أصفر أو أحمر):    الهدف 1 ○     الهدف 2 ○     الهدف 3 ○</a:t>
            </a:r>
            <a:endParaRPr lang="ar-LB" sz="1150" dirty="0"/>
          </a:p>
        </p:txBody>
      </p:sp>
      <p:sp>
        <p:nvSpPr>
          <p:cNvPr id="32" name="Shape 29"/>
          <p:cNvSpPr/>
          <p:nvPr/>
        </p:nvSpPr>
        <p:spPr>
          <a:xfrm>
            <a:off x="411480" y="5390388"/>
            <a:ext cx="6739128" cy="488746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9050">
            <a:solidFill>
              <a:srgbClr val="0F4C5C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548640" y="5527548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0" y="5591556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5710428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2103120" y="5527548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بطاقة التقييم (بطاقة الخروج)</a:t>
            </a:r>
            <a:endParaRPr lang="ar-LB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685800" y="55275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فردي ثم تبادل • 8 دقائق</a:t>
            </a:r>
            <a:endParaRPr lang="ar-LB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6259068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100" dirty="0">
                <a:solidFill>
                  <a:srgbClr val="5B6770"/>
                </a:solidFill>
              </a:rPr>
              <a:t>الاسم: ..............................................     الصف: ..............     التاريخ: ..............</a:t>
            </a:r>
            <a:endParaRPr lang="ar-LB" sz="1100" dirty="0"/>
          </a:p>
        </p:txBody>
      </p:sp>
      <p:sp>
        <p:nvSpPr>
          <p:cNvPr id="39" name="Shape 35"/>
          <p:cNvSpPr/>
          <p:nvPr/>
        </p:nvSpPr>
        <p:spPr>
          <a:xfrm>
            <a:off x="6629400" y="6633972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629400" y="66339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1</a:t>
            </a:r>
            <a:endParaRPr lang="ar-LB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3246120" y="65973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أيّهما يساوي 6³: (أ) 6 × 3 أم (ب) 6 × 6 × 6؟ اشرح الفرق.</a:t>
            </a:r>
            <a:endParaRPr lang="ar-LB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640080" y="65973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dirty="0">
                <a:solidFill>
                  <a:srgbClr val="1B262C"/>
                </a:solidFill>
              </a:rPr>
              <a:t>الإجابة: ......  لأنّ ..............................</a:t>
            </a:r>
            <a:endParaRPr lang="ar-LB" sz="1150" dirty="0"/>
          </a:p>
        </p:txBody>
      </p:sp>
      <p:sp>
        <p:nvSpPr>
          <p:cNvPr id="43" name="Shape 39"/>
          <p:cNvSpPr/>
          <p:nvPr/>
        </p:nvSpPr>
        <p:spPr>
          <a:xfrm>
            <a:off x="6629400" y="7118604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629400" y="7118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2</a:t>
            </a:r>
            <a:endParaRPr lang="ar-LB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3246120" y="70820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اكتب بالترميز الأسّي:</a:t>
            </a:r>
            <a:endParaRPr lang="ar-LB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594360" y="70820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8 × 8 × 8 × 8 = ........   y × y × y = .......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6629400" y="7603236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629400" y="7603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3</a:t>
            </a:r>
            <a:endParaRPr lang="ar-LB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3246120" y="75666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اكتب على شكل قوّة واحدة:</a:t>
            </a:r>
            <a:endParaRPr lang="ar-LB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594360" y="75666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     (b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6629400" y="8087868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629400" y="8087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4</a:t>
            </a:r>
            <a:endParaRPr lang="ar-LB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3246120" y="80512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احسب:</a:t>
            </a:r>
            <a:endParaRPr lang="ar-LB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594360" y="80512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= ..........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6629400" y="8572500"/>
            <a:ext cx="292608" cy="29260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629400" y="85725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FFFFFF"/>
                </a:solidFill>
              </a:rPr>
              <a:t>5</a:t>
            </a:r>
            <a:endParaRPr lang="ar-LB" sz="1200" dirty="0"/>
          </a:p>
        </p:txBody>
      </p:sp>
      <p:sp>
        <p:nvSpPr>
          <p:cNvPr id="57" name="Text 53"/>
          <p:cNvSpPr txBox="1"/>
          <p:nvPr/>
        </p:nvSpPr>
        <p:spPr>
          <a:xfrm>
            <a:off x="3246120" y="85359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rgbClr val="1B262C"/>
                </a:solidFill>
              </a:rPr>
              <a:t>صندوق مكعّب طول حرفه 10² سم. احسب حجمه.</a:t>
            </a:r>
            <a:endParaRPr lang="ar-LB" sz="1200" dirty="0"/>
          </a:p>
        </p:txBody>
      </p:sp>
      <p:sp>
        <p:nvSpPr>
          <p:cNvPr id="58" name="Text 54"/>
          <p:cNvSpPr txBox="1"/>
          <p:nvPr/>
        </p:nvSpPr>
        <p:spPr>
          <a:xfrm>
            <a:off x="594360" y="853592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(10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.......... = ................ cm</a:t>
            </a:r>
            <a:r>
              <a:rPr lang="en-US" sz="10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Shape 55"/>
          <p:cNvSpPr/>
          <p:nvPr/>
        </p:nvSpPr>
        <p:spPr>
          <a:xfrm>
            <a:off x="640080" y="9093708"/>
            <a:ext cx="6281928" cy="822960"/>
          </a:xfrm>
          <a:prstGeom prst="roundRect">
            <a:avLst>
              <a:gd name="adj" fmla="val 11111"/>
            </a:avLst>
          </a:prstGeom>
          <a:solidFill>
            <a:srgbClr val="E9A23B">
              <a:alpha val="15000"/>
            </a:srgbClr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777240" y="9139428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200" b="1" dirty="0">
                <a:solidFill>
                  <a:srgbClr val="1B262C"/>
                </a:solidFill>
              </a:rPr>
              <a:t>تحقّق زميلي: الاسم ....................................   عدد الإجابات الصحيحة: ...... / 5</a:t>
            </a:r>
            <a:endParaRPr lang="ar-LB" sz="1200" dirty="0"/>
          </a:p>
        </p:txBody>
      </p:sp>
      <p:sp>
        <p:nvSpPr>
          <p:cNvPr id="61" name="Text 57"/>
          <p:cNvSpPr txBox="1"/>
          <p:nvPr/>
        </p:nvSpPr>
        <p:spPr>
          <a:xfrm>
            <a:off x="777240" y="9505188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dirty="0">
                <a:solidFill>
                  <a:srgbClr val="1B262C"/>
                </a:solidFill>
              </a:rPr>
              <a:t>قيّم نفسك (لوّن الدائرة أخضر أو أصفر أو أحمر):    الهدف 1 ○     الهدف 2 ○     الهدف 3 ○</a:t>
            </a:r>
            <a:endParaRPr lang="ar-LB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11480"/>
            <a:ext cx="6281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rgbClr val="0F4C5C"/>
                </a:solidFill>
              </a:rPr>
              <a:t>بطاقات الأدوار وبطاقات الخبير (للقصّ)</a:t>
            </a:r>
            <a:endParaRPr lang="ar-LB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568" y="457200"/>
            <a:ext cx="274320" cy="274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81044" y="960120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3918204" y="1097280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0F8B8D">
              <a:alpha val="12000"/>
            </a:srgbClr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626" y="1325880"/>
            <a:ext cx="914400" cy="9144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226" y="1554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055364" y="2377440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0F8B8D"/>
                </a:solidFill>
              </a:rPr>
              <a:t>القارئ</a:t>
            </a:r>
            <a:endParaRPr lang="ar-LB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101084" y="2926080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يقرأ المهمة بصوت واضح، ويتأكّد أن الجميع فهم المطلوب.</a:t>
            </a:r>
            <a:endParaRPr lang="ar-LB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960120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548640" y="1097280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2671B8">
              <a:alpha val="12000"/>
            </a:srgbClr>
          </a:solidFill>
          <a:ln w="19050">
            <a:solidFill>
              <a:srgbClr val="2671B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39062" y="1325880"/>
            <a:ext cx="914400" cy="914400"/>
          </a:xfrm>
          <a:prstGeom prst="ellipse">
            <a:avLst/>
          </a:prstGeom>
          <a:solidFill>
            <a:srgbClr val="2671B8"/>
          </a:solidFill>
          <a:ln w="12700">
            <a:solidFill>
              <a:srgbClr val="2671B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662" y="1554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" y="2377440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2671B8"/>
                </a:solidFill>
              </a:rPr>
              <a:t>الكاتب</a:t>
            </a:r>
            <a:endParaRPr lang="ar-LB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2926080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يسجّل إجابات المجموعة بخط واضح على البطاقة.</a:t>
            </a:r>
            <a:endParaRPr lang="ar-LB" sz="1300" dirty="0"/>
          </a:p>
        </p:txBody>
      </p:sp>
      <p:sp>
        <p:nvSpPr>
          <p:cNvPr id="16" name="Shape 11"/>
          <p:cNvSpPr/>
          <p:nvPr/>
        </p:nvSpPr>
        <p:spPr>
          <a:xfrm>
            <a:off x="3781044" y="4066032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3918204" y="4203192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E36414">
              <a:alpha val="12000"/>
            </a:srgbClr>
          </a:solidFill>
          <a:ln w="19050">
            <a:solidFill>
              <a:srgbClr val="E3641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08626" y="4431792"/>
            <a:ext cx="914400" cy="9144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226" y="466039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055364" y="5483352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E36414"/>
                </a:solidFill>
              </a:rPr>
              <a:t>المدقّق</a:t>
            </a:r>
            <a:endParaRPr lang="ar-LB" sz="2600" dirty="0"/>
          </a:p>
        </p:txBody>
      </p:sp>
      <p:sp>
        <p:nvSpPr>
          <p:cNvPr id="21" name="Text 15"/>
          <p:cNvSpPr txBox="1"/>
          <p:nvPr/>
        </p:nvSpPr>
        <p:spPr>
          <a:xfrm>
            <a:off x="4101084" y="6031992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يتحقّق من كل خطوة: هل ضربنا أم جمعنا؟ هل ضربنا الأُسّين؟</a:t>
            </a:r>
            <a:endParaRPr lang="ar-LB" sz="1300" dirty="0"/>
          </a:p>
        </p:txBody>
      </p:sp>
      <p:sp>
        <p:nvSpPr>
          <p:cNvPr id="22" name="Shape 16"/>
          <p:cNvSpPr/>
          <p:nvPr/>
        </p:nvSpPr>
        <p:spPr>
          <a:xfrm>
            <a:off x="411480" y="4066032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548640" y="4203192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7B3FA0">
              <a:alpha val="12000"/>
            </a:srgbClr>
          </a:solidFill>
          <a:ln w="19050">
            <a:solidFill>
              <a:srgbClr val="7B3FA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639062" y="4431792"/>
            <a:ext cx="914400" cy="914400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662" y="466039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" y="5483352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7B3FA0"/>
                </a:solidFill>
              </a:rPr>
              <a:t>المتحدّث</a:t>
            </a:r>
            <a:endParaRPr lang="ar-LB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6031992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يعرض حل المجموعة على الصف ويشرح طريقة التفكير.</a:t>
            </a:r>
            <a:endParaRPr lang="ar-LB" sz="1300" dirty="0"/>
          </a:p>
        </p:txBody>
      </p:sp>
      <p:sp>
        <p:nvSpPr>
          <p:cNvPr id="28" name="Shape 21"/>
          <p:cNvSpPr/>
          <p:nvPr/>
        </p:nvSpPr>
        <p:spPr>
          <a:xfrm>
            <a:off x="3781044" y="7171944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3918204" y="7309104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E9A23B">
              <a:alpha val="12000"/>
            </a:srgbClr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08626" y="7537704"/>
            <a:ext cx="914400" cy="9144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226" y="7766304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055364" y="8589264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E9A23B"/>
                </a:solidFill>
              </a:rPr>
              <a:t>خبير</a:t>
            </a:r>
            <a:endParaRPr lang="ar-LB" sz="2600" dirty="0"/>
          </a:p>
        </p:txBody>
      </p:sp>
      <p:sp>
        <p:nvSpPr>
          <p:cNvPr id="33" name="Text 25"/>
          <p:cNvSpPr txBox="1"/>
          <p:nvPr/>
        </p:nvSpPr>
        <p:spPr>
          <a:xfrm>
            <a:off x="4101084" y="9137904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تأكّدتُ من حلّي. أساعد زملائي بالأسئلة والشرح، لا بإعطاء الإجابة.</a:t>
            </a:r>
            <a:endParaRPr lang="ar-LB" sz="1300" dirty="0"/>
          </a:p>
        </p:txBody>
      </p:sp>
      <p:sp>
        <p:nvSpPr>
          <p:cNvPr id="34" name="Shape 26"/>
          <p:cNvSpPr/>
          <p:nvPr/>
        </p:nvSpPr>
        <p:spPr>
          <a:xfrm>
            <a:off x="411480" y="7171944"/>
            <a:ext cx="3369564" cy="310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0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548640" y="7309104"/>
            <a:ext cx="3095244" cy="2831592"/>
          </a:xfrm>
          <a:prstGeom prst="roundRect">
            <a:avLst>
              <a:gd name="adj" fmla="val 4844"/>
            </a:avLst>
          </a:prstGeom>
          <a:solidFill>
            <a:srgbClr val="E9A23B">
              <a:alpha val="12000"/>
            </a:srgbClr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639062" y="7537704"/>
            <a:ext cx="914400" cy="9144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7662" y="776630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85800" y="8589264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600" b="1" dirty="0">
                <a:solidFill>
                  <a:srgbClr val="E9A23B"/>
                </a:solidFill>
              </a:rPr>
              <a:t>خبير</a:t>
            </a:r>
            <a:endParaRPr lang="ar-LB" sz="2600" dirty="0"/>
          </a:p>
        </p:txBody>
      </p:sp>
      <p:sp>
        <p:nvSpPr>
          <p:cNvPr id="39" name="Text 30"/>
          <p:cNvSpPr txBox="1"/>
          <p:nvPr/>
        </p:nvSpPr>
        <p:spPr>
          <a:xfrm>
            <a:off x="731520" y="9137904"/>
            <a:ext cx="2729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rgbClr val="1B262C"/>
                </a:solidFill>
              </a:rPr>
              <a:t>تأكّدتُ من حلّي. أساعد زملائي بالأسئلة والشرح، لا بإعطاء الإجابة.</a:t>
            </a:r>
            <a:endParaRPr lang="ar-LB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9050">
            <a:solidFill>
              <a:srgbClr val="1B262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12648"/>
            <a:ext cx="512064" cy="5120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5486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FFFFFF"/>
                </a:solidFill>
              </a:rPr>
              <a:t>مفتاح الإجابات (للمعلم)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48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100" dirty="0">
                <a:solidFill>
                  <a:srgbClr val="FFFFFF"/>
                </a:solidFill>
              </a:rPr>
              <a:t>لا يُوزَّع على الطلاب</a:t>
            </a:r>
            <a:endParaRPr lang="ar-LB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6281928" cy="1115568"/>
          </a:xfrm>
          <a:prstGeom prst="roundRect">
            <a:avLst>
              <a:gd name="adj" fmla="val 8197"/>
            </a:avLst>
          </a:prstGeom>
          <a:solidFill>
            <a:srgbClr val="0F8B8D">
              <a:alpha val="10000"/>
            </a:srgbClr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399032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0F8B8D"/>
                </a:solidFill>
              </a:rPr>
              <a:t>بطاقة 1: الاستكشاف</a:t>
            </a:r>
            <a:endParaRPr lang="ar-LB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41848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الجدول:</a:t>
            </a:r>
            <a:endParaRPr lang="ar-LB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73736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16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32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41848" y="20665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الأسئلة:</a:t>
            </a:r>
            <a:endParaRPr lang="ar-LB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06654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5 = 10 ≠ 32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1024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2606040"/>
            <a:ext cx="6281928" cy="1115568"/>
          </a:xfrm>
          <a:prstGeom prst="roundRect">
            <a:avLst>
              <a:gd name="adj" fmla="val 8197"/>
            </a:avLst>
          </a:prstGeom>
          <a:solidFill>
            <a:srgbClr val="E36414">
              <a:alpha val="10000"/>
            </a:srgbClr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679192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E36414"/>
                </a:solidFill>
              </a:rPr>
              <a:t>بطاقة 2: التطبيق الفردي</a:t>
            </a:r>
            <a:endParaRPr lang="ar-LB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641848" y="30175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1 إلى 3:</a:t>
            </a:r>
            <a:endParaRPr lang="ar-LB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01752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 , 4 × 3 = 12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641848" y="3346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4 إلى 7:</a:t>
            </a:r>
            <a:endParaRPr lang="ar-LB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4670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a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 ;  4 , 5 ;  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3886200"/>
            <a:ext cx="6281928" cy="1444752"/>
          </a:xfrm>
          <a:prstGeom prst="roundRect">
            <a:avLst>
              <a:gd name="adj" fmla="val 6329"/>
            </a:avLst>
          </a:prstGeom>
          <a:solidFill>
            <a:srgbClr val="2E9E5B">
              <a:alpha val="10000"/>
            </a:srgbClr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59352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2E9E5B"/>
                </a:solidFill>
              </a:rPr>
              <a:t>المجموعة الخضراء</a:t>
            </a:r>
            <a:endParaRPr lang="ar-LB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41848" y="4297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القوى:</a:t>
            </a:r>
            <a:endParaRPr lang="ar-LB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29768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81 ;  5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125 ; 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 ; 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641848" y="46268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الضرب:</a:t>
            </a:r>
            <a:endParaRPr lang="ar-LB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62686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+ 3 + 3 + 3 = 4 × 3 = 12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41848" y="49560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المهمة 2:</a:t>
            </a:r>
            <a:endParaRPr lang="ar-LB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95604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16 ; 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81 ; 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1 000 000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5495544"/>
            <a:ext cx="6281928" cy="1444752"/>
          </a:xfrm>
          <a:prstGeom prst="roundRect">
            <a:avLst>
              <a:gd name="adj" fmla="val 6329"/>
            </a:avLst>
          </a:prstGeom>
          <a:solidFill>
            <a:srgbClr val="2671B8">
              <a:alpha val="10000"/>
            </a:srgbClr>
          </a:solidFill>
          <a:ln w="12700">
            <a:solidFill>
              <a:srgbClr val="2671B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5568696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2671B8"/>
                </a:solidFill>
              </a:rPr>
              <a:t>المجموعة الزرقاء</a:t>
            </a:r>
            <a:endParaRPr lang="ar-LB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641848" y="59070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المهمة 1:</a:t>
            </a:r>
            <a:endParaRPr lang="ar-LB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90702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256 ; 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100 000 000 ; 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729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641848" y="62362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المهمة 2:</a:t>
            </a:r>
            <a:endParaRPr lang="ar-LB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623620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(✗) ;  6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36 (✗) ;  a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(✓)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641848" y="65653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المسألة:</a:t>
            </a:r>
            <a:endParaRPr lang="ar-LB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777240" y="656539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10 000 m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(4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" y="7104888"/>
            <a:ext cx="6281928" cy="1444752"/>
          </a:xfrm>
          <a:prstGeom prst="roundRect">
            <a:avLst>
              <a:gd name="adj" fmla="val 6329"/>
            </a:avLst>
          </a:prstGeom>
          <a:solidFill>
            <a:srgbClr val="7B3FA0">
              <a:alpha val="10000"/>
            </a:srgbClr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7240" y="7178040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7B3FA0"/>
                </a:solidFill>
              </a:rPr>
              <a:t>المجموعة البنفسجية</a:t>
            </a:r>
            <a:endParaRPr lang="ar-LB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41848" y="75163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المهمة 1:</a:t>
            </a:r>
            <a:endParaRPr lang="ar-LB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7516368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;  3 ;  (x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(x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(x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(x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641848" y="78455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المهمتان 2 و3:</a:t>
            </a:r>
            <a:endParaRPr lang="ar-LB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777240" y="784555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(3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729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5641848" y="81747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المهمة 4:</a:t>
            </a:r>
            <a:endParaRPr lang="ar-LB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77240" y="8174736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64 cm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64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40080" y="8714232"/>
            <a:ext cx="6281928" cy="1115568"/>
          </a:xfrm>
          <a:prstGeom prst="roundRect">
            <a:avLst>
              <a:gd name="adj" fmla="val 8197"/>
            </a:avLst>
          </a:prstGeom>
          <a:solidFill>
            <a:srgbClr val="0F4C5C">
              <a:alpha val="10000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7240" y="8787384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rgbClr val="0F4C5C"/>
                </a:solidFill>
              </a:rPr>
              <a:t>بطاقة التقييم</a:t>
            </a:r>
            <a:endParaRPr lang="ar-LB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641848" y="91257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1 إلى 3:</a:t>
            </a:r>
            <a:endParaRPr lang="ar-LB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777240" y="912571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216 , 6 × 3 = 18 ;  8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 5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b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5641848" y="945489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150" b="1" dirty="0">
                <a:solidFill>
                  <a:srgbClr val="1B262C"/>
                </a:solidFill>
              </a:rPr>
              <a:t>4 و5:</a:t>
            </a:r>
            <a:endParaRPr lang="ar-LB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777240" y="9454896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256 ;  10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5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1 000 000 cm</a:t>
            </a:r>
            <a:r>
              <a:rPr lang="en-US" sz="1150" baseline="30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s Lesson">
  <a:themeElements>
    <a:clrScheme name="Powers Lesson">
      <a:dk1>
        <a:srgbClr val="1B262C"/>
      </a:dk1>
      <a:lt1>
        <a:srgbClr val="FFFFFF"/>
      </a:lt1>
      <a:dk2>
        <a:srgbClr val="0F4C5C"/>
      </a:dk2>
      <a:lt2>
        <a:srgbClr val="EAF4F4"/>
      </a:lt2>
      <a:accent1>
        <a:srgbClr val="E36414"/>
      </a:accent1>
      <a:accent2>
        <a:srgbClr val="0F8B8D"/>
      </a:accent2>
      <a:accent3>
        <a:srgbClr val="2E9E5B"/>
      </a:accent3>
      <a:accent4>
        <a:srgbClr val="2671B8"/>
      </a:accent4>
      <a:accent5>
        <a:srgbClr val="7B3FA0"/>
      </a:accent5>
      <a:accent6>
        <a:srgbClr val="E9A23B"/>
      </a:accent6>
      <a:hlink>
        <a:srgbClr val="2671B8"/>
      </a:hlink>
      <a:folHlink>
        <a:srgbClr val="7B3FA0"/>
      </a:folHlink>
    </a:clrScheme>
    <a:fontScheme name="Powers Less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بطاقات نشاط: القوى وقوة القوة</dc:title>
  <dc:subject>PptxGenJS Presentation</dc:subject>
  <dc:creator>PptxGenJS</dc:creator>
  <cp:lastModifiedBy>PptxGenJS</cp:lastModifiedBy>
  <cp:revision>1</cp:revision>
  <dcterms:created xsi:type="dcterms:W3CDTF">2026-10-11T08:44:33Z</dcterms:created>
  <dcterms:modified xsi:type="dcterms:W3CDTF">2026-10-11T08:44:33Z</dcterms:modified>
</cp:coreProperties>
</file>