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bb8ba80d-63aa-8997-7274-8a8dbcc719ea}">
          <p14:sldIdLst>
            <p14:sldId id="256"/>
            <p14:sldId id="257"/>
          </p14:sldIdLst>
        </p14:section>
        <p14:section name="الدروس" id="{f5a26b01-1468-cff3-0bf3-57b98c131947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المراجعة" id="{70d3a989-47b0-de1c-952b-ef82a1db3947}">
          <p14:sldIdLst>
            <p14:sldId id="264"/>
            <p14:sldId id="265"/>
            <p14:sldId id="266"/>
          </p14:sldIdLst>
        </p14:section>
        <p14:section name="الخاتمة" id="{b24f7cc0-8011-61fb-19ca-d2b54a906f9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 كامنة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أعلى</c:v>
                  </c:pt>
                  <c:pt idx="1">
                    <c:v>منتصف</c:v>
                  </c:pt>
                  <c:pt idx="2">
                    <c:v>أسفل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 حركية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أعلى</c:v>
                  </c:pt>
                  <c:pt idx="1">
                    <c:v>منتصف</c:v>
                  </c:pt>
                  <c:pt idx="2">
                    <c:v>أسفل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25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E2E8F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مقدمة: سنتعرف اليوم على ستة مفاهيم مترابطة: الطاقة الحركية، الكامنة، الميكانيكية، الشغل، القدرة، والجاذبية.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الشغل هو طريقة نقل الطاقة إلى الجسم، فيكسب طاقة حركية أو كامنة، ومجموعهما هو الطاقة الميكانيكية. القدرة تقيس سرعة إنجاز الشغل، والجاذبية مسؤولة عن الوزن الذي يحدد الطاقة الكامنة.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الطاقة الحركية: هي الطاقة التي يملكها الجسم لأنه يتحرك. القانون: KE = ½ × m × v². مثال: كتلة 2 كغ وسرعة 3 م/ث ← KE = ½ × 2 × 3² = 9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الطاقة الكامنة: هي الطاقة المخزنة في الجسم بسبب ارتفاعه. القانون: PE = m × g × h. مثال: كتلة 2 كغ وارتفاع 5 م ← PE = 2 × 10 × 5 = 100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الطاقة الميكانيكية: هي مجموع الطاقة الحركية والطاقة الكامنة. القانون: ME = KE + PE. مثال: حركية 30 جول وكامنة 20 جول ← ME = 30 + 20 = 50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الشغل: يُبذل شغل عندما تحرك قوة جسماً لمسافة. القانون: W = F × d. مثال: قوة 10 نيوتن ومسافة 3 م ← W = 10 × 3 = 30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القدرة: هي سرعة إنجاز الشغل. القانون: P = W ÷ t. مثال: شغل 100 جول خلال 5 ث ← P = 100 ÷ 5 = 20 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قوة الجاذبية: الجاذبية قوة تجذب الأجسام نحو الأرض. القانون: W = m × g. مثال: كتلة جسم 5 كغ ← W = 5 × 10 = 50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الحل أولاً قبل عرض الأجوبة.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3383280" cy="3383280"/>
          </a:xfrm>
          <a:prstGeom prst="ellipse">
            <a:avLst/>
          </a:prstGeom>
          <a:solidFill>
            <a:srgbClr val="FBBF24">
              <a:alpha val="8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234440"/>
            <a:ext cx="2651760" cy="265176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645920"/>
            <a:ext cx="1828800" cy="1828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05740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2801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80744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3280" y="9601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060704"/>
            <a:ext cx="256032" cy="2560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794760" y="237744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344" y="2478024"/>
            <a:ext cx="256032" cy="25603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337560" y="3749040"/>
            <a:ext cx="457200" cy="4572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3849624"/>
            <a:ext cx="256032" cy="25603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758184"/>
            <a:ext cx="256032" cy="25603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20040" y="242316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2523744"/>
            <a:ext cx="256032" cy="25603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57200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الفيزياء • الصف الثامن</a:t>
            </a:r>
            <a:endParaRPr lang="ar-SA" sz="1400" dirty="0"/>
          </a:p>
        </p:txBody>
      </p:sp>
      <p:sp>
        <p:nvSpPr>
          <p:cNvPr id="19" name="Text 10"/>
          <p:cNvSpPr txBox="1"/>
          <p:nvPr/>
        </p:nvSpPr>
        <p:spPr>
          <a:xfrm>
            <a:off x="4343400" y="1005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والشغل</a:t>
            </a:r>
            <a:endParaRPr lang="ar-SA" sz="4200" dirty="0"/>
          </a:p>
        </p:txBody>
      </p:sp>
      <p:sp>
        <p:nvSpPr>
          <p:cNvPr id="20" name="Text 11"/>
          <p:cNvSpPr txBox="1"/>
          <p:nvPr/>
        </p:nvSpPr>
        <p:spPr>
          <a:xfrm>
            <a:off x="438912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افهم، احسب، وطبّق في حياتك اليومية</a:t>
            </a:r>
            <a:endParaRPr lang="ar-SA" sz="1800" dirty="0"/>
          </a:p>
        </p:txBody>
      </p:sp>
      <p:sp>
        <p:nvSpPr>
          <p:cNvPr id="21" name="Shape 12"/>
          <p:cNvSpPr/>
          <p:nvPr/>
        </p:nvSpPr>
        <p:spPr>
          <a:xfrm>
            <a:off x="6675120" y="26974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1E40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8321040" y="2761488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3460" y="2833908"/>
            <a:ext cx="184343" cy="18434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748272" y="269748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الحركية</a:t>
            </a:r>
            <a:endParaRPr lang="ar-SA" sz="1300" dirty="0"/>
          </a:p>
        </p:txBody>
      </p:sp>
      <p:sp>
        <p:nvSpPr>
          <p:cNvPr id="25" name="Shape 15"/>
          <p:cNvSpPr/>
          <p:nvPr/>
        </p:nvSpPr>
        <p:spPr>
          <a:xfrm>
            <a:off x="4480560" y="26974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1E40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6126480" y="2761488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8900" y="2833908"/>
            <a:ext cx="184343" cy="184343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553712" y="269748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الكامنة</a:t>
            </a:r>
            <a:endParaRPr lang="ar-SA" sz="1300" dirty="0"/>
          </a:p>
        </p:txBody>
      </p:sp>
      <p:sp>
        <p:nvSpPr>
          <p:cNvPr id="29" name="Shape 18"/>
          <p:cNvSpPr/>
          <p:nvPr/>
        </p:nvSpPr>
        <p:spPr>
          <a:xfrm>
            <a:off x="6675120" y="3264408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1E40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8321040" y="3328416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3460" y="3400836"/>
            <a:ext cx="184343" cy="184343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6748272" y="32644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الميكانيكية</a:t>
            </a:r>
            <a:endParaRPr lang="ar-SA" sz="1300" dirty="0"/>
          </a:p>
        </p:txBody>
      </p:sp>
      <p:sp>
        <p:nvSpPr>
          <p:cNvPr id="33" name="Shape 21"/>
          <p:cNvSpPr/>
          <p:nvPr/>
        </p:nvSpPr>
        <p:spPr>
          <a:xfrm>
            <a:off x="4480560" y="3264408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1E40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6126480" y="3328416"/>
            <a:ext cx="329184" cy="32918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8900" y="3400836"/>
            <a:ext cx="184343" cy="184343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553712" y="32644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</a:t>
            </a:r>
            <a:endParaRPr lang="ar-SA" sz="1300" dirty="0"/>
          </a:p>
        </p:txBody>
      </p:sp>
      <p:sp>
        <p:nvSpPr>
          <p:cNvPr id="37" name="Shape 24"/>
          <p:cNvSpPr/>
          <p:nvPr/>
        </p:nvSpPr>
        <p:spPr>
          <a:xfrm>
            <a:off x="6675120" y="3831336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1E40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8321040" y="3895344"/>
            <a:ext cx="329184" cy="32918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3460" y="3967764"/>
            <a:ext cx="184343" cy="184343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6748272" y="383133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</a:t>
            </a:r>
            <a:endParaRPr lang="ar-SA" sz="1300" dirty="0"/>
          </a:p>
        </p:txBody>
      </p:sp>
      <p:sp>
        <p:nvSpPr>
          <p:cNvPr id="41" name="Shape 27"/>
          <p:cNvSpPr/>
          <p:nvPr/>
        </p:nvSpPr>
        <p:spPr>
          <a:xfrm>
            <a:off x="4480560" y="3831336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1E40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6126480" y="3895344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8900" y="3967764"/>
            <a:ext cx="184343" cy="184343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553712" y="3831336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قوة الجاذبية</a:t>
            </a:r>
            <a:endParaRPr lang="ar-SA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743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المفاهيم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80467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ترتبط المفاهيم الستة ببعضها؟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537960" y="2331720"/>
            <a:ext cx="2194560" cy="749808"/>
          </a:xfrm>
          <a:prstGeom prst="roundRect">
            <a:avLst>
              <a:gd name="adj" fmla="val 17073"/>
            </a:avLst>
          </a:prstGeom>
          <a:solidFill>
            <a:srgbClr val="161E40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83880" y="2468880"/>
            <a:ext cx="475488" cy="47548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487" y="2573487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11112" y="24048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</a:t>
            </a:r>
            <a:endParaRPr lang="ar-SA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11112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F × 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37960" y="1280160"/>
            <a:ext cx="2194560" cy="749808"/>
          </a:xfrm>
          <a:prstGeom prst="roundRect">
            <a:avLst>
              <a:gd name="adj" fmla="val 17073"/>
            </a:avLst>
          </a:prstGeom>
          <a:solidFill>
            <a:srgbClr val="161E40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183880" y="1417320"/>
            <a:ext cx="475488" cy="47548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487" y="152192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11112" y="13533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</a:t>
            </a:r>
            <a:endParaRPr lang="ar-SA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611112" y="1691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W ÷ 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537960" y="3611880"/>
            <a:ext cx="2194560" cy="749808"/>
          </a:xfrm>
          <a:prstGeom prst="roundRect">
            <a:avLst>
              <a:gd name="adj" fmla="val 17073"/>
            </a:avLst>
          </a:prstGeom>
          <a:solidFill>
            <a:srgbClr val="161E40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3749040"/>
            <a:ext cx="475488" cy="47548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87" y="385364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11112" y="36850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قوة الجاذبية</a:t>
            </a:r>
            <a:endParaRPr lang="ar-SA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11112" y="4023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m × 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474720" y="1600200"/>
            <a:ext cx="2194560" cy="749808"/>
          </a:xfrm>
          <a:prstGeom prst="roundRect">
            <a:avLst>
              <a:gd name="adj" fmla="val 17073"/>
            </a:avLst>
          </a:prstGeom>
          <a:solidFill>
            <a:srgbClr val="161E4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20640" y="1737360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247" y="184196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547872" y="1673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الحركية</a:t>
            </a:r>
            <a:endParaRPr lang="ar-SA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3547872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= ½ × m × v²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474720" y="3063240"/>
            <a:ext cx="2194560" cy="749808"/>
          </a:xfrm>
          <a:prstGeom prst="roundRect">
            <a:avLst>
              <a:gd name="adj" fmla="val 17073"/>
            </a:avLst>
          </a:prstGeom>
          <a:solidFill>
            <a:srgbClr val="161E40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120640" y="3200400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247" y="3305007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547872" y="31363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الكامنة</a:t>
            </a:r>
            <a:endParaRPr lang="ar-SA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547872" y="3474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= m × g × h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11480" y="2331720"/>
            <a:ext cx="2194560" cy="749808"/>
          </a:xfrm>
          <a:prstGeom prst="roundRect">
            <a:avLst>
              <a:gd name="adj" fmla="val 17073"/>
            </a:avLst>
          </a:prstGeom>
          <a:solidFill>
            <a:srgbClr val="161E40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057400" y="2468880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2007" y="2573487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84632" y="240487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الميكانيكية</a:t>
            </a:r>
            <a:endParaRPr lang="ar-SA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84632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= KE + PE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 flipV="1">
            <a:off x="7680960" y="2057400"/>
            <a:ext cx="914" cy="274320"/>
          </a:xfrm>
          <a:prstGeom prst="line">
            <a:avLst/>
          </a:prstGeom>
          <a:noFill/>
          <a:ln w="22225">
            <a:solidFill>
              <a:srgbClr val="A5B1CC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 flipH="1" flipV="1">
            <a:off x="5669280" y="2011680"/>
            <a:ext cx="868680" cy="594360"/>
          </a:xfrm>
          <a:prstGeom prst="line">
            <a:avLst/>
          </a:prstGeom>
          <a:noFill/>
          <a:ln w="22225">
            <a:solidFill>
              <a:srgbClr val="A5B1CC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 flipH="1">
            <a:off x="5669280" y="2834640"/>
            <a:ext cx="868680" cy="548640"/>
          </a:xfrm>
          <a:prstGeom prst="line">
            <a:avLst/>
          </a:prstGeom>
          <a:noFill/>
          <a:ln w="22225">
            <a:solidFill>
              <a:srgbClr val="A5B1CC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 flipH="1" flipV="1">
            <a:off x="5669280" y="3611880"/>
            <a:ext cx="868680" cy="365760"/>
          </a:xfrm>
          <a:prstGeom prst="line">
            <a:avLst/>
          </a:prstGeom>
          <a:noFill/>
          <a:ln w="22225">
            <a:solidFill>
              <a:srgbClr val="A5B1CC"/>
            </a:solidFill>
            <a:prstDash val="dash"/>
            <a:tailEnd type="triangle"/>
          </a:ln>
        </p:spPr>
      </p:sp>
      <p:sp>
        <p:nvSpPr>
          <p:cNvPr id="38" name="Shape 30"/>
          <p:cNvSpPr/>
          <p:nvPr/>
        </p:nvSpPr>
        <p:spPr>
          <a:xfrm flipH="1">
            <a:off x="2606040" y="2011680"/>
            <a:ext cx="868680" cy="594360"/>
          </a:xfrm>
          <a:prstGeom prst="line">
            <a:avLst/>
          </a:prstGeom>
          <a:noFill/>
          <a:ln w="22225">
            <a:solidFill>
              <a:srgbClr val="A5B1CC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 flipH="1" flipV="1">
            <a:off x="2606040" y="2834640"/>
            <a:ext cx="868680" cy="594360"/>
          </a:xfrm>
          <a:prstGeom prst="line">
            <a:avLst/>
          </a:prstGeom>
          <a:noFill/>
          <a:ln w="22225">
            <a:solidFill>
              <a:srgbClr val="A5B1CC"/>
            </a:solidFill>
            <a:prstDash val="solid"/>
            <a:tailEnd type="triangle"/>
          </a:ln>
        </p:spPr>
      </p:sp>
      <p:sp>
        <p:nvSpPr>
          <p:cNvPr id="40" name="Text 32"/>
          <p:cNvSpPr txBox="1"/>
          <p:nvPr/>
        </p:nvSpPr>
        <p:spPr>
          <a:xfrm>
            <a:off x="7772400" y="2057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يُنجز بسرعة</a:t>
            </a:r>
            <a:endParaRPr lang="ar-SA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66928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ينقل الطاقة</a:t>
            </a:r>
            <a:endParaRPr lang="ar-SA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5257800" y="4041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الوزن يرفع الكامنة</a:t>
            </a:r>
            <a:endParaRPr lang="ar-SA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2560320" y="25786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مجموعهما</a:t>
            </a:r>
            <a:endParaRPr lang="ar-SA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32918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تتحول الكامنة إلى حركية والعكس</a:t>
            </a:r>
            <a:endParaRPr lang="ar-SA" sz="1100" dirty="0"/>
          </a:p>
        </p:txBody>
      </p:sp>
      <p:sp>
        <p:nvSpPr>
          <p:cNvPr id="45" name="Shape 37"/>
          <p:cNvSpPr/>
          <p:nvPr/>
        </p:nvSpPr>
        <p:spPr>
          <a:xfrm>
            <a:off x="3886200" y="2395728"/>
            <a:ext cx="914" cy="621792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2608"/>
            <a:ext cx="566928" cy="5669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46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الحركية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704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1 من 6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2130552" y="475488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475488"/>
            <a:ext cx="128016" cy="12801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475488"/>
            <a:ext cx="128016" cy="128016"/>
          </a:xfrm>
          <a:prstGeom prst="ellipse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475488"/>
            <a:ext cx="128016" cy="128016"/>
          </a:xfrm>
          <a:prstGeom prst="ellipse">
            <a:avLst/>
          </a:prstGeom>
          <a:solidFill>
            <a:srgbClr val="FB7185">
              <a:alpha val="40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475488"/>
            <a:ext cx="128016" cy="128016"/>
          </a:xfrm>
          <a:prstGeom prst="ellipse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75488"/>
            <a:ext cx="128016" cy="128016"/>
          </a:xfrm>
          <a:prstGeom prst="ellips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43000"/>
            <a:ext cx="4206240" cy="914400"/>
          </a:xfrm>
          <a:prstGeom prst="roundRect">
            <a:avLst>
              <a:gd name="adj" fmla="val 14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 الطاقة التي يملكها الجسم لأنه يتحرك.</a:t>
            </a:r>
            <a:endParaRPr lang="ar-SA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24028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زادت السرعة أو الكتلة زادت الطاقة الحركية.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62432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الجسم الساكن طاقته الحركية صفر.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206240" cy="749808"/>
          </a:xfrm>
          <a:prstGeom prst="roundRect">
            <a:avLst>
              <a:gd name="adj" fmla="val 17073"/>
            </a:avLst>
          </a:prstGeom>
          <a:solidFill>
            <a:srgbClr val="1E2852"/>
          </a:solidFill>
          <a:ln w="12700">
            <a:solidFill>
              <a:srgbClr val="1E28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3072384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9125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09160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كتلة 2 كغ وسرعة 3 م/ث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= ½ × 2 × 3² = 9 J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" y="1143000"/>
            <a:ext cx="3931920" cy="1645920"/>
          </a:xfrm>
          <a:prstGeom prst="roundRect">
            <a:avLst>
              <a:gd name="adj" fmla="val 7778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63040"/>
            <a:ext cx="1371600" cy="100584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" y="1691640"/>
            <a:ext cx="548640" cy="914"/>
          </a:xfrm>
          <a:prstGeom prst="line">
            <a:avLst/>
          </a:prstGeom>
          <a:noFill/>
          <a:ln w="25400">
            <a:solidFill>
              <a:srgbClr val="A5B1CC">
                <a:alpha val="7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960" y="1874520"/>
            <a:ext cx="457200" cy="914"/>
          </a:xfrm>
          <a:prstGeom prst="line">
            <a:avLst/>
          </a:prstGeom>
          <a:noFill/>
          <a:ln w="25400">
            <a:solidFill>
              <a:srgbClr val="A5B1CC">
                <a:alpha val="70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4400" y="2057400"/>
            <a:ext cx="365760" cy="914"/>
          </a:xfrm>
          <a:prstGeom prst="line">
            <a:avLst/>
          </a:prstGeom>
          <a:noFill/>
          <a:ln w="25400">
            <a:solidFill>
              <a:srgbClr val="A5B1CC">
                <a:alpha val="7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017520" y="1920240"/>
            <a:ext cx="1005840" cy="914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3337560" y="1581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685800" y="2514600"/>
            <a:ext cx="3383280" cy="914"/>
          </a:xfrm>
          <a:prstGeom prst="line">
            <a:avLst/>
          </a:prstGeom>
          <a:noFill/>
          <a:ln w="31750">
            <a:solidFill>
              <a:srgbClr val="2C376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5800" y="2532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كتلة m تتحرك بسرعة v</a:t>
            </a:r>
            <a:endParaRPr lang="ar-SA" sz="1000" dirty="0"/>
          </a:p>
        </p:txBody>
      </p:sp>
      <p:sp>
        <p:nvSpPr>
          <p:cNvPr id="33" name="Shape 29"/>
          <p:cNvSpPr/>
          <p:nvPr/>
        </p:nvSpPr>
        <p:spPr>
          <a:xfrm>
            <a:off x="411480" y="2926080"/>
            <a:ext cx="3931920" cy="749808"/>
          </a:xfrm>
          <a:prstGeom prst="roundRect">
            <a:avLst>
              <a:gd name="adj" fmla="val 1707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41148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= ½ × m × v²</a:t>
            </a:r>
            <a:endParaRPr lang="en-US" sz="26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الكتلة m بالكغ • السرعة v بالم/ث • الوحدة: جول</a:t>
            </a:r>
            <a:endParaRPr lang="ar-SA" sz="1000" dirty="0"/>
          </a:p>
        </p:txBody>
      </p:sp>
      <p:sp>
        <p:nvSpPr>
          <p:cNvPr id="36" name="Shape 32"/>
          <p:cNvSpPr/>
          <p:nvPr/>
        </p:nvSpPr>
        <p:spPr>
          <a:xfrm>
            <a:off x="411480" y="3858768"/>
            <a:ext cx="8321040" cy="777240"/>
          </a:xfrm>
          <a:prstGeom prst="roundRect">
            <a:avLst>
              <a:gd name="adj" fmla="val 16471"/>
            </a:avLst>
          </a:prstGeom>
          <a:solidFill>
            <a:srgbClr val="161E40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119872" y="3995928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514" y="4106570"/>
            <a:ext cx="281635" cy="28163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858000" y="38587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الحياة</a:t>
            </a:r>
            <a:endParaRPr lang="ar-SA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640080" y="38587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السيارة السريعة تحتاج مسافة أطول لتتوقف، لذلك نلتزم بحدود السرعة.</a:t>
            </a:r>
            <a:endParaRPr lang="ar-SA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2608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46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الكامنة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704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2 من 6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475488"/>
            <a:ext cx="128016" cy="128016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37944" y="475488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475488"/>
            <a:ext cx="128016" cy="128016"/>
          </a:xfrm>
          <a:prstGeom prst="ellipse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475488"/>
            <a:ext cx="128016" cy="128016"/>
          </a:xfrm>
          <a:prstGeom prst="ellipse">
            <a:avLst/>
          </a:prstGeom>
          <a:solidFill>
            <a:srgbClr val="FB7185">
              <a:alpha val="40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475488"/>
            <a:ext cx="128016" cy="128016"/>
          </a:xfrm>
          <a:prstGeom prst="ellipse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75488"/>
            <a:ext cx="128016" cy="128016"/>
          </a:xfrm>
          <a:prstGeom prst="ellips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43000"/>
            <a:ext cx="4206240" cy="914400"/>
          </a:xfrm>
          <a:prstGeom prst="roundRect">
            <a:avLst>
              <a:gd name="adj" fmla="val 14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 الطاقة المخزنة في الجسم بسبب ارتفاعه.</a:t>
            </a:r>
            <a:endParaRPr lang="ar-SA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24028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زاد الارتفاع زادت الطاقة الكامنة.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62432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سقوط الجسم تتحول إلى طاقة حركية.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206240" cy="749808"/>
          </a:xfrm>
          <a:prstGeom prst="roundRect">
            <a:avLst>
              <a:gd name="adj" fmla="val 17073"/>
            </a:avLst>
          </a:prstGeom>
          <a:solidFill>
            <a:srgbClr val="1E2852"/>
          </a:solidFill>
          <a:ln w="12700">
            <a:solidFill>
              <a:srgbClr val="1E28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3072384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9125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09160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كتلة 2 كغ وارتفاع 5 م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= 2 × 10 × 5 = 100 J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" y="1143000"/>
            <a:ext cx="3931920" cy="1645920"/>
          </a:xfrm>
          <a:prstGeom prst="roundRect">
            <a:avLst>
              <a:gd name="adj" fmla="val 7778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77240" y="2514600"/>
            <a:ext cx="3200400" cy="914"/>
          </a:xfrm>
          <a:prstGeom prst="line">
            <a:avLst/>
          </a:prstGeom>
          <a:noFill/>
          <a:ln w="31750">
            <a:solidFill>
              <a:srgbClr val="2C376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91640" y="130759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9164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691640" y="2057400"/>
            <a:ext cx="457200" cy="4572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1920240" y="1801368"/>
            <a:ext cx="914" cy="219456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606040" y="1344168"/>
            <a:ext cx="914" cy="1133856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  <a:headEnd type="triangle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2697480" y="17373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306324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ارتفع زادت طاقته المخزنة</a:t>
            </a:r>
            <a:endParaRPr lang="ar-SA" sz="1000" dirty="0"/>
          </a:p>
        </p:txBody>
      </p:sp>
      <p:sp>
        <p:nvSpPr>
          <p:cNvPr id="33" name="Shape 30"/>
          <p:cNvSpPr/>
          <p:nvPr/>
        </p:nvSpPr>
        <p:spPr>
          <a:xfrm>
            <a:off x="411480" y="2926080"/>
            <a:ext cx="3931920" cy="749808"/>
          </a:xfrm>
          <a:prstGeom prst="roundRect">
            <a:avLst>
              <a:gd name="adj" fmla="val 17073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41148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= m × g × h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≈ 10 • الارتفاع h بالمتر • الوحدة: جول</a:t>
            </a:r>
            <a:endParaRPr lang="ar-SA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3858768"/>
            <a:ext cx="8321040" cy="777240"/>
          </a:xfrm>
          <a:prstGeom prst="roundRect">
            <a:avLst>
              <a:gd name="adj" fmla="val 16471"/>
            </a:avLst>
          </a:prstGeom>
          <a:solidFill>
            <a:srgbClr val="161E40"/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119872" y="3995928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514" y="4106570"/>
            <a:ext cx="281635" cy="281635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858000" y="38587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الحياة</a:t>
            </a:r>
            <a:endParaRPr lang="ar-SA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640080" y="38587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الماء المحجوز خلف السدّ يملك طاقة كامنة تتحول إلى كهرباء.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2608"/>
            <a:ext cx="566928" cy="5669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46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الميكانيكية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704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3 من 6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475488"/>
            <a:ext cx="128016" cy="128016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475488"/>
            <a:ext cx="128016" cy="12801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475488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475488"/>
            <a:ext cx="128016" cy="128016"/>
          </a:xfrm>
          <a:prstGeom prst="ellipse">
            <a:avLst/>
          </a:prstGeom>
          <a:solidFill>
            <a:srgbClr val="FB7185">
              <a:alpha val="40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475488"/>
            <a:ext cx="128016" cy="128016"/>
          </a:xfrm>
          <a:prstGeom prst="ellipse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75488"/>
            <a:ext cx="128016" cy="128016"/>
          </a:xfrm>
          <a:prstGeom prst="ellips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43000"/>
            <a:ext cx="4206240" cy="914400"/>
          </a:xfrm>
          <a:prstGeom prst="roundRect">
            <a:avLst>
              <a:gd name="adj" fmla="val 14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 مجموع الطاقة الحركية والطاقة الكامنة.</a:t>
            </a:r>
            <a:endParaRPr lang="ar-SA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240280"/>
            <a:ext cx="164592" cy="16459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أثناء الحركة تتحول الطاقة من شكل إلى آخر.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624328"/>
            <a:ext cx="164592" cy="16459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احتكاك تبقى الطاقة الميكانيكية ثابتة.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206240" cy="749808"/>
          </a:xfrm>
          <a:prstGeom prst="roundRect">
            <a:avLst>
              <a:gd name="adj" fmla="val 17073"/>
            </a:avLst>
          </a:prstGeom>
          <a:solidFill>
            <a:srgbClr val="1E2852"/>
          </a:solidFill>
          <a:ln w="12700">
            <a:solidFill>
              <a:srgbClr val="1E28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3072384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9125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09160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حركية 30 جول وكامنة 20 جول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= 30 + 20 = 50 J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" y="1143000"/>
            <a:ext cx="3931920" cy="1645920"/>
          </a:xfrm>
          <a:prstGeom prst="roundRect">
            <a:avLst>
              <a:gd name="adj" fmla="val 7778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25" name="Chart 0" descr=""/>
          <p:cNvGraphicFramePr/>
          <p:nvPr/>
        </p:nvGraphicFramePr>
        <p:xfrm>
          <a:off x="548640" y="1216152"/>
          <a:ext cx="3657600" cy="14996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Shape 22"/>
          <p:cNvSpPr/>
          <p:nvPr/>
        </p:nvSpPr>
        <p:spPr>
          <a:xfrm>
            <a:off x="411480" y="2926080"/>
            <a:ext cx="3931920" cy="749808"/>
          </a:xfrm>
          <a:prstGeom prst="roundRect">
            <a:avLst>
              <a:gd name="adj" fmla="val 17073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41148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= KE + PE</a:t>
            </a:r>
            <a:endParaRPr lang="en-US" sz="26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الميكانيكية = الحركية + الكامنة</a:t>
            </a:r>
            <a:endParaRPr lang="ar-SA" sz="1000" dirty="0"/>
          </a:p>
        </p:txBody>
      </p:sp>
      <p:sp>
        <p:nvSpPr>
          <p:cNvPr id="29" name="Shape 25"/>
          <p:cNvSpPr/>
          <p:nvPr/>
        </p:nvSpPr>
        <p:spPr>
          <a:xfrm>
            <a:off x="411480" y="3858768"/>
            <a:ext cx="8321040" cy="777240"/>
          </a:xfrm>
          <a:prstGeom prst="roundRect">
            <a:avLst>
              <a:gd name="adj" fmla="val 16471"/>
            </a:avLst>
          </a:prstGeom>
          <a:solidFill>
            <a:srgbClr val="161E40"/>
          </a:solidFill>
          <a:ln w="12700">
            <a:solidFill>
              <a:srgbClr val="2DD4B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119872" y="3995928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514" y="4106570"/>
            <a:ext cx="281635" cy="28163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858000" y="38587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الحياة</a:t>
            </a:r>
            <a:endParaRPr lang="ar-SA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" y="38587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الأفعوانية: طاقة كامنة كبيرة في القمة، وحركية كبيرة في القاع.</a:t>
            </a:r>
            <a:endParaRPr lang="ar-SA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2608"/>
            <a:ext cx="566928" cy="5669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46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704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4 من 6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475488"/>
            <a:ext cx="128016" cy="128016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475488"/>
            <a:ext cx="128016" cy="12801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475488"/>
            <a:ext cx="128016" cy="128016"/>
          </a:xfrm>
          <a:prstGeom prst="ellipse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2728" y="475488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475488"/>
            <a:ext cx="128016" cy="128016"/>
          </a:xfrm>
          <a:prstGeom prst="ellipse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75488"/>
            <a:ext cx="128016" cy="128016"/>
          </a:xfrm>
          <a:prstGeom prst="ellips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43000"/>
            <a:ext cx="4206240" cy="914400"/>
          </a:xfrm>
          <a:prstGeom prst="roundRect">
            <a:avLst>
              <a:gd name="adj" fmla="val 14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يُبذل شغل عندما تحرك قوة جسماً لمسافة.</a:t>
            </a:r>
            <a:endParaRPr lang="ar-SA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240280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لم يتحرك الجسم فلا يوجد شغل.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624328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 زادت القوة أو المسافة زاد الشغل.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206240" cy="749808"/>
          </a:xfrm>
          <a:prstGeom prst="roundRect">
            <a:avLst>
              <a:gd name="adj" fmla="val 17073"/>
            </a:avLst>
          </a:prstGeom>
          <a:solidFill>
            <a:srgbClr val="1E2852"/>
          </a:solidFill>
          <a:ln w="12700">
            <a:solidFill>
              <a:srgbClr val="1E28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3072384"/>
            <a:ext cx="457200" cy="4572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9125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09160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قوة 10 نيوتن ومسافة 3 م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10 × 3 = 30 J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" y="1143000"/>
            <a:ext cx="3931920" cy="1645920"/>
          </a:xfrm>
          <a:prstGeom prst="roundRect">
            <a:avLst>
              <a:gd name="adj" fmla="val 7778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5800" y="2240280"/>
            <a:ext cx="3383280" cy="914"/>
          </a:xfrm>
          <a:prstGeom prst="line">
            <a:avLst/>
          </a:prstGeom>
          <a:noFill/>
          <a:ln w="31750">
            <a:solidFill>
              <a:srgbClr val="2C376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160020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54680" y="160020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FB7185">
              <a:alpha val="20000"/>
            </a:srgbClr>
          </a:solidFill>
          <a:ln w="12700">
            <a:solidFill>
              <a:srgbClr val="FB7185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1645920" y="1920240"/>
            <a:ext cx="1051560" cy="914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196596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234440" y="2468880"/>
            <a:ext cx="2286000" cy="914"/>
          </a:xfrm>
          <a:prstGeom prst="line">
            <a:avLst/>
          </a:prstGeom>
          <a:noFill/>
          <a:ln w="19050">
            <a:solidFill>
              <a:srgbClr val="A5B1CC"/>
            </a:solidFill>
            <a:prstDash val="solid"/>
            <a:headEnd type="triangle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219456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11480" y="2926080"/>
            <a:ext cx="3931920" cy="749808"/>
          </a:xfrm>
          <a:prstGeom prst="roundRect">
            <a:avLst>
              <a:gd name="adj" fmla="val 17073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41148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F × d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القوة F بالنيوتن • المسافة d بالمتر • الوحدة: جول</a:t>
            </a:r>
            <a:endParaRPr lang="ar-SA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3858768"/>
            <a:ext cx="8321040" cy="777240"/>
          </a:xfrm>
          <a:prstGeom prst="roundRect">
            <a:avLst>
              <a:gd name="adj" fmla="val 16471"/>
            </a:avLst>
          </a:prstGeom>
          <a:solidFill>
            <a:srgbClr val="161E40"/>
          </a:solidFill>
          <a:ln w="12700">
            <a:solidFill>
              <a:srgbClr val="FB718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119872" y="3995928"/>
            <a:ext cx="502920" cy="5029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514" y="4106570"/>
            <a:ext cx="281635" cy="281635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6858000" y="38587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الحياة</a:t>
            </a:r>
            <a:endParaRPr lang="ar-SA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640080" y="38587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صندوق أو دفع سيارة معطلة: قوة أكبر ومسافة أكبر = شغل أكبر.</a:t>
            </a:r>
            <a:endParaRPr lang="ar-SA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2608"/>
            <a:ext cx="566928" cy="5669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46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704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5 من 6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475488"/>
            <a:ext cx="128016" cy="128016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475488"/>
            <a:ext cx="128016" cy="12801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475488"/>
            <a:ext cx="128016" cy="128016"/>
          </a:xfrm>
          <a:prstGeom prst="ellipse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475488"/>
            <a:ext cx="128016" cy="128016"/>
          </a:xfrm>
          <a:prstGeom prst="ellipse">
            <a:avLst/>
          </a:prstGeom>
          <a:solidFill>
            <a:srgbClr val="FB7185">
              <a:alpha val="40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75488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75488"/>
            <a:ext cx="128016" cy="128016"/>
          </a:xfrm>
          <a:prstGeom prst="ellipse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43000"/>
            <a:ext cx="4206240" cy="914400"/>
          </a:xfrm>
          <a:prstGeom prst="roundRect">
            <a:avLst>
              <a:gd name="adj" fmla="val 14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 سرعة إنجاز الشغل.</a:t>
            </a:r>
            <a:endParaRPr lang="ar-SA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240280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 الأكبر تنجز نفس الشغل في زمن أقل.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624328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واط = 1 جول في كل ثانية.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206240" cy="749808"/>
          </a:xfrm>
          <a:prstGeom prst="roundRect">
            <a:avLst>
              <a:gd name="adj" fmla="val 17073"/>
            </a:avLst>
          </a:prstGeom>
          <a:solidFill>
            <a:srgbClr val="1E2852"/>
          </a:solidFill>
          <a:ln w="12700">
            <a:solidFill>
              <a:srgbClr val="1E28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3072384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9125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09160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شغل 100 جول خلال 5 ث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100 ÷ 5 = 20 W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" y="1143000"/>
            <a:ext cx="3931920" cy="1645920"/>
          </a:xfrm>
          <a:prstGeom prst="roundRect">
            <a:avLst>
              <a:gd name="adj" fmla="val 7778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94360" y="1216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الشغل W</a:t>
            </a:r>
            <a:endParaRPr lang="ar-SA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1581912"/>
            <a:ext cx="411480" cy="4114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1417320" y="1636776"/>
            <a:ext cx="2194560" cy="301752"/>
          </a:xfrm>
          <a:prstGeom prst="roundRect">
            <a:avLst>
              <a:gd name="adj" fmla="val 24242"/>
            </a:avLst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417320" y="163677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ث</a:t>
            </a:r>
            <a:endParaRPr lang="ar-SA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1636776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قدرة صغيرة</a:t>
            </a:r>
            <a:endParaRPr lang="ar-SA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148840"/>
            <a:ext cx="411480" cy="41148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2240280" y="2203704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240280" y="220370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ث</a:t>
            </a:r>
            <a:endParaRPr lang="ar-SA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220370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قدرة كبيرة</a:t>
            </a:r>
            <a:endParaRPr lang="ar-SA" sz="1100" dirty="0"/>
          </a:p>
        </p:txBody>
      </p:sp>
      <p:sp>
        <p:nvSpPr>
          <p:cNvPr id="34" name="Shape 29"/>
          <p:cNvSpPr/>
          <p:nvPr/>
        </p:nvSpPr>
        <p:spPr>
          <a:xfrm>
            <a:off x="411480" y="2926080"/>
            <a:ext cx="3931920" cy="749808"/>
          </a:xfrm>
          <a:prstGeom prst="roundRect">
            <a:avLst>
              <a:gd name="adj" fmla="val 17073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41148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W ÷ t</a:t>
            </a:r>
            <a:endParaRPr lang="en-US" sz="26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 W بالجول • الزمن t بالثانية • الوحدة: واط</a:t>
            </a:r>
            <a:endParaRPr lang="ar-SA" sz="1000" dirty="0"/>
          </a:p>
        </p:txBody>
      </p:sp>
      <p:sp>
        <p:nvSpPr>
          <p:cNvPr id="37" name="Shape 32"/>
          <p:cNvSpPr/>
          <p:nvPr/>
        </p:nvSpPr>
        <p:spPr>
          <a:xfrm>
            <a:off x="411480" y="3858768"/>
            <a:ext cx="8321040" cy="777240"/>
          </a:xfrm>
          <a:prstGeom prst="roundRect">
            <a:avLst>
              <a:gd name="adj" fmla="val 16471"/>
            </a:avLst>
          </a:prstGeom>
          <a:solidFill>
            <a:srgbClr val="161E40"/>
          </a:solidFill>
          <a:ln w="12700">
            <a:solidFill>
              <a:srgbClr val="FB923C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8119872" y="3995928"/>
            <a:ext cx="502920" cy="5029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514" y="4106570"/>
            <a:ext cx="281635" cy="28163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6858000" y="38587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الحياة</a:t>
            </a:r>
            <a:endParaRPr lang="ar-SA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640080" y="38587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مصباح 100 واط يستهلك الطاقة أسرع من مصباح LED بقدرة 10 واط.</a:t>
            </a:r>
            <a:endParaRPr lang="ar-SA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92608"/>
            <a:ext cx="566928" cy="5669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838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46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قوة الجاذبية</a:t>
            </a:r>
            <a:endParaRPr lang="ar-SA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704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6 من 6</a:t>
            </a:r>
            <a:endParaRPr lang="ar-SA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475488"/>
            <a:ext cx="128016" cy="128016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475488"/>
            <a:ext cx="128016" cy="12801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475488"/>
            <a:ext cx="128016" cy="128016"/>
          </a:xfrm>
          <a:prstGeom prst="ellipse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475488"/>
            <a:ext cx="128016" cy="128016"/>
          </a:xfrm>
          <a:prstGeom prst="ellipse">
            <a:avLst/>
          </a:prstGeom>
          <a:solidFill>
            <a:srgbClr val="FB7185">
              <a:alpha val="40000"/>
            </a:srgbClr>
          </a:solidFill>
          <a:ln w="12700">
            <a:solidFill>
              <a:srgbClr val="FB71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475488"/>
            <a:ext cx="128016" cy="128016"/>
          </a:xfrm>
          <a:prstGeom prst="ellipse">
            <a:avLst/>
          </a:prstGeom>
          <a:solidFill>
            <a:srgbClr val="FB923C">
              <a:alpha val="40000"/>
            </a:srgbClr>
          </a:solidFill>
          <a:ln w="1270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475488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143000"/>
            <a:ext cx="4206240" cy="914400"/>
          </a:xfrm>
          <a:prstGeom prst="roundRect">
            <a:avLst>
              <a:gd name="adj" fmla="val 14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</a:t>
            </a:r>
            <a:endParaRPr lang="ar-SA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الجاذبية قوة تجذب الأجسام نحو الأرض.</a:t>
            </a:r>
            <a:endParaRPr lang="ar-SA" sz="1500" dirty="0"/>
          </a:p>
        </p:txBody>
      </p:sp>
      <p:sp>
        <p:nvSpPr>
          <p:cNvPr id="15" name="Shape 13"/>
          <p:cNvSpPr/>
          <p:nvPr/>
        </p:nvSpPr>
        <p:spPr>
          <a:xfrm>
            <a:off x="8458200" y="2240280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148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بسببها تسقط الأجسام ولا نطير في الهواء.</a:t>
            </a:r>
            <a:endParaRPr lang="ar-SA" sz="1400" dirty="0"/>
          </a:p>
        </p:txBody>
      </p:sp>
      <p:sp>
        <p:nvSpPr>
          <p:cNvPr id="17" name="Shape 15"/>
          <p:cNvSpPr/>
          <p:nvPr/>
        </p:nvSpPr>
        <p:spPr>
          <a:xfrm>
            <a:off x="8458200" y="2624328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الجسم هو قوة جذب الأرض له.</a:t>
            </a:r>
            <a:endParaRPr lang="ar-SA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26080"/>
            <a:ext cx="4206240" cy="749808"/>
          </a:xfrm>
          <a:prstGeom prst="roundRect">
            <a:avLst>
              <a:gd name="adj" fmla="val 17073"/>
            </a:avLst>
          </a:prstGeom>
          <a:solidFill>
            <a:srgbClr val="1E2852"/>
          </a:solidFill>
          <a:ln w="12700">
            <a:solidFill>
              <a:srgbClr val="1E28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65592" y="307238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319125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709160" y="29900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كتلة جسم 5 كغ</a:t>
            </a:r>
            <a:endParaRPr lang="ar-SA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0916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5 × 10 = 50 N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11480" y="1143000"/>
            <a:ext cx="3931920" cy="1645920"/>
          </a:xfrm>
          <a:prstGeom prst="roundRect">
            <a:avLst>
              <a:gd name="adj" fmla="val 7778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07592"/>
            <a:ext cx="1097280" cy="10972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429000" y="1325880"/>
            <a:ext cx="384048" cy="3840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4290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 flipH="1">
            <a:off x="2240280" y="1691640"/>
            <a:ext cx="1097280" cy="41148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9" name="Text 25"/>
          <p:cNvSpPr txBox="1"/>
          <p:nvPr/>
        </p:nvSpPr>
        <p:spPr>
          <a:xfrm>
            <a:off x="237744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جذب الأرض = الوزن</a:t>
            </a:r>
            <a:endParaRPr lang="ar-SA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الأرض</a:t>
            </a:r>
            <a:endParaRPr lang="ar-SA" sz="1000" dirty="0"/>
          </a:p>
        </p:txBody>
      </p:sp>
      <p:sp>
        <p:nvSpPr>
          <p:cNvPr id="31" name="Shape 27"/>
          <p:cNvSpPr/>
          <p:nvPr/>
        </p:nvSpPr>
        <p:spPr>
          <a:xfrm>
            <a:off x="411480" y="2926080"/>
            <a:ext cx="3931920" cy="749808"/>
          </a:xfrm>
          <a:prstGeom prst="roundRect">
            <a:avLst>
              <a:gd name="adj" fmla="val 1707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411480" y="29626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m × g</a:t>
            </a:r>
            <a:endParaRPr lang="en-US" sz="26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الوزن = الكتلة × g • الوحدة: نيوتن (g ≈ 10)</a:t>
            </a:r>
            <a:endParaRPr lang="ar-SA" sz="1000" dirty="0"/>
          </a:p>
        </p:txBody>
      </p:sp>
      <p:sp>
        <p:nvSpPr>
          <p:cNvPr id="34" name="Shape 30"/>
          <p:cNvSpPr/>
          <p:nvPr/>
        </p:nvSpPr>
        <p:spPr>
          <a:xfrm>
            <a:off x="411480" y="3858768"/>
            <a:ext cx="8321040" cy="777240"/>
          </a:xfrm>
          <a:prstGeom prst="roundRect">
            <a:avLst>
              <a:gd name="adj" fmla="val 16471"/>
            </a:avLst>
          </a:prstGeom>
          <a:solidFill>
            <a:srgbClr val="161E40"/>
          </a:solidFill>
          <a:ln w="12700">
            <a:solidFill>
              <a:srgbClr val="4ADE8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8119872" y="3995928"/>
            <a:ext cx="502920" cy="5029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514" y="4106570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6858000" y="385876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الحياة</a:t>
            </a:r>
            <a:endParaRPr lang="ar-SA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640080" y="385876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الجاذبية تُسقط المظلّي نحو الأرض وتُبقي القمر يدور حول الأرض.</a:t>
            </a:r>
            <a:endParaRPr lang="ar-SA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743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القوانين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80467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تحتاجه في صفحة واحدة (g ≈ 10)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080760" y="12801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92440" y="1444752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047" y="1549359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636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الحركية</a:t>
            </a:r>
            <a:endParaRPr lang="ar-SA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= ½ × m × v²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63640" y="24688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364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جول</a:t>
            </a:r>
            <a:endParaRPr lang="ar-SA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57800" y="1444752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407" y="154935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الكامنة</a:t>
            </a:r>
            <a:endParaRPr lang="ar-SA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= m × g × h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3429000" y="24688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42900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جول</a:t>
            </a:r>
            <a:endParaRPr lang="ar-SA" sz="1100" dirty="0"/>
          </a:p>
        </p:txBody>
      </p:sp>
      <p:sp>
        <p:nvSpPr>
          <p:cNvPr id="18" name="Shape 14"/>
          <p:cNvSpPr/>
          <p:nvPr/>
        </p:nvSpPr>
        <p:spPr>
          <a:xfrm>
            <a:off x="411480" y="12801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423160" y="1444752"/>
            <a:ext cx="475488" cy="47548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767" y="1549359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943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الميكانيكية</a:t>
            </a:r>
            <a:endParaRPr lang="ar-SA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94360" y="1993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= KE + PE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594360" y="24688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DD4BF">
              <a:alpha val="20000"/>
            </a:srgbClr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9436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جول</a:t>
            </a:r>
            <a:endParaRPr lang="ar-SA" sz="1100" dirty="0"/>
          </a:p>
        </p:txBody>
      </p:sp>
      <p:sp>
        <p:nvSpPr>
          <p:cNvPr id="25" name="Shape 20"/>
          <p:cNvSpPr/>
          <p:nvPr/>
        </p:nvSpPr>
        <p:spPr>
          <a:xfrm>
            <a:off x="6080760" y="30632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92440" y="3227832"/>
            <a:ext cx="475488" cy="47548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047" y="3332439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6364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</a:t>
            </a:r>
            <a:endParaRPr lang="ar-SA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263640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F × d</a:t>
            </a:r>
            <a:endParaRPr lang="en-US" sz="2100" dirty="0"/>
          </a:p>
        </p:txBody>
      </p:sp>
      <p:sp>
        <p:nvSpPr>
          <p:cNvPr id="30" name="Shape 24"/>
          <p:cNvSpPr/>
          <p:nvPr/>
        </p:nvSpPr>
        <p:spPr>
          <a:xfrm>
            <a:off x="6263640" y="42519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7185">
              <a:alpha val="20000"/>
            </a:srgbClr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26364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جول</a:t>
            </a:r>
            <a:endParaRPr lang="ar-SA" sz="1100" dirty="0"/>
          </a:p>
        </p:txBody>
      </p:sp>
      <p:sp>
        <p:nvSpPr>
          <p:cNvPr id="32" name="Shape 26"/>
          <p:cNvSpPr/>
          <p:nvPr/>
        </p:nvSpPr>
        <p:spPr>
          <a:xfrm>
            <a:off x="3246120" y="30632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57800" y="3227832"/>
            <a:ext cx="475488" cy="47548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407" y="3332439"/>
            <a:ext cx="266273" cy="266273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42900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</a:t>
            </a:r>
            <a:endParaRPr lang="ar-SA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3429000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W ÷ t</a:t>
            </a:r>
            <a:endParaRPr lang="en-US" sz="2100" dirty="0"/>
          </a:p>
        </p:txBody>
      </p:sp>
      <p:sp>
        <p:nvSpPr>
          <p:cNvPr id="37" name="Shape 30"/>
          <p:cNvSpPr/>
          <p:nvPr/>
        </p:nvSpPr>
        <p:spPr>
          <a:xfrm>
            <a:off x="3429000" y="42519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B923C">
              <a:alpha val="20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342900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واط</a:t>
            </a:r>
            <a:endParaRPr lang="ar-SA" sz="1100" dirty="0"/>
          </a:p>
        </p:txBody>
      </p:sp>
      <p:sp>
        <p:nvSpPr>
          <p:cNvPr id="39" name="Shape 32"/>
          <p:cNvSpPr/>
          <p:nvPr/>
        </p:nvSpPr>
        <p:spPr>
          <a:xfrm>
            <a:off x="411480" y="30632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7767" y="3332439"/>
            <a:ext cx="266273" cy="266273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9436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قوة الجاذبية</a:t>
            </a:r>
            <a:endParaRPr lang="ar-SA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594360" y="3776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m × g</a:t>
            </a:r>
            <a:endParaRPr lang="en-US" sz="2100" dirty="0"/>
          </a:p>
        </p:txBody>
      </p:sp>
      <p:sp>
        <p:nvSpPr>
          <p:cNvPr id="44" name="Shape 36"/>
          <p:cNvSpPr/>
          <p:nvPr/>
        </p:nvSpPr>
        <p:spPr>
          <a:xfrm>
            <a:off x="594360" y="42519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4ADE80">
              <a:alpha val="2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59436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نيوتن</a:t>
            </a:r>
            <a:endParaRPr lang="ar-SA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743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 أم خطأ؟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80467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قبل أن تنظر إلى الإجابة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713232"/>
          </a:xfrm>
          <a:prstGeom prst="roundRect">
            <a:avLst>
              <a:gd name="adj" fmla="val 17949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0" y="146304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28016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الجسم الساكن طاقته الحركية صفر.</a:t>
            </a:r>
            <a:endParaRPr lang="ar-SA" sz="1500" dirty="0"/>
          </a:p>
        </p:txBody>
      </p:sp>
      <p:sp>
        <p:nvSpPr>
          <p:cNvPr id="8" name="Shape 6"/>
          <p:cNvSpPr/>
          <p:nvPr/>
        </p:nvSpPr>
        <p:spPr>
          <a:xfrm>
            <a:off x="2057400" y="145389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153619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03120" y="14538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</a:t>
            </a:r>
            <a:endParaRPr lang="ar-SA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2801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 سرعته صفر</a:t>
            </a:r>
            <a:endParaRPr lang="ar-SA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121408"/>
            <a:ext cx="8321040" cy="713232"/>
          </a:xfrm>
          <a:prstGeom prst="roundRect">
            <a:avLst>
              <a:gd name="adj" fmla="val 17949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0" y="2304288"/>
            <a:ext cx="347472" cy="34747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121408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دفعت جداراً ولم يتحرك فقد بذلت شغلاً.</a:t>
            </a:r>
            <a:endParaRPr lang="ar-SA" sz="1500" dirty="0"/>
          </a:p>
        </p:txBody>
      </p:sp>
      <p:sp>
        <p:nvSpPr>
          <p:cNvPr id="16" name="Shape 13"/>
          <p:cNvSpPr/>
          <p:nvPr/>
        </p:nvSpPr>
        <p:spPr>
          <a:xfrm>
            <a:off x="2057400" y="229514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237744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103120" y="2295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</a:t>
            </a:r>
            <a:endParaRPr lang="ar-SA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212140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شغل بدون مسافة d</a:t>
            </a:r>
            <a:endParaRPr lang="ar-SA" sz="1100" dirty="0"/>
          </a:p>
        </p:txBody>
      </p:sp>
      <p:sp>
        <p:nvSpPr>
          <p:cNvPr id="20" name="Shape 16"/>
          <p:cNvSpPr/>
          <p:nvPr/>
        </p:nvSpPr>
        <p:spPr>
          <a:xfrm>
            <a:off x="411480" y="2962656"/>
            <a:ext cx="8321040" cy="713232"/>
          </a:xfrm>
          <a:prstGeom prst="roundRect">
            <a:avLst>
              <a:gd name="adj" fmla="val 17949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9600" y="3145536"/>
            <a:ext cx="347472" cy="34747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960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291840" y="2962656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قياس القدرة هي الجول.</a:t>
            </a:r>
            <a:endParaRPr lang="ar-SA" sz="1500" dirty="0"/>
          </a:p>
        </p:txBody>
      </p:sp>
      <p:sp>
        <p:nvSpPr>
          <p:cNvPr id="24" name="Shape 20"/>
          <p:cNvSpPr/>
          <p:nvPr/>
        </p:nvSpPr>
        <p:spPr>
          <a:xfrm>
            <a:off x="2057400" y="313639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3218688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103120" y="31363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</a:t>
            </a:r>
            <a:endParaRPr lang="ar-SA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296265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القدرة هي الواط</a:t>
            </a:r>
            <a:endParaRPr lang="ar-SA" sz="1100" dirty="0"/>
          </a:p>
        </p:txBody>
      </p:sp>
      <p:sp>
        <p:nvSpPr>
          <p:cNvPr id="28" name="Shape 23"/>
          <p:cNvSpPr/>
          <p:nvPr/>
        </p:nvSpPr>
        <p:spPr>
          <a:xfrm>
            <a:off x="411480" y="3803904"/>
            <a:ext cx="8321040" cy="713232"/>
          </a:xfrm>
          <a:prstGeom prst="roundRect">
            <a:avLst>
              <a:gd name="adj" fmla="val 17949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229600" y="398678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2296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3291840" y="380390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سقوط الجسم تتحول طاقته الكامنة إلى حركية.</a:t>
            </a:r>
            <a:endParaRPr lang="ar-SA" sz="1500" dirty="0"/>
          </a:p>
        </p:txBody>
      </p:sp>
      <p:sp>
        <p:nvSpPr>
          <p:cNvPr id="32" name="Shape 27"/>
          <p:cNvSpPr/>
          <p:nvPr/>
        </p:nvSpPr>
        <p:spPr>
          <a:xfrm>
            <a:off x="2057400" y="3977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405993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21031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</a:t>
            </a:r>
            <a:endParaRPr lang="ar-SA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38039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يقل الارتفاع وتزداد السرعة</a:t>
            </a:r>
            <a:endParaRPr lang="ar-SA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2743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تمرّن بنفسك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200400" y="80467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ثم قارن مع الجواب (g = 10)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080760" y="12801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83880" y="141732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371" y="1501811"/>
            <a:ext cx="215067" cy="215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636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الحركية</a:t>
            </a:r>
            <a:endParaRPr lang="ar-SA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847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كتلة 4 كغ وسرعة 5 م/ث. احسب الطاقة الحركية.</a:t>
            </a:r>
            <a:endParaRPr lang="ar-SA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44144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9525">
            <a:solidFill>
              <a:srgbClr val="3B82F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263640" y="2441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الجواب: 50 جول</a:t>
            </a:r>
            <a:endParaRPr lang="ar-SA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141732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31" y="1501811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الكامنة</a:t>
            </a:r>
            <a:endParaRPr lang="ar-SA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1847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جسم 3 كغ على ارتفاع 4 م. احسب الطاقة الكامنة.</a:t>
            </a:r>
            <a:endParaRPr lang="ar-SA" sz="1400" dirty="0"/>
          </a:p>
        </p:txBody>
      </p:sp>
      <p:sp>
        <p:nvSpPr>
          <p:cNvPr id="16" name="Shape 12"/>
          <p:cNvSpPr/>
          <p:nvPr/>
        </p:nvSpPr>
        <p:spPr>
          <a:xfrm>
            <a:off x="3429000" y="244144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9525">
            <a:solidFill>
              <a:srgbClr val="A78BFA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3429000" y="2441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الجواب: 120 جول</a:t>
            </a:r>
            <a:endParaRPr lang="ar-SA" sz="1200" dirty="0"/>
          </a:p>
        </p:txBody>
      </p:sp>
      <p:sp>
        <p:nvSpPr>
          <p:cNvPr id="18" name="Shape 14"/>
          <p:cNvSpPr/>
          <p:nvPr/>
        </p:nvSpPr>
        <p:spPr>
          <a:xfrm>
            <a:off x="411480" y="12801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14600" y="1417320"/>
            <a:ext cx="384048" cy="38404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091" y="1501811"/>
            <a:ext cx="215067" cy="2150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9436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الميكانيكية</a:t>
            </a:r>
            <a:endParaRPr lang="ar-SA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94360" y="1847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حركية 40 جول وكامنة 60 جول. احسب الميكانيكية.</a:t>
            </a:r>
            <a:endParaRPr lang="ar-SA" sz="1400" dirty="0"/>
          </a:p>
        </p:txBody>
      </p:sp>
      <p:sp>
        <p:nvSpPr>
          <p:cNvPr id="23" name="Shape 18"/>
          <p:cNvSpPr/>
          <p:nvPr/>
        </p:nvSpPr>
        <p:spPr>
          <a:xfrm>
            <a:off x="594360" y="244144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9525">
            <a:solidFill>
              <a:srgbClr val="2DD4BF"/>
            </a:solidFill>
            <a:prstDash val="dash"/>
          </a:ln>
        </p:spPr>
      </p:sp>
      <p:sp>
        <p:nvSpPr>
          <p:cNvPr id="24" name="Text 19"/>
          <p:cNvSpPr txBox="1"/>
          <p:nvPr/>
        </p:nvSpPr>
        <p:spPr>
          <a:xfrm>
            <a:off x="594360" y="2441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الجواب: 100 جول</a:t>
            </a:r>
            <a:endParaRPr lang="ar-SA" sz="1200" dirty="0"/>
          </a:p>
        </p:txBody>
      </p:sp>
      <p:sp>
        <p:nvSpPr>
          <p:cNvPr id="25" name="Shape 20"/>
          <p:cNvSpPr/>
          <p:nvPr/>
        </p:nvSpPr>
        <p:spPr>
          <a:xfrm>
            <a:off x="6080760" y="30632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83880" y="3200400"/>
            <a:ext cx="384048" cy="3840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371" y="3284891"/>
            <a:ext cx="215067" cy="21506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6364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</a:t>
            </a:r>
            <a:endParaRPr lang="ar-SA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263640" y="3630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قوة 20 نيوتن حرّكت جسماً 5 م. احسب الشغل.</a:t>
            </a:r>
            <a:endParaRPr lang="ar-SA" sz="1400" dirty="0"/>
          </a:p>
        </p:txBody>
      </p:sp>
      <p:sp>
        <p:nvSpPr>
          <p:cNvPr id="30" name="Shape 24"/>
          <p:cNvSpPr/>
          <p:nvPr/>
        </p:nvSpPr>
        <p:spPr>
          <a:xfrm>
            <a:off x="6263640" y="422452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7185">
              <a:alpha val="18000"/>
            </a:srgbClr>
          </a:solidFill>
          <a:ln w="9525">
            <a:solidFill>
              <a:srgbClr val="FB7185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6263640" y="4224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الجواب: 100 جول</a:t>
            </a:r>
            <a:endParaRPr lang="ar-SA" sz="1200" dirty="0"/>
          </a:p>
        </p:txBody>
      </p:sp>
      <p:sp>
        <p:nvSpPr>
          <p:cNvPr id="32" name="Shape 26"/>
          <p:cNvSpPr/>
          <p:nvPr/>
        </p:nvSpPr>
        <p:spPr>
          <a:xfrm>
            <a:off x="3246120" y="30632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349240" y="3200400"/>
            <a:ext cx="384048" cy="38404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731" y="3284891"/>
            <a:ext cx="215067" cy="21506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42900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القدرة</a:t>
            </a:r>
            <a:endParaRPr lang="ar-SA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3429000" y="3630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شغل 300 جول خلال 10 ث. احسب القدرة.</a:t>
            </a:r>
            <a:endParaRPr lang="ar-SA" sz="1400" dirty="0"/>
          </a:p>
        </p:txBody>
      </p:sp>
      <p:sp>
        <p:nvSpPr>
          <p:cNvPr id="37" name="Shape 30"/>
          <p:cNvSpPr/>
          <p:nvPr/>
        </p:nvSpPr>
        <p:spPr>
          <a:xfrm>
            <a:off x="3429000" y="422452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3429000" y="4224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الجواب: 30 واط</a:t>
            </a:r>
            <a:endParaRPr lang="ar-SA" sz="1200" dirty="0"/>
          </a:p>
        </p:txBody>
      </p:sp>
      <p:sp>
        <p:nvSpPr>
          <p:cNvPr id="39" name="Shape 32"/>
          <p:cNvSpPr/>
          <p:nvPr/>
        </p:nvSpPr>
        <p:spPr>
          <a:xfrm>
            <a:off x="411480" y="30632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161E40"/>
          </a:solidFill>
          <a:ln w="12700">
            <a:solidFill>
              <a:srgbClr val="161E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514600" y="3200400"/>
            <a:ext cx="384048" cy="38404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9091" y="3284891"/>
            <a:ext cx="215067" cy="21506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9436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الوزن</a:t>
            </a:r>
            <a:endParaRPr lang="ar-SA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594360" y="3630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جسم كتلته 8 كغ. احسب وزنه.</a:t>
            </a:r>
            <a:endParaRPr lang="ar-SA" sz="1400" dirty="0"/>
          </a:p>
        </p:txBody>
      </p:sp>
      <p:sp>
        <p:nvSpPr>
          <p:cNvPr id="44" name="Shape 36"/>
          <p:cNvSpPr/>
          <p:nvPr/>
        </p:nvSpPr>
        <p:spPr>
          <a:xfrm>
            <a:off x="594360" y="4224528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dash"/>
          </a:ln>
        </p:spPr>
      </p:sp>
      <p:sp>
        <p:nvSpPr>
          <p:cNvPr id="45" name="Text 37"/>
          <p:cNvSpPr txBox="1"/>
          <p:nvPr/>
        </p:nvSpPr>
        <p:spPr>
          <a:xfrm>
            <a:off x="594360" y="4224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الجواب: 80 نيوتن</a:t>
            </a:r>
            <a:endParaRPr lang="ar-SA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65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الطاقة لا تختفي… بل تتحول من شكل إلى آخر</a:t>
            </a:r>
            <a:endParaRPr lang="ar-SA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rgbClr val="A5B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 ينقلها، والقدرة تقيس سرعتها، والجاذبية تخزّنها في الارتفاع</a:t>
            </a:r>
            <a:endParaRPr lang="ar-SA" sz="1600" dirty="0"/>
          </a:p>
        </p:txBody>
      </p:sp>
      <p:sp>
        <p:nvSpPr>
          <p:cNvPr id="6" name="Shape 3"/>
          <p:cNvSpPr/>
          <p:nvPr/>
        </p:nvSpPr>
        <p:spPr>
          <a:xfrm>
            <a:off x="5989320" y="352044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3621024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49240" y="35204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3621024"/>
            <a:ext cx="256032" cy="2560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09160" y="352044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621024"/>
            <a:ext cx="256032" cy="25603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069080" y="3520440"/>
            <a:ext cx="457200" cy="4572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3621024"/>
            <a:ext cx="256032" cy="25603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429000" y="3520440"/>
            <a:ext cx="457200" cy="4572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621024"/>
            <a:ext cx="256032" cy="25603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78892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9504" y="3621024"/>
            <a:ext cx="256032" cy="25603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أحسنت! شكراً لكم</a:t>
            </a:r>
            <a:endParaRPr lang="ar-SA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ergy Night">
  <a:themeElements>
    <a:clrScheme name="Energy Night">
      <a:dk1>
        <a:srgbClr val="0B1026"/>
      </a:dk1>
      <a:lt1>
        <a:srgbClr val="FFFFFF"/>
      </a:lt1>
      <a:dk2>
        <a:srgbClr val="161E40"/>
      </a:dk2>
      <a:lt2>
        <a:srgbClr val="A5B1CC"/>
      </a:lt2>
      <a:accent1>
        <a:srgbClr val="3B82F6"/>
      </a:accent1>
      <a:accent2>
        <a:srgbClr val="A78BFA"/>
      </a:accent2>
      <a:accent3>
        <a:srgbClr val="2DD4BF"/>
      </a:accent3>
      <a:accent4>
        <a:srgbClr val="FB7185"/>
      </a:accent4>
      <a:accent5>
        <a:srgbClr val="FB923C"/>
      </a:accent5>
      <a:accent6>
        <a:srgbClr val="4ADE80"/>
      </a:accent6>
      <a:hlink>
        <a:srgbClr val="FBBF24"/>
      </a:hlink>
      <a:folHlink>
        <a:srgbClr val="A78BFA"/>
      </a:folHlink>
    </a:clrScheme>
    <a:fontScheme name="Energy N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الطاقة والشغل</dc:title>
  <dc:subject>PptxGenJS Presentation</dc:subject>
  <dc:creator>PptxGenJS</dc:creator>
  <cp:lastModifiedBy>PptxGenJS</cp:lastModifiedBy>
  <cp:revision>1</cp:revision>
  <dcterms:created xsi:type="dcterms:W3CDTF">2026-10-03T04:59:37Z</dcterms:created>
  <dcterms:modified xsi:type="dcterms:W3CDTF">2026-10-03T04:59:37Z</dcterms:modified>
</cp:coreProperties>
</file>